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0" r:id="rId7"/>
    <p:sldId id="271" r:id="rId8"/>
    <p:sldId id="261" r:id="rId9"/>
    <p:sldId id="262" r:id="rId10"/>
    <p:sldId id="265" r:id="rId11"/>
    <p:sldId id="280" r:id="rId12"/>
    <p:sldId id="281" r:id="rId13"/>
    <p:sldId id="263" r:id="rId14"/>
    <p:sldId id="268" r:id="rId15"/>
    <p:sldId id="266" r:id="rId16"/>
    <p:sldId id="267" r:id="rId17"/>
    <p:sldId id="274" r:id="rId18"/>
    <p:sldId id="275" r:id="rId19"/>
    <p:sldId id="276" r:id="rId20"/>
    <p:sldId id="269" r:id="rId21"/>
    <p:sldId id="270" r:id="rId22"/>
    <p:sldId id="272" r:id="rId23"/>
    <p:sldId id="273" r:id="rId24"/>
    <p:sldId id="278" r:id="rId25"/>
    <p:sldId id="279" r:id="rId26"/>
    <p:sldId id="277" r:id="rId2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B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B672C0-5ADE-4E92-B371-4EFF46A937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DC7FC06-9934-4701-9E90-856E320A3B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4900F2-E3C1-46AA-A5FA-98F019655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C249B-9C75-4A2F-857A-D3E50E9DCF59}" type="datetimeFigureOut">
              <a:rPr lang="ko-KR" altLang="en-US" smtClean="0"/>
              <a:t>2025-11-03(Monday)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E8FF540-1301-460C-AA8D-BCA940677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4CF440-7F46-4384-BD22-BAC2DD166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2D8D1-BF3B-475A-A262-D7D1359EB1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060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7955E3-ECD2-4C6F-9B66-3D8697C19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9E97284-24A3-49B5-B5EF-589B5464A6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9CF75E-AA6E-46AD-B9A4-6EE31991C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C249B-9C75-4A2F-857A-D3E50E9DCF59}" type="datetimeFigureOut">
              <a:rPr lang="ko-KR" altLang="en-US" smtClean="0"/>
              <a:t>2025-11-03(Monday)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E232C2-2C4E-4383-80B9-F9081250E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B7C3CFB-15A8-46B5-A2DB-95AD6E78B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2D8D1-BF3B-475A-A262-D7D1359EB1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8455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474E2E-95BD-4CE1-BE72-3148C4058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A7D106-A21B-405B-B8D9-410BCC0B10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E91D38-8B62-455B-9C70-BF942E910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C249B-9C75-4A2F-857A-D3E50E9DCF59}" type="datetimeFigureOut">
              <a:rPr lang="ko-KR" altLang="en-US" smtClean="0"/>
              <a:t>2025-11-03(Monday)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AC300D-53C5-4590-BB52-333C3B36E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B5F3ECF-25DB-4116-A0E6-8A581A356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2D8D1-BF3B-475A-A262-D7D1359EB1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6456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2D9AE3-9F63-431A-A38E-9DB8C5769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DBD2088-4DA9-4E9E-BB90-B5D0D13152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16A8028-F513-455B-98D1-D8F7217C56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3F103D5-532D-4D65-99EF-BFEEED211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C249B-9C75-4A2F-857A-D3E50E9DCF59}" type="datetimeFigureOut">
              <a:rPr lang="ko-KR" altLang="en-US" smtClean="0"/>
              <a:t>2025-11-03(Monday)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2B8595E-7E7E-4326-AEFE-3BAD00C9C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CF4C555-694C-488E-A64F-118854895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2D8D1-BF3B-475A-A262-D7D1359EB1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8318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83A2CF-118F-422D-93AD-4DEE3A90E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6AFA47F-5E6F-4AF3-9969-8118C38DF8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1FD81BF-3383-46CA-A715-299EEEAEDC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183229E-7A2D-4A52-AB31-16FA7E5DAE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8554068-69E9-4B4E-A9BC-6AF2C0314F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D11541B-A30C-445A-A545-8DF925BDA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C249B-9C75-4A2F-857A-D3E50E9DCF59}" type="datetimeFigureOut">
              <a:rPr lang="ko-KR" altLang="en-US" smtClean="0"/>
              <a:t>2025-11-03(Monday)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9450B8C-86F4-4B31-9218-3A90DD792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DE1DA8C-32CC-4EAA-B08F-4C2159010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2D8D1-BF3B-475A-A262-D7D1359EB1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5457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4BF5B5-F141-49D5-A330-F832BBAA8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0D4B0E6-EE12-48F1-A520-EA023D27B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C249B-9C75-4A2F-857A-D3E50E9DCF59}" type="datetimeFigureOut">
              <a:rPr lang="ko-KR" altLang="en-US" smtClean="0"/>
              <a:t>2025-11-03(Monday)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63C6A1A-F44B-4EED-9D91-2509088F0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4203910-686F-499E-8C30-196A97C8C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2D8D1-BF3B-475A-A262-D7D1359EB1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1907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34D54A2-3107-4CA2-AE0E-63108F308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C249B-9C75-4A2F-857A-D3E50E9DCF59}" type="datetimeFigureOut">
              <a:rPr lang="ko-KR" altLang="en-US" smtClean="0"/>
              <a:t>2025-11-03(Monday)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5386F4E-4EA9-48FF-9239-065924B3D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126B79-A837-424E-9768-7A2BF4D8B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2D8D1-BF3B-475A-A262-D7D1359EB1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9524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DE4218-DC25-44E7-9011-24D5406E0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6097C2-428B-4B11-9B8A-AA58D02C89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6FB70C8-C363-4075-A2F7-CBB6A962CC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A7BC5E-834C-42A8-BBDF-E2EE6F11E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C249B-9C75-4A2F-857A-D3E50E9DCF59}" type="datetimeFigureOut">
              <a:rPr lang="ko-KR" altLang="en-US" smtClean="0"/>
              <a:t>2025-11-03(Monday)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3EE3E84-A3AA-49A6-866C-9043A78C3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9C75287-B48C-435D-A1D7-B3B5467B8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2D8D1-BF3B-475A-A262-D7D1359EB1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1250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92A826-825E-4A9D-B304-DEF8D1F2D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28B0CEE-A2E7-4D0C-83C1-D57D34C56B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9200354-96FB-4104-9CB8-A8746A4EBB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AA8E877-6616-4116-9C26-D5D2AB8F9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C249B-9C75-4A2F-857A-D3E50E9DCF59}" type="datetimeFigureOut">
              <a:rPr lang="ko-KR" altLang="en-US" smtClean="0"/>
              <a:t>2025-11-03(Monday)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7A947DA-817C-4D81-BBB6-2342F141A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813BF27-D580-4341-A64A-A27079EEA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2D8D1-BF3B-475A-A262-D7D1359EB1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1582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DAE6B1-203A-429B-9004-AC77E2C61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22EF796-71D2-466E-8A6F-883B3C1037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23D062-2BB6-4AAC-9D2E-B6092B80A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C249B-9C75-4A2F-857A-D3E50E9DCF59}" type="datetimeFigureOut">
              <a:rPr lang="ko-KR" altLang="en-US" smtClean="0"/>
              <a:t>2025-11-03(Monday)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D9979F-C0E4-4EEB-BA31-542751E87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B8FF55-163F-49EB-887A-8A32E846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2D8D1-BF3B-475A-A262-D7D1359EB1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311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08EAFFB-C454-4E3C-AD70-3A59BCAA42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A8FD768-5328-4D89-AD0C-5FCE8E6C6B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6E1409-0CAF-4860-8935-6545264CC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C249B-9C75-4A2F-857A-D3E50E9DCF59}" type="datetimeFigureOut">
              <a:rPr lang="ko-KR" altLang="en-US" smtClean="0"/>
              <a:t>2025-11-03(Monday)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E72618-15CA-4D6B-86B7-E0F9B1423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24B4E9-493E-42E6-B7E7-6FB0A1ED0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2D8D1-BF3B-475A-A262-D7D1359EB1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5165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ECB3F7A-E301-4395-94E4-CE8D4D271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DB28649-B086-4245-8CE3-9949EB090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B2B059-8BEB-4112-87AE-3C1ABD4FE6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C249B-9C75-4A2F-857A-D3E50E9DCF59}" type="datetimeFigureOut">
              <a:rPr lang="ko-KR" altLang="en-US" smtClean="0"/>
              <a:t>2025-11-03(Monday)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8798C7A-7EAD-4EDB-896E-B5A8278E68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0508007-A247-4DA9-8980-A47AE8873C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B2D8D1-BF3B-475A-A262-D7D1359EB1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7505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electronics-engineering/what-is-demultiplexerdemux/?utm_source" TargetMode="External"/><Relationship Id="rId2" Type="http://schemas.openxmlformats.org/officeDocument/2006/relationships/hyperlink" Target="https://www.geeksforgeeks.org/digital-logic/multiplexers-in-digital-logic/?utm_source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resources.pcb.cadence.com/blog/2024-multiplexer-mux-and-demultiplexer-demux-applications?utm_source" TargetMode="External"/><Relationship Id="rId4" Type="http://schemas.openxmlformats.org/officeDocument/2006/relationships/hyperlink" Target="https://www.geeksforgeeks.org/digital-logic/applications-of-mux/?utm_source#control-system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4E629C-0070-4032-ACC3-336C3B4ADF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Decoder &amp; Mux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F54D203-611F-4B8D-8C37-E9100BCA09D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00000000 </a:t>
            </a:r>
            <a:r>
              <a:rPr lang="ko-KR" altLang="en-US" dirty="0"/>
              <a:t>김진호</a:t>
            </a:r>
            <a:endParaRPr lang="en-US" altLang="ko-KR" dirty="0"/>
          </a:p>
          <a:p>
            <a:r>
              <a:rPr lang="en-US" altLang="ko-KR" dirty="0"/>
              <a:t>20221627 </a:t>
            </a:r>
            <a:r>
              <a:rPr lang="ko-KR" altLang="en-US" dirty="0"/>
              <a:t>태현준</a:t>
            </a:r>
          </a:p>
        </p:txBody>
      </p:sp>
    </p:spTree>
    <p:extLst>
      <p:ext uri="{BB962C8B-B14F-4D97-AF65-F5344CB8AC3E}">
        <p14:creationId xmlns:p14="http://schemas.microsoft.com/office/powerpoint/2010/main" val="27150789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ECC748-0F0D-4DCC-B52E-2955B4BF4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Mux</a:t>
            </a:r>
            <a:r>
              <a:rPr lang="ko-KR" altLang="en-US" dirty="0"/>
              <a:t>의 개념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574B05-C1E5-4DF4-8B5C-D9091337AD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여러 입력 데이터 중 하나만을 출력하는 조합 논리 회로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6A40F3E-99AB-416C-84D6-309DAC4EBA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6430" y="2553101"/>
            <a:ext cx="8150285" cy="422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2655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EB048C-9BD8-433C-8CC9-4F2E25156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2x1</a:t>
            </a:r>
            <a:r>
              <a:rPr lang="en-US" altLang="ko-KR" dirty="0"/>
              <a:t> Mux</a:t>
            </a:r>
            <a:endParaRPr lang="ko-KR" altLang="en-US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D0162933-8398-4AAA-911E-FB4B9750F4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ko-KR" altLang="en-US" dirty="0"/>
              <a:t>입력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- 2</a:t>
            </a:r>
            <a:r>
              <a:rPr lang="ko-KR" altLang="en-US" dirty="0"/>
              <a:t>개의 데이터 </a:t>
            </a:r>
            <a:r>
              <a:rPr lang="en-US" altLang="ko-KR" dirty="0" err="1"/>
              <a:t>D1</a:t>
            </a:r>
            <a:r>
              <a:rPr lang="en-US" altLang="ko-KR" dirty="0"/>
              <a:t>, </a:t>
            </a:r>
            <a:r>
              <a:rPr lang="en-US" altLang="ko-KR" dirty="0" err="1"/>
              <a:t>D0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- </a:t>
            </a:r>
            <a:r>
              <a:rPr lang="ko-KR" altLang="en-US" dirty="0" err="1"/>
              <a:t>선택선</a:t>
            </a:r>
            <a:r>
              <a:rPr lang="ko-KR" altLang="en-US" dirty="0"/>
              <a:t> </a:t>
            </a:r>
            <a:r>
              <a:rPr lang="en-US" altLang="ko-KR" dirty="0"/>
              <a:t>S</a:t>
            </a:r>
          </a:p>
          <a:p>
            <a:endParaRPr lang="en-US" altLang="ko-KR" dirty="0"/>
          </a:p>
          <a:p>
            <a:r>
              <a:rPr lang="ko-KR" altLang="en-US" dirty="0"/>
              <a:t>출력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  </a:t>
            </a:r>
            <a:r>
              <a:rPr lang="en-US" altLang="ko-KR" dirty="0"/>
              <a:t>- </a:t>
            </a:r>
            <a:r>
              <a:rPr lang="ko-KR" altLang="en-US" dirty="0"/>
              <a:t>입력 데이터 </a:t>
            </a:r>
            <a:r>
              <a:rPr lang="en-US" altLang="ko-KR" dirty="0" err="1"/>
              <a:t>D1</a:t>
            </a:r>
            <a:r>
              <a:rPr lang="en-US" altLang="ko-KR" dirty="0"/>
              <a:t>, </a:t>
            </a:r>
            <a:r>
              <a:rPr lang="en-US" altLang="ko-KR" dirty="0" err="1"/>
              <a:t>D0</a:t>
            </a:r>
            <a:r>
              <a:rPr lang="en-US" altLang="ko-KR" dirty="0"/>
              <a:t> </a:t>
            </a:r>
            <a:r>
              <a:rPr lang="ko-KR" altLang="en-US" dirty="0"/>
              <a:t>중 하나</a:t>
            </a:r>
          </a:p>
        </p:txBody>
      </p:sp>
      <p:pic>
        <p:nvPicPr>
          <p:cNvPr id="1030" name="Picture 6" descr="https://blog.kakaocdn.net/dna/s2JgQ/btqLvELfGN4/AAAAAAAAAAAAAAAAAAAAAIp-9ZXuQ-_PX9PV70s-T15n6GNjFwhBwrdnBWW_xVRK/img.png?credential=yqXZFxpELC7KVnFOS48ylbz2pIh7yKj8&amp;expires=1764514799&amp;allow_ip=&amp;allow_referer=&amp;signature=AQnlhcB6g37lPxby6yEgTf16UPY%3D">
            <a:extLst>
              <a:ext uri="{FF2B5EF4-FFF2-40B4-BE49-F238E27FC236}">
                <a16:creationId xmlns:a16="http://schemas.microsoft.com/office/drawing/2014/main" id="{2393E2A6-E805-4F39-A5FF-29FEB03B19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988" r="52653" b="19577"/>
          <a:stretch/>
        </p:blipFill>
        <p:spPr bwMode="auto">
          <a:xfrm>
            <a:off x="5874151" y="1825625"/>
            <a:ext cx="6172404" cy="4046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21969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522364-7322-4BD4-AA43-6D4C3DE88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2x1</a:t>
            </a:r>
            <a:r>
              <a:rPr lang="ko-KR" altLang="en-US" dirty="0"/>
              <a:t> </a:t>
            </a:r>
            <a:r>
              <a:rPr lang="en-US" altLang="ko-KR" dirty="0"/>
              <a:t>Mux</a:t>
            </a:r>
            <a:r>
              <a:rPr lang="ko-KR" altLang="en-US" dirty="0"/>
              <a:t>의 회로도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00C841-385C-44A3-840D-2AB4FAA207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r>
              <a:rPr lang="en-US" altLang="ko-KR" dirty="0"/>
              <a:t>S’ </a:t>
            </a:r>
            <a:r>
              <a:rPr lang="ko-KR" altLang="en-US" dirty="0"/>
              <a:t>과  </a:t>
            </a:r>
            <a:r>
              <a:rPr lang="en-US" altLang="ko-KR" dirty="0" err="1"/>
              <a:t>D0</a:t>
            </a:r>
            <a:r>
              <a:rPr lang="ko-KR" altLang="en-US" dirty="0"/>
              <a:t>을 </a:t>
            </a:r>
            <a:r>
              <a:rPr lang="en-US" altLang="ko-KR" dirty="0"/>
              <a:t>AND</a:t>
            </a:r>
            <a:r>
              <a:rPr lang="ko-KR" altLang="en-US" dirty="0"/>
              <a:t>로 연결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S </a:t>
            </a:r>
            <a:r>
              <a:rPr lang="ko-KR" altLang="en-US" dirty="0"/>
              <a:t>과  </a:t>
            </a:r>
            <a:r>
              <a:rPr lang="en-US" altLang="ko-KR" dirty="0" err="1"/>
              <a:t>D1</a:t>
            </a:r>
            <a:r>
              <a:rPr lang="ko-KR" altLang="en-US" dirty="0"/>
              <a:t>을 </a:t>
            </a:r>
            <a:r>
              <a:rPr lang="en-US" altLang="ko-KR" dirty="0"/>
              <a:t>AND</a:t>
            </a:r>
            <a:r>
              <a:rPr lang="ko-KR" altLang="en-US" dirty="0"/>
              <a:t>로 연결</a:t>
            </a:r>
          </a:p>
          <a:p>
            <a:endParaRPr lang="ko-KR" altLang="en-US" dirty="0"/>
          </a:p>
        </p:txBody>
      </p:sp>
      <p:pic>
        <p:nvPicPr>
          <p:cNvPr id="7" name="Picture 6" descr="https://blog.kakaocdn.net/dna/s2JgQ/btqLvELfGN4/AAAAAAAAAAAAAAAAAAAAAIp-9ZXuQ-_PX9PV70s-T15n6GNjFwhBwrdnBWW_xVRK/img.png?credential=yqXZFxpELC7KVnFOS48ylbz2pIh7yKj8&amp;expires=1764514799&amp;allow_ip=&amp;allow_referer=&amp;signature=AQnlhcB6g37lPxby6yEgTf16UPY%3D">
            <a:extLst>
              <a:ext uri="{FF2B5EF4-FFF2-40B4-BE49-F238E27FC236}">
                <a16:creationId xmlns:a16="http://schemas.microsoft.com/office/drawing/2014/main" id="{A7CCEAC6-B60A-4FEF-BEE4-DA8CBB89207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274"/>
          <a:stretch/>
        </p:blipFill>
        <p:spPr bwMode="auto">
          <a:xfrm>
            <a:off x="9051721" y="1216715"/>
            <a:ext cx="2768366" cy="5436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https://blog.kakaocdn.net/dna/s2JgQ/btqLvELfGN4/AAAAAAAAAAAAAAAAAAAAAIp-9ZXuQ-_PX9PV70s-T15n6GNjFwhBwrdnBWW_xVRK/img.png?credential=yqXZFxpELC7KVnFOS48ylbz2pIh7yKj8&amp;expires=1764514799&amp;allow_ip=&amp;allow_referer=&amp;signature=AQnlhcB6g37lPxby6yEgTf16UPY%3D">
            <a:extLst>
              <a:ext uri="{FF2B5EF4-FFF2-40B4-BE49-F238E27FC236}">
                <a16:creationId xmlns:a16="http://schemas.microsoft.com/office/drawing/2014/main" id="{3DAE91F8-DCF7-4E18-BF9A-23A176CE7E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742" t="41596" r="28780" b="38499"/>
          <a:stretch/>
        </p:blipFill>
        <p:spPr bwMode="auto">
          <a:xfrm>
            <a:off x="6164510" y="3393992"/>
            <a:ext cx="2526484" cy="1082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24228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6" descr="https://blog.kakaocdn.net/dna/s2JgQ/btqLvELfGN4/AAAAAAAAAAAAAAAAAAAAAIp-9ZXuQ-_PX9PV70s-T15n6GNjFwhBwrdnBWW_xVRK/img.png?credential=yqXZFxpELC7KVnFOS48ylbz2pIh7yKj8&amp;expires=1764514799&amp;allow_ip=&amp;allow_referer=&amp;signature=AQnlhcB6g37lPxby6yEgTf16UPY%3D">
            <a:extLst>
              <a:ext uri="{FF2B5EF4-FFF2-40B4-BE49-F238E27FC236}">
                <a16:creationId xmlns:a16="http://schemas.microsoft.com/office/drawing/2014/main" id="{EF8AAA60-CA68-49D2-90E6-DEE83C40A3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274"/>
          <a:stretch/>
        </p:blipFill>
        <p:spPr bwMode="auto">
          <a:xfrm>
            <a:off x="9051721" y="1216715"/>
            <a:ext cx="2768366" cy="5436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제목 1">
            <a:extLst>
              <a:ext uri="{FF2B5EF4-FFF2-40B4-BE49-F238E27FC236}">
                <a16:creationId xmlns:a16="http://schemas.microsoft.com/office/drawing/2014/main" id="{C9A116AE-2B39-492C-B913-69DC7BA39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ko-KR" dirty="0" err="1"/>
              <a:t>2x1</a:t>
            </a:r>
            <a:r>
              <a:rPr lang="ko-KR" altLang="en-US" dirty="0"/>
              <a:t> </a:t>
            </a:r>
            <a:r>
              <a:rPr lang="en-US" altLang="ko-KR" dirty="0"/>
              <a:t>Mux</a:t>
            </a:r>
            <a:r>
              <a:rPr lang="ko-KR" altLang="en-US" dirty="0"/>
              <a:t>의 회로도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8FAACC4D-1E9A-49D8-BDE2-E961AF584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en-US" altLang="ko-KR" dirty="0"/>
          </a:p>
          <a:p>
            <a:r>
              <a:rPr lang="en-US" altLang="ko-KR" dirty="0"/>
              <a:t>S’ </a:t>
            </a:r>
            <a:r>
              <a:rPr lang="ko-KR" altLang="en-US" dirty="0"/>
              <a:t>과  </a:t>
            </a:r>
            <a:r>
              <a:rPr lang="en-US" altLang="ko-KR" dirty="0" err="1"/>
              <a:t>D0</a:t>
            </a:r>
            <a:r>
              <a:rPr lang="ko-KR" altLang="en-US" dirty="0"/>
              <a:t>을 </a:t>
            </a:r>
            <a:r>
              <a:rPr lang="en-US" altLang="ko-KR" dirty="0"/>
              <a:t>AND</a:t>
            </a:r>
            <a:r>
              <a:rPr lang="ko-KR" altLang="en-US" dirty="0"/>
              <a:t>로 연결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S </a:t>
            </a:r>
            <a:r>
              <a:rPr lang="ko-KR" altLang="en-US" dirty="0"/>
              <a:t>과  </a:t>
            </a:r>
            <a:r>
              <a:rPr lang="en-US" altLang="ko-KR" dirty="0" err="1"/>
              <a:t>D1</a:t>
            </a:r>
            <a:r>
              <a:rPr lang="ko-KR" altLang="en-US" dirty="0"/>
              <a:t>을 </a:t>
            </a:r>
            <a:r>
              <a:rPr lang="en-US" altLang="ko-KR" dirty="0"/>
              <a:t>AND</a:t>
            </a:r>
            <a:r>
              <a:rPr lang="ko-KR" altLang="en-US" dirty="0"/>
              <a:t>로 연결</a:t>
            </a:r>
          </a:p>
          <a:p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0DC79A-C818-4C31-9AD2-436060E45275}"/>
              </a:ext>
            </a:extLst>
          </p:cNvPr>
          <p:cNvSpPr txBox="1"/>
          <p:nvPr/>
        </p:nvSpPr>
        <p:spPr>
          <a:xfrm>
            <a:off x="11172500" y="797073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C00000"/>
                </a:solidFill>
              </a:rPr>
              <a:t>0</a:t>
            </a:r>
            <a:endParaRPr lang="ko-KR" altLang="en-US" sz="2400" b="1" dirty="0">
              <a:solidFill>
                <a:srgbClr val="C0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461BEF-A42D-4DBC-9A93-DE2AE3C0FC32}"/>
              </a:ext>
            </a:extLst>
          </p:cNvPr>
          <p:cNvSpPr txBox="1"/>
          <p:nvPr/>
        </p:nvSpPr>
        <p:spPr>
          <a:xfrm>
            <a:off x="9840049" y="2863560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C00000"/>
                </a:solidFill>
              </a:rPr>
              <a:t>0</a:t>
            </a:r>
            <a:endParaRPr lang="ko-KR" altLang="en-US" sz="2400" b="1" dirty="0">
              <a:solidFill>
                <a:srgbClr val="C0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B4DD7D-408D-4149-BC6B-8788C0A8B19F}"/>
              </a:ext>
            </a:extLst>
          </p:cNvPr>
          <p:cNvSpPr txBox="1"/>
          <p:nvPr/>
        </p:nvSpPr>
        <p:spPr>
          <a:xfrm>
            <a:off x="11104911" y="2863561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C00000"/>
                </a:solidFill>
              </a:rPr>
              <a:t>1</a:t>
            </a:r>
            <a:endParaRPr lang="ko-KR" altLang="en-US" sz="2400" b="1" dirty="0">
              <a:solidFill>
                <a:srgbClr val="C0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E3AE2F-92C1-47AB-A9B2-A1748300E780}"/>
              </a:ext>
            </a:extLst>
          </p:cNvPr>
          <p:cNvSpPr txBox="1"/>
          <p:nvPr/>
        </p:nvSpPr>
        <p:spPr>
          <a:xfrm>
            <a:off x="9658749" y="4289428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C00000"/>
                </a:solidFill>
              </a:rPr>
              <a:t>0</a:t>
            </a:r>
            <a:endParaRPr lang="ko-KR" altLang="en-US" sz="2400" b="1" dirty="0">
              <a:solidFill>
                <a:srgbClr val="C0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98EE13-6C34-4299-9E03-9F5E95A1B166}"/>
              </a:ext>
            </a:extLst>
          </p:cNvPr>
          <p:cNvSpPr txBox="1"/>
          <p:nvPr/>
        </p:nvSpPr>
        <p:spPr>
          <a:xfrm>
            <a:off x="10808996" y="4308154"/>
            <a:ext cx="5918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 err="1">
                <a:solidFill>
                  <a:srgbClr val="C00000"/>
                </a:solidFill>
              </a:rPr>
              <a:t>D0</a:t>
            </a:r>
            <a:endParaRPr lang="ko-KR" altLang="en-US" sz="2400" b="1" dirty="0">
              <a:solidFill>
                <a:srgbClr val="C0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BCFFC7-4A40-4E14-97B9-2C8FBF442105}"/>
              </a:ext>
            </a:extLst>
          </p:cNvPr>
          <p:cNvSpPr txBox="1"/>
          <p:nvPr/>
        </p:nvSpPr>
        <p:spPr>
          <a:xfrm>
            <a:off x="10580671" y="6262042"/>
            <a:ext cx="5918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 err="1">
                <a:solidFill>
                  <a:srgbClr val="C00000"/>
                </a:solidFill>
              </a:rPr>
              <a:t>D0</a:t>
            </a:r>
            <a:endParaRPr lang="ko-KR" altLang="en-US" sz="2400" b="1" dirty="0">
              <a:solidFill>
                <a:srgbClr val="C00000"/>
              </a:solidFill>
            </a:endParaRPr>
          </a:p>
        </p:txBody>
      </p:sp>
      <p:pic>
        <p:nvPicPr>
          <p:cNvPr id="14" name="Picture 6" descr="https://blog.kakaocdn.net/dna/s2JgQ/btqLvELfGN4/AAAAAAAAAAAAAAAAAAAAAIp-9ZXuQ-_PX9PV70s-T15n6GNjFwhBwrdnBWW_xVRK/img.png?credential=yqXZFxpELC7KVnFOS48ylbz2pIh7yKj8&amp;expires=1764514799&amp;allow_ip=&amp;allow_referer=&amp;signature=AQnlhcB6g37lPxby6yEgTf16UPY%3D">
            <a:extLst>
              <a:ext uri="{FF2B5EF4-FFF2-40B4-BE49-F238E27FC236}">
                <a16:creationId xmlns:a16="http://schemas.microsoft.com/office/drawing/2014/main" id="{304BBEE1-72D7-4BF9-96EA-1F359660E7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742" t="41596" r="28780" b="38499"/>
          <a:stretch/>
        </p:blipFill>
        <p:spPr bwMode="auto">
          <a:xfrm>
            <a:off x="6164510" y="3393992"/>
            <a:ext cx="2526484" cy="1082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706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9BE36A-49F4-40E1-8303-649A914A4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4x1</a:t>
            </a:r>
            <a:r>
              <a:rPr lang="en-US" altLang="ko-KR" dirty="0"/>
              <a:t> Mux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8E3C83-D2AD-498F-ADC7-A92C5C2D55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입력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- 4</a:t>
            </a:r>
            <a:r>
              <a:rPr lang="ko-KR" altLang="en-US" dirty="0"/>
              <a:t>개의 데이터 </a:t>
            </a:r>
            <a:r>
              <a:rPr lang="en-US" altLang="ko-KR" dirty="0" err="1"/>
              <a:t>D3</a:t>
            </a:r>
            <a:r>
              <a:rPr lang="en-US" altLang="ko-KR" dirty="0"/>
              <a:t>, </a:t>
            </a:r>
            <a:r>
              <a:rPr lang="en-US" altLang="ko-KR" dirty="0" err="1"/>
              <a:t>D2</a:t>
            </a:r>
            <a:r>
              <a:rPr lang="en-US" altLang="ko-KR" dirty="0"/>
              <a:t>, </a:t>
            </a:r>
            <a:r>
              <a:rPr lang="en-US" altLang="ko-KR" dirty="0" err="1"/>
              <a:t>D1</a:t>
            </a:r>
            <a:r>
              <a:rPr lang="en-US" altLang="ko-KR" dirty="0"/>
              <a:t>, </a:t>
            </a:r>
            <a:r>
              <a:rPr lang="en-US" altLang="ko-KR" dirty="0" err="1"/>
              <a:t>D0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- </a:t>
            </a:r>
            <a:r>
              <a:rPr lang="ko-KR" altLang="en-US" dirty="0" err="1"/>
              <a:t>선택선</a:t>
            </a:r>
            <a:r>
              <a:rPr lang="ko-KR" altLang="en-US" dirty="0"/>
              <a:t> </a:t>
            </a:r>
            <a:r>
              <a:rPr lang="en-US" altLang="ko-KR" dirty="0" err="1"/>
              <a:t>S1</a:t>
            </a:r>
            <a:r>
              <a:rPr lang="en-US" altLang="ko-KR" dirty="0"/>
              <a:t>, </a:t>
            </a:r>
            <a:r>
              <a:rPr lang="en-US" altLang="ko-KR" dirty="0" err="1"/>
              <a:t>S0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출력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  </a:t>
            </a:r>
            <a:r>
              <a:rPr lang="en-US" altLang="ko-KR" dirty="0"/>
              <a:t>- </a:t>
            </a:r>
            <a:r>
              <a:rPr lang="ko-KR" altLang="en-US" dirty="0"/>
              <a:t>입력 데이터 </a:t>
            </a:r>
            <a:r>
              <a:rPr lang="en-US" altLang="ko-KR" dirty="0" err="1"/>
              <a:t>D3</a:t>
            </a:r>
            <a:r>
              <a:rPr lang="en-US" altLang="ko-KR" dirty="0"/>
              <a:t>, </a:t>
            </a:r>
            <a:r>
              <a:rPr lang="en-US" altLang="ko-KR" dirty="0" err="1"/>
              <a:t>D2</a:t>
            </a:r>
            <a:r>
              <a:rPr lang="en-US" altLang="ko-KR" dirty="0"/>
              <a:t>, </a:t>
            </a:r>
            <a:r>
              <a:rPr lang="en-US" altLang="ko-KR" dirty="0" err="1"/>
              <a:t>D1</a:t>
            </a:r>
            <a:r>
              <a:rPr lang="en-US" altLang="ko-KR" dirty="0"/>
              <a:t>, </a:t>
            </a:r>
            <a:r>
              <a:rPr lang="en-US" altLang="ko-KR" dirty="0" err="1"/>
              <a:t>D0</a:t>
            </a:r>
            <a:r>
              <a:rPr lang="en-US" altLang="ko-KR" dirty="0"/>
              <a:t> </a:t>
            </a:r>
            <a:r>
              <a:rPr lang="ko-KR" altLang="en-US" dirty="0"/>
              <a:t>중 하나</a:t>
            </a:r>
          </a:p>
          <a:p>
            <a:endParaRPr lang="ko-KR" altLang="en-US" dirty="0"/>
          </a:p>
        </p:txBody>
      </p:sp>
      <p:pic>
        <p:nvPicPr>
          <p:cNvPr id="3076" name="Picture 4" descr="https://blog.kakaocdn.net/dna/T6jIV/btqLwLb424q/AAAAAAAAAAAAAAAAAAAAAGdZfGO7RB9BNBm14qNhWxAEBfEU7f0nV4fWGCB1WsPZ/img.png?credential=yqXZFxpELC7KVnFOS48ylbz2pIh7yKj8&amp;expires=1764514799&amp;allow_ip=&amp;allow_referer=&amp;signature=LOPR4f%2F7ajTO3mAEiwR0D6A2zu4%3D">
            <a:extLst>
              <a:ext uri="{FF2B5EF4-FFF2-40B4-BE49-F238E27FC236}">
                <a16:creationId xmlns:a16="http://schemas.microsoft.com/office/drawing/2014/main" id="{4547B0A9-5054-470F-8ED2-13002837045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2" r="66440" b="45720"/>
          <a:stretch/>
        </p:blipFill>
        <p:spPr bwMode="auto">
          <a:xfrm>
            <a:off x="6239751" y="340518"/>
            <a:ext cx="3676038" cy="3088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https://blog.kakaocdn.net/dna/T6jIV/btqLwLb424q/AAAAAAAAAAAAAAAAAAAAAGdZfGO7RB9BNBm14qNhWxAEBfEU7f0nV4fWGCB1WsPZ/img.png?credential=yqXZFxpELC7KVnFOS48ylbz2pIh7yKj8&amp;expires=1764514799&amp;allow_ip=&amp;allow_referer=&amp;signature=LOPR4f%2F7ajTO3mAEiwR0D6A2zu4%3D">
            <a:extLst>
              <a:ext uri="{FF2B5EF4-FFF2-40B4-BE49-F238E27FC236}">
                <a16:creationId xmlns:a16="http://schemas.microsoft.com/office/drawing/2014/main" id="{68BC8CFE-74CA-409C-A140-3D4A90A9C7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71" t="2481" r="44021" b="47257"/>
          <a:stretch/>
        </p:blipFill>
        <p:spPr bwMode="auto">
          <a:xfrm>
            <a:off x="8984780" y="3592891"/>
            <a:ext cx="2540904" cy="3088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13226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F192663F-770E-40E3-951C-F75A56B0A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ko-KR" dirty="0" err="1"/>
              <a:t>4x1</a:t>
            </a:r>
            <a:r>
              <a:rPr lang="ko-KR" altLang="en-US" dirty="0"/>
              <a:t> </a:t>
            </a:r>
            <a:r>
              <a:rPr lang="en-US" altLang="ko-KR" dirty="0"/>
              <a:t>Mux</a:t>
            </a:r>
            <a:r>
              <a:rPr lang="ko-KR" altLang="en-US" dirty="0"/>
              <a:t>의 회로도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D6FE47FB-F810-4B48-8CA9-6A883E824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en-US" altLang="ko-KR" dirty="0"/>
          </a:p>
          <a:p>
            <a:r>
              <a:rPr lang="en-US" altLang="ko-KR" dirty="0" err="1"/>
              <a:t>S0</a:t>
            </a:r>
            <a:r>
              <a:rPr lang="en-US" altLang="ko-KR" dirty="0"/>
              <a:t>’ </a:t>
            </a:r>
            <a:r>
              <a:rPr lang="en-US" altLang="ko-KR" dirty="0" err="1"/>
              <a:t>S1</a:t>
            </a:r>
            <a:r>
              <a:rPr lang="en-US" altLang="ko-KR" dirty="0"/>
              <a:t>’</a:t>
            </a:r>
            <a:r>
              <a:rPr lang="ko-KR" altLang="en-US" dirty="0"/>
              <a:t> </a:t>
            </a:r>
            <a:r>
              <a:rPr lang="en-US" altLang="ko-KR" dirty="0" err="1"/>
              <a:t>D0</a:t>
            </a:r>
            <a:r>
              <a:rPr lang="ko-KR" altLang="en-US" dirty="0"/>
              <a:t>을 </a:t>
            </a:r>
            <a:r>
              <a:rPr lang="en-US" altLang="ko-KR" dirty="0"/>
              <a:t>AND</a:t>
            </a:r>
            <a:r>
              <a:rPr lang="ko-KR" altLang="en-US" dirty="0"/>
              <a:t>로 연결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S0</a:t>
            </a:r>
            <a:r>
              <a:rPr lang="en-US" altLang="ko-KR" dirty="0"/>
              <a:t>’ </a:t>
            </a:r>
            <a:r>
              <a:rPr lang="en-US" altLang="ko-KR" dirty="0" err="1"/>
              <a:t>S1</a:t>
            </a:r>
            <a:r>
              <a:rPr lang="ko-KR" altLang="en-US" dirty="0"/>
              <a:t> </a:t>
            </a:r>
            <a:r>
              <a:rPr lang="en-US" altLang="ko-KR" dirty="0" err="1"/>
              <a:t>D1</a:t>
            </a:r>
            <a:r>
              <a:rPr lang="ko-KR" altLang="en-US" dirty="0"/>
              <a:t>을 </a:t>
            </a:r>
            <a:r>
              <a:rPr lang="en-US" altLang="ko-KR" dirty="0"/>
              <a:t>AND</a:t>
            </a:r>
            <a:r>
              <a:rPr lang="ko-KR" altLang="en-US" dirty="0"/>
              <a:t>로 연결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S0</a:t>
            </a:r>
            <a:r>
              <a:rPr lang="en-US" altLang="ko-KR" dirty="0"/>
              <a:t> </a:t>
            </a:r>
            <a:r>
              <a:rPr lang="en-US" altLang="ko-KR" dirty="0" err="1"/>
              <a:t>S1</a:t>
            </a:r>
            <a:r>
              <a:rPr lang="en-US" altLang="ko-KR" dirty="0"/>
              <a:t>’</a:t>
            </a:r>
            <a:r>
              <a:rPr lang="ko-KR" altLang="en-US" dirty="0"/>
              <a:t> </a:t>
            </a:r>
            <a:r>
              <a:rPr lang="en-US" altLang="ko-KR" dirty="0" err="1"/>
              <a:t>D2</a:t>
            </a:r>
            <a:r>
              <a:rPr lang="ko-KR" altLang="en-US" dirty="0"/>
              <a:t>을 </a:t>
            </a:r>
            <a:r>
              <a:rPr lang="en-US" altLang="ko-KR" dirty="0"/>
              <a:t>AND</a:t>
            </a:r>
            <a:r>
              <a:rPr lang="ko-KR" altLang="en-US" dirty="0"/>
              <a:t>로 연결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S0</a:t>
            </a:r>
            <a:r>
              <a:rPr lang="en-US" altLang="ko-KR" dirty="0"/>
              <a:t> </a:t>
            </a:r>
            <a:r>
              <a:rPr lang="en-US" altLang="ko-KR" dirty="0" err="1"/>
              <a:t>S1</a:t>
            </a:r>
            <a:r>
              <a:rPr lang="ko-KR" altLang="en-US" dirty="0"/>
              <a:t> </a:t>
            </a:r>
            <a:r>
              <a:rPr lang="en-US" altLang="ko-KR" dirty="0" err="1"/>
              <a:t>D3</a:t>
            </a:r>
            <a:r>
              <a:rPr lang="ko-KR" altLang="en-US" dirty="0"/>
              <a:t>을 </a:t>
            </a:r>
            <a:r>
              <a:rPr lang="en-US" altLang="ko-KR" dirty="0"/>
              <a:t>AND</a:t>
            </a:r>
            <a:r>
              <a:rPr lang="ko-KR" altLang="en-US" dirty="0"/>
              <a:t>로 연결</a:t>
            </a:r>
            <a:endParaRPr lang="en-US" altLang="ko-KR" dirty="0"/>
          </a:p>
          <a:p>
            <a:endParaRPr lang="ko-KR" altLang="en-US" dirty="0"/>
          </a:p>
        </p:txBody>
      </p:sp>
      <p:pic>
        <p:nvPicPr>
          <p:cNvPr id="6" name="Picture 4" descr="https://blog.kakaocdn.net/dna/T6jIV/btqLwLb424q/AAAAAAAAAAAAAAAAAAAAAGdZfGO7RB9BNBm14qNhWxAEBfEU7f0nV4fWGCB1WsPZ/img.png?credential=yqXZFxpELC7KVnFOS48ylbz2pIh7yKj8&amp;expires=1764514799&amp;allow_ip=&amp;allow_referer=&amp;signature=LOPR4f%2F7ajTO3mAEiwR0D6A2zu4%3D">
            <a:extLst>
              <a:ext uri="{FF2B5EF4-FFF2-40B4-BE49-F238E27FC236}">
                <a16:creationId xmlns:a16="http://schemas.microsoft.com/office/drawing/2014/main" id="{2544880A-EC67-4685-B75E-B130FBB60C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611" b="6697"/>
          <a:stretch/>
        </p:blipFill>
        <p:spPr bwMode="auto">
          <a:xfrm>
            <a:off x="7197753" y="365125"/>
            <a:ext cx="4752625" cy="5563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https://blog.kakaocdn.net/dna/T6jIV/btqLwLb424q/AAAAAAAAAAAAAAAAAAAAAGdZfGO7RB9BNBm14qNhWxAEBfEU7f0nV4fWGCB1WsPZ/img.png?credential=yqXZFxpELC7KVnFOS48ylbz2pIh7yKj8&amp;expires=1764514799&amp;allow_ip=&amp;allow_referer=&amp;signature=LOPR4f%2F7ajTO3mAEiwR0D6A2zu4%3D">
            <a:extLst>
              <a:ext uri="{FF2B5EF4-FFF2-40B4-BE49-F238E27FC236}">
                <a16:creationId xmlns:a16="http://schemas.microsoft.com/office/drawing/2014/main" id="{08B30FF3-0BBC-4225-8C43-142C095FC7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04" t="74451" r="63836" b="9651"/>
          <a:stretch/>
        </p:blipFill>
        <p:spPr bwMode="auto">
          <a:xfrm>
            <a:off x="5486400" y="5607290"/>
            <a:ext cx="3095538" cy="947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48369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70A623-949B-4AA9-8F08-17D962493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4x1</a:t>
            </a:r>
            <a:r>
              <a:rPr lang="ko-KR" altLang="en-US" dirty="0"/>
              <a:t> </a:t>
            </a:r>
            <a:r>
              <a:rPr lang="en-US" altLang="ko-KR" dirty="0"/>
              <a:t>Mux</a:t>
            </a:r>
            <a:r>
              <a:rPr lang="ko-KR" altLang="en-US" dirty="0"/>
              <a:t>의 회로도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498764-C66D-40E6-BA65-1A7AF3D60D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r>
              <a:rPr lang="en-US" altLang="ko-KR" dirty="0" err="1"/>
              <a:t>S0</a:t>
            </a:r>
            <a:r>
              <a:rPr lang="en-US" altLang="ko-KR" dirty="0"/>
              <a:t>’ </a:t>
            </a:r>
            <a:r>
              <a:rPr lang="en-US" altLang="ko-KR" dirty="0" err="1"/>
              <a:t>S1</a:t>
            </a:r>
            <a:r>
              <a:rPr lang="en-US" altLang="ko-KR" dirty="0"/>
              <a:t>’</a:t>
            </a:r>
            <a:r>
              <a:rPr lang="ko-KR" altLang="en-US" dirty="0"/>
              <a:t> </a:t>
            </a:r>
            <a:r>
              <a:rPr lang="en-US" altLang="ko-KR" dirty="0" err="1"/>
              <a:t>D0</a:t>
            </a:r>
            <a:r>
              <a:rPr lang="ko-KR" altLang="en-US" dirty="0"/>
              <a:t>을 </a:t>
            </a:r>
            <a:r>
              <a:rPr lang="en-US" altLang="ko-KR" dirty="0"/>
              <a:t>AND</a:t>
            </a:r>
            <a:r>
              <a:rPr lang="ko-KR" altLang="en-US" dirty="0"/>
              <a:t>로 연결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S0</a:t>
            </a:r>
            <a:r>
              <a:rPr lang="en-US" altLang="ko-KR" dirty="0"/>
              <a:t>’ </a:t>
            </a:r>
            <a:r>
              <a:rPr lang="en-US" altLang="ko-KR" dirty="0" err="1"/>
              <a:t>S1</a:t>
            </a:r>
            <a:r>
              <a:rPr lang="ko-KR" altLang="en-US" dirty="0"/>
              <a:t> </a:t>
            </a:r>
            <a:r>
              <a:rPr lang="en-US" altLang="ko-KR" dirty="0" err="1"/>
              <a:t>D1</a:t>
            </a:r>
            <a:r>
              <a:rPr lang="ko-KR" altLang="en-US" dirty="0"/>
              <a:t>을 </a:t>
            </a:r>
            <a:r>
              <a:rPr lang="en-US" altLang="ko-KR" dirty="0"/>
              <a:t>AND</a:t>
            </a:r>
            <a:r>
              <a:rPr lang="ko-KR" altLang="en-US" dirty="0"/>
              <a:t>로 연결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S0</a:t>
            </a:r>
            <a:r>
              <a:rPr lang="en-US" altLang="ko-KR" dirty="0"/>
              <a:t> </a:t>
            </a:r>
            <a:r>
              <a:rPr lang="en-US" altLang="ko-KR" dirty="0" err="1"/>
              <a:t>S1</a:t>
            </a:r>
            <a:r>
              <a:rPr lang="en-US" altLang="ko-KR" dirty="0"/>
              <a:t>’</a:t>
            </a:r>
            <a:r>
              <a:rPr lang="ko-KR" altLang="en-US" dirty="0"/>
              <a:t> </a:t>
            </a:r>
            <a:r>
              <a:rPr lang="en-US" altLang="ko-KR" dirty="0" err="1"/>
              <a:t>D2</a:t>
            </a:r>
            <a:r>
              <a:rPr lang="ko-KR" altLang="en-US" dirty="0"/>
              <a:t>을 </a:t>
            </a:r>
            <a:r>
              <a:rPr lang="en-US" altLang="ko-KR" dirty="0"/>
              <a:t>AND</a:t>
            </a:r>
            <a:r>
              <a:rPr lang="ko-KR" altLang="en-US" dirty="0"/>
              <a:t>로 연결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S0</a:t>
            </a:r>
            <a:r>
              <a:rPr lang="en-US" altLang="ko-KR" dirty="0"/>
              <a:t> </a:t>
            </a:r>
            <a:r>
              <a:rPr lang="en-US" altLang="ko-KR" dirty="0" err="1"/>
              <a:t>S1</a:t>
            </a:r>
            <a:r>
              <a:rPr lang="ko-KR" altLang="en-US" dirty="0"/>
              <a:t> </a:t>
            </a:r>
            <a:r>
              <a:rPr lang="en-US" altLang="ko-KR" dirty="0" err="1"/>
              <a:t>D3</a:t>
            </a:r>
            <a:r>
              <a:rPr lang="ko-KR" altLang="en-US" dirty="0"/>
              <a:t>을 </a:t>
            </a:r>
            <a:r>
              <a:rPr lang="en-US" altLang="ko-KR" dirty="0"/>
              <a:t>AND</a:t>
            </a:r>
            <a:r>
              <a:rPr lang="ko-KR" altLang="en-US" dirty="0"/>
              <a:t>로 연결</a:t>
            </a:r>
            <a:endParaRPr lang="en-US" altLang="ko-KR" dirty="0"/>
          </a:p>
          <a:p>
            <a:endParaRPr lang="ko-KR" altLang="en-US" dirty="0"/>
          </a:p>
        </p:txBody>
      </p:sp>
      <p:pic>
        <p:nvPicPr>
          <p:cNvPr id="4100" name="Picture 4" descr="https://blog.kakaocdn.net/dna/T6jIV/btqLwLb424q/AAAAAAAAAAAAAAAAAAAAAGdZfGO7RB9BNBm14qNhWxAEBfEU7f0nV4fWGCB1WsPZ/img.png?credential=yqXZFxpELC7KVnFOS48ylbz2pIh7yKj8&amp;expires=1764514799&amp;allow_ip=&amp;allow_referer=&amp;signature=LOPR4f%2F7ajTO3mAEiwR0D6A2zu4%3D">
            <a:extLst>
              <a:ext uri="{FF2B5EF4-FFF2-40B4-BE49-F238E27FC236}">
                <a16:creationId xmlns:a16="http://schemas.microsoft.com/office/drawing/2014/main" id="{00A002F9-60B4-466A-AAEC-9615133789A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611" b="6697"/>
          <a:stretch/>
        </p:blipFill>
        <p:spPr bwMode="auto">
          <a:xfrm>
            <a:off x="7197753" y="365125"/>
            <a:ext cx="4752625" cy="5563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https://blog.kakaocdn.net/dna/T6jIV/btqLwLb424q/AAAAAAAAAAAAAAAAAAAAAGdZfGO7RB9BNBm14qNhWxAEBfEU7f0nV4fWGCB1WsPZ/img.png?credential=yqXZFxpELC7KVnFOS48ylbz2pIh7yKj8&amp;expires=1764514799&amp;allow_ip=&amp;allow_referer=&amp;signature=LOPR4f%2F7ajTO3mAEiwR0D6A2zu4%3D">
            <a:extLst>
              <a:ext uri="{FF2B5EF4-FFF2-40B4-BE49-F238E27FC236}">
                <a16:creationId xmlns:a16="http://schemas.microsoft.com/office/drawing/2014/main" id="{D8249A3C-5EB8-476F-A5B2-BEFC67C4B5E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04" t="74451" r="63836" b="9651"/>
          <a:stretch/>
        </p:blipFill>
        <p:spPr bwMode="auto">
          <a:xfrm>
            <a:off x="5486400" y="5607290"/>
            <a:ext cx="3095538" cy="947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AAE664C-1BA3-4579-8EFD-AF5BC1D861C7}"/>
              </a:ext>
            </a:extLst>
          </p:cNvPr>
          <p:cNvSpPr txBox="1"/>
          <p:nvPr/>
        </p:nvSpPr>
        <p:spPr>
          <a:xfrm>
            <a:off x="9278150" y="5466817"/>
            <a:ext cx="5918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 err="1">
                <a:solidFill>
                  <a:srgbClr val="C00000"/>
                </a:solidFill>
              </a:rPr>
              <a:t>D2</a:t>
            </a:r>
            <a:endParaRPr lang="ko-KR" altLang="en-US" sz="2400" b="1" dirty="0">
              <a:solidFill>
                <a:srgbClr val="C0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84C096-788C-405F-A425-2B6CE62841CE}"/>
              </a:ext>
            </a:extLst>
          </p:cNvPr>
          <p:cNvSpPr txBox="1"/>
          <p:nvPr/>
        </p:nvSpPr>
        <p:spPr>
          <a:xfrm>
            <a:off x="11537901" y="0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C00000"/>
                </a:solidFill>
              </a:rPr>
              <a:t>0</a:t>
            </a:r>
            <a:endParaRPr lang="ko-KR" altLang="en-US" sz="2400" b="1" dirty="0">
              <a:solidFill>
                <a:srgbClr val="C0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B341B5-4846-4E4E-B42A-920231BD10A8}"/>
              </a:ext>
            </a:extLst>
          </p:cNvPr>
          <p:cNvSpPr txBox="1"/>
          <p:nvPr/>
        </p:nvSpPr>
        <p:spPr>
          <a:xfrm>
            <a:off x="11016139" y="0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C00000"/>
                </a:solidFill>
              </a:rPr>
              <a:t>1</a:t>
            </a:r>
            <a:endParaRPr lang="ko-KR" altLang="en-US" sz="2400" b="1" dirty="0">
              <a:solidFill>
                <a:srgbClr val="C0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6493CF-DE7E-4957-B143-3C0BFEEFB8C1}"/>
              </a:ext>
            </a:extLst>
          </p:cNvPr>
          <p:cNvSpPr txBox="1"/>
          <p:nvPr/>
        </p:nvSpPr>
        <p:spPr>
          <a:xfrm>
            <a:off x="7554528" y="2593597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C00000"/>
                </a:solidFill>
              </a:rPr>
              <a:t>1</a:t>
            </a:r>
            <a:endParaRPr lang="ko-KR" altLang="en-US" sz="2400" b="1" dirty="0">
              <a:solidFill>
                <a:srgbClr val="C0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A3AF6B-AE05-4C0E-AE9E-8CDB760ADF7F}"/>
              </a:ext>
            </a:extLst>
          </p:cNvPr>
          <p:cNvSpPr txBox="1"/>
          <p:nvPr/>
        </p:nvSpPr>
        <p:spPr>
          <a:xfrm>
            <a:off x="7735828" y="2603655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C00000"/>
                </a:solidFill>
              </a:rPr>
              <a:t>0</a:t>
            </a:r>
            <a:endParaRPr lang="ko-KR" altLang="en-US" sz="2400" b="1" dirty="0">
              <a:solidFill>
                <a:srgbClr val="C0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A1129B-6541-4753-AE46-E0A36FC48433}"/>
              </a:ext>
            </a:extLst>
          </p:cNvPr>
          <p:cNvSpPr txBox="1"/>
          <p:nvPr/>
        </p:nvSpPr>
        <p:spPr>
          <a:xfrm>
            <a:off x="8546303" y="2601986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C00000"/>
                </a:solidFill>
              </a:rPr>
              <a:t>1</a:t>
            </a:r>
            <a:endParaRPr lang="ko-KR" altLang="en-US" sz="2400" b="1" dirty="0">
              <a:solidFill>
                <a:srgbClr val="C0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0585A2-71E7-4A60-9ACE-FD07313759C7}"/>
              </a:ext>
            </a:extLst>
          </p:cNvPr>
          <p:cNvSpPr txBox="1"/>
          <p:nvPr/>
        </p:nvSpPr>
        <p:spPr>
          <a:xfrm>
            <a:off x="8727603" y="2601986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C00000"/>
                </a:solidFill>
              </a:rPr>
              <a:t>1</a:t>
            </a:r>
            <a:endParaRPr lang="ko-KR" altLang="en-US" sz="2400" b="1" dirty="0">
              <a:solidFill>
                <a:srgbClr val="C0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C23FC4-6E6C-44BE-82CC-F32C232CDC87}"/>
              </a:ext>
            </a:extLst>
          </p:cNvPr>
          <p:cNvSpPr txBox="1"/>
          <p:nvPr/>
        </p:nvSpPr>
        <p:spPr>
          <a:xfrm>
            <a:off x="9538078" y="2601986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C00000"/>
                </a:solidFill>
              </a:rPr>
              <a:t>0</a:t>
            </a:r>
            <a:endParaRPr lang="ko-KR" altLang="en-US" sz="2400" b="1" dirty="0">
              <a:solidFill>
                <a:srgbClr val="C0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79425F4-E4D5-4C21-BFFB-432EE3EA31F9}"/>
              </a:ext>
            </a:extLst>
          </p:cNvPr>
          <p:cNvSpPr txBox="1"/>
          <p:nvPr/>
        </p:nvSpPr>
        <p:spPr>
          <a:xfrm>
            <a:off x="9732448" y="2601986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C00000"/>
                </a:solidFill>
              </a:rPr>
              <a:t>0</a:t>
            </a:r>
            <a:endParaRPr lang="ko-KR" altLang="en-US" sz="2400" b="1" dirty="0">
              <a:solidFill>
                <a:srgbClr val="C0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5EB86C-C0FD-4936-8EB1-FC4C496D82B8}"/>
              </a:ext>
            </a:extLst>
          </p:cNvPr>
          <p:cNvSpPr txBox="1"/>
          <p:nvPr/>
        </p:nvSpPr>
        <p:spPr>
          <a:xfrm>
            <a:off x="10524959" y="2601986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C00000"/>
                </a:solidFill>
              </a:rPr>
              <a:t>0</a:t>
            </a:r>
            <a:endParaRPr lang="ko-KR" altLang="en-US" sz="2400" b="1" dirty="0">
              <a:solidFill>
                <a:srgbClr val="C0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F119D55-9C9A-44AA-A399-427E2F26FB0C}"/>
              </a:ext>
            </a:extLst>
          </p:cNvPr>
          <p:cNvSpPr txBox="1"/>
          <p:nvPr/>
        </p:nvSpPr>
        <p:spPr>
          <a:xfrm>
            <a:off x="10706259" y="2601986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C00000"/>
                </a:solidFill>
              </a:rPr>
              <a:t>1</a:t>
            </a:r>
            <a:endParaRPr lang="ko-KR" altLang="en-US" sz="2400" b="1" dirty="0">
              <a:solidFill>
                <a:srgbClr val="C0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85E36E-D112-49A3-A23E-96819E50285A}"/>
              </a:ext>
            </a:extLst>
          </p:cNvPr>
          <p:cNvSpPr txBox="1"/>
          <p:nvPr/>
        </p:nvSpPr>
        <p:spPr>
          <a:xfrm>
            <a:off x="7554528" y="3756598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C00000"/>
                </a:solidFill>
              </a:rPr>
              <a:t>0</a:t>
            </a:r>
            <a:endParaRPr lang="ko-KR" altLang="en-US" sz="2400" b="1" dirty="0">
              <a:solidFill>
                <a:srgbClr val="C0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60EAB3B-7FA0-4D03-B8E8-D0FA93940FF7}"/>
              </a:ext>
            </a:extLst>
          </p:cNvPr>
          <p:cNvSpPr txBox="1"/>
          <p:nvPr/>
        </p:nvSpPr>
        <p:spPr>
          <a:xfrm>
            <a:off x="9551148" y="3750592"/>
            <a:ext cx="362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rgbClr val="C00000"/>
                </a:solidFill>
              </a:rPr>
              <a:t>0</a:t>
            </a:r>
            <a:endParaRPr lang="ko-KR" altLang="en-US" sz="2400" b="1" dirty="0">
              <a:solidFill>
                <a:srgbClr val="C0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42FBDAB-000E-4807-A9D1-DAADB44ECEA1}"/>
              </a:ext>
            </a:extLst>
          </p:cNvPr>
          <p:cNvSpPr txBox="1"/>
          <p:nvPr/>
        </p:nvSpPr>
        <p:spPr>
          <a:xfrm>
            <a:off x="10524959" y="3750592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C00000"/>
                </a:solidFill>
              </a:rPr>
              <a:t>0</a:t>
            </a:r>
            <a:endParaRPr lang="ko-KR" altLang="en-US" sz="2400" b="1" dirty="0">
              <a:solidFill>
                <a:srgbClr val="C0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A83B5E5-7FF3-4C47-8FB4-F717358D5139}"/>
              </a:ext>
            </a:extLst>
          </p:cNvPr>
          <p:cNvSpPr txBox="1"/>
          <p:nvPr/>
        </p:nvSpPr>
        <p:spPr>
          <a:xfrm>
            <a:off x="8404083" y="3781051"/>
            <a:ext cx="5918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 err="1">
                <a:solidFill>
                  <a:srgbClr val="C00000"/>
                </a:solidFill>
              </a:rPr>
              <a:t>D2</a:t>
            </a:r>
            <a:endParaRPr lang="ko-KR" altLang="en-US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23257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9A9636-7CE0-4A20-83E8-038143A66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2x1</a:t>
            </a:r>
            <a:r>
              <a:rPr lang="en-US" altLang="ko-KR" dirty="0"/>
              <a:t> Mux</a:t>
            </a:r>
            <a:r>
              <a:rPr lang="ko-KR" altLang="en-US" dirty="0"/>
              <a:t>를 이용한 </a:t>
            </a:r>
            <a:r>
              <a:rPr lang="en-US" altLang="ko-KR" dirty="0" err="1"/>
              <a:t>4x1</a:t>
            </a:r>
            <a:r>
              <a:rPr lang="en-US" altLang="ko-KR" dirty="0"/>
              <a:t> Mux </a:t>
            </a:r>
            <a:r>
              <a:rPr lang="ko-KR" altLang="en-US" dirty="0"/>
              <a:t>표현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346E93B-78FC-4680-9F92-0C2EAE5D8F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807" y="1752824"/>
            <a:ext cx="7978831" cy="4740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4587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7EE371D1-0E71-4EA7-B4A7-0896392CC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ko-KR" dirty="0" err="1"/>
              <a:t>2x1</a:t>
            </a:r>
            <a:r>
              <a:rPr lang="en-US" altLang="ko-KR" dirty="0"/>
              <a:t> Mux</a:t>
            </a:r>
            <a:r>
              <a:rPr lang="ko-KR" altLang="en-US" dirty="0"/>
              <a:t>를 이용한 </a:t>
            </a:r>
            <a:r>
              <a:rPr lang="en-US" altLang="ko-KR" dirty="0" err="1"/>
              <a:t>4x1</a:t>
            </a:r>
            <a:r>
              <a:rPr lang="en-US" altLang="ko-KR" dirty="0"/>
              <a:t> Mux </a:t>
            </a:r>
            <a:r>
              <a:rPr lang="ko-KR" altLang="en-US" dirty="0"/>
              <a:t>표현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B43FECC-FC12-40CC-B226-2820BDF128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807" y="1752824"/>
            <a:ext cx="7978831" cy="47400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99D2E21-D2FE-4B0B-86CB-2415F3749F61}"/>
              </a:ext>
            </a:extLst>
          </p:cNvPr>
          <p:cNvSpPr txBox="1"/>
          <p:nvPr/>
        </p:nvSpPr>
        <p:spPr>
          <a:xfrm>
            <a:off x="2969228" y="3788506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C00000"/>
                </a:solidFill>
              </a:rPr>
              <a:t>0</a:t>
            </a:r>
            <a:endParaRPr lang="ko-KR" altLang="en-US" sz="2400" b="1" dirty="0">
              <a:solidFill>
                <a:srgbClr val="C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FFEBA0-9E99-4569-93A3-904203F74AAF}"/>
              </a:ext>
            </a:extLst>
          </p:cNvPr>
          <p:cNvSpPr txBox="1"/>
          <p:nvPr/>
        </p:nvSpPr>
        <p:spPr>
          <a:xfrm>
            <a:off x="2995912" y="6031210"/>
            <a:ext cx="309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rgbClr val="C00000"/>
                </a:solidFill>
              </a:rPr>
              <a:t>0</a:t>
            </a:r>
            <a:endParaRPr lang="ko-KR" altLang="en-US" sz="2400" b="1" dirty="0">
              <a:solidFill>
                <a:srgbClr val="C0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4C7B50-D23B-468C-8509-044403B3D635}"/>
              </a:ext>
            </a:extLst>
          </p:cNvPr>
          <p:cNvSpPr txBox="1"/>
          <p:nvPr/>
        </p:nvSpPr>
        <p:spPr>
          <a:xfrm>
            <a:off x="5571451" y="5163542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C00000"/>
                </a:solidFill>
              </a:rPr>
              <a:t>1</a:t>
            </a:r>
            <a:endParaRPr lang="ko-KR" altLang="en-US" sz="2400" b="1" dirty="0">
              <a:solidFill>
                <a:srgbClr val="C0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15EEBE-A90E-47D5-B34F-A7BE0B733BB7}"/>
              </a:ext>
            </a:extLst>
          </p:cNvPr>
          <p:cNvSpPr txBox="1"/>
          <p:nvPr/>
        </p:nvSpPr>
        <p:spPr>
          <a:xfrm>
            <a:off x="4036265" y="2646845"/>
            <a:ext cx="4475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 err="1">
                <a:solidFill>
                  <a:srgbClr val="C00000"/>
                </a:solidFill>
              </a:rPr>
              <a:t>i0</a:t>
            </a:r>
            <a:endParaRPr lang="ko-KR" altLang="en-US" sz="2400" b="1" dirty="0">
              <a:solidFill>
                <a:srgbClr val="C0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2431A3-086C-4478-A409-C783DDA57C7A}"/>
              </a:ext>
            </a:extLst>
          </p:cNvPr>
          <p:cNvSpPr txBox="1"/>
          <p:nvPr/>
        </p:nvSpPr>
        <p:spPr>
          <a:xfrm>
            <a:off x="3920217" y="4846159"/>
            <a:ext cx="4475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 err="1">
                <a:solidFill>
                  <a:srgbClr val="C00000"/>
                </a:solidFill>
              </a:rPr>
              <a:t>i2</a:t>
            </a:r>
            <a:endParaRPr lang="ko-KR" altLang="en-US" sz="2400" b="1" dirty="0">
              <a:solidFill>
                <a:srgbClr val="C0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FFEA66-A194-4F35-B400-0310EDAD9E94}"/>
              </a:ext>
            </a:extLst>
          </p:cNvPr>
          <p:cNvSpPr txBox="1"/>
          <p:nvPr/>
        </p:nvSpPr>
        <p:spPr>
          <a:xfrm>
            <a:off x="6739061" y="3429000"/>
            <a:ext cx="4475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 err="1">
                <a:solidFill>
                  <a:srgbClr val="C00000"/>
                </a:solidFill>
              </a:rPr>
              <a:t>i2</a:t>
            </a:r>
            <a:endParaRPr lang="ko-KR" altLang="en-US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28913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837D0E-B83A-4FCF-BFAF-DA9C1A29A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2x4</a:t>
            </a:r>
            <a:r>
              <a:rPr lang="en-US" altLang="ko-KR" dirty="0"/>
              <a:t> Decoder</a:t>
            </a:r>
            <a:r>
              <a:rPr lang="ko-KR" altLang="en-US" dirty="0"/>
              <a:t>와 </a:t>
            </a:r>
            <a:r>
              <a:rPr lang="en-US" altLang="ko-KR" dirty="0" err="1"/>
              <a:t>4x1</a:t>
            </a:r>
            <a:r>
              <a:rPr lang="en-US" altLang="ko-KR" dirty="0"/>
              <a:t> Mux</a:t>
            </a:r>
            <a:r>
              <a:rPr lang="ko-KR" altLang="en-US" dirty="0"/>
              <a:t>의 결합</a:t>
            </a:r>
          </a:p>
        </p:txBody>
      </p:sp>
      <p:pic>
        <p:nvPicPr>
          <p:cNvPr id="5" name="Picture 2" descr="https://qph.cf2.quoracdn.net/main-qimg-f4e0875e1d1646aecacacc6f7f5f3333">
            <a:extLst>
              <a:ext uri="{FF2B5EF4-FFF2-40B4-BE49-F238E27FC236}">
                <a16:creationId xmlns:a16="http://schemas.microsoft.com/office/drawing/2014/main" id="{C2412B31-2DAE-4779-8621-A9CEF1D27C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4497" y="1952595"/>
            <a:ext cx="4922916" cy="4482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68477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https://qph.cf2.quoracdn.net/main-qimg-f4e0875e1d1646aecacacc6f7f5f3333">
            <a:extLst>
              <a:ext uri="{FF2B5EF4-FFF2-40B4-BE49-F238E27FC236}">
                <a16:creationId xmlns:a16="http://schemas.microsoft.com/office/drawing/2014/main" id="{7DB9410A-A166-4578-A823-4FD55FC2BC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4497" y="1952595"/>
            <a:ext cx="4922916" cy="4482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89837D0E-B83A-4FCF-BFAF-DA9C1A29A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2x4</a:t>
            </a:r>
            <a:r>
              <a:rPr lang="en-US" altLang="ko-KR" dirty="0"/>
              <a:t> Decoder</a:t>
            </a:r>
            <a:r>
              <a:rPr lang="ko-KR" altLang="en-US" dirty="0"/>
              <a:t>와 </a:t>
            </a:r>
            <a:r>
              <a:rPr lang="en-US" altLang="ko-KR" dirty="0" err="1"/>
              <a:t>4x1</a:t>
            </a:r>
            <a:r>
              <a:rPr lang="en-US" altLang="ko-KR" dirty="0"/>
              <a:t> Mux</a:t>
            </a:r>
            <a:r>
              <a:rPr lang="ko-KR" altLang="en-US" dirty="0"/>
              <a:t>의 결합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4B665B-CBB8-4741-93B5-AD486E64AC88}"/>
              </a:ext>
            </a:extLst>
          </p:cNvPr>
          <p:cNvSpPr txBox="1"/>
          <p:nvPr/>
        </p:nvSpPr>
        <p:spPr>
          <a:xfrm>
            <a:off x="4437764" y="1687318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C00000"/>
                </a:solidFill>
              </a:rPr>
              <a:t>1</a:t>
            </a:r>
            <a:endParaRPr lang="ko-KR" altLang="en-US" sz="2400" b="1" dirty="0">
              <a:solidFill>
                <a:srgbClr val="C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32601D-346C-4662-9553-2D0E55E59D36}"/>
              </a:ext>
            </a:extLst>
          </p:cNvPr>
          <p:cNvSpPr txBox="1"/>
          <p:nvPr/>
        </p:nvSpPr>
        <p:spPr>
          <a:xfrm>
            <a:off x="4894501" y="1690688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C00000"/>
                </a:solidFill>
              </a:rPr>
              <a:t>0</a:t>
            </a:r>
            <a:endParaRPr lang="ko-KR" altLang="en-US" sz="2400" b="1" dirty="0">
              <a:solidFill>
                <a:srgbClr val="C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E3A2CA-D59A-41EF-8B44-841BCE23CF7E}"/>
              </a:ext>
            </a:extLst>
          </p:cNvPr>
          <p:cNvSpPr txBox="1"/>
          <p:nvPr/>
        </p:nvSpPr>
        <p:spPr>
          <a:xfrm>
            <a:off x="5137782" y="3654927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C00000"/>
                </a:solidFill>
              </a:rPr>
              <a:t>0</a:t>
            </a:r>
            <a:endParaRPr lang="ko-KR" altLang="en-US" sz="2400" b="1" dirty="0">
              <a:solidFill>
                <a:srgbClr val="C0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910E30-7DB6-4C6C-B5A2-BF8240100A11}"/>
              </a:ext>
            </a:extLst>
          </p:cNvPr>
          <p:cNvSpPr txBox="1"/>
          <p:nvPr/>
        </p:nvSpPr>
        <p:spPr>
          <a:xfrm>
            <a:off x="4713201" y="4243983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C00000"/>
                </a:solidFill>
              </a:rPr>
              <a:t>1</a:t>
            </a:r>
            <a:endParaRPr lang="ko-KR" altLang="en-US" sz="2400" b="1" dirty="0">
              <a:solidFill>
                <a:srgbClr val="C0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30FC95-1A5E-4A03-86BD-C2EE9458C9A0}"/>
              </a:ext>
            </a:extLst>
          </p:cNvPr>
          <p:cNvSpPr txBox="1"/>
          <p:nvPr/>
        </p:nvSpPr>
        <p:spPr>
          <a:xfrm>
            <a:off x="4256464" y="4860978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C00000"/>
                </a:solidFill>
              </a:rPr>
              <a:t>0</a:t>
            </a:r>
            <a:endParaRPr lang="ko-KR" altLang="en-US" sz="2400" b="1" dirty="0">
              <a:solidFill>
                <a:srgbClr val="C0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5EF643-D765-407D-830E-A9EBEFCF49D2}"/>
              </a:ext>
            </a:extLst>
          </p:cNvPr>
          <p:cNvSpPr txBox="1"/>
          <p:nvPr/>
        </p:nvSpPr>
        <p:spPr>
          <a:xfrm>
            <a:off x="7938900" y="4705648"/>
            <a:ext cx="4475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 err="1">
                <a:solidFill>
                  <a:srgbClr val="C00000"/>
                </a:solidFill>
              </a:rPr>
              <a:t>i2</a:t>
            </a:r>
            <a:endParaRPr lang="ko-KR" altLang="en-US" sz="2400" b="1" dirty="0">
              <a:solidFill>
                <a:srgbClr val="C0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94BABF-8180-49B0-8CF8-3D0C81C144DB}"/>
              </a:ext>
            </a:extLst>
          </p:cNvPr>
          <p:cNvSpPr txBox="1"/>
          <p:nvPr/>
        </p:nvSpPr>
        <p:spPr>
          <a:xfrm>
            <a:off x="3859370" y="5517466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C00000"/>
                </a:solidFill>
              </a:rPr>
              <a:t>0</a:t>
            </a:r>
            <a:endParaRPr lang="ko-KR" altLang="en-US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12769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837D0E-B83A-4FCF-BFAF-DA9C1A29A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3x8</a:t>
            </a:r>
            <a:r>
              <a:rPr lang="en-US" altLang="ko-KR" dirty="0"/>
              <a:t> Decoder</a:t>
            </a:r>
            <a:r>
              <a:rPr lang="ko-KR" altLang="en-US" dirty="0"/>
              <a:t>와 </a:t>
            </a:r>
            <a:r>
              <a:rPr lang="en-US" altLang="ko-KR" dirty="0" err="1"/>
              <a:t>8x1</a:t>
            </a:r>
            <a:r>
              <a:rPr lang="en-US" altLang="ko-KR" dirty="0"/>
              <a:t> Mux</a:t>
            </a:r>
            <a:r>
              <a:rPr lang="ko-KR" altLang="en-US" dirty="0"/>
              <a:t>의 결합</a:t>
            </a:r>
          </a:p>
        </p:txBody>
      </p:sp>
      <p:pic>
        <p:nvPicPr>
          <p:cNvPr id="6148" name="Picture 4" descr="https://blog.kakaocdn.net/dna/czoKse/btqLuBaqmho/AAAAAAAAAAAAAAAAAAAAAGfbdy-wohCxUmB34l19jZ2U52Z7XotR6fQ4-frQq0o4/img.png?credential=yqXZFxpELC7KVnFOS48ylbz2pIh7yKj8&amp;expires=1764514799&amp;allow_ip=&amp;allow_referer=&amp;signature=a5i%2BTiCREDhB%2FV%2FrslQjidklvJ8%3D">
            <a:extLst>
              <a:ext uri="{FF2B5EF4-FFF2-40B4-BE49-F238E27FC236}">
                <a16:creationId xmlns:a16="http://schemas.microsoft.com/office/drawing/2014/main" id="{327BBEAE-6618-46E3-9CD1-BEE0435803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389"/>
          <a:stretch/>
        </p:blipFill>
        <p:spPr bwMode="auto">
          <a:xfrm>
            <a:off x="2333865" y="1690688"/>
            <a:ext cx="7524270" cy="3804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50877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4" descr="https://blog.kakaocdn.net/dna/czoKse/btqLuBaqmho/AAAAAAAAAAAAAAAAAAAAAGfbdy-wohCxUmB34l19jZ2U52Z7XotR6fQ4-frQq0o4/img.png?credential=yqXZFxpELC7KVnFOS48ylbz2pIh7yKj8&amp;expires=1764514799&amp;allow_ip=&amp;allow_referer=&amp;signature=a5i%2BTiCREDhB%2FV%2FrslQjidklvJ8%3D">
            <a:extLst>
              <a:ext uri="{FF2B5EF4-FFF2-40B4-BE49-F238E27FC236}">
                <a16:creationId xmlns:a16="http://schemas.microsoft.com/office/drawing/2014/main" id="{DF954850-AE7D-4654-8D34-80B87F4377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389"/>
          <a:stretch/>
        </p:blipFill>
        <p:spPr bwMode="auto">
          <a:xfrm>
            <a:off x="2333865" y="1690688"/>
            <a:ext cx="7524270" cy="3804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제목 1">
            <a:extLst>
              <a:ext uri="{FF2B5EF4-FFF2-40B4-BE49-F238E27FC236}">
                <a16:creationId xmlns:a16="http://schemas.microsoft.com/office/drawing/2014/main" id="{F922F3EC-DD6C-485C-95FD-671ECFF3A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ko-KR" dirty="0" err="1"/>
              <a:t>3x8</a:t>
            </a:r>
            <a:r>
              <a:rPr lang="en-US" altLang="ko-KR" dirty="0"/>
              <a:t> Decoder</a:t>
            </a:r>
            <a:r>
              <a:rPr lang="ko-KR" altLang="en-US" dirty="0"/>
              <a:t>와 </a:t>
            </a:r>
            <a:r>
              <a:rPr lang="en-US" altLang="ko-KR" dirty="0" err="1"/>
              <a:t>8x1</a:t>
            </a:r>
            <a:r>
              <a:rPr lang="en-US" altLang="ko-KR" dirty="0"/>
              <a:t> Mux</a:t>
            </a:r>
            <a:r>
              <a:rPr lang="ko-KR" altLang="en-US" dirty="0"/>
              <a:t>의 결합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B50137-7055-424E-AE77-7EED130D05FB}"/>
              </a:ext>
            </a:extLst>
          </p:cNvPr>
          <p:cNvSpPr txBox="1"/>
          <p:nvPr/>
        </p:nvSpPr>
        <p:spPr>
          <a:xfrm>
            <a:off x="4657052" y="2135034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C00000"/>
                </a:solidFill>
              </a:rPr>
              <a:t>0</a:t>
            </a:r>
            <a:endParaRPr lang="ko-KR" altLang="en-US" sz="2400" b="1" dirty="0">
              <a:solidFill>
                <a:srgbClr val="C0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D7B43F-A806-42F5-80DA-F85707D76537}"/>
              </a:ext>
            </a:extLst>
          </p:cNvPr>
          <p:cNvSpPr txBox="1"/>
          <p:nvPr/>
        </p:nvSpPr>
        <p:spPr>
          <a:xfrm>
            <a:off x="4657052" y="2445424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C00000"/>
                </a:solidFill>
              </a:rPr>
              <a:t>1</a:t>
            </a:r>
            <a:endParaRPr lang="ko-KR" altLang="en-US" sz="2400" b="1" dirty="0">
              <a:solidFill>
                <a:srgbClr val="C0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824541-24BB-4158-94E4-BC28433C7FAE}"/>
              </a:ext>
            </a:extLst>
          </p:cNvPr>
          <p:cNvSpPr txBox="1"/>
          <p:nvPr/>
        </p:nvSpPr>
        <p:spPr>
          <a:xfrm>
            <a:off x="4657052" y="2741566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C00000"/>
                </a:solidFill>
              </a:rPr>
              <a:t>1</a:t>
            </a:r>
            <a:endParaRPr lang="ko-KR" altLang="en-US" sz="2400" b="1" dirty="0">
              <a:solidFill>
                <a:srgbClr val="C0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61F126-5637-4D9B-B2F2-55B9B4BB3234}"/>
              </a:ext>
            </a:extLst>
          </p:cNvPr>
          <p:cNvSpPr txBox="1"/>
          <p:nvPr/>
        </p:nvSpPr>
        <p:spPr>
          <a:xfrm>
            <a:off x="7938546" y="2907089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C00000"/>
                </a:solidFill>
              </a:rPr>
              <a:t>1</a:t>
            </a:r>
            <a:endParaRPr lang="ko-KR" altLang="en-US" sz="2400" b="1" dirty="0">
              <a:solidFill>
                <a:srgbClr val="C0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0CEC83-290E-4A4D-A3BD-1417A61EF783}"/>
              </a:ext>
            </a:extLst>
          </p:cNvPr>
          <p:cNvSpPr txBox="1"/>
          <p:nvPr/>
        </p:nvSpPr>
        <p:spPr>
          <a:xfrm>
            <a:off x="6116499" y="2907088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C00000"/>
                </a:solidFill>
              </a:rPr>
              <a:t>0</a:t>
            </a:r>
            <a:endParaRPr lang="ko-KR" altLang="en-US" sz="2400" b="1" dirty="0">
              <a:solidFill>
                <a:srgbClr val="C0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FB0D2B-E0BD-4115-80D0-FE33A002B6A7}"/>
              </a:ext>
            </a:extLst>
          </p:cNvPr>
          <p:cNvSpPr txBox="1"/>
          <p:nvPr/>
        </p:nvSpPr>
        <p:spPr>
          <a:xfrm>
            <a:off x="6571140" y="2907087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C00000"/>
                </a:solidFill>
              </a:rPr>
              <a:t>0</a:t>
            </a:r>
            <a:endParaRPr lang="ko-KR" altLang="en-US" sz="2400" b="1" dirty="0">
              <a:solidFill>
                <a:srgbClr val="C0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314102-E36D-4B5A-A755-2FA722DF8E7B}"/>
              </a:ext>
            </a:extLst>
          </p:cNvPr>
          <p:cNvSpPr txBox="1"/>
          <p:nvPr/>
        </p:nvSpPr>
        <p:spPr>
          <a:xfrm>
            <a:off x="7029264" y="2896437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C00000"/>
                </a:solidFill>
              </a:rPr>
              <a:t>0</a:t>
            </a:r>
            <a:endParaRPr lang="ko-KR" altLang="en-US" sz="2400" b="1" dirty="0">
              <a:solidFill>
                <a:srgbClr val="C0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60AF706-79C9-4989-9DBD-C8A73B7596DD}"/>
              </a:ext>
            </a:extLst>
          </p:cNvPr>
          <p:cNvSpPr txBox="1"/>
          <p:nvPr/>
        </p:nvSpPr>
        <p:spPr>
          <a:xfrm>
            <a:off x="7483905" y="2896436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C00000"/>
                </a:solidFill>
              </a:rPr>
              <a:t>0</a:t>
            </a:r>
            <a:endParaRPr lang="ko-KR" altLang="en-US" sz="2400" b="1" dirty="0">
              <a:solidFill>
                <a:srgbClr val="C0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A67E762-BE68-473E-ACBC-AC29834ECDA8}"/>
              </a:ext>
            </a:extLst>
          </p:cNvPr>
          <p:cNvSpPr txBox="1"/>
          <p:nvPr/>
        </p:nvSpPr>
        <p:spPr>
          <a:xfrm>
            <a:off x="8384798" y="2921604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C00000"/>
                </a:solidFill>
              </a:rPr>
              <a:t>0</a:t>
            </a:r>
            <a:endParaRPr lang="ko-KR" altLang="en-US" sz="2400" b="1" dirty="0">
              <a:solidFill>
                <a:srgbClr val="C0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FD471C4-88F3-4BCD-8826-29E674627D67}"/>
              </a:ext>
            </a:extLst>
          </p:cNvPr>
          <p:cNvSpPr txBox="1"/>
          <p:nvPr/>
        </p:nvSpPr>
        <p:spPr>
          <a:xfrm>
            <a:off x="8839439" y="2921603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C00000"/>
                </a:solidFill>
              </a:rPr>
              <a:t>0</a:t>
            </a:r>
            <a:endParaRPr lang="ko-KR" altLang="en-US" sz="2400" b="1" dirty="0">
              <a:solidFill>
                <a:srgbClr val="C0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5E2B3D-42D0-4948-AD31-2182E614E48F}"/>
              </a:ext>
            </a:extLst>
          </p:cNvPr>
          <p:cNvSpPr txBox="1"/>
          <p:nvPr/>
        </p:nvSpPr>
        <p:spPr>
          <a:xfrm>
            <a:off x="9297563" y="2910953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C00000"/>
                </a:solidFill>
              </a:rPr>
              <a:t>0</a:t>
            </a:r>
            <a:endParaRPr lang="ko-KR" altLang="en-US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03465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897886-14E7-49C5-9465-291EC6185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Multi-bit Mux</a:t>
            </a:r>
            <a:endParaRPr lang="ko-KR" altLang="en-US" dirty="0"/>
          </a:p>
        </p:txBody>
      </p:sp>
      <p:pic>
        <p:nvPicPr>
          <p:cNvPr id="7170" name="Picture 2" descr="https://blog.kakaocdn.net/dna/GkXPJ/btqLvfZldep/AAAAAAAAAAAAAAAAAAAAAKL8h_xgIt9we0DXOzDOmTh2gyV5kaQSpF3c933iubrU/img.png?credential=yqXZFxpELC7KVnFOS48ylbz2pIh7yKj8&amp;expires=1764514799&amp;allow_ip=&amp;allow_referer=&amp;signature=jkjvOAvpRmlri%2FtsZBo9YIzAKRY%3D">
            <a:extLst>
              <a:ext uri="{FF2B5EF4-FFF2-40B4-BE49-F238E27FC236}">
                <a16:creationId xmlns:a16="http://schemas.microsoft.com/office/drawing/2014/main" id="{31927AA8-E010-4BBB-B7D7-0169E58581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196324"/>
            <a:ext cx="6030548" cy="646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EAFAE079-F0AF-4661-A922-0294C2DE6B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en-US" altLang="ko-KR" dirty="0"/>
          </a:p>
          <a:p>
            <a:r>
              <a:rPr lang="en-US" altLang="ko-KR" dirty="0"/>
              <a:t>W = </a:t>
            </a:r>
            <a:r>
              <a:rPr lang="en-US" altLang="ko-KR" dirty="0" err="1"/>
              <a:t>w2</a:t>
            </a:r>
            <a:r>
              <a:rPr lang="en-US" altLang="ko-KR" dirty="0"/>
              <a:t> </a:t>
            </a:r>
            <a:r>
              <a:rPr lang="en-US" altLang="ko-KR" dirty="0" err="1"/>
              <a:t>w1</a:t>
            </a:r>
            <a:r>
              <a:rPr lang="en-US" altLang="ko-KR" dirty="0"/>
              <a:t> </a:t>
            </a:r>
            <a:r>
              <a:rPr lang="en-US" altLang="ko-KR" dirty="0" err="1"/>
              <a:t>w0</a:t>
            </a:r>
            <a:endParaRPr lang="en-US" altLang="ko-KR" dirty="0"/>
          </a:p>
          <a:p>
            <a:r>
              <a:rPr lang="en-US" altLang="ko-KR" dirty="0"/>
              <a:t>X = </a:t>
            </a:r>
            <a:r>
              <a:rPr lang="en-US" altLang="ko-KR" dirty="0" err="1"/>
              <a:t>x2</a:t>
            </a:r>
            <a:r>
              <a:rPr lang="en-US" altLang="ko-KR" dirty="0"/>
              <a:t> </a:t>
            </a:r>
            <a:r>
              <a:rPr lang="en-US" altLang="ko-KR" dirty="0" err="1"/>
              <a:t>x1</a:t>
            </a:r>
            <a:r>
              <a:rPr lang="en-US" altLang="ko-KR" dirty="0"/>
              <a:t> </a:t>
            </a:r>
            <a:r>
              <a:rPr lang="en-US" altLang="ko-KR" dirty="0" err="1"/>
              <a:t>x0</a:t>
            </a:r>
            <a:endParaRPr lang="en-US" altLang="ko-KR" dirty="0"/>
          </a:p>
          <a:p>
            <a:r>
              <a:rPr lang="en-US" altLang="ko-KR" dirty="0"/>
              <a:t>Y = </a:t>
            </a:r>
            <a:r>
              <a:rPr lang="en-US" altLang="ko-KR" dirty="0" err="1"/>
              <a:t>y2</a:t>
            </a:r>
            <a:r>
              <a:rPr lang="en-US" altLang="ko-KR" dirty="0"/>
              <a:t> </a:t>
            </a:r>
            <a:r>
              <a:rPr lang="en-US" altLang="ko-KR" dirty="0" err="1"/>
              <a:t>y1</a:t>
            </a:r>
            <a:r>
              <a:rPr lang="en-US" altLang="ko-KR" dirty="0"/>
              <a:t> </a:t>
            </a:r>
            <a:r>
              <a:rPr lang="en-US" altLang="ko-KR" dirty="0" err="1"/>
              <a:t>y0</a:t>
            </a:r>
            <a:endParaRPr lang="en-US" altLang="ko-KR" dirty="0"/>
          </a:p>
          <a:p>
            <a:r>
              <a:rPr lang="en-US" altLang="ko-KR" dirty="0"/>
              <a:t>Z = </a:t>
            </a:r>
            <a:r>
              <a:rPr lang="en-US" altLang="ko-KR" dirty="0" err="1"/>
              <a:t>z2</a:t>
            </a:r>
            <a:r>
              <a:rPr lang="en-US" altLang="ko-KR" dirty="0"/>
              <a:t> </a:t>
            </a:r>
            <a:r>
              <a:rPr lang="en-US" altLang="ko-KR" dirty="0" err="1"/>
              <a:t>z1</a:t>
            </a:r>
            <a:r>
              <a:rPr lang="en-US" altLang="ko-KR" dirty="0"/>
              <a:t> </a:t>
            </a:r>
            <a:r>
              <a:rPr lang="en-US" altLang="ko-KR" dirty="0" err="1"/>
              <a:t>z0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540841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5375C44E-1A8E-4A77-8084-6012BC9DA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ko-KR" dirty="0"/>
              <a:t>Multi-bit Mux</a:t>
            </a:r>
            <a:endParaRPr lang="ko-KR" altLang="en-US" dirty="0"/>
          </a:p>
        </p:txBody>
      </p:sp>
      <p:pic>
        <p:nvPicPr>
          <p:cNvPr id="5" name="Picture 2" descr="https://blog.kakaocdn.net/dna/GkXPJ/btqLvfZldep/AAAAAAAAAAAAAAAAAAAAAKL8h_xgIt9we0DXOzDOmTh2gyV5kaQSpF3c933iubrU/img.png?credential=yqXZFxpELC7KVnFOS48ylbz2pIh7yKj8&amp;expires=1764514799&amp;allow_ip=&amp;allow_referer=&amp;signature=jkjvOAvpRmlri%2FtsZBo9YIzAKRY%3D">
            <a:extLst>
              <a:ext uri="{FF2B5EF4-FFF2-40B4-BE49-F238E27FC236}">
                <a16:creationId xmlns:a16="http://schemas.microsoft.com/office/drawing/2014/main" id="{629A52D9-E838-41DB-9FA6-32A1E4429F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196324"/>
            <a:ext cx="6030548" cy="646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9C28F59-8F14-4F7D-9DA0-1C0D725B674B}"/>
              </a:ext>
            </a:extLst>
          </p:cNvPr>
          <p:cNvSpPr txBox="1"/>
          <p:nvPr/>
        </p:nvSpPr>
        <p:spPr>
          <a:xfrm>
            <a:off x="6526398" y="304918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C00000"/>
                </a:solidFill>
              </a:rPr>
              <a:t>0</a:t>
            </a:r>
            <a:endParaRPr lang="ko-KR" altLang="en-US" sz="2400" b="1" dirty="0">
              <a:solidFill>
                <a:srgbClr val="C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6CDC75-A757-4EEF-91CF-43C7A7F0A070}"/>
              </a:ext>
            </a:extLst>
          </p:cNvPr>
          <p:cNvSpPr txBox="1"/>
          <p:nvPr/>
        </p:nvSpPr>
        <p:spPr>
          <a:xfrm>
            <a:off x="7123415" y="304918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C00000"/>
                </a:solidFill>
              </a:rPr>
              <a:t>1</a:t>
            </a:r>
            <a:endParaRPr lang="ko-KR" altLang="en-US" sz="2400" b="1" dirty="0">
              <a:solidFill>
                <a:srgbClr val="C0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8AA2A4-EE64-48F5-B711-29DD8F5B4481}"/>
              </a:ext>
            </a:extLst>
          </p:cNvPr>
          <p:cNvSpPr txBox="1"/>
          <p:nvPr/>
        </p:nvSpPr>
        <p:spPr>
          <a:xfrm>
            <a:off x="6410351" y="1229023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C00000"/>
                </a:solidFill>
              </a:rPr>
              <a:t>0</a:t>
            </a:r>
            <a:endParaRPr lang="ko-KR" altLang="en-US" sz="2400" b="1" dirty="0">
              <a:solidFill>
                <a:srgbClr val="C0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43DCB9-18C1-4946-9F61-A89A0C3276CC}"/>
              </a:ext>
            </a:extLst>
          </p:cNvPr>
          <p:cNvSpPr txBox="1"/>
          <p:nvPr/>
        </p:nvSpPr>
        <p:spPr>
          <a:xfrm>
            <a:off x="6725195" y="1229022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C00000"/>
                </a:solidFill>
              </a:rPr>
              <a:t>0</a:t>
            </a:r>
            <a:endParaRPr lang="ko-KR" altLang="en-US" sz="2400" b="1" dirty="0">
              <a:solidFill>
                <a:srgbClr val="C0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16B364-FD98-4FA1-997D-C4010D6C0D5E}"/>
              </a:ext>
            </a:extLst>
          </p:cNvPr>
          <p:cNvSpPr txBox="1"/>
          <p:nvPr/>
        </p:nvSpPr>
        <p:spPr>
          <a:xfrm>
            <a:off x="7379796" y="1229021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C00000"/>
                </a:solidFill>
              </a:rPr>
              <a:t>0</a:t>
            </a:r>
            <a:endParaRPr lang="ko-KR" altLang="en-US" sz="2400" b="1" dirty="0">
              <a:solidFill>
                <a:srgbClr val="C0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48D8E6-2119-4D0E-9411-25811C1C67C7}"/>
              </a:ext>
            </a:extLst>
          </p:cNvPr>
          <p:cNvSpPr txBox="1"/>
          <p:nvPr/>
        </p:nvSpPr>
        <p:spPr>
          <a:xfrm>
            <a:off x="7064952" y="1229021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C00000"/>
                </a:solidFill>
              </a:rPr>
              <a:t>1</a:t>
            </a:r>
            <a:endParaRPr lang="ko-KR" altLang="en-US" sz="2400" b="1" dirty="0">
              <a:solidFill>
                <a:srgbClr val="C0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8095F5-5310-4066-8C44-8A7815B5F9B9}"/>
              </a:ext>
            </a:extLst>
          </p:cNvPr>
          <p:cNvSpPr txBox="1"/>
          <p:nvPr/>
        </p:nvSpPr>
        <p:spPr>
          <a:xfrm>
            <a:off x="9185498" y="1289230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C00000"/>
                </a:solidFill>
              </a:rPr>
              <a:t>0</a:t>
            </a:r>
            <a:endParaRPr lang="ko-KR" altLang="en-US" sz="2400" b="1" dirty="0">
              <a:solidFill>
                <a:srgbClr val="C0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DD8645-5293-433F-8D57-B43E06AADED0}"/>
              </a:ext>
            </a:extLst>
          </p:cNvPr>
          <p:cNvSpPr txBox="1"/>
          <p:nvPr/>
        </p:nvSpPr>
        <p:spPr>
          <a:xfrm>
            <a:off x="9173989" y="1695794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 err="1">
                <a:solidFill>
                  <a:srgbClr val="C00000"/>
                </a:solidFill>
              </a:rPr>
              <a:t>x0</a:t>
            </a:r>
            <a:endParaRPr lang="ko-KR" altLang="en-US" sz="2400" b="1" dirty="0">
              <a:solidFill>
                <a:srgbClr val="C0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9DDF68-5107-4E0E-8514-85FDA5C1AC1F}"/>
              </a:ext>
            </a:extLst>
          </p:cNvPr>
          <p:cNvSpPr txBox="1"/>
          <p:nvPr/>
        </p:nvSpPr>
        <p:spPr>
          <a:xfrm>
            <a:off x="9173989" y="2157459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C00000"/>
                </a:solidFill>
              </a:rPr>
              <a:t>0</a:t>
            </a:r>
            <a:endParaRPr lang="ko-KR" altLang="en-US" sz="2400" b="1" dirty="0">
              <a:solidFill>
                <a:srgbClr val="C0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17B483-D408-43B3-BA60-2FD15551F629}"/>
              </a:ext>
            </a:extLst>
          </p:cNvPr>
          <p:cNvSpPr txBox="1"/>
          <p:nvPr/>
        </p:nvSpPr>
        <p:spPr>
          <a:xfrm>
            <a:off x="9162480" y="2564023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C00000"/>
                </a:solidFill>
              </a:rPr>
              <a:t>0</a:t>
            </a:r>
            <a:endParaRPr lang="ko-KR" altLang="en-US" sz="2400" b="1" dirty="0">
              <a:solidFill>
                <a:srgbClr val="C0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9034957-EDF2-4FF6-A787-1553F380C727}"/>
              </a:ext>
            </a:extLst>
          </p:cNvPr>
          <p:cNvSpPr txBox="1"/>
          <p:nvPr/>
        </p:nvSpPr>
        <p:spPr>
          <a:xfrm>
            <a:off x="9162480" y="3107224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C00000"/>
                </a:solidFill>
              </a:rPr>
              <a:t>0</a:t>
            </a:r>
            <a:endParaRPr lang="ko-KR" altLang="en-US" sz="2400" b="1" dirty="0">
              <a:solidFill>
                <a:srgbClr val="C0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E345DF1-8584-4F95-B61A-045DAEECF3A8}"/>
              </a:ext>
            </a:extLst>
          </p:cNvPr>
          <p:cNvSpPr txBox="1"/>
          <p:nvPr/>
        </p:nvSpPr>
        <p:spPr>
          <a:xfrm>
            <a:off x="9150971" y="3513788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 err="1">
                <a:solidFill>
                  <a:srgbClr val="C00000"/>
                </a:solidFill>
              </a:rPr>
              <a:t>x1</a:t>
            </a:r>
            <a:endParaRPr lang="ko-KR" altLang="en-US" sz="2400" b="1" dirty="0">
              <a:solidFill>
                <a:srgbClr val="C0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31F3BA-C7E3-4CA4-A524-8223EFA44C1D}"/>
              </a:ext>
            </a:extLst>
          </p:cNvPr>
          <p:cNvSpPr txBox="1"/>
          <p:nvPr/>
        </p:nvSpPr>
        <p:spPr>
          <a:xfrm>
            <a:off x="9150971" y="3975453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C00000"/>
                </a:solidFill>
              </a:rPr>
              <a:t>0</a:t>
            </a:r>
            <a:endParaRPr lang="ko-KR" altLang="en-US" sz="2400" b="1" dirty="0">
              <a:solidFill>
                <a:srgbClr val="C000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4787799-564D-415E-A4B2-C43493C71EA4}"/>
              </a:ext>
            </a:extLst>
          </p:cNvPr>
          <p:cNvSpPr txBox="1"/>
          <p:nvPr/>
        </p:nvSpPr>
        <p:spPr>
          <a:xfrm>
            <a:off x="9139462" y="4382017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C00000"/>
                </a:solidFill>
              </a:rPr>
              <a:t>0</a:t>
            </a:r>
            <a:endParaRPr lang="ko-KR" altLang="en-US" sz="2400" b="1" dirty="0">
              <a:solidFill>
                <a:srgbClr val="C000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9A59086-B381-4036-86EA-444A76790E8E}"/>
              </a:ext>
            </a:extLst>
          </p:cNvPr>
          <p:cNvSpPr txBox="1"/>
          <p:nvPr/>
        </p:nvSpPr>
        <p:spPr>
          <a:xfrm>
            <a:off x="9139462" y="4920760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C00000"/>
                </a:solidFill>
              </a:rPr>
              <a:t>0</a:t>
            </a:r>
            <a:endParaRPr lang="ko-KR" altLang="en-US" sz="2400" b="1" dirty="0">
              <a:solidFill>
                <a:srgbClr val="C0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CED8253-3C6E-497C-9EBE-DBA069081F96}"/>
              </a:ext>
            </a:extLst>
          </p:cNvPr>
          <p:cNvSpPr txBox="1"/>
          <p:nvPr/>
        </p:nvSpPr>
        <p:spPr>
          <a:xfrm>
            <a:off x="9127953" y="5327324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 err="1">
                <a:solidFill>
                  <a:srgbClr val="C00000"/>
                </a:solidFill>
              </a:rPr>
              <a:t>x2</a:t>
            </a:r>
            <a:endParaRPr lang="ko-KR" altLang="en-US" sz="2400" b="1" dirty="0">
              <a:solidFill>
                <a:srgbClr val="C000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5BE5F7B-A6D5-43D7-95F5-A0EF310C269A}"/>
              </a:ext>
            </a:extLst>
          </p:cNvPr>
          <p:cNvSpPr txBox="1"/>
          <p:nvPr/>
        </p:nvSpPr>
        <p:spPr>
          <a:xfrm>
            <a:off x="9127953" y="5788989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C00000"/>
                </a:solidFill>
              </a:rPr>
              <a:t>0</a:t>
            </a:r>
            <a:endParaRPr lang="ko-KR" altLang="en-US" sz="2400" b="1" dirty="0">
              <a:solidFill>
                <a:srgbClr val="C000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89A8320-CABC-46E9-9830-ED5140ACD37C}"/>
              </a:ext>
            </a:extLst>
          </p:cNvPr>
          <p:cNvSpPr txBox="1"/>
          <p:nvPr/>
        </p:nvSpPr>
        <p:spPr>
          <a:xfrm>
            <a:off x="9116444" y="6195553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C00000"/>
                </a:solidFill>
              </a:rPr>
              <a:t>0</a:t>
            </a:r>
            <a:endParaRPr lang="ko-KR" altLang="en-US" sz="2400" b="1" dirty="0">
              <a:solidFill>
                <a:srgbClr val="C0000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C47DBD6-40AF-4344-BE90-C133A7E3D296}"/>
              </a:ext>
            </a:extLst>
          </p:cNvPr>
          <p:cNvSpPr txBox="1"/>
          <p:nvPr/>
        </p:nvSpPr>
        <p:spPr>
          <a:xfrm>
            <a:off x="10995969" y="1665690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 err="1">
                <a:solidFill>
                  <a:srgbClr val="C00000"/>
                </a:solidFill>
              </a:rPr>
              <a:t>x0</a:t>
            </a:r>
            <a:endParaRPr lang="ko-KR" altLang="en-US" sz="2400" b="1" dirty="0">
              <a:solidFill>
                <a:srgbClr val="C0000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C6FA88F-7666-4B0E-8A32-7991BAD9CDA4}"/>
              </a:ext>
            </a:extLst>
          </p:cNvPr>
          <p:cNvSpPr txBox="1"/>
          <p:nvPr/>
        </p:nvSpPr>
        <p:spPr>
          <a:xfrm>
            <a:off x="10987995" y="3427920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 err="1">
                <a:solidFill>
                  <a:srgbClr val="C00000"/>
                </a:solidFill>
              </a:rPr>
              <a:t>x1</a:t>
            </a:r>
            <a:endParaRPr lang="ko-KR" altLang="en-US" sz="2400" b="1" dirty="0">
              <a:solidFill>
                <a:srgbClr val="C0000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001E0DE-A171-4B62-8A66-7DE64167B3F0}"/>
              </a:ext>
            </a:extLst>
          </p:cNvPr>
          <p:cNvSpPr txBox="1"/>
          <p:nvPr/>
        </p:nvSpPr>
        <p:spPr>
          <a:xfrm>
            <a:off x="10987994" y="5190150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 err="1">
                <a:solidFill>
                  <a:srgbClr val="C00000"/>
                </a:solidFill>
              </a:rPr>
              <a:t>x2</a:t>
            </a:r>
            <a:endParaRPr lang="ko-KR" altLang="en-US" sz="2400" b="1" dirty="0">
              <a:solidFill>
                <a:srgbClr val="C00000"/>
              </a:solidFill>
            </a:endParaRPr>
          </a:p>
        </p:txBody>
      </p:sp>
      <p:sp>
        <p:nvSpPr>
          <p:cNvPr id="32" name="내용 개체 틀 2">
            <a:extLst>
              <a:ext uri="{FF2B5EF4-FFF2-40B4-BE49-F238E27FC236}">
                <a16:creationId xmlns:a16="http://schemas.microsoft.com/office/drawing/2014/main" id="{2A3708C2-FF99-4EF1-BAC5-48BEFC6EE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en-US" altLang="ko-KR" dirty="0"/>
          </a:p>
          <a:p>
            <a:r>
              <a:rPr lang="en-US" altLang="ko-KR" dirty="0"/>
              <a:t>W = </a:t>
            </a:r>
            <a:r>
              <a:rPr lang="en-US" altLang="ko-KR" dirty="0" err="1"/>
              <a:t>w2</a:t>
            </a:r>
            <a:r>
              <a:rPr lang="en-US" altLang="ko-KR" dirty="0"/>
              <a:t> </a:t>
            </a:r>
            <a:r>
              <a:rPr lang="en-US" altLang="ko-KR" dirty="0" err="1"/>
              <a:t>w1</a:t>
            </a:r>
            <a:r>
              <a:rPr lang="en-US" altLang="ko-KR" dirty="0"/>
              <a:t> </a:t>
            </a:r>
            <a:r>
              <a:rPr lang="en-US" altLang="ko-KR" dirty="0" err="1"/>
              <a:t>w0</a:t>
            </a:r>
            <a:endParaRPr lang="en-US" altLang="ko-KR" dirty="0"/>
          </a:p>
          <a:p>
            <a:r>
              <a:rPr lang="en-US" altLang="ko-KR" dirty="0"/>
              <a:t>X = </a:t>
            </a:r>
            <a:r>
              <a:rPr lang="en-US" altLang="ko-KR" dirty="0" err="1"/>
              <a:t>x2</a:t>
            </a:r>
            <a:r>
              <a:rPr lang="en-US" altLang="ko-KR" dirty="0"/>
              <a:t> </a:t>
            </a:r>
            <a:r>
              <a:rPr lang="en-US" altLang="ko-KR" dirty="0" err="1"/>
              <a:t>x1</a:t>
            </a:r>
            <a:r>
              <a:rPr lang="en-US" altLang="ko-KR" dirty="0"/>
              <a:t> </a:t>
            </a:r>
            <a:r>
              <a:rPr lang="en-US" altLang="ko-KR" dirty="0" err="1"/>
              <a:t>x0</a:t>
            </a:r>
            <a:endParaRPr lang="en-US" altLang="ko-KR" dirty="0"/>
          </a:p>
          <a:p>
            <a:r>
              <a:rPr lang="en-US" altLang="ko-KR" dirty="0"/>
              <a:t>Y = </a:t>
            </a:r>
            <a:r>
              <a:rPr lang="en-US" altLang="ko-KR" dirty="0" err="1"/>
              <a:t>y2</a:t>
            </a:r>
            <a:r>
              <a:rPr lang="en-US" altLang="ko-KR" dirty="0"/>
              <a:t> </a:t>
            </a:r>
            <a:r>
              <a:rPr lang="en-US" altLang="ko-KR" dirty="0" err="1"/>
              <a:t>y1</a:t>
            </a:r>
            <a:r>
              <a:rPr lang="en-US" altLang="ko-KR" dirty="0"/>
              <a:t> </a:t>
            </a:r>
            <a:r>
              <a:rPr lang="en-US" altLang="ko-KR" dirty="0" err="1"/>
              <a:t>y0</a:t>
            </a:r>
            <a:endParaRPr lang="en-US" altLang="ko-KR" dirty="0"/>
          </a:p>
          <a:p>
            <a:r>
              <a:rPr lang="en-US" altLang="ko-KR" dirty="0"/>
              <a:t>Z = </a:t>
            </a:r>
            <a:r>
              <a:rPr lang="en-US" altLang="ko-KR" dirty="0" err="1"/>
              <a:t>z2</a:t>
            </a:r>
            <a:r>
              <a:rPr lang="en-US" altLang="ko-KR" dirty="0"/>
              <a:t> </a:t>
            </a:r>
            <a:r>
              <a:rPr lang="en-US" altLang="ko-KR" dirty="0" err="1"/>
              <a:t>z1</a:t>
            </a:r>
            <a:r>
              <a:rPr lang="en-US" altLang="ko-KR" dirty="0"/>
              <a:t> </a:t>
            </a:r>
            <a:r>
              <a:rPr lang="en-US" altLang="ko-KR" dirty="0" err="1"/>
              <a:t>z0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571630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35E18E-9750-40AD-8815-7667735CC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Mux</a:t>
            </a:r>
            <a:r>
              <a:rPr lang="ko-KR" altLang="en-US" dirty="0"/>
              <a:t>의 활용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DDC381-4ED3-428E-9373-6DF22530B9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Mux</a:t>
            </a:r>
            <a:r>
              <a:rPr lang="ko-KR" altLang="en-US" dirty="0"/>
              <a:t>는 </a:t>
            </a:r>
            <a:r>
              <a:rPr lang="ko-KR" altLang="en-US" u="sng" dirty="0"/>
              <a:t>여러 입력 신호</a:t>
            </a:r>
            <a:r>
              <a:rPr lang="ko-KR" altLang="en-US" dirty="0"/>
              <a:t>를 하나의 출력으로 선택해 보내는 회로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>
                <a:sym typeface="Wingdings" panose="05000000000000000000" pitchFamily="2" charset="2"/>
              </a:rPr>
              <a:t>   </a:t>
            </a:r>
            <a:r>
              <a:rPr lang="ko-KR" altLang="en-US" u="sng" dirty="0">
                <a:sym typeface="Wingdings" panose="05000000000000000000" pitchFamily="2" charset="2"/>
              </a:rPr>
              <a:t>복수의 데이터 소스</a:t>
            </a:r>
            <a:r>
              <a:rPr lang="ko-KR" altLang="en-US" dirty="0">
                <a:sym typeface="Wingdings" panose="05000000000000000000" pitchFamily="2" charset="2"/>
              </a:rPr>
              <a:t>를 </a:t>
            </a:r>
            <a:r>
              <a:rPr lang="ko-KR" altLang="en-US" u="sng" dirty="0">
                <a:sym typeface="Wingdings" panose="05000000000000000000" pitchFamily="2" charset="2"/>
              </a:rPr>
              <a:t>단일 경로로 전달</a:t>
            </a:r>
            <a:r>
              <a:rPr lang="ko-KR" altLang="en-US" dirty="0">
                <a:sym typeface="Wingdings" panose="05000000000000000000" pitchFamily="2" charset="2"/>
              </a:rPr>
              <a:t>하는 데 효과적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44702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35E18E-9750-40AD-8815-7667735CC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Mux</a:t>
            </a:r>
            <a:r>
              <a:rPr lang="ko-KR" altLang="en-US" dirty="0"/>
              <a:t>의 활용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DDC381-4ED3-428E-9373-6DF22530B9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Mux</a:t>
            </a:r>
            <a:r>
              <a:rPr lang="ko-KR" altLang="en-US" dirty="0"/>
              <a:t>는 </a:t>
            </a:r>
            <a:r>
              <a:rPr lang="ko-KR" altLang="en-US" u="sng" dirty="0"/>
              <a:t>여러 입력 신호</a:t>
            </a:r>
            <a:r>
              <a:rPr lang="ko-KR" altLang="en-US" dirty="0"/>
              <a:t>를 하나의 출력으로 선택해 보내는 회로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>
                <a:sym typeface="Wingdings" panose="05000000000000000000" pitchFamily="2" charset="2"/>
              </a:rPr>
              <a:t>   </a:t>
            </a:r>
            <a:r>
              <a:rPr lang="ko-KR" altLang="en-US" u="sng" dirty="0">
                <a:sym typeface="Wingdings" panose="05000000000000000000" pitchFamily="2" charset="2"/>
              </a:rPr>
              <a:t>복수의 데이터 소스</a:t>
            </a:r>
            <a:r>
              <a:rPr lang="ko-KR" altLang="en-US" dirty="0">
                <a:sym typeface="Wingdings" panose="05000000000000000000" pitchFamily="2" charset="2"/>
              </a:rPr>
              <a:t>를 </a:t>
            </a:r>
            <a:r>
              <a:rPr lang="ko-KR" altLang="en-US" u="sng" dirty="0">
                <a:sym typeface="Wingdings" panose="05000000000000000000" pitchFamily="2" charset="2"/>
              </a:rPr>
              <a:t>단일 경로로 전달</a:t>
            </a:r>
            <a:r>
              <a:rPr lang="ko-KR" altLang="en-US" dirty="0">
                <a:sym typeface="Wingdings" panose="05000000000000000000" pitchFamily="2" charset="2"/>
              </a:rPr>
              <a:t>하는 데 효과적</a:t>
            </a:r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>
                <a:sym typeface="Wingdings" panose="05000000000000000000" pitchFamily="2" charset="2"/>
              </a:rPr>
              <a:t>컴퓨터 시스템</a:t>
            </a:r>
            <a:r>
              <a:rPr lang="en-US" altLang="ko-KR" dirty="0">
                <a:sym typeface="Wingdings" panose="05000000000000000000" pitchFamily="2" charset="2"/>
              </a:rPr>
              <a:t>/</a:t>
            </a:r>
            <a:r>
              <a:rPr lang="ko-KR" altLang="en-US" dirty="0">
                <a:sym typeface="Wingdings" panose="05000000000000000000" pitchFamily="2" charset="2"/>
              </a:rPr>
              <a:t>프로세서 내부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dirty="0">
                <a:sym typeface="Wingdings" panose="05000000000000000000" pitchFamily="2" charset="2"/>
              </a:rPr>
              <a:t>  - </a:t>
            </a:r>
            <a:r>
              <a:rPr lang="ko-KR" altLang="en-US" dirty="0">
                <a:sym typeface="Wingdings" panose="05000000000000000000" pitchFamily="2" charset="2"/>
              </a:rPr>
              <a:t>여러 데이터 소스 중 하나를 </a:t>
            </a:r>
            <a:r>
              <a:rPr lang="en-US" altLang="ko-KR" dirty="0">
                <a:sym typeface="Wingdings" panose="05000000000000000000" pitchFamily="2" charset="2"/>
              </a:rPr>
              <a:t>ALU</a:t>
            </a:r>
            <a:r>
              <a:rPr lang="ko-KR" altLang="en-US" dirty="0">
                <a:sym typeface="Wingdings" panose="05000000000000000000" pitchFamily="2" charset="2"/>
              </a:rPr>
              <a:t>나 버스로 선택할 때 </a:t>
            </a:r>
            <a:r>
              <a:rPr lang="en-US" altLang="ko-KR" dirty="0">
                <a:sym typeface="Wingdings" panose="05000000000000000000" pitchFamily="2" charset="2"/>
              </a:rPr>
              <a:t>Mux</a:t>
            </a:r>
            <a:r>
              <a:rPr lang="ko-KR" altLang="en-US" dirty="0">
                <a:sym typeface="Wingdings" panose="05000000000000000000" pitchFamily="2" charset="2"/>
              </a:rPr>
              <a:t>를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dirty="0">
                <a:sym typeface="Wingdings" panose="05000000000000000000" pitchFamily="2" charset="2"/>
              </a:rPr>
              <a:t>  </a:t>
            </a:r>
            <a:r>
              <a:rPr lang="ko-KR" altLang="en-US" dirty="0">
                <a:sym typeface="Wingdings" panose="05000000000000000000" pitchFamily="2" charset="2"/>
              </a:rPr>
              <a:t>  사용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187993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35E18E-9750-40AD-8815-7667735CC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Mux</a:t>
            </a:r>
            <a:r>
              <a:rPr lang="ko-KR" altLang="en-US" dirty="0"/>
              <a:t>의 활용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38004F96-2168-41D2-A5F5-9E528CDD2F1D}"/>
              </a:ext>
            </a:extLst>
          </p:cNvPr>
          <p:cNvGrpSpPr/>
          <p:nvPr/>
        </p:nvGrpSpPr>
        <p:grpSpPr>
          <a:xfrm>
            <a:off x="838199" y="1508447"/>
            <a:ext cx="10515600" cy="4930810"/>
            <a:chOff x="1145097" y="1884925"/>
            <a:chExt cx="9901806" cy="4643000"/>
          </a:xfrm>
        </p:grpSpPr>
        <p:pic>
          <p:nvPicPr>
            <p:cNvPr id="1026" name="Picture 2" descr="https://velog.velcdn.com/images%2Funderlier12%2Fpost%2F98d68d7b-eee3-4cbe-ad29-20833fb2e659%2Fimage.png">
              <a:extLst>
                <a:ext uri="{FF2B5EF4-FFF2-40B4-BE49-F238E27FC236}">
                  <a16:creationId xmlns:a16="http://schemas.microsoft.com/office/drawing/2014/main" id="{43466D08-D3C7-40A1-B38A-AEA9523B9B2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454"/>
            <a:stretch/>
          </p:blipFill>
          <p:spPr bwMode="auto">
            <a:xfrm>
              <a:off x="1145097" y="1884925"/>
              <a:ext cx="9901806" cy="44487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73528AB2-AB19-41A3-9F78-9B1EF7A123B1}"/>
                </a:ext>
              </a:extLst>
            </p:cNvPr>
            <p:cNvSpPr/>
            <p:nvPr/>
          </p:nvSpPr>
          <p:spPr>
            <a:xfrm>
              <a:off x="1145097" y="6249798"/>
              <a:ext cx="3980576" cy="27812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10D2336F-F08E-4E82-8FD5-468E673962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6257015"/>
            <a:ext cx="10515600" cy="481347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원하는 레지스터의 값을 선택적으로 결정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D09937F-5D86-451D-9951-0C312C53349A}"/>
              </a:ext>
            </a:extLst>
          </p:cNvPr>
          <p:cNvSpPr/>
          <p:nvPr/>
        </p:nvSpPr>
        <p:spPr>
          <a:xfrm>
            <a:off x="9504727" y="2516696"/>
            <a:ext cx="2290194" cy="15603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86D38E6-10D3-4185-B0F9-E299660AC727}"/>
              </a:ext>
            </a:extLst>
          </p:cNvPr>
          <p:cNvSpPr/>
          <p:nvPr/>
        </p:nvSpPr>
        <p:spPr>
          <a:xfrm>
            <a:off x="9046827" y="2698937"/>
            <a:ext cx="449510" cy="1159999"/>
          </a:xfrm>
          <a:prstGeom prst="rect">
            <a:avLst/>
          </a:prstGeom>
          <a:solidFill>
            <a:srgbClr val="FFDB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03177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544AE0-892E-4ED0-A6C7-6AFFE2F56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DeMux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EF103E-6B28-4E55-B4C2-9FF500B6C2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97330" cy="4351338"/>
          </a:xfrm>
        </p:spPr>
        <p:txBody>
          <a:bodyPr/>
          <a:lstStyle/>
          <a:p>
            <a:r>
              <a:rPr lang="ko-KR" altLang="en-US" dirty="0"/>
              <a:t>하나의 입력 데이터와 </a:t>
            </a:r>
            <a:r>
              <a:rPr lang="en-US" altLang="ko-KR" dirty="0"/>
              <a:t>n</a:t>
            </a:r>
            <a:r>
              <a:rPr lang="ko-KR" altLang="en-US" dirty="0"/>
              <a:t>개의 선택선을 통해</a:t>
            </a:r>
            <a:r>
              <a:rPr lang="en-US" altLang="ko-KR" dirty="0"/>
              <a:t>, </a:t>
            </a:r>
          </a:p>
          <a:p>
            <a:pPr marL="0" indent="0">
              <a:buNone/>
            </a:pPr>
            <a:r>
              <a:rPr lang="en-US" altLang="ko-KR" dirty="0"/>
              <a:t>  </a:t>
            </a:r>
            <a:r>
              <a:rPr lang="en-US" altLang="ko-KR" dirty="0" err="1"/>
              <a:t>2^n</a:t>
            </a:r>
            <a:r>
              <a:rPr lang="ko-KR" altLang="en-US" dirty="0"/>
              <a:t>개의 출력 중 하나로 입력 데이터를 전달하는 조합 논리 회로</a:t>
            </a:r>
            <a:r>
              <a:rPr lang="en-US" altLang="ko-KR" dirty="0"/>
              <a:t>.</a:t>
            </a:r>
            <a:endParaRPr lang="ko-KR" altLang="en-US" dirty="0"/>
          </a:p>
          <a:p>
            <a:endParaRPr lang="ko-KR" altLang="en-US" dirty="0"/>
          </a:p>
        </p:txBody>
      </p:sp>
      <p:pic>
        <p:nvPicPr>
          <p:cNvPr id="14338" name="Picture 2" descr="Demulyiplexer">
            <a:extLst>
              <a:ext uri="{FF2B5EF4-FFF2-40B4-BE49-F238E27FC236}">
                <a16:creationId xmlns:a16="http://schemas.microsoft.com/office/drawing/2014/main" id="{5A3A515C-D0E6-4A23-9DD0-DE0AA583EC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1575" y="2979971"/>
            <a:ext cx="7748849" cy="3439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52770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D68C2B-6EC9-4A6E-97C3-E1E2990AB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1x4</a:t>
            </a:r>
            <a:r>
              <a:rPr lang="en-US" altLang="ko-KR" dirty="0"/>
              <a:t> </a:t>
            </a:r>
            <a:r>
              <a:rPr lang="en-US" altLang="ko-KR" dirty="0" err="1"/>
              <a:t>DeMux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98A445-0EF5-46E9-B000-6C91ED4287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입력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- </a:t>
            </a:r>
            <a:r>
              <a:rPr lang="ko-KR" altLang="en-US" dirty="0"/>
              <a:t>입력 데이터 </a:t>
            </a:r>
            <a:r>
              <a:rPr lang="en-US" altLang="ko-KR" dirty="0" err="1"/>
              <a:t>i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- </a:t>
            </a:r>
            <a:r>
              <a:rPr lang="ko-KR" altLang="en-US" dirty="0" err="1"/>
              <a:t>선택선</a:t>
            </a:r>
            <a:r>
              <a:rPr lang="ko-KR" altLang="en-US" dirty="0"/>
              <a:t> </a:t>
            </a:r>
            <a:r>
              <a:rPr lang="en-US" altLang="ko-KR" dirty="0" err="1"/>
              <a:t>S1</a:t>
            </a:r>
            <a:r>
              <a:rPr lang="en-US" altLang="ko-KR" dirty="0"/>
              <a:t>, </a:t>
            </a:r>
            <a:r>
              <a:rPr lang="en-US" altLang="ko-KR" dirty="0" err="1"/>
              <a:t>S0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출력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  </a:t>
            </a:r>
            <a:r>
              <a:rPr lang="en-US" altLang="ko-KR" dirty="0"/>
              <a:t>- </a:t>
            </a:r>
            <a:r>
              <a:rPr lang="en-US" altLang="ko-KR" dirty="0" err="1"/>
              <a:t>Y3</a:t>
            </a:r>
            <a:r>
              <a:rPr lang="en-US" altLang="ko-KR" dirty="0"/>
              <a:t>, </a:t>
            </a:r>
            <a:r>
              <a:rPr lang="en-US" altLang="ko-KR" dirty="0" err="1"/>
              <a:t>Y2</a:t>
            </a:r>
            <a:r>
              <a:rPr lang="en-US" altLang="ko-KR" dirty="0"/>
              <a:t>, </a:t>
            </a:r>
            <a:r>
              <a:rPr lang="en-US" altLang="ko-KR" dirty="0" err="1"/>
              <a:t>Y1</a:t>
            </a:r>
            <a:r>
              <a:rPr lang="en-US" altLang="ko-KR" dirty="0"/>
              <a:t>, </a:t>
            </a:r>
            <a:r>
              <a:rPr lang="en-US" altLang="ko-KR" dirty="0" err="1"/>
              <a:t>Y0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- </a:t>
            </a:r>
            <a:r>
              <a:rPr lang="ko-KR" altLang="en-US" dirty="0"/>
              <a:t>셋 중 하나는 </a:t>
            </a:r>
            <a:r>
              <a:rPr lang="en-US" altLang="ko-KR" dirty="0" err="1"/>
              <a:t>i</a:t>
            </a:r>
            <a:r>
              <a:rPr lang="ko-KR" altLang="en-US" dirty="0"/>
              <a:t>의 값을 받음</a:t>
            </a:r>
          </a:p>
          <a:p>
            <a:endParaRPr lang="ko-KR" altLang="en-US" dirty="0"/>
          </a:p>
        </p:txBody>
      </p:sp>
      <p:pic>
        <p:nvPicPr>
          <p:cNvPr id="10242" name="Picture 2" descr="What is Demultiplexer(DEMUX)? - GeeksforGeeks">
            <a:extLst>
              <a:ext uri="{FF2B5EF4-FFF2-40B4-BE49-F238E27FC236}">
                <a16:creationId xmlns:a16="http://schemas.microsoft.com/office/drawing/2014/main" id="{268A03AD-BA42-4A1B-85D3-DAEB5996D4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53" t="709" r="19424" b="7710"/>
          <a:stretch/>
        </p:blipFill>
        <p:spPr bwMode="auto">
          <a:xfrm>
            <a:off x="7408962" y="671896"/>
            <a:ext cx="4424723" cy="4755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FFF41F72-7618-41CD-8373-9D8B6D1BE5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0801" y="5637402"/>
            <a:ext cx="1142884" cy="116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2288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CA7F0FB1-B78F-4F82-850E-858A4F5B8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ko-KR" dirty="0" err="1"/>
              <a:t>1x4</a:t>
            </a:r>
            <a:r>
              <a:rPr lang="en-US" altLang="ko-KR" dirty="0"/>
              <a:t> </a:t>
            </a:r>
            <a:r>
              <a:rPr lang="en-US" altLang="ko-KR" dirty="0" err="1"/>
              <a:t>DeMux</a:t>
            </a:r>
            <a:endParaRPr lang="ko-KR" altLang="en-US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224FFF88-54A7-4ED1-A156-DB3DB401CE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ko-KR" altLang="en-US" dirty="0"/>
              <a:t>입력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- </a:t>
            </a:r>
            <a:r>
              <a:rPr lang="ko-KR" altLang="en-US" dirty="0"/>
              <a:t>입력 데이터 </a:t>
            </a:r>
            <a:r>
              <a:rPr lang="en-US" altLang="ko-KR" dirty="0" err="1"/>
              <a:t>i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- </a:t>
            </a:r>
            <a:r>
              <a:rPr lang="ko-KR" altLang="en-US" dirty="0" err="1"/>
              <a:t>선택선</a:t>
            </a:r>
            <a:r>
              <a:rPr lang="ko-KR" altLang="en-US" dirty="0"/>
              <a:t> </a:t>
            </a:r>
            <a:r>
              <a:rPr lang="en-US" altLang="ko-KR" dirty="0" err="1"/>
              <a:t>S1</a:t>
            </a:r>
            <a:r>
              <a:rPr lang="en-US" altLang="ko-KR" dirty="0"/>
              <a:t>, </a:t>
            </a:r>
            <a:r>
              <a:rPr lang="en-US" altLang="ko-KR" dirty="0" err="1"/>
              <a:t>S0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출력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  </a:t>
            </a:r>
            <a:r>
              <a:rPr lang="en-US" altLang="ko-KR" dirty="0"/>
              <a:t>- </a:t>
            </a:r>
            <a:r>
              <a:rPr lang="en-US" altLang="ko-KR" dirty="0" err="1"/>
              <a:t>Y3</a:t>
            </a:r>
            <a:r>
              <a:rPr lang="en-US" altLang="ko-KR" dirty="0"/>
              <a:t>, </a:t>
            </a:r>
            <a:r>
              <a:rPr lang="en-US" altLang="ko-KR" dirty="0" err="1"/>
              <a:t>Y2</a:t>
            </a:r>
            <a:r>
              <a:rPr lang="en-US" altLang="ko-KR" dirty="0"/>
              <a:t>, </a:t>
            </a:r>
            <a:r>
              <a:rPr lang="en-US" altLang="ko-KR" dirty="0" err="1"/>
              <a:t>Y1</a:t>
            </a:r>
            <a:r>
              <a:rPr lang="en-US" altLang="ko-KR" dirty="0"/>
              <a:t>, </a:t>
            </a:r>
            <a:r>
              <a:rPr lang="en-US" altLang="ko-KR" dirty="0" err="1"/>
              <a:t>Y0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- </a:t>
            </a:r>
            <a:r>
              <a:rPr lang="ko-KR" altLang="en-US" dirty="0"/>
              <a:t>셋 중 하나는 </a:t>
            </a:r>
            <a:r>
              <a:rPr lang="en-US" altLang="ko-KR" dirty="0" err="1"/>
              <a:t>i</a:t>
            </a:r>
            <a:r>
              <a:rPr lang="ko-KR" altLang="en-US" dirty="0"/>
              <a:t>의 값을 받음</a:t>
            </a:r>
          </a:p>
          <a:p>
            <a:endParaRPr lang="ko-KR" altLang="en-US" dirty="0"/>
          </a:p>
        </p:txBody>
      </p:sp>
      <p:pic>
        <p:nvPicPr>
          <p:cNvPr id="6" name="Picture 2" descr="What is Demultiplexer(DEMUX)? - GeeksforGeeks">
            <a:extLst>
              <a:ext uri="{FF2B5EF4-FFF2-40B4-BE49-F238E27FC236}">
                <a16:creationId xmlns:a16="http://schemas.microsoft.com/office/drawing/2014/main" id="{945EABB4-F382-4289-AE23-0A00E133351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53" t="709" r="19424" b="7710"/>
          <a:stretch/>
        </p:blipFill>
        <p:spPr bwMode="auto">
          <a:xfrm>
            <a:off x="7408962" y="671896"/>
            <a:ext cx="4424723" cy="4755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5D16258-E9A1-49FE-B6F5-97EE301AFD55}"/>
              </a:ext>
            </a:extLst>
          </p:cNvPr>
          <p:cNvSpPr txBox="1"/>
          <p:nvPr/>
        </p:nvSpPr>
        <p:spPr>
          <a:xfrm>
            <a:off x="9009539" y="5175737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C00000"/>
                </a:solidFill>
              </a:rPr>
              <a:t>0</a:t>
            </a:r>
            <a:endParaRPr lang="ko-KR" altLang="en-US" sz="2400" b="1" dirty="0">
              <a:solidFill>
                <a:srgbClr val="C0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F4EB8F-BB7E-4909-9FA1-DFFAD0DED8A6}"/>
              </a:ext>
            </a:extLst>
          </p:cNvPr>
          <p:cNvSpPr txBox="1"/>
          <p:nvPr/>
        </p:nvSpPr>
        <p:spPr>
          <a:xfrm>
            <a:off x="9705825" y="5175736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C00000"/>
                </a:solidFill>
              </a:rPr>
              <a:t>1</a:t>
            </a:r>
            <a:endParaRPr lang="ko-KR" altLang="en-US" sz="2400" b="1" dirty="0">
              <a:solidFill>
                <a:srgbClr val="C0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744BD0-FF88-44C7-8D1A-3C9307E8E975}"/>
              </a:ext>
            </a:extLst>
          </p:cNvPr>
          <p:cNvSpPr txBox="1"/>
          <p:nvPr/>
        </p:nvSpPr>
        <p:spPr>
          <a:xfrm>
            <a:off x="11636691" y="2330621"/>
            <a:ext cx="2696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 err="1">
                <a:solidFill>
                  <a:srgbClr val="C00000"/>
                </a:solidFill>
              </a:rPr>
              <a:t>i</a:t>
            </a:r>
            <a:endParaRPr lang="ko-KR" altLang="en-US" sz="2400" b="1" dirty="0">
              <a:solidFill>
                <a:srgbClr val="C0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C9FC1F-A444-46BF-9187-E73AB9639EFB}"/>
              </a:ext>
            </a:extLst>
          </p:cNvPr>
          <p:cNvSpPr txBox="1"/>
          <p:nvPr/>
        </p:nvSpPr>
        <p:spPr>
          <a:xfrm>
            <a:off x="11583993" y="1660850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C00000"/>
                </a:solidFill>
              </a:rPr>
              <a:t>0</a:t>
            </a:r>
            <a:endParaRPr lang="ko-KR" altLang="en-US" sz="2400" b="1" dirty="0">
              <a:solidFill>
                <a:srgbClr val="C0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725E90-B22B-448A-B160-F7B7F4155ABE}"/>
              </a:ext>
            </a:extLst>
          </p:cNvPr>
          <p:cNvSpPr txBox="1"/>
          <p:nvPr/>
        </p:nvSpPr>
        <p:spPr>
          <a:xfrm>
            <a:off x="11583993" y="3006421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C00000"/>
                </a:solidFill>
              </a:rPr>
              <a:t>0</a:t>
            </a:r>
            <a:endParaRPr lang="ko-KR" altLang="en-US" sz="2400" b="1" dirty="0">
              <a:solidFill>
                <a:srgbClr val="C0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EC70BF-98F0-4744-B718-9ED468EE056C}"/>
              </a:ext>
            </a:extLst>
          </p:cNvPr>
          <p:cNvSpPr txBox="1"/>
          <p:nvPr/>
        </p:nvSpPr>
        <p:spPr>
          <a:xfrm>
            <a:off x="11583993" y="3682002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C00000"/>
                </a:solidFill>
              </a:rPr>
              <a:t>0</a:t>
            </a:r>
            <a:endParaRPr lang="ko-KR" altLang="en-US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97359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B6C95B21-A310-426F-906A-2A09B3A29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ko-KR" dirty="0" err="1"/>
              <a:t>1x4</a:t>
            </a:r>
            <a:r>
              <a:rPr lang="en-US" altLang="ko-KR" dirty="0"/>
              <a:t> </a:t>
            </a:r>
            <a:r>
              <a:rPr lang="en-US" altLang="ko-KR" dirty="0" err="1"/>
              <a:t>DeMux</a:t>
            </a:r>
            <a:endParaRPr lang="ko-KR" altLang="en-US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5B304407-968E-410B-A47A-36E7F31E10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ko-KR" altLang="en-US" dirty="0"/>
              <a:t>입력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- </a:t>
            </a:r>
            <a:r>
              <a:rPr lang="ko-KR" altLang="en-US" dirty="0"/>
              <a:t>입력 데이터 </a:t>
            </a:r>
            <a:r>
              <a:rPr lang="en-US" altLang="ko-KR" dirty="0" err="1"/>
              <a:t>i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- </a:t>
            </a:r>
            <a:r>
              <a:rPr lang="ko-KR" altLang="en-US" dirty="0" err="1"/>
              <a:t>선택선</a:t>
            </a:r>
            <a:r>
              <a:rPr lang="ko-KR" altLang="en-US" dirty="0"/>
              <a:t> </a:t>
            </a:r>
            <a:r>
              <a:rPr lang="en-US" altLang="ko-KR" dirty="0" err="1"/>
              <a:t>S1</a:t>
            </a:r>
            <a:r>
              <a:rPr lang="en-US" altLang="ko-KR" dirty="0"/>
              <a:t>, </a:t>
            </a:r>
            <a:r>
              <a:rPr lang="en-US" altLang="ko-KR" dirty="0" err="1"/>
              <a:t>S0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출력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  </a:t>
            </a:r>
            <a:r>
              <a:rPr lang="en-US" altLang="ko-KR" dirty="0"/>
              <a:t>- </a:t>
            </a:r>
            <a:r>
              <a:rPr lang="en-US" altLang="ko-KR" dirty="0" err="1"/>
              <a:t>Y3</a:t>
            </a:r>
            <a:r>
              <a:rPr lang="en-US" altLang="ko-KR" dirty="0"/>
              <a:t>, </a:t>
            </a:r>
            <a:r>
              <a:rPr lang="en-US" altLang="ko-KR" dirty="0" err="1"/>
              <a:t>Y2</a:t>
            </a:r>
            <a:r>
              <a:rPr lang="en-US" altLang="ko-KR" dirty="0"/>
              <a:t>, </a:t>
            </a:r>
            <a:r>
              <a:rPr lang="en-US" altLang="ko-KR" dirty="0" err="1"/>
              <a:t>Y1</a:t>
            </a:r>
            <a:r>
              <a:rPr lang="en-US" altLang="ko-KR" dirty="0"/>
              <a:t>, </a:t>
            </a:r>
            <a:r>
              <a:rPr lang="en-US" altLang="ko-KR" dirty="0" err="1"/>
              <a:t>Y0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- </a:t>
            </a:r>
            <a:r>
              <a:rPr lang="ko-KR" altLang="en-US" dirty="0"/>
              <a:t>셋 중 하나는 </a:t>
            </a:r>
            <a:r>
              <a:rPr lang="en-US" altLang="ko-KR" dirty="0" err="1"/>
              <a:t>i</a:t>
            </a:r>
            <a:r>
              <a:rPr lang="ko-KR" altLang="en-US" dirty="0"/>
              <a:t>의 값을 받음</a:t>
            </a:r>
          </a:p>
          <a:p>
            <a:endParaRPr lang="ko-KR" altLang="en-US" dirty="0"/>
          </a:p>
        </p:txBody>
      </p:sp>
      <p:pic>
        <p:nvPicPr>
          <p:cNvPr id="6" name="Picture 2" descr="What is Demultiplexer(DEMUX)? - GeeksforGeeks">
            <a:extLst>
              <a:ext uri="{FF2B5EF4-FFF2-40B4-BE49-F238E27FC236}">
                <a16:creationId xmlns:a16="http://schemas.microsoft.com/office/drawing/2014/main" id="{0CDA323A-61BF-4EC3-906E-4CAA5742F2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53" t="709" r="19424" b="7710"/>
          <a:stretch/>
        </p:blipFill>
        <p:spPr bwMode="auto">
          <a:xfrm>
            <a:off x="7408962" y="671896"/>
            <a:ext cx="4424723" cy="4755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E119133-0673-4250-BA8D-9AE705C68D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4244" y="1484851"/>
            <a:ext cx="3194525" cy="326516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209F29E-8FB4-4FFD-8249-5DBF73C5BCF9}"/>
              </a:ext>
            </a:extLst>
          </p:cNvPr>
          <p:cNvSpPr txBox="1"/>
          <p:nvPr/>
        </p:nvSpPr>
        <p:spPr>
          <a:xfrm>
            <a:off x="9009539" y="5175737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C00000"/>
                </a:solidFill>
              </a:rPr>
              <a:t>0</a:t>
            </a:r>
            <a:endParaRPr lang="ko-KR" altLang="en-US" sz="2400" b="1" dirty="0">
              <a:solidFill>
                <a:srgbClr val="C0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4959DE-F76F-4135-A61B-FC231AA5B3D6}"/>
              </a:ext>
            </a:extLst>
          </p:cNvPr>
          <p:cNvSpPr txBox="1"/>
          <p:nvPr/>
        </p:nvSpPr>
        <p:spPr>
          <a:xfrm>
            <a:off x="9705825" y="5175736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C00000"/>
                </a:solidFill>
              </a:rPr>
              <a:t>1</a:t>
            </a:r>
            <a:endParaRPr lang="ko-KR" altLang="en-US" sz="2400" b="1" dirty="0">
              <a:solidFill>
                <a:srgbClr val="C0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AA3350-A832-4C60-B3BA-9DAB6241452F}"/>
              </a:ext>
            </a:extLst>
          </p:cNvPr>
          <p:cNvSpPr txBox="1"/>
          <p:nvPr/>
        </p:nvSpPr>
        <p:spPr>
          <a:xfrm>
            <a:off x="11636691" y="2330621"/>
            <a:ext cx="2696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 err="1">
                <a:solidFill>
                  <a:srgbClr val="C00000"/>
                </a:solidFill>
              </a:rPr>
              <a:t>i</a:t>
            </a:r>
            <a:endParaRPr lang="ko-KR" altLang="en-US" sz="2400" b="1" dirty="0">
              <a:solidFill>
                <a:srgbClr val="C0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C497EA-FBC3-44D9-8AFC-B5654959D6D1}"/>
              </a:ext>
            </a:extLst>
          </p:cNvPr>
          <p:cNvSpPr txBox="1"/>
          <p:nvPr/>
        </p:nvSpPr>
        <p:spPr>
          <a:xfrm>
            <a:off x="11583993" y="1660850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C00000"/>
                </a:solidFill>
              </a:rPr>
              <a:t>0</a:t>
            </a:r>
            <a:endParaRPr lang="ko-KR" altLang="en-US" sz="2400" b="1" dirty="0">
              <a:solidFill>
                <a:srgbClr val="C0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4EA9E0-F84E-4A5D-A46B-A4E9A74CA0C3}"/>
              </a:ext>
            </a:extLst>
          </p:cNvPr>
          <p:cNvSpPr txBox="1"/>
          <p:nvPr/>
        </p:nvSpPr>
        <p:spPr>
          <a:xfrm>
            <a:off x="11583993" y="3006421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C00000"/>
                </a:solidFill>
              </a:rPr>
              <a:t>0</a:t>
            </a:r>
            <a:endParaRPr lang="ko-KR" altLang="en-US" sz="2400" b="1" dirty="0">
              <a:solidFill>
                <a:srgbClr val="C0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DE0910D-49C0-4C82-A323-661E5B798451}"/>
              </a:ext>
            </a:extLst>
          </p:cNvPr>
          <p:cNvSpPr txBox="1"/>
          <p:nvPr/>
        </p:nvSpPr>
        <p:spPr>
          <a:xfrm>
            <a:off x="11583993" y="3682002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>
                <a:solidFill>
                  <a:srgbClr val="C00000"/>
                </a:solidFill>
              </a:rPr>
              <a:t>0</a:t>
            </a:r>
            <a:endParaRPr lang="ko-KR" altLang="en-US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38408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4D99048-2D51-4A23-A412-75B83FFDFD5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01579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8AEAA4-8F04-4DD5-911F-6760581C2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팀원별</a:t>
            </a:r>
            <a:r>
              <a:rPr lang="ko-KR" altLang="en-US" dirty="0"/>
              <a:t> 기여도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1E23C1-77CC-4D39-8D3D-3FAE47D404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자료조사 </a:t>
            </a:r>
            <a:r>
              <a:rPr lang="en-US" altLang="ko-KR" dirty="0"/>
              <a:t>		: </a:t>
            </a:r>
            <a:r>
              <a:rPr lang="ko-KR" altLang="en-US" dirty="0"/>
              <a:t>김진호 </a:t>
            </a:r>
            <a:r>
              <a:rPr lang="en-US" altLang="ko-KR" dirty="0"/>
              <a:t>50 / </a:t>
            </a:r>
            <a:r>
              <a:rPr lang="ko-KR" altLang="en-US" dirty="0"/>
              <a:t>태현준 </a:t>
            </a:r>
            <a:r>
              <a:rPr lang="en-US" altLang="ko-KR" dirty="0"/>
              <a:t>50</a:t>
            </a:r>
          </a:p>
          <a:p>
            <a:r>
              <a:rPr lang="ko-KR" altLang="en-US" dirty="0"/>
              <a:t>발표 자료 제작 </a:t>
            </a:r>
            <a:r>
              <a:rPr lang="en-US" altLang="ko-KR" dirty="0"/>
              <a:t>: </a:t>
            </a:r>
            <a:r>
              <a:rPr lang="ko-KR" altLang="en-US" dirty="0"/>
              <a:t>김진호 </a:t>
            </a:r>
            <a:r>
              <a:rPr lang="en-US" altLang="ko-KR" dirty="0"/>
              <a:t>50 / </a:t>
            </a:r>
            <a:r>
              <a:rPr lang="ko-KR" altLang="en-US" dirty="0"/>
              <a:t>태현준 </a:t>
            </a:r>
            <a:r>
              <a:rPr lang="en-US" altLang="ko-KR" dirty="0"/>
              <a:t>50</a:t>
            </a:r>
          </a:p>
          <a:p>
            <a:r>
              <a:rPr lang="ko-KR" altLang="en-US" dirty="0"/>
              <a:t>발표 </a:t>
            </a:r>
            <a:r>
              <a:rPr lang="en-US" altLang="ko-KR" dirty="0"/>
              <a:t>		: </a:t>
            </a:r>
            <a:r>
              <a:rPr lang="ko-KR" altLang="en-US" dirty="0"/>
              <a:t>김진호 </a:t>
            </a:r>
            <a:r>
              <a:rPr lang="en-US" altLang="ko-KR" dirty="0"/>
              <a:t>50 / </a:t>
            </a:r>
            <a:r>
              <a:rPr lang="ko-KR" altLang="en-US" dirty="0"/>
              <a:t>태현준 </a:t>
            </a:r>
            <a:r>
              <a:rPr lang="en-US" altLang="ko-KR" dirty="0"/>
              <a:t>50</a:t>
            </a:r>
            <a:endParaRPr lang="ko-KR" altLang="en-US" dirty="0"/>
          </a:p>
          <a:p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340349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6C3B22-6D1F-403E-BB1B-16F25FFD7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Mux, </a:t>
            </a:r>
            <a:r>
              <a:rPr lang="en-US" altLang="ko-KR" dirty="0" err="1"/>
              <a:t>Demux</a:t>
            </a:r>
            <a:r>
              <a:rPr lang="en-US" altLang="ko-KR" dirty="0"/>
              <a:t> </a:t>
            </a:r>
            <a:r>
              <a:rPr lang="ko-KR" altLang="en-US" dirty="0"/>
              <a:t>출처</a:t>
            </a:r>
            <a:br>
              <a:rPr lang="en-US" altLang="ko-KR" dirty="0"/>
            </a:b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09B72B-FF7F-4243-BE0D-71D73D0CCE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1200" b="1" dirty="0" err="1"/>
              <a:t>GeeksforGeeks</a:t>
            </a:r>
            <a:r>
              <a:rPr lang="en-US" altLang="ko-KR" sz="1200" dirty="0"/>
              <a:t> </a:t>
            </a:r>
          </a:p>
          <a:p>
            <a:pPr marL="0" indent="0">
              <a:buNone/>
            </a:pPr>
            <a:r>
              <a:rPr lang="en-US" altLang="ko-KR" sz="1200" dirty="0"/>
              <a:t>            - Multiplexers </a:t>
            </a:r>
            <a:r>
              <a:rPr lang="ko-KR" altLang="en-US" sz="1200" dirty="0" err="1">
                <a:hlinkClick r:id="rId2"/>
              </a:rPr>
              <a:t>https</a:t>
            </a:r>
            <a:r>
              <a:rPr lang="ko-KR" altLang="en-US" sz="1200" dirty="0">
                <a:hlinkClick r:id="rId2"/>
              </a:rPr>
              <a:t>://</a:t>
            </a:r>
            <a:r>
              <a:rPr lang="ko-KR" altLang="en-US" sz="1200" dirty="0" err="1">
                <a:hlinkClick r:id="rId2"/>
              </a:rPr>
              <a:t>www.geeksforgeeks.org</a:t>
            </a:r>
            <a:r>
              <a:rPr lang="ko-KR" altLang="en-US" sz="1200" dirty="0">
                <a:hlinkClick r:id="rId2"/>
              </a:rPr>
              <a:t>/</a:t>
            </a:r>
            <a:r>
              <a:rPr lang="ko-KR" altLang="en-US" sz="1200" dirty="0" err="1">
                <a:hlinkClick r:id="rId2"/>
              </a:rPr>
              <a:t>digital-logic</a:t>
            </a:r>
            <a:r>
              <a:rPr lang="ko-KR" altLang="en-US" sz="1200" dirty="0">
                <a:hlinkClick r:id="rId2"/>
              </a:rPr>
              <a:t>/</a:t>
            </a:r>
            <a:r>
              <a:rPr lang="ko-KR" altLang="en-US" sz="1200" dirty="0" err="1">
                <a:hlinkClick r:id="rId2"/>
              </a:rPr>
              <a:t>multiplexers-in-digital-logic</a:t>
            </a:r>
            <a:r>
              <a:rPr lang="ko-KR" altLang="en-US" sz="1200" dirty="0">
                <a:hlinkClick r:id="rId2"/>
              </a:rPr>
              <a:t>/?</a:t>
            </a:r>
            <a:r>
              <a:rPr lang="ko-KR" altLang="en-US" sz="1200" dirty="0" err="1">
                <a:hlinkClick r:id="rId2"/>
              </a:rPr>
              <a:t>utm_source</a:t>
            </a:r>
            <a:endParaRPr lang="en-US" altLang="ko-KR" sz="1200" dirty="0"/>
          </a:p>
          <a:p>
            <a:pPr marL="0" indent="0">
              <a:buNone/>
            </a:pPr>
            <a:r>
              <a:rPr lang="en-US" altLang="ko-KR" sz="1200" dirty="0"/>
              <a:t>            - What is Multiplexer(</a:t>
            </a:r>
            <a:r>
              <a:rPr lang="en-US" altLang="ko-KR" sz="1200" dirty="0" err="1"/>
              <a:t>DEMUX</a:t>
            </a:r>
            <a:r>
              <a:rPr lang="en-US" altLang="ko-KR" sz="1200" dirty="0"/>
              <a:t>)?   </a:t>
            </a:r>
            <a:r>
              <a:rPr lang="en-US" altLang="ko-KR" sz="1200" dirty="0">
                <a:hlinkClick r:id="rId3"/>
              </a:rPr>
              <a:t>https://</a:t>
            </a:r>
            <a:r>
              <a:rPr lang="en-US" altLang="ko-KR" sz="1200" dirty="0" err="1">
                <a:hlinkClick r:id="rId3"/>
              </a:rPr>
              <a:t>www.geeksforgeeks.org</a:t>
            </a:r>
            <a:r>
              <a:rPr lang="en-US" altLang="ko-KR" sz="1200" dirty="0">
                <a:hlinkClick r:id="rId3"/>
              </a:rPr>
              <a:t>/electronics-engineering/what-is-</a:t>
            </a:r>
            <a:r>
              <a:rPr lang="en-US" altLang="ko-KR" sz="1200" dirty="0" err="1">
                <a:hlinkClick r:id="rId3"/>
              </a:rPr>
              <a:t>demultiplexerdemux</a:t>
            </a:r>
            <a:r>
              <a:rPr lang="en-US" altLang="ko-KR" sz="1200" dirty="0">
                <a:hlinkClick r:id="rId3"/>
              </a:rPr>
              <a:t>/?</a:t>
            </a:r>
            <a:r>
              <a:rPr lang="en-US" altLang="ko-KR" sz="1200" dirty="0" err="1">
                <a:hlinkClick r:id="rId3"/>
              </a:rPr>
              <a:t>utm_source</a:t>
            </a:r>
            <a:endParaRPr lang="en-US" altLang="ko-KR" sz="1200" dirty="0"/>
          </a:p>
          <a:p>
            <a:pPr marL="0" indent="0">
              <a:buNone/>
            </a:pPr>
            <a:r>
              <a:rPr lang="en-US" altLang="ko-KR" sz="1200" dirty="0"/>
              <a:t>            - Applications of MUX </a:t>
            </a:r>
            <a:r>
              <a:rPr lang="en-US" altLang="ko-KR" sz="1200" dirty="0">
                <a:hlinkClick r:id="rId4"/>
              </a:rPr>
              <a:t>https://</a:t>
            </a:r>
            <a:r>
              <a:rPr lang="en-US" altLang="ko-KR" sz="1200" dirty="0" err="1">
                <a:hlinkClick r:id="rId4"/>
              </a:rPr>
              <a:t>www.geeksforgeeks.org</a:t>
            </a:r>
            <a:r>
              <a:rPr lang="en-US" altLang="ko-KR" sz="1200" dirty="0">
                <a:hlinkClick r:id="rId4"/>
              </a:rPr>
              <a:t>/digital-logic/applications-of-mux/?</a:t>
            </a:r>
            <a:r>
              <a:rPr lang="en-US" altLang="ko-KR" sz="1200" dirty="0" err="1">
                <a:hlinkClick r:id="rId4"/>
              </a:rPr>
              <a:t>utm_source#control-systems</a:t>
            </a:r>
            <a:r>
              <a:rPr lang="en-US" altLang="ko-KR" sz="1200" dirty="0"/>
              <a:t> </a:t>
            </a:r>
          </a:p>
          <a:p>
            <a:r>
              <a:rPr lang="en-US" altLang="ko-KR" sz="1200" b="1" dirty="0"/>
              <a:t>Cadence</a:t>
            </a:r>
            <a:r>
              <a:rPr lang="en-US" altLang="ko-KR" sz="1200" dirty="0"/>
              <a:t> </a:t>
            </a:r>
          </a:p>
          <a:p>
            <a:pPr marL="0" indent="0">
              <a:buNone/>
            </a:pPr>
            <a:r>
              <a:rPr lang="en-US" altLang="ko-KR" sz="1200" dirty="0"/>
              <a:t>            - </a:t>
            </a:r>
            <a:r>
              <a:rPr lang="fr-FR" altLang="ko-KR" sz="1200" dirty="0"/>
              <a:t>Multiplexer (MUX) and Demultiplexer (DEMUX) Applications</a:t>
            </a:r>
            <a:r>
              <a:rPr lang="en-US" altLang="ko-KR" sz="1200" dirty="0"/>
              <a:t> </a:t>
            </a:r>
            <a:br>
              <a:rPr lang="en-US" altLang="ko-KR" sz="1200" dirty="0"/>
            </a:br>
            <a:r>
              <a:rPr lang="en-US" altLang="ko-KR" sz="1200" dirty="0"/>
              <a:t>              </a:t>
            </a:r>
            <a:r>
              <a:rPr lang="en-US" altLang="ko-KR" sz="1200" dirty="0">
                <a:hlinkClick r:id="rId5"/>
              </a:rPr>
              <a:t>https://</a:t>
            </a:r>
            <a:r>
              <a:rPr lang="en-US" altLang="ko-KR" sz="1200" dirty="0" err="1">
                <a:hlinkClick r:id="rId5"/>
              </a:rPr>
              <a:t>resources.pcb.cadence.com</a:t>
            </a:r>
            <a:r>
              <a:rPr lang="en-US" altLang="ko-KR" sz="1200" dirty="0">
                <a:hlinkClick r:id="rId5"/>
              </a:rPr>
              <a:t>/blog/2024-multiplexer-mux-and-demultiplexer-demux-applications?utm_source</a:t>
            </a:r>
            <a:r>
              <a:rPr lang="en-US" altLang="ko-KR" sz="1200" dirty="0"/>
              <a:t> </a:t>
            </a:r>
            <a:endParaRPr lang="ko-KR" altLang="en-US" sz="1200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489509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681</Words>
  <Application>Microsoft Office PowerPoint</Application>
  <PresentationFormat>와이드스크린</PresentationFormat>
  <Paragraphs>193</Paragraphs>
  <Slides>26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0" baseType="lpstr">
      <vt:lpstr>맑은 고딕</vt:lpstr>
      <vt:lpstr>Arial</vt:lpstr>
      <vt:lpstr>Wingdings</vt:lpstr>
      <vt:lpstr>Office 테마</vt:lpstr>
      <vt:lpstr>Decoder &amp; Mux</vt:lpstr>
      <vt:lpstr>Mux의 개념</vt:lpstr>
      <vt:lpstr>2x1 Mux</vt:lpstr>
      <vt:lpstr>2x1 Mux의 회로도</vt:lpstr>
      <vt:lpstr>2x1 Mux의 회로도</vt:lpstr>
      <vt:lpstr>4x1 Mux</vt:lpstr>
      <vt:lpstr>4x1 Mux의 회로도</vt:lpstr>
      <vt:lpstr>4x1 Mux의 회로도</vt:lpstr>
      <vt:lpstr>2x1 Mux를 이용한 4x1 Mux 표현</vt:lpstr>
      <vt:lpstr>2x1 Mux를 이용한 4x1 Mux 표현</vt:lpstr>
      <vt:lpstr>2x4 Decoder와 4x1 Mux의 결합</vt:lpstr>
      <vt:lpstr>2x4 Decoder와 4x1 Mux의 결합</vt:lpstr>
      <vt:lpstr>3x8 Decoder와 8x1 Mux의 결합</vt:lpstr>
      <vt:lpstr>3x8 Decoder와 8x1 Mux의 결합</vt:lpstr>
      <vt:lpstr>Multi-bit Mux</vt:lpstr>
      <vt:lpstr>Multi-bit Mux</vt:lpstr>
      <vt:lpstr>Mux의 활용</vt:lpstr>
      <vt:lpstr>Mux의 활용</vt:lpstr>
      <vt:lpstr>Mux의 활용</vt:lpstr>
      <vt:lpstr>DeMux</vt:lpstr>
      <vt:lpstr>1x4 DeMux</vt:lpstr>
      <vt:lpstr>1x4 DeMux</vt:lpstr>
      <vt:lpstr>1x4 DeMux</vt:lpstr>
      <vt:lpstr>PowerPoint 프레젠테이션</vt:lpstr>
      <vt:lpstr>팀원별 기여도</vt:lpstr>
      <vt:lpstr>Mux, Demux 출처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컴실2 발표!</dc:title>
  <dc:creator>user</dc:creator>
  <cp:lastModifiedBy>user</cp:lastModifiedBy>
  <cp:revision>126</cp:revision>
  <dcterms:created xsi:type="dcterms:W3CDTF">2025-11-01T13:00:38Z</dcterms:created>
  <dcterms:modified xsi:type="dcterms:W3CDTF">2025-11-03T05:54:08Z</dcterms:modified>
</cp:coreProperties>
</file>