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Arimo" panose="020B0600000101010101" charset="0"/>
      <p:bold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161aed14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b161aed1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b161aed14_2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eb161aed14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b161aed14_2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b161aed14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b161aed14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eb161aed14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b161aed14_2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b161aed14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161aed14_2_2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b161aed14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b161aed14_2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eb161aed14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161aed14_2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eb161aed14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b161aed14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eb161aed1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b161aed14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3.93 -&gt; CLV 점수를 업계 벤치마크보다 낮게 설정 -&gt; 더 현실적인 ROI 전략 수립 가능.</a:t>
            </a:r>
            <a:endParaRPr/>
          </a:p>
        </p:txBody>
      </p:sp>
      <p:sp>
        <p:nvSpPr>
          <p:cNvPr id="299" name="Google Shape;299;g3eb161aed1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b161aed14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eb161aed1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b161aed14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eb161aed1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51fe2c8b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e51fe2c8b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b161aed14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eb161aed1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b161aed14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eb161aed1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b161aed14_2_2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eb161aed14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b161aed14_2_3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eb161aed14_2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51fe2c8b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51fe2c8b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51fe2c8bc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e51fe2c8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123540" cy="5147500"/>
          </a:xfrm>
          <a:custGeom>
            <a:avLst/>
            <a:gdLst/>
            <a:ahLst/>
            <a:cxnLst/>
            <a:rect l="l" t="t" r="r" b="b"/>
            <a:pathLst>
              <a:path w="329438" h="13726668" extrusionOk="0">
                <a:moveTo>
                  <a:pt x="0" y="0"/>
                </a:moveTo>
                <a:lnTo>
                  <a:pt x="329438" y="0"/>
                </a:lnTo>
                <a:lnTo>
                  <a:pt x="329438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25"/>
          <p:cNvCxnSpPr/>
          <p:nvPr/>
        </p:nvCxnSpPr>
        <p:spPr>
          <a:xfrm rot="16980">
            <a:off x="469683" y="2589591"/>
            <a:ext cx="4345420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25"/>
          <p:cNvSpPr txBox="1"/>
          <p:nvPr/>
        </p:nvSpPr>
        <p:spPr>
          <a:xfrm>
            <a:off x="480436" y="417542"/>
            <a:ext cx="8236034" cy="20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CAPSTONE DESIGN 2026 · 울트라캡짱팀 · 12조</a:t>
            </a:r>
            <a:endParaRPr sz="700"/>
          </a:p>
        </p:txBody>
      </p:sp>
      <p:sp>
        <p:nvSpPr>
          <p:cNvPr id="132" name="Google Shape;132;p25"/>
          <p:cNvSpPr txBox="1"/>
          <p:nvPr/>
        </p:nvSpPr>
        <p:spPr>
          <a:xfrm>
            <a:off x="446118" y="1616834"/>
            <a:ext cx="8579201" cy="85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기반 고객 이탈 예측 및 </a:t>
            </a:r>
            <a:endParaRPr sz="700"/>
          </a:p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리텐션 ROI 최적화 시스템 구축</a:t>
            </a:r>
            <a:endParaRPr sz="700"/>
          </a:p>
        </p:txBody>
      </p:sp>
      <p:sp>
        <p:nvSpPr>
          <p:cNvPr id="133" name="Google Shape;133;p25"/>
          <p:cNvSpPr txBox="1"/>
          <p:nvPr/>
        </p:nvSpPr>
        <p:spPr>
          <a:xfrm>
            <a:off x="495300" y="2735961"/>
            <a:ext cx="8579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차 발표 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446117" y="3972206"/>
            <a:ext cx="54906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이승연 · 태현준 · 윤찬영 · 송은우 · 심은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0" y="54907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77486" y="425806"/>
            <a:ext cx="8373304" cy="56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sz="700"/>
          </a:p>
        </p:txBody>
      </p:sp>
      <p:cxnSp>
        <p:nvCxnSpPr>
          <p:cNvPr id="141" name="Google Shape;141;p26"/>
          <p:cNvCxnSpPr/>
          <p:nvPr/>
        </p:nvCxnSpPr>
        <p:spPr>
          <a:xfrm rot="5880">
            <a:off x="404646" y="1264958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2" name="Google Shape;142;p26"/>
          <p:cNvGrpSpPr/>
          <p:nvPr/>
        </p:nvGrpSpPr>
        <p:grpSpPr>
          <a:xfrm>
            <a:off x="408227" y="1574997"/>
            <a:ext cx="8332422" cy="933688"/>
            <a:chOff x="0" y="0"/>
            <a:chExt cx="22219793" cy="2489835"/>
          </a:xfrm>
        </p:grpSpPr>
        <p:sp>
          <p:nvSpPr>
            <p:cNvPr id="143" name="Google Shape;143;p26"/>
            <p:cNvSpPr/>
            <p:nvPr/>
          </p:nvSpPr>
          <p:spPr>
            <a:xfrm>
              <a:off x="9525" y="9525"/>
              <a:ext cx="22200743" cy="2470785"/>
            </a:xfrm>
            <a:custGeom>
              <a:avLst/>
              <a:gdLst/>
              <a:ahLst/>
              <a:cxnLst/>
              <a:rect l="l" t="t" r="r" b="b"/>
              <a:pathLst>
                <a:path w="22200743" h="2470785" extrusionOk="0">
                  <a:moveTo>
                    <a:pt x="0" y="0"/>
                  </a:moveTo>
                  <a:lnTo>
                    <a:pt x="22200743" y="0"/>
                  </a:lnTo>
                  <a:lnTo>
                    <a:pt x="22200743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0" y="0"/>
              <a:ext cx="22219793" cy="2489835"/>
            </a:xfrm>
            <a:custGeom>
              <a:avLst/>
              <a:gdLst/>
              <a:ahLst/>
              <a:cxnLst/>
              <a:rect l="l" t="t" r="r" b="b"/>
              <a:pathLst>
                <a:path w="22219793" h="2489835" extrusionOk="0">
                  <a:moveTo>
                    <a:pt x="9525" y="0"/>
                  </a:moveTo>
                  <a:lnTo>
                    <a:pt x="22210268" y="0"/>
                  </a:lnTo>
                  <a:cubicBezTo>
                    <a:pt x="22215475" y="0"/>
                    <a:pt x="22219793" y="4318"/>
                    <a:pt x="22219793" y="9525"/>
                  </a:cubicBezTo>
                  <a:lnTo>
                    <a:pt x="22219793" y="2480310"/>
                  </a:lnTo>
                  <a:cubicBezTo>
                    <a:pt x="22219793" y="2485517"/>
                    <a:pt x="22215475" y="2489835"/>
                    <a:pt x="22210268" y="2489835"/>
                  </a:cubicBezTo>
                  <a:lnTo>
                    <a:pt x="9525" y="2489835"/>
                  </a:lnTo>
                  <a:cubicBezTo>
                    <a:pt x="4318" y="2489835"/>
                    <a:pt x="0" y="2485517"/>
                    <a:pt x="0" y="248031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480310"/>
                  </a:lnTo>
                  <a:lnTo>
                    <a:pt x="9525" y="2480310"/>
                  </a:lnTo>
                  <a:lnTo>
                    <a:pt x="9525" y="2470785"/>
                  </a:lnTo>
                  <a:lnTo>
                    <a:pt x="22210268" y="2470785"/>
                  </a:lnTo>
                  <a:lnTo>
                    <a:pt x="22210268" y="2480310"/>
                  </a:lnTo>
                  <a:lnTo>
                    <a:pt x="22200743" y="2480310"/>
                  </a:lnTo>
                  <a:lnTo>
                    <a:pt x="22200743" y="9525"/>
                  </a:lnTo>
                  <a:lnTo>
                    <a:pt x="22210268" y="9525"/>
                  </a:lnTo>
                  <a:lnTo>
                    <a:pt x="2221026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6"/>
          <p:cNvSpPr/>
          <p:nvPr/>
        </p:nvSpPr>
        <p:spPr>
          <a:xfrm>
            <a:off x="411804" y="1578573"/>
            <a:ext cx="54912" cy="926545"/>
          </a:xfrm>
          <a:custGeom>
            <a:avLst/>
            <a:gdLst/>
            <a:ahLst/>
            <a:cxnLst/>
            <a:rect l="l" t="t" r="r" b="b"/>
            <a:pathLst>
              <a:path w="146431" h="2470785" extrusionOk="0">
                <a:moveTo>
                  <a:pt x="0" y="0"/>
                </a:moveTo>
                <a:lnTo>
                  <a:pt x="146431" y="0"/>
                </a:lnTo>
                <a:lnTo>
                  <a:pt x="146431" y="2470785"/>
                </a:lnTo>
                <a:lnTo>
                  <a:pt x="0" y="2470785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52019" y="1686706"/>
            <a:ext cx="823603" cy="35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700"/>
          </a:p>
        </p:txBody>
      </p:sp>
      <p:sp>
        <p:nvSpPr>
          <p:cNvPr id="147" name="Google Shape;147;p26"/>
          <p:cNvSpPr txBox="1"/>
          <p:nvPr/>
        </p:nvSpPr>
        <p:spPr>
          <a:xfrm>
            <a:off x="1509941" y="1697853"/>
            <a:ext cx="686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sz="1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26"/>
          <p:cNvGrpSpPr/>
          <p:nvPr/>
        </p:nvGrpSpPr>
        <p:grpSpPr>
          <a:xfrm>
            <a:off x="408227" y="2625095"/>
            <a:ext cx="8332422" cy="933688"/>
            <a:chOff x="0" y="0"/>
            <a:chExt cx="22219793" cy="2489835"/>
          </a:xfrm>
        </p:grpSpPr>
        <p:sp>
          <p:nvSpPr>
            <p:cNvPr id="149" name="Google Shape;149;p26"/>
            <p:cNvSpPr/>
            <p:nvPr/>
          </p:nvSpPr>
          <p:spPr>
            <a:xfrm>
              <a:off x="9525" y="9525"/>
              <a:ext cx="22200743" cy="2470785"/>
            </a:xfrm>
            <a:custGeom>
              <a:avLst/>
              <a:gdLst/>
              <a:ahLst/>
              <a:cxnLst/>
              <a:rect l="l" t="t" r="r" b="b"/>
              <a:pathLst>
                <a:path w="22200743" h="2470785" extrusionOk="0">
                  <a:moveTo>
                    <a:pt x="0" y="0"/>
                  </a:moveTo>
                  <a:lnTo>
                    <a:pt x="22200743" y="0"/>
                  </a:lnTo>
                  <a:lnTo>
                    <a:pt x="22200743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0" y="0"/>
              <a:ext cx="22219793" cy="2489835"/>
            </a:xfrm>
            <a:custGeom>
              <a:avLst/>
              <a:gdLst/>
              <a:ahLst/>
              <a:cxnLst/>
              <a:rect l="l" t="t" r="r" b="b"/>
              <a:pathLst>
                <a:path w="22219793" h="2489835" extrusionOk="0">
                  <a:moveTo>
                    <a:pt x="9525" y="0"/>
                  </a:moveTo>
                  <a:lnTo>
                    <a:pt x="22210268" y="0"/>
                  </a:lnTo>
                  <a:cubicBezTo>
                    <a:pt x="22215475" y="0"/>
                    <a:pt x="22219793" y="4318"/>
                    <a:pt x="22219793" y="9525"/>
                  </a:cubicBezTo>
                  <a:lnTo>
                    <a:pt x="22219793" y="2480310"/>
                  </a:lnTo>
                  <a:cubicBezTo>
                    <a:pt x="22219793" y="2485517"/>
                    <a:pt x="22215475" y="2489835"/>
                    <a:pt x="22210268" y="2489835"/>
                  </a:cubicBezTo>
                  <a:lnTo>
                    <a:pt x="9525" y="2489835"/>
                  </a:lnTo>
                  <a:cubicBezTo>
                    <a:pt x="4318" y="2489835"/>
                    <a:pt x="0" y="2485517"/>
                    <a:pt x="0" y="248031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480310"/>
                  </a:lnTo>
                  <a:lnTo>
                    <a:pt x="9525" y="2480310"/>
                  </a:lnTo>
                  <a:lnTo>
                    <a:pt x="9525" y="2470785"/>
                  </a:lnTo>
                  <a:lnTo>
                    <a:pt x="22210268" y="2470785"/>
                  </a:lnTo>
                  <a:lnTo>
                    <a:pt x="22210268" y="2480310"/>
                  </a:lnTo>
                  <a:lnTo>
                    <a:pt x="22200743" y="2480310"/>
                  </a:lnTo>
                  <a:lnTo>
                    <a:pt x="22200743" y="9525"/>
                  </a:lnTo>
                  <a:lnTo>
                    <a:pt x="22210268" y="9525"/>
                  </a:lnTo>
                  <a:lnTo>
                    <a:pt x="2221026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6"/>
          <p:cNvSpPr/>
          <p:nvPr/>
        </p:nvSpPr>
        <p:spPr>
          <a:xfrm>
            <a:off x="411804" y="2628666"/>
            <a:ext cx="54912" cy="926545"/>
          </a:xfrm>
          <a:custGeom>
            <a:avLst/>
            <a:gdLst/>
            <a:ahLst/>
            <a:cxnLst/>
            <a:rect l="l" t="t" r="r" b="b"/>
            <a:pathLst>
              <a:path w="146431" h="2470785" extrusionOk="0">
                <a:moveTo>
                  <a:pt x="0" y="0"/>
                </a:moveTo>
                <a:lnTo>
                  <a:pt x="146431" y="0"/>
                </a:lnTo>
                <a:lnTo>
                  <a:pt x="146431" y="2470785"/>
                </a:lnTo>
                <a:lnTo>
                  <a:pt x="0" y="2470785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652019" y="2736799"/>
            <a:ext cx="823603" cy="35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700"/>
          </a:p>
        </p:txBody>
      </p:sp>
      <p:sp>
        <p:nvSpPr>
          <p:cNvPr id="153" name="Google Shape;153;p26"/>
          <p:cNvSpPr txBox="1"/>
          <p:nvPr/>
        </p:nvSpPr>
        <p:spPr>
          <a:xfrm>
            <a:off x="1509941" y="2734778"/>
            <a:ext cx="686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기존 서비스와의 차별점</a:t>
            </a:r>
            <a:endParaRPr sz="1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6"/>
          <p:cNvGrpSpPr/>
          <p:nvPr/>
        </p:nvGrpSpPr>
        <p:grpSpPr>
          <a:xfrm>
            <a:off x="408227" y="3675188"/>
            <a:ext cx="8332422" cy="933688"/>
            <a:chOff x="0" y="0"/>
            <a:chExt cx="22219793" cy="2489835"/>
          </a:xfrm>
        </p:grpSpPr>
        <p:sp>
          <p:nvSpPr>
            <p:cNvPr id="155" name="Google Shape;155;p26"/>
            <p:cNvSpPr/>
            <p:nvPr/>
          </p:nvSpPr>
          <p:spPr>
            <a:xfrm>
              <a:off x="9525" y="9525"/>
              <a:ext cx="22200743" cy="2470785"/>
            </a:xfrm>
            <a:custGeom>
              <a:avLst/>
              <a:gdLst/>
              <a:ahLst/>
              <a:cxnLst/>
              <a:rect l="l" t="t" r="r" b="b"/>
              <a:pathLst>
                <a:path w="22200743" h="2470785" extrusionOk="0">
                  <a:moveTo>
                    <a:pt x="0" y="0"/>
                  </a:moveTo>
                  <a:lnTo>
                    <a:pt x="22200743" y="0"/>
                  </a:lnTo>
                  <a:lnTo>
                    <a:pt x="22200743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0" y="0"/>
              <a:ext cx="22219793" cy="2489835"/>
            </a:xfrm>
            <a:custGeom>
              <a:avLst/>
              <a:gdLst/>
              <a:ahLst/>
              <a:cxnLst/>
              <a:rect l="l" t="t" r="r" b="b"/>
              <a:pathLst>
                <a:path w="22219793" h="2489835" extrusionOk="0">
                  <a:moveTo>
                    <a:pt x="9525" y="0"/>
                  </a:moveTo>
                  <a:lnTo>
                    <a:pt x="22210268" y="0"/>
                  </a:lnTo>
                  <a:cubicBezTo>
                    <a:pt x="22215475" y="0"/>
                    <a:pt x="22219793" y="4318"/>
                    <a:pt x="22219793" y="9525"/>
                  </a:cubicBezTo>
                  <a:lnTo>
                    <a:pt x="22219793" y="2480310"/>
                  </a:lnTo>
                  <a:cubicBezTo>
                    <a:pt x="22219793" y="2485517"/>
                    <a:pt x="22215475" y="2489835"/>
                    <a:pt x="22210268" y="2489835"/>
                  </a:cubicBezTo>
                  <a:lnTo>
                    <a:pt x="9525" y="2489835"/>
                  </a:lnTo>
                  <a:cubicBezTo>
                    <a:pt x="4318" y="2489835"/>
                    <a:pt x="0" y="2485517"/>
                    <a:pt x="0" y="248031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2480310"/>
                  </a:lnTo>
                  <a:lnTo>
                    <a:pt x="9525" y="2480310"/>
                  </a:lnTo>
                  <a:lnTo>
                    <a:pt x="9525" y="2470785"/>
                  </a:lnTo>
                  <a:lnTo>
                    <a:pt x="22210268" y="2470785"/>
                  </a:lnTo>
                  <a:lnTo>
                    <a:pt x="22210268" y="2480310"/>
                  </a:lnTo>
                  <a:lnTo>
                    <a:pt x="22200743" y="2480310"/>
                  </a:lnTo>
                  <a:lnTo>
                    <a:pt x="22200743" y="9525"/>
                  </a:lnTo>
                  <a:lnTo>
                    <a:pt x="22210268" y="9525"/>
                  </a:lnTo>
                  <a:lnTo>
                    <a:pt x="22210268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6"/>
          <p:cNvSpPr/>
          <p:nvPr/>
        </p:nvSpPr>
        <p:spPr>
          <a:xfrm>
            <a:off x="411804" y="3678760"/>
            <a:ext cx="54912" cy="926545"/>
          </a:xfrm>
          <a:custGeom>
            <a:avLst/>
            <a:gdLst/>
            <a:ahLst/>
            <a:cxnLst/>
            <a:rect l="l" t="t" r="r" b="b"/>
            <a:pathLst>
              <a:path w="146431" h="2470785" extrusionOk="0">
                <a:moveTo>
                  <a:pt x="0" y="0"/>
                </a:moveTo>
                <a:lnTo>
                  <a:pt x="146431" y="0"/>
                </a:lnTo>
                <a:lnTo>
                  <a:pt x="146431" y="2470785"/>
                </a:lnTo>
                <a:lnTo>
                  <a:pt x="0" y="2470785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652019" y="3786893"/>
            <a:ext cx="823603" cy="35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700"/>
          </a:p>
        </p:txBody>
      </p:sp>
      <p:sp>
        <p:nvSpPr>
          <p:cNvPr id="159" name="Google Shape;159;p26"/>
          <p:cNvSpPr txBox="1"/>
          <p:nvPr/>
        </p:nvSpPr>
        <p:spPr>
          <a:xfrm>
            <a:off x="1509941" y="3798039"/>
            <a:ext cx="686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8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7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대시보드 시연 및 설명</a:t>
            </a:r>
            <a:endParaRPr sz="1700"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2</a:t>
            </a:fld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-6920" y="224156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0" y="0"/>
            <a:ext cx="123540" cy="5147500"/>
          </a:xfrm>
          <a:custGeom>
            <a:avLst/>
            <a:gdLst/>
            <a:ahLst/>
            <a:cxnLst/>
            <a:rect l="l" t="t" r="r" b="b"/>
            <a:pathLst>
              <a:path w="329438" h="13726668" extrusionOk="0">
                <a:moveTo>
                  <a:pt x="0" y="0"/>
                </a:moveTo>
                <a:lnTo>
                  <a:pt x="329438" y="0"/>
                </a:lnTo>
                <a:lnTo>
                  <a:pt x="329438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80436" y="1856152"/>
            <a:ext cx="2745343" cy="37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700"/>
          </a:p>
        </p:txBody>
      </p:sp>
      <p:sp>
        <p:nvSpPr>
          <p:cNvPr id="168" name="Google Shape;168;p27"/>
          <p:cNvSpPr txBox="1"/>
          <p:nvPr/>
        </p:nvSpPr>
        <p:spPr>
          <a:xfrm>
            <a:off x="480436" y="2236984"/>
            <a:ext cx="823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sz="700"/>
          </a:p>
        </p:txBody>
      </p:sp>
      <p:cxnSp>
        <p:nvCxnSpPr>
          <p:cNvPr id="169" name="Google Shape;169;p27"/>
          <p:cNvCxnSpPr/>
          <p:nvPr/>
        </p:nvCxnSpPr>
        <p:spPr>
          <a:xfrm>
            <a:off x="494154" y="2855066"/>
            <a:ext cx="3642919" cy="19074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27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3</a:t>
            </a:fld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0" y="0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377486" y="473431"/>
            <a:ext cx="8373304" cy="81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"이탈 예측"만으로는 돈이 안 된다</a:t>
            </a:r>
            <a:endParaRPr sz="3000" b="1">
              <a:solidFill>
                <a:srgbClr val="0F172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77" name="Google Shape;177;p28"/>
          <p:cNvCxnSpPr/>
          <p:nvPr/>
        </p:nvCxnSpPr>
        <p:spPr>
          <a:xfrm rot="5880">
            <a:off x="404646" y="1264958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8" name="Google Shape;178;p28"/>
          <p:cNvGrpSpPr/>
          <p:nvPr/>
        </p:nvGrpSpPr>
        <p:grpSpPr>
          <a:xfrm>
            <a:off x="408227" y="1506365"/>
            <a:ext cx="2752487" cy="2615232"/>
            <a:chOff x="0" y="0"/>
            <a:chExt cx="7339965" cy="6973951"/>
          </a:xfrm>
        </p:grpSpPr>
        <p:sp>
          <p:nvSpPr>
            <p:cNvPr id="179" name="Google Shape;179;p28"/>
            <p:cNvSpPr/>
            <p:nvPr/>
          </p:nvSpPr>
          <p:spPr>
            <a:xfrm>
              <a:off x="9525" y="9525"/>
              <a:ext cx="7320915" cy="6954901"/>
            </a:xfrm>
            <a:custGeom>
              <a:avLst/>
              <a:gdLst/>
              <a:ahLst/>
              <a:cxnLst/>
              <a:rect l="l" t="t" r="r" b="b"/>
              <a:pathLst>
                <a:path w="7320915" h="6954901" extrusionOk="0">
                  <a:moveTo>
                    <a:pt x="0" y="0"/>
                  </a:moveTo>
                  <a:lnTo>
                    <a:pt x="7320915" y="0"/>
                  </a:lnTo>
                  <a:lnTo>
                    <a:pt x="7320915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0" y="0"/>
              <a:ext cx="7339965" cy="6973951"/>
            </a:xfrm>
            <a:custGeom>
              <a:avLst/>
              <a:gdLst/>
              <a:ahLst/>
              <a:cxnLst/>
              <a:rect l="l" t="t" r="r" b="b"/>
              <a:pathLst>
                <a:path w="7339965" h="6973951" extrusionOk="0">
                  <a:moveTo>
                    <a:pt x="9525" y="0"/>
                  </a:moveTo>
                  <a:lnTo>
                    <a:pt x="7330440" y="0"/>
                  </a:lnTo>
                  <a:cubicBezTo>
                    <a:pt x="7335647" y="0"/>
                    <a:pt x="7339965" y="4318"/>
                    <a:pt x="7339965" y="9525"/>
                  </a:cubicBezTo>
                  <a:lnTo>
                    <a:pt x="7339965" y="6964426"/>
                  </a:lnTo>
                  <a:cubicBezTo>
                    <a:pt x="7339965" y="6969633"/>
                    <a:pt x="7335647" y="6973951"/>
                    <a:pt x="7330440" y="6973951"/>
                  </a:cubicBezTo>
                  <a:lnTo>
                    <a:pt x="9525" y="6973951"/>
                  </a:lnTo>
                  <a:cubicBezTo>
                    <a:pt x="4318" y="6973951"/>
                    <a:pt x="0" y="6969633"/>
                    <a:pt x="0" y="696442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64426"/>
                  </a:lnTo>
                  <a:lnTo>
                    <a:pt x="9525" y="6964426"/>
                  </a:lnTo>
                  <a:lnTo>
                    <a:pt x="9525" y="6954901"/>
                  </a:lnTo>
                  <a:lnTo>
                    <a:pt x="7330440" y="6954901"/>
                  </a:lnTo>
                  <a:lnTo>
                    <a:pt x="7330440" y="6964426"/>
                  </a:lnTo>
                  <a:lnTo>
                    <a:pt x="7320915" y="6964426"/>
                  </a:lnTo>
                  <a:lnTo>
                    <a:pt x="7320915" y="9525"/>
                  </a:lnTo>
                  <a:lnTo>
                    <a:pt x="7330440" y="9525"/>
                  </a:lnTo>
                  <a:lnTo>
                    <a:pt x="733044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8"/>
          <p:cNvSpPr txBox="1"/>
          <p:nvPr/>
        </p:nvSpPr>
        <p:spPr>
          <a:xfrm>
            <a:off x="686338" y="1768364"/>
            <a:ext cx="2196275" cy="84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5×</a:t>
            </a:r>
            <a:endParaRPr sz="700"/>
          </a:p>
        </p:txBody>
      </p:sp>
      <p:sp>
        <p:nvSpPr>
          <p:cNvPr id="182" name="Google Shape;182;p28"/>
          <p:cNvSpPr txBox="1"/>
          <p:nvPr/>
        </p:nvSpPr>
        <p:spPr>
          <a:xfrm>
            <a:off x="686338" y="3090472"/>
            <a:ext cx="2196275" cy="95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신규 획득 비용 =</a:t>
            </a:r>
            <a:endParaRPr sz="700"/>
          </a:p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기존 유지 비용의 5배</a:t>
            </a:r>
            <a:endParaRPr sz="700"/>
          </a:p>
        </p:txBody>
      </p:sp>
      <p:grpSp>
        <p:nvGrpSpPr>
          <p:cNvPr id="183" name="Google Shape;183;p28"/>
          <p:cNvGrpSpPr/>
          <p:nvPr/>
        </p:nvGrpSpPr>
        <p:grpSpPr>
          <a:xfrm>
            <a:off x="3277114" y="1506365"/>
            <a:ext cx="2752487" cy="2615232"/>
            <a:chOff x="0" y="0"/>
            <a:chExt cx="7339965" cy="6973951"/>
          </a:xfrm>
        </p:grpSpPr>
        <p:sp>
          <p:nvSpPr>
            <p:cNvPr id="184" name="Google Shape;184;p28"/>
            <p:cNvSpPr/>
            <p:nvPr/>
          </p:nvSpPr>
          <p:spPr>
            <a:xfrm>
              <a:off x="9525" y="9525"/>
              <a:ext cx="7320915" cy="6954901"/>
            </a:xfrm>
            <a:custGeom>
              <a:avLst/>
              <a:gdLst/>
              <a:ahLst/>
              <a:cxnLst/>
              <a:rect l="l" t="t" r="r" b="b"/>
              <a:pathLst>
                <a:path w="7320915" h="6954901" extrusionOk="0">
                  <a:moveTo>
                    <a:pt x="0" y="0"/>
                  </a:moveTo>
                  <a:lnTo>
                    <a:pt x="7320915" y="0"/>
                  </a:lnTo>
                  <a:lnTo>
                    <a:pt x="7320915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0" y="0"/>
              <a:ext cx="7339965" cy="6973951"/>
            </a:xfrm>
            <a:custGeom>
              <a:avLst/>
              <a:gdLst/>
              <a:ahLst/>
              <a:cxnLst/>
              <a:rect l="l" t="t" r="r" b="b"/>
              <a:pathLst>
                <a:path w="7339965" h="6973951" extrusionOk="0">
                  <a:moveTo>
                    <a:pt x="9525" y="0"/>
                  </a:moveTo>
                  <a:lnTo>
                    <a:pt x="7330440" y="0"/>
                  </a:lnTo>
                  <a:cubicBezTo>
                    <a:pt x="7335647" y="0"/>
                    <a:pt x="7339965" y="4318"/>
                    <a:pt x="7339965" y="9525"/>
                  </a:cubicBezTo>
                  <a:lnTo>
                    <a:pt x="7339965" y="6964426"/>
                  </a:lnTo>
                  <a:cubicBezTo>
                    <a:pt x="7339965" y="6969633"/>
                    <a:pt x="7335647" y="6973951"/>
                    <a:pt x="7330440" y="6973951"/>
                  </a:cubicBezTo>
                  <a:lnTo>
                    <a:pt x="9525" y="6973951"/>
                  </a:lnTo>
                  <a:cubicBezTo>
                    <a:pt x="4318" y="6973951"/>
                    <a:pt x="0" y="6969633"/>
                    <a:pt x="0" y="696442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64426"/>
                  </a:lnTo>
                  <a:lnTo>
                    <a:pt x="9525" y="6964426"/>
                  </a:lnTo>
                  <a:lnTo>
                    <a:pt x="9525" y="6954901"/>
                  </a:lnTo>
                  <a:lnTo>
                    <a:pt x="7330440" y="6954901"/>
                  </a:lnTo>
                  <a:lnTo>
                    <a:pt x="7330440" y="6964426"/>
                  </a:lnTo>
                  <a:lnTo>
                    <a:pt x="7320915" y="6964426"/>
                  </a:lnTo>
                  <a:lnTo>
                    <a:pt x="7320915" y="9525"/>
                  </a:lnTo>
                  <a:lnTo>
                    <a:pt x="7330440" y="9525"/>
                  </a:lnTo>
                  <a:lnTo>
                    <a:pt x="733044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28"/>
          <p:cNvSpPr txBox="1"/>
          <p:nvPr/>
        </p:nvSpPr>
        <p:spPr>
          <a:xfrm>
            <a:off x="3555221" y="1768364"/>
            <a:ext cx="2196274" cy="84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+25%</a:t>
            </a:r>
            <a:endParaRPr sz="700"/>
          </a:p>
        </p:txBody>
      </p:sp>
      <p:sp>
        <p:nvSpPr>
          <p:cNvPr id="187" name="Google Shape;187;p28"/>
          <p:cNvSpPr txBox="1"/>
          <p:nvPr/>
        </p:nvSpPr>
        <p:spPr>
          <a:xfrm>
            <a:off x="3555221" y="3090472"/>
            <a:ext cx="2196274" cy="95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이탈률 5%p 감소 →</a:t>
            </a:r>
            <a:endParaRPr sz="700"/>
          </a:p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순이익 25% 증가</a:t>
            </a:r>
            <a:endParaRPr sz="700"/>
          </a:p>
        </p:txBody>
      </p:sp>
      <p:grpSp>
        <p:nvGrpSpPr>
          <p:cNvPr id="188" name="Google Shape;188;p28"/>
          <p:cNvGrpSpPr/>
          <p:nvPr/>
        </p:nvGrpSpPr>
        <p:grpSpPr>
          <a:xfrm>
            <a:off x="6145996" y="1506365"/>
            <a:ext cx="2752487" cy="2615232"/>
            <a:chOff x="0" y="0"/>
            <a:chExt cx="7339965" cy="6973951"/>
          </a:xfrm>
        </p:grpSpPr>
        <p:sp>
          <p:nvSpPr>
            <p:cNvPr id="189" name="Google Shape;189;p28"/>
            <p:cNvSpPr/>
            <p:nvPr/>
          </p:nvSpPr>
          <p:spPr>
            <a:xfrm>
              <a:off x="9525" y="9525"/>
              <a:ext cx="7320915" cy="6954901"/>
            </a:xfrm>
            <a:custGeom>
              <a:avLst/>
              <a:gdLst/>
              <a:ahLst/>
              <a:cxnLst/>
              <a:rect l="l" t="t" r="r" b="b"/>
              <a:pathLst>
                <a:path w="7320915" h="6954901" extrusionOk="0">
                  <a:moveTo>
                    <a:pt x="0" y="0"/>
                  </a:moveTo>
                  <a:lnTo>
                    <a:pt x="7320915" y="0"/>
                  </a:lnTo>
                  <a:lnTo>
                    <a:pt x="7320915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0" y="0"/>
              <a:ext cx="7339965" cy="6973951"/>
            </a:xfrm>
            <a:custGeom>
              <a:avLst/>
              <a:gdLst/>
              <a:ahLst/>
              <a:cxnLst/>
              <a:rect l="l" t="t" r="r" b="b"/>
              <a:pathLst>
                <a:path w="7339965" h="6973951" extrusionOk="0">
                  <a:moveTo>
                    <a:pt x="9525" y="0"/>
                  </a:moveTo>
                  <a:lnTo>
                    <a:pt x="7330440" y="0"/>
                  </a:lnTo>
                  <a:cubicBezTo>
                    <a:pt x="7335647" y="0"/>
                    <a:pt x="7339965" y="4318"/>
                    <a:pt x="7339965" y="9525"/>
                  </a:cubicBezTo>
                  <a:lnTo>
                    <a:pt x="7339965" y="6964426"/>
                  </a:lnTo>
                  <a:cubicBezTo>
                    <a:pt x="7339965" y="6969633"/>
                    <a:pt x="7335647" y="6973951"/>
                    <a:pt x="7330440" y="6973951"/>
                  </a:cubicBezTo>
                  <a:lnTo>
                    <a:pt x="9525" y="6973951"/>
                  </a:lnTo>
                  <a:cubicBezTo>
                    <a:pt x="4318" y="6973951"/>
                    <a:pt x="0" y="6969633"/>
                    <a:pt x="0" y="696442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64426"/>
                  </a:lnTo>
                  <a:lnTo>
                    <a:pt x="9525" y="6964426"/>
                  </a:lnTo>
                  <a:lnTo>
                    <a:pt x="9525" y="6954901"/>
                  </a:lnTo>
                  <a:lnTo>
                    <a:pt x="7330440" y="6954901"/>
                  </a:lnTo>
                  <a:lnTo>
                    <a:pt x="7330440" y="6964426"/>
                  </a:lnTo>
                  <a:lnTo>
                    <a:pt x="7320915" y="6964426"/>
                  </a:lnTo>
                  <a:lnTo>
                    <a:pt x="7320915" y="9525"/>
                  </a:lnTo>
                  <a:lnTo>
                    <a:pt x="7330440" y="9525"/>
                  </a:lnTo>
                  <a:lnTo>
                    <a:pt x="7330440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8"/>
          <p:cNvSpPr/>
          <p:nvPr/>
        </p:nvSpPr>
        <p:spPr>
          <a:xfrm>
            <a:off x="6149574" y="1509941"/>
            <a:ext cx="28527" cy="2608088"/>
          </a:xfrm>
          <a:custGeom>
            <a:avLst/>
            <a:gdLst/>
            <a:ahLst/>
            <a:cxnLst/>
            <a:rect l="l" t="t" r="r" b="b"/>
            <a:pathLst>
              <a:path w="76073" h="6954901" extrusionOk="0">
                <a:moveTo>
                  <a:pt x="0" y="0"/>
                </a:moveTo>
                <a:lnTo>
                  <a:pt x="76073" y="0"/>
                </a:lnTo>
                <a:lnTo>
                  <a:pt x="76073" y="6954901"/>
                </a:lnTo>
                <a:lnTo>
                  <a:pt x="0" y="695490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6424108" y="1768364"/>
            <a:ext cx="2196274" cy="84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sz="700"/>
          </a:p>
        </p:txBody>
      </p:sp>
      <p:sp>
        <p:nvSpPr>
          <p:cNvPr id="193" name="Google Shape;193;p28"/>
          <p:cNvSpPr txBox="1"/>
          <p:nvPr/>
        </p:nvSpPr>
        <p:spPr>
          <a:xfrm>
            <a:off x="6424108" y="3090472"/>
            <a:ext cx="2196274" cy="95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기존 Churn 모델이</a:t>
            </a:r>
            <a:endParaRPr sz="700"/>
          </a:p>
          <a:p>
            <a:pPr marL="0" marR="0" lvl="0" indent="0" algn="l" rtl="0">
              <a:lnSpc>
                <a:spcPct val="15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검증한 실질 증분 매출</a:t>
            </a:r>
            <a:endParaRPr sz="700"/>
          </a:p>
        </p:txBody>
      </p:sp>
      <p:sp>
        <p:nvSpPr>
          <p:cNvPr id="194" name="Google Shape;194;p28"/>
          <p:cNvSpPr/>
          <p:nvPr/>
        </p:nvSpPr>
        <p:spPr>
          <a:xfrm>
            <a:off x="411804" y="4289603"/>
            <a:ext cx="8325279" cy="583406"/>
          </a:xfrm>
          <a:custGeom>
            <a:avLst/>
            <a:gdLst/>
            <a:ahLst/>
            <a:cxnLst/>
            <a:rect l="l" t="t" r="r" b="b"/>
            <a:pathLst>
              <a:path w="22200743" h="1555750" extrusionOk="0">
                <a:moveTo>
                  <a:pt x="0" y="0"/>
                </a:moveTo>
                <a:lnTo>
                  <a:pt x="22200743" y="0"/>
                </a:lnTo>
                <a:lnTo>
                  <a:pt x="22200743" y="1555750"/>
                </a:lnTo>
                <a:lnTo>
                  <a:pt x="0" y="1555750"/>
                </a:lnTo>
                <a:close/>
              </a:path>
            </a:pathLst>
          </a:custGeom>
          <a:solidFill>
            <a:srgbClr val="DBE7FE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583387" y="4406821"/>
            <a:ext cx="809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우리는 "누가 떠날지"가 아니라 "누구에게 개입해야 돌아오는지"를 푼다.</a:t>
            </a:r>
            <a:endParaRPr sz="700"/>
          </a:p>
        </p:txBody>
      </p:sp>
      <p:sp>
        <p:nvSpPr>
          <p:cNvPr id="196" name="Google Shape;196;p28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4</a:t>
            </a:fld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0" y="0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77486" y="425806"/>
            <a:ext cx="8373304" cy="86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같은 위험군, 다른 "개입 가치"</a:t>
            </a:r>
            <a:endParaRPr sz="700"/>
          </a:p>
        </p:txBody>
      </p:sp>
      <p:cxnSp>
        <p:nvCxnSpPr>
          <p:cNvPr id="203" name="Google Shape;203;p29"/>
          <p:cNvCxnSpPr/>
          <p:nvPr/>
        </p:nvCxnSpPr>
        <p:spPr>
          <a:xfrm rot="5880">
            <a:off x="404646" y="1264958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4" name="Google Shape;204;p29"/>
          <p:cNvGrpSpPr/>
          <p:nvPr/>
        </p:nvGrpSpPr>
        <p:grpSpPr>
          <a:xfrm>
            <a:off x="408227" y="1472046"/>
            <a:ext cx="2038683" cy="2752487"/>
            <a:chOff x="0" y="0"/>
            <a:chExt cx="5436489" cy="7339965"/>
          </a:xfrm>
        </p:grpSpPr>
        <p:sp>
          <p:nvSpPr>
            <p:cNvPr id="205" name="Google Shape;205;p29"/>
            <p:cNvSpPr/>
            <p:nvPr/>
          </p:nvSpPr>
          <p:spPr>
            <a:xfrm>
              <a:off x="9525" y="9525"/>
              <a:ext cx="5417439" cy="7320915"/>
            </a:xfrm>
            <a:custGeom>
              <a:avLst/>
              <a:gdLst/>
              <a:ahLst/>
              <a:cxnLst/>
              <a:rect l="l" t="t" r="r" b="b"/>
              <a:pathLst>
                <a:path w="5417439" h="7320915" extrusionOk="0">
                  <a:moveTo>
                    <a:pt x="0" y="0"/>
                  </a:moveTo>
                  <a:lnTo>
                    <a:pt x="5417439" y="0"/>
                  </a:lnTo>
                  <a:lnTo>
                    <a:pt x="541743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9"/>
            <p:cNvSpPr/>
            <p:nvPr/>
          </p:nvSpPr>
          <p:spPr>
            <a:xfrm>
              <a:off x="0" y="0"/>
              <a:ext cx="5436489" cy="7339965"/>
            </a:xfrm>
            <a:custGeom>
              <a:avLst/>
              <a:gdLst/>
              <a:ahLst/>
              <a:cxnLst/>
              <a:rect l="l" t="t" r="r" b="b"/>
              <a:pathLst>
                <a:path w="5436489" h="7339965" extrusionOk="0">
                  <a:moveTo>
                    <a:pt x="9525" y="0"/>
                  </a:moveTo>
                  <a:lnTo>
                    <a:pt x="5426964" y="0"/>
                  </a:lnTo>
                  <a:cubicBezTo>
                    <a:pt x="5432171" y="0"/>
                    <a:pt x="5436489" y="4318"/>
                    <a:pt x="5436489" y="9525"/>
                  </a:cubicBezTo>
                  <a:lnTo>
                    <a:pt x="5436489" y="7330440"/>
                  </a:lnTo>
                  <a:cubicBezTo>
                    <a:pt x="5436489" y="7335647"/>
                    <a:pt x="5432171" y="7339965"/>
                    <a:pt x="5426964" y="7339965"/>
                  </a:cubicBezTo>
                  <a:lnTo>
                    <a:pt x="9525" y="7339965"/>
                  </a:lnTo>
                  <a:cubicBezTo>
                    <a:pt x="4318" y="7339965"/>
                    <a:pt x="0" y="7335647"/>
                    <a:pt x="0" y="733044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330440"/>
                  </a:lnTo>
                  <a:lnTo>
                    <a:pt x="9525" y="7330440"/>
                  </a:lnTo>
                  <a:lnTo>
                    <a:pt x="9525" y="7320915"/>
                  </a:lnTo>
                  <a:lnTo>
                    <a:pt x="5426964" y="7320915"/>
                  </a:lnTo>
                  <a:lnTo>
                    <a:pt x="5426964" y="7330440"/>
                  </a:lnTo>
                  <a:lnTo>
                    <a:pt x="5417439" y="7330440"/>
                  </a:lnTo>
                  <a:lnTo>
                    <a:pt x="5417439" y="9525"/>
                  </a:lnTo>
                  <a:lnTo>
                    <a:pt x="5426964" y="9525"/>
                  </a:lnTo>
                  <a:lnTo>
                    <a:pt x="5426964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9"/>
          <p:cNvSpPr txBox="1"/>
          <p:nvPr/>
        </p:nvSpPr>
        <p:spPr>
          <a:xfrm>
            <a:off x="603975" y="1643425"/>
            <a:ext cx="1688387" cy="19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자연유지</a:t>
            </a:r>
            <a:endParaRPr sz="700"/>
          </a:p>
        </p:txBody>
      </p:sp>
      <p:cxnSp>
        <p:nvCxnSpPr>
          <p:cNvPr id="208" name="Google Shape;208;p29"/>
          <p:cNvCxnSpPr/>
          <p:nvPr/>
        </p:nvCxnSpPr>
        <p:spPr>
          <a:xfrm rot="14880">
            <a:off x="705612" y="3140168"/>
            <a:ext cx="1654374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29"/>
          <p:cNvSpPr txBox="1"/>
          <p:nvPr/>
        </p:nvSpPr>
        <p:spPr>
          <a:xfrm>
            <a:off x="603975" y="2419350"/>
            <a:ext cx="1688387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Sure Thing</a:t>
            </a:r>
            <a:endParaRPr sz="700"/>
          </a:p>
        </p:txBody>
      </p:sp>
      <p:sp>
        <p:nvSpPr>
          <p:cNvPr id="210" name="Google Shape;210;p29"/>
          <p:cNvSpPr txBox="1"/>
          <p:nvPr/>
        </p:nvSpPr>
        <p:spPr>
          <a:xfrm>
            <a:off x="709194" y="3169952"/>
            <a:ext cx="1688387" cy="20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개입해도 어차피 남는다</a:t>
            </a:r>
            <a:endParaRPr sz="10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29"/>
          <p:cNvGrpSpPr/>
          <p:nvPr/>
        </p:nvGrpSpPr>
        <p:grpSpPr>
          <a:xfrm>
            <a:off x="2542732" y="1472046"/>
            <a:ext cx="2038683" cy="2752487"/>
            <a:chOff x="0" y="0"/>
            <a:chExt cx="5436489" cy="7339965"/>
          </a:xfrm>
        </p:grpSpPr>
        <p:sp>
          <p:nvSpPr>
            <p:cNvPr id="212" name="Google Shape;212;p29"/>
            <p:cNvSpPr/>
            <p:nvPr/>
          </p:nvSpPr>
          <p:spPr>
            <a:xfrm>
              <a:off x="9525" y="9525"/>
              <a:ext cx="5417439" cy="7320915"/>
            </a:xfrm>
            <a:custGeom>
              <a:avLst/>
              <a:gdLst/>
              <a:ahLst/>
              <a:cxnLst/>
              <a:rect l="l" t="t" r="r" b="b"/>
              <a:pathLst>
                <a:path w="5417439" h="7320915" extrusionOk="0">
                  <a:moveTo>
                    <a:pt x="0" y="0"/>
                  </a:moveTo>
                  <a:lnTo>
                    <a:pt x="5417439" y="0"/>
                  </a:lnTo>
                  <a:lnTo>
                    <a:pt x="541743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0" y="0"/>
              <a:ext cx="5436489" cy="7339965"/>
            </a:xfrm>
            <a:custGeom>
              <a:avLst/>
              <a:gdLst/>
              <a:ahLst/>
              <a:cxnLst/>
              <a:rect l="l" t="t" r="r" b="b"/>
              <a:pathLst>
                <a:path w="5436489" h="7339965" extrusionOk="0">
                  <a:moveTo>
                    <a:pt x="9525" y="0"/>
                  </a:moveTo>
                  <a:lnTo>
                    <a:pt x="5426964" y="0"/>
                  </a:lnTo>
                  <a:cubicBezTo>
                    <a:pt x="5432171" y="0"/>
                    <a:pt x="5436489" y="4318"/>
                    <a:pt x="5436489" y="9525"/>
                  </a:cubicBezTo>
                  <a:lnTo>
                    <a:pt x="5436489" y="7330440"/>
                  </a:lnTo>
                  <a:cubicBezTo>
                    <a:pt x="5436489" y="7335647"/>
                    <a:pt x="5432171" y="7339965"/>
                    <a:pt x="5426964" y="7339965"/>
                  </a:cubicBezTo>
                  <a:lnTo>
                    <a:pt x="9525" y="7339965"/>
                  </a:lnTo>
                  <a:cubicBezTo>
                    <a:pt x="4318" y="7339965"/>
                    <a:pt x="0" y="7335647"/>
                    <a:pt x="0" y="733044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330440"/>
                  </a:lnTo>
                  <a:lnTo>
                    <a:pt x="9525" y="7330440"/>
                  </a:lnTo>
                  <a:lnTo>
                    <a:pt x="9525" y="7320915"/>
                  </a:lnTo>
                  <a:lnTo>
                    <a:pt x="5426964" y="7320915"/>
                  </a:lnTo>
                  <a:lnTo>
                    <a:pt x="5426964" y="7330440"/>
                  </a:lnTo>
                  <a:lnTo>
                    <a:pt x="5417439" y="7330440"/>
                  </a:lnTo>
                  <a:lnTo>
                    <a:pt x="5417439" y="9525"/>
                  </a:lnTo>
                  <a:lnTo>
                    <a:pt x="5426964" y="9525"/>
                  </a:lnTo>
                  <a:lnTo>
                    <a:pt x="5426964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29"/>
          <p:cNvSpPr/>
          <p:nvPr/>
        </p:nvSpPr>
        <p:spPr>
          <a:xfrm>
            <a:off x="2546309" y="1475622"/>
            <a:ext cx="2031540" cy="54912"/>
          </a:xfrm>
          <a:custGeom>
            <a:avLst/>
            <a:gdLst/>
            <a:ahLst/>
            <a:cxnLst/>
            <a:rect l="l" t="t" r="r" b="b"/>
            <a:pathLst>
              <a:path w="5417439" h="146431" extrusionOk="0">
                <a:moveTo>
                  <a:pt x="0" y="0"/>
                </a:moveTo>
                <a:lnTo>
                  <a:pt x="5417439" y="0"/>
                </a:lnTo>
                <a:lnTo>
                  <a:pt x="5417439" y="146431"/>
                </a:lnTo>
                <a:lnTo>
                  <a:pt x="0" y="14643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2738480" y="1643425"/>
            <a:ext cx="1688387" cy="19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설득가능</a:t>
            </a:r>
            <a:endParaRPr sz="700"/>
          </a:p>
        </p:txBody>
      </p:sp>
      <p:cxnSp>
        <p:nvCxnSpPr>
          <p:cNvPr id="216" name="Google Shape;216;p29"/>
          <p:cNvCxnSpPr/>
          <p:nvPr/>
        </p:nvCxnSpPr>
        <p:spPr>
          <a:xfrm rot="14880">
            <a:off x="2840117" y="3140168"/>
            <a:ext cx="1654373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29"/>
          <p:cNvSpPr txBox="1"/>
          <p:nvPr/>
        </p:nvSpPr>
        <p:spPr>
          <a:xfrm>
            <a:off x="2738480" y="2419350"/>
            <a:ext cx="1688387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u="sng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Persuadable</a:t>
            </a:r>
            <a:endParaRPr sz="700"/>
          </a:p>
        </p:txBody>
      </p:sp>
      <p:sp>
        <p:nvSpPr>
          <p:cNvPr id="218" name="Google Shape;218;p29"/>
          <p:cNvSpPr txBox="1"/>
          <p:nvPr/>
        </p:nvSpPr>
        <p:spPr>
          <a:xfrm>
            <a:off x="2843699" y="3169952"/>
            <a:ext cx="1688387" cy="20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개입할수록 돌아온다 ★</a:t>
            </a:r>
            <a:endParaRPr sz="700"/>
          </a:p>
        </p:txBody>
      </p:sp>
      <p:grpSp>
        <p:nvGrpSpPr>
          <p:cNvPr id="219" name="Google Shape;219;p29"/>
          <p:cNvGrpSpPr/>
          <p:nvPr/>
        </p:nvGrpSpPr>
        <p:grpSpPr>
          <a:xfrm>
            <a:off x="4677237" y="1472046"/>
            <a:ext cx="2038683" cy="2752487"/>
            <a:chOff x="0" y="0"/>
            <a:chExt cx="5436489" cy="7339965"/>
          </a:xfrm>
        </p:grpSpPr>
        <p:sp>
          <p:nvSpPr>
            <p:cNvPr id="220" name="Google Shape;220;p29"/>
            <p:cNvSpPr/>
            <p:nvPr/>
          </p:nvSpPr>
          <p:spPr>
            <a:xfrm>
              <a:off x="9525" y="9525"/>
              <a:ext cx="5417439" cy="7320915"/>
            </a:xfrm>
            <a:custGeom>
              <a:avLst/>
              <a:gdLst/>
              <a:ahLst/>
              <a:cxnLst/>
              <a:rect l="l" t="t" r="r" b="b"/>
              <a:pathLst>
                <a:path w="5417439" h="7320915" extrusionOk="0">
                  <a:moveTo>
                    <a:pt x="0" y="0"/>
                  </a:moveTo>
                  <a:lnTo>
                    <a:pt x="5417439" y="0"/>
                  </a:lnTo>
                  <a:lnTo>
                    <a:pt x="541743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0" y="0"/>
              <a:ext cx="5436489" cy="7339965"/>
            </a:xfrm>
            <a:custGeom>
              <a:avLst/>
              <a:gdLst/>
              <a:ahLst/>
              <a:cxnLst/>
              <a:rect l="l" t="t" r="r" b="b"/>
              <a:pathLst>
                <a:path w="5436489" h="7339965" extrusionOk="0">
                  <a:moveTo>
                    <a:pt x="9525" y="0"/>
                  </a:moveTo>
                  <a:lnTo>
                    <a:pt x="5426964" y="0"/>
                  </a:lnTo>
                  <a:cubicBezTo>
                    <a:pt x="5432171" y="0"/>
                    <a:pt x="5436489" y="4318"/>
                    <a:pt x="5436489" y="9525"/>
                  </a:cubicBezTo>
                  <a:lnTo>
                    <a:pt x="5436489" y="7330440"/>
                  </a:lnTo>
                  <a:cubicBezTo>
                    <a:pt x="5436489" y="7335647"/>
                    <a:pt x="5432171" y="7339965"/>
                    <a:pt x="5426964" y="7339965"/>
                  </a:cubicBezTo>
                  <a:lnTo>
                    <a:pt x="9525" y="7339965"/>
                  </a:lnTo>
                  <a:cubicBezTo>
                    <a:pt x="4318" y="7339965"/>
                    <a:pt x="0" y="7335647"/>
                    <a:pt x="0" y="733044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330440"/>
                  </a:lnTo>
                  <a:lnTo>
                    <a:pt x="9525" y="7330440"/>
                  </a:lnTo>
                  <a:lnTo>
                    <a:pt x="9525" y="7320915"/>
                  </a:lnTo>
                  <a:lnTo>
                    <a:pt x="5426964" y="7320915"/>
                  </a:lnTo>
                  <a:lnTo>
                    <a:pt x="5426964" y="7330440"/>
                  </a:lnTo>
                  <a:lnTo>
                    <a:pt x="5417439" y="7330440"/>
                  </a:lnTo>
                  <a:lnTo>
                    <a:pt x="5417439" y="9525"/>
                  </a:lnTo>
                  <a:lnTo>
                    <a:pt x="5426964" y="9525"/>
                  </a:lnTo>
                  <a:lnTo>
                    <a:pt x="5426964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29"/>
          <p:cNvSpPr txBox="1"/>
          <p:nvPr/>
        </p:nvSpPr>
        <p:spPr>
          <a:xfrm>
            <a:off x="4872985" y="1643425"/>
            <a:ext cx="1688387" cy="19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만류불가</a:t>
            </a:r>
            <a:endParaRPr sz="700"/>
          </a:p>
        </p:txBody>
      </p:sp>
      <p:cxnSp>
        <p:nvCxnSpPr>
          <p:cNvPr id="223" name="Google Shape;223;p29"/>
          <p:cNvCxnSpPr/>
          <p:nvPr/>
        </p:nvCxnSpPr>
        <p:spPr>
          <a:xfrm rot="14880">
            <a:off x="4974622" y="3140168"/>
            <a:ext cx="1654373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29"/>
          <p:cNvSpPr txBox="1"/>
          <p:nvPr/>
        </p:nvSpPr>
        <p:spPr>
          <a:xfrm>
            <a:off x="4872985" y="2419350"/>
            <a:ext cx="1688387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Lost Cause</a:t>
            </a:r>
            <a:endParaRPr sz="700"/>
          </a:p>
        </p:txBody>
      </p:sp>
      <p:sp>
        <p:nvSpPr>
          <p:cNvPr id="225" name="Google Shape;225;p29"/>
          <p:cNvSpPr txBox="1"/>
          <p:nvPr/>
        </p:nvSpPr>
        <p:spPr>
          <a:xfrm>
            <a:off x="4978203" y="3169952"/>
            <a:ext cx="1688387" cy="20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개입해도 어차피 떠난다</a:t>
            </a:r>
            <a:endParaRPr sz="700"/>
          </a:p>
        </p:txBody>
      </p:sp>
      <p:grpSp>
        <p:nvGrpSpPr>
          <p:cNvPr id="226" name="Google Shape;226;p29"/>
          <p:cNvGrpSpPr/>
          <p:nvPr/>
        </p:nvGrpSpPr>
        <p:grpSpPr>
          <a:xfrm>
            <a:off x="6811742" y="1472046"/>
            <a:ext cx="2038683" cy="2752487"/>
            <a:chOff x="0" y="0"/>
            <a:chExt cx="5436489" cy="7339965"/>
          </a:xfrm>
        </p:grpSpPr>
        <p:sp>
          <p:nvSpPr>
            <p:cNvPr id="227" name="Google Shape;227;p29"/>
            <p:cNvSpPr/>
            <p:nvPr/>
          </p:nvSpPr>
          <p:spPr>
            <a:xfrm>
              <a:off x="9525" y="9525"/>
              <a:ext cx="5417439" cy="7320915"/>
            </a:xfrm>
            <a:custGeom>
              <a:avLst/>
              <a:gdLst/>
              <a:ahLst/>
              <a:cxnLst/>
              <a:rect l="l" t="t" r="r" b="b"/>
              <a:pathLst>
                <a:path w="5417439" h="7320915" extrusionOk="0">
                  <a:moveTo>
                    <a:pt x="0" y="0"/>
                  </a:moveTo>
                  <a:lnTo>
                    <a:pt x="5417439" y="0"/>
                  </a:lnTo>
                  <a:lnTo>
                    <a:pt x="5417439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0" y="0"/>
              <a:ext cx="5436489" cy="7339965"/>
            </a:xfrm>
            <a:custGeom>
              <a:avLst/>
              <a:gdLst/>
              <a:ahLst/>
              <a:cxnLst/>
              <a:rect l="l" t="t" r="r" b="b"/>
              <a:pathLst>
                <a:path w="5436489" h="7339965" extrusionOk="0">
                  <a:moveTo>
                    <a:pt x="9525" y="0"/>
                  </a:moveTo>
                  <a:lnTo>
                    <a:pt x="5426964" y="0"/>
                  </a:lnTo>
                  <a:cubicBezTo>
                    <a:pt x="5432171" y="0"/>
                    <a:pt x="5436489" y="4318"/>
                    <a:pt x="5436489" y="9525"/>
                  </a:cubicBezTo>
                  <a:lnTo>
                    <a:pt x="5436489" y="7330440"/>
                  </a:lnTo>
                  <a:cubicBezTo>
                    <a:pt x="5436489" y="7335647"/>
                    <a:pt x="5432171" y="7339965"/>
                    <a:pt x="5426964" y="7339965"/>
                  </a:cubicBezTo>
                  <a:lnTo>
                    <a:pt x="9525" y="7339965"/>
                  </a:lnTo>
                  <a:cubicBezTo>
                    <a:pt x="4318" y="7339965"/>
                    <a:pt x="0" y="7335647"/>
                    <a:pt x="0" y="733044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330440"/>
                  </a:lnTo>
                  <a:lnTo>
                    <a:pt x="9525" y="7330440"/>
                  </a:lnTo>
                  <a:lnTo>
                    <a:pt x="9525" y="7320915"/>
                  </a:lnTo>
                  <a:lnTo>
                    <a:pt x="5426964" y="7320915"/>
                  </a:lnTo>
                  <a:lnTo>
                    <a:pt x="5426964" y="7330440"/>
                  </a:lnTo>
                  <a:lnTo>
                    <a:pt x="5417439" y="7330440"/>
                  </a:lnTo>
                  <a:lnTo>
                    <a:pt x="5417439" y="9525"/>
                  </a:lnTo>
                  <a:lnTo>
                    <a:pt x="5426964" y="9525"/>
                  </a:lnTo>
                  <a:lnTo>
                    <a:pt x="5426964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9"/>
          <p:cNvSpPr txBox="1"/>
          <p:nvPr/>
        </p:nvSpPr>
        <p:spPr>
          <a:xfrm>
            <a:off x="7007495" y="1643425"/>
            <a:ext cx="1688387" cy="19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역효과</a:t>
            </a:r>
            <a:endParaRPr sz="700"/>
          </a:p>
        </p:txBody>
      </p:sp>
      <p:cxnSp>
        <p:nvCxnSpPr>
          <p:cNvPr id="230" name="Google Shape;230;p29"/>
          <p:cNvCxnSpPr/>
          <p:nvPr/>
        </p:nvCxnSpPr>
        <p:spPr>
          <a:xfrm rot="14880">
            <a:off x="7109127" y="3140168"/>
            <a:ext cx="1654373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p29"/>
          <p:cNvSpPr txBox="1"/>
          <p:nvPr/>
        </p:nvSpPr>
        <p:spPr>
          <a:xfrm>
            <a:off x="7007495" y="2419350"/>
            <a:ext cx="1688387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Sleeping Dog</a:t>
            </a:r>
            <a:endParaRPr sz="700"/>
          </a:p>
        </p:txBody>
      </p:sp>
      <p:sp>
        <p:nvSpPr>
          <p:cNvPr id="232" name="Google Shape;232;p29"/>
          <p:cNvSpPr txBox="1"/>
          <p:nvPr/>
        </p:nvSpPr>
        <p:spPr>
          <a:xfrm>
            <a:off x="7112713" y="3169952"/>
            <a:ext cx="1688387" cy="20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개입하면 오히려 떠난다</a:t>
            </a:r>
            <a:endParaRPr sz="700"/>
          </a:p>
        </p:txBody>
      </p:sp>
      <p:sp>
        <p:nvSpPr>
          <p:cNvPr id="233" name="Google Shape;233;p29"/>
          <p:cNvSpPr txBox="1"/>
          <p:nvPr/>
        </p:nvSpPr>
        <p:spPr>
          <a:xfrm>
            <a:off x="411804" y="4600971"/>
            <a:ext cx="8373304" cy="21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기존 이탈 예측 모델은 4명을 모두 "위험군"으로 분류한다. 우리는 개입 반응성(Uplift) 기준으로 누구에게 써야 ROI가 나오는지를 구분한다.</a:t>
            </a:r>
            <a:endParaRPr sz="700"/>
          </a:p>
        </p:txBody>
      </p:sp>
      <p:sp>
        <p:nvSpPr>
          <p:cNvPr id="234" name="Google Shape;234;p29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5</a:t>
            </a:fld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/>
          <p:nvPr/>
        </p:nvSpPr>
        <p:spPr>
          <a:xfrm>
            <a:off x="0" y="0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0" y="0"/>
            <a:ext cx="123540" cy="5147500"/>
          </a:xfrm>
          <a:custGeom>
            <a:avLst/>
            <a:gdLst/>
            <a:ahLst/>
            <a:cxnLst/>
            <a:rect l="l" t="t" r="r" b="b"/>
            <a:pathLst>
              <a:path w="329438" h="13726668" extrusionOk="0">
                <a:moveTo>
                  <a:pt x="0" y="0"/>
                </a:moveTo>
                <a:lnTo>
                  <a:pt x="329438" y="0"/>
                </a:lnTo>
                <a:lnTo>
                  <a:pt x="329438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480436" y="1682501"/>
            <a:ext cx="2745343" cy="37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sz="700"/>
          </a:p>
        </p:txBody>
      </p:sp>
      <p:sp>
        <p:nvSpPr>
          <p:cNvPr id="242" name="Google Shape;242;p30"/>
          <p:cNvSpPr txBox="1"/>
          <p:nvPr/>
        </p:nvSpPr>
        <p:spPr>
          <a:xfrm>
            <a:off x="480436" y="2149702"/>
            <a:ext cx="823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기존 서비스와의 차별점</a:t>
            </a:r>
            <a:endParaRPr sz="3000"/>
          </a:p>
        </p:txBody>
      </p:sp>
      <p:cxnSp>
        <p:nvCxnSpPr>
          <p:cNvPr id="243" name="Google Shape;243;p30"/>
          <p:cNvCxnSpPr/>
          <p:nvPr/>
        </p:nvCxnSpPr>
        <p:spPr>
          <a:xfrm>
            <a:off x="489391" y="2855066"/>
            <a:ext cx="3642919" cy="19074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30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6</a:t>
            </a:fld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22996" y="8015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기존 서비스 vs 본 프로젝트</a:t>
            </a:r>
            <a:endParaRPr sz="700"/>
          </a:p>
        </p:txBody>
      </p:sp>
      <p:cxnSp>
        <p:nvCxnSpPr>
          <p:cNvPr id="251" name="Google Shape;251;p31"/>
          <p:cNvCxnSpPr/>
          <p:nvPr/>
        </p:nvCxnSpPr>
        <p:spPr>
          <a:xfrm rot="5880">
            <a:off x="404646" y="1432471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31"/>
          <p:cNvSpPr txBox="1"/>
          <p:nvPr/>
        </p:nvSpPr>
        <p:spPr>
          <a:xfrm>
            <a:off x="411804" y="1634591"/>
            <a:ext cx="1509941" cy="17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구분</a:t>
            </a:r>
            <a:endParaRPr sz="700"/>
          </a:p>
        </p:txBody>
      </p:sp>
      <p:sp>
        <p:nvSpPr>
          <p:cNvPr id="253" name="Google Shape;253;p31"/>
          <p:cNvSpPr txBox="1"/>
          <p:nvPr/>
        </p:nvSpPr>
        <p:spPr>
          <a:xfrm>
            <a:off x="1921740" y="1653641"/>
            <a:ext cx="2333544" cy="1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Churn 예측 OSS</a:t>
            </a:r>
            <a:endParaRPr sz="700"/>
          </a:p>
        </p:txBody>
      </p:sp>
      <p:sp>
        <p:nvSpPr>
          <p:cNvPr id="254" name="Google Shape;254;p31"/>
          <p:cNvSpPr txBox="1"/>
          <p:nvPr/>
        </p:nvSpPr>
        <p:spPr>
          <a:xfrm>
            <a:off x="4255284" y="1653641"/>
            <a:ext cx="2333544" cy="17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SaaS (Braze)</a:t>
            </a:r>
            <a:endParaRPr sz="700"/>
          </a:p>
        </p:txBody>
      </p:sp>
      <p:sp>
        <p:nvSpPr>
          <p:cNvPr id="255" name="Google Shape;255;p31"/>
          <p:cNvSpPr txBox="1"/>
          <p:nvPr/>
        </p:nvSpPr>
        <p:spPr>
          <a:xfrm>
            <a:off x="6588829" y="1634591"/>
            <a:ext cx="2148230" cy="17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본 프로젝트</a:t>
            </a:r>
            <a:endParaRPr sz="700"/>
          </a:p>
        </p:txBody>
      </p:sp>
      <p:cxnSp>
        <p:nvCxnSpPr>
          <p:cNvPr id="256" name="Google Shape;256;p31"/>
          <p:cNvCxnSpPr/>
          <p:nvPr/>
        </p:nvCxnSpPr>
        <p:spPr>
          <a:xfrm rot="5880">
            <a:off x="404646" y="2050177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p31"/>
          <p:cNvSpPr txBox="1"/>
          <p:nvPr/>
        </p:nvSpPr>
        <p:spPr>
          <a:xfrm>
            <a:off x="411804" y="2110265"/>
            <a:ext cx="1509941" cy="2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sz="700"/>
          </a:p>
        </p:txBody>
      </p:sp>
      <p:sp>
        <p:nvSpPr>
          <p:cNvPr id="258" name="Google Shape;258;p31"/>
          <p:cNvSpPr txBox="1"/>
          <p:nvPr/>
        </p:nvSpPr>
        <p:spPr>
          <a:xfrm>
            <a:off x="1921740" y="2115028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떠날 고객 예측</a:t>
            </a:r>
            <a:endParaRPr sz="700"/>
          </a:p>
        </p:txBody>
      </p:sp>
      <p:sp>
        <p:nvSpPr>
          <p:cNvPr id="259" name="Google Shape;259;p31"/>
          <p:cNvSpPr txBox="1"/>
          <p:nvPr/>
        </p:nvSpPr>
        <p:spPr>
          <a:xfrm>
            <a:off x="4255284" y="2115028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마케팅 자동화</a:t>
            </a:r>
            <a:endParaRPr sz="700"/>
          </a:p>
        </p:txBody>
      </p:sp>
      <p:sp>
        <p:nvSpPr>
          <p:cNvPr id="260" name="Google Shape;260;p31"/>
          <p:cNvSpPr txBox="1"/>
          <p:nvPr/>
        </p:nvSpPr>
        <p:spPr>
          <a:xfrm>
            <a:off x="6588829" y="2110265"/>
            <a:ext cx="2148230" cy="2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개입 가치 극대화</a:t>
            </a:r>
            <a:endParaRPr sz="700"/>
          </a:p>
        </p:txBody>
      </p:sp>
      <p:cxnSp>
        <p:nvCxnSpPr>
          <p:cNvPr id="261" name="Google Shape;261;p31"/>
          <p:cNvCxnSpPr/>
          <p:nvPr/>
        </p:nvCxnSpPr>
        <p:spPr>
          <a:xfrm rot="1981">
            <a:off x="409418" y="2601628"/>
            <a:ext cx="8330101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31"/>
          <p:cNvSpPr txBox="1"/>
          <p:nvPr/>
        </p:nvSpPr>
        <p:spPr>
          <a:xfrm>
            <a:off x="411804" y="2645603"/>
            <a:ext cx="1509941" cy="2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sz="700"/>
          </a:p>
        </p:txBody>
      </p:sp>
      <p:sp>
        <p:nvSpPr>
          <p:cNvPr id="263" name="Google Shape;263;p31"/>
          <p:cNvSpPr txBox="1"/>
          <p:nvPr/>
        </p:nvSpPr>
        <p:spPr>
          <a:xfrm>
            <a:off x="1921740" y="2664653"/>
            <a:ext cx="2333544" cy="19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AUC · F1</a:t>
            </a:r>
            <a:endParaRPr sz="700"/>
          </a:p>
        </p:txBody>
      </p:sp>
      <p:sp>
        <p:nvSpPr>
          <p:cNvPr id="264" name="Google Shape;264;p31"/>
          <p:cNvSpPr txBox="1"/>
          <p:nvPr/>
        </p:nvSpPr>
        <p:spPr>
          <a:xfrm>
            <a:off x="4255284" y="2650366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블랙박스 KPI</a:t>
            </a:r>
            <a:endParaRPr sz="700"/>
          </a:p>
        </p:txBody>
      </p:sp>
      <p:sp>
        <p:nvSpPr>
          <p:cNvPr id="265" name="Google Shape;265;p31"/>
          <p:cNvSpPr txBox="1"/>
          <p:nvPr/>
        </p:nvSpPr>
        <p:spPr>
          <a:xfrm>
            <a:off x="6588829" y="2664653"/>
            <a:ext cx="2148230" cy="20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Incremental $</a:t>
            </a:r>
            <a:endParaRPr sz="700"/>
          </a:p>
        </p:txBody>
      </p:sp>
      <p:cxnSp>
        <p:nvCxnSpPr>
          <p:cNvPr id="266" name="Google Shape;266;p31"/>
          <p:cNvCxnSpPr/>
          <p:nvPr/>
        </p:nvCxnSpPr>
        <p:spPr>
          <a:xfrm rot="1980">
            <a:off x="409418" y="3136970"/>
            <a:ext cx="8330027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31"/>
          <p:cNvSpPr txBox="1"/>
          <p:nvPr/>
        </p:nvSpPr>
        <p:spPr>
          <a:xfrm>
            <a:off x="411804" y="3180946"/>
            <a:ext cx="1509941" cy="2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가격</a:t>
            </a:r>
            <a:endParaRPr sz="700"/>
          </a:p>
        </p:txBody>
      </p:sp>
      <p:sp>
        <p:nvSpPr>
          <p:cNvPr id="268" name="Google Shape;268;p31"/>
          <p:cNvSpPr txBox="1"/>
          <p:nvPr/>
        </p:nvSpPr>
        <p:spPr>
          <a:xfrm>
            <a:off x="1921740" y="3185709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무료(단편)</a:t>
            </a:r>
            <a:endParaRPr sz="700"/>
          </a:p>
        </p:txBody>
      </p:sp>
      <p:sp>
        <p:nvSpPr>
          <p:cNvPr id="269" name="Google Shape;269;p31"/>
          <p:cNvSpPr txBox="1"/>
          <p:nvPr/>
        </p:nvSpPr>
        <p:spPr>
          <a:xfrm>
            <a:off x="4255284" y="3185709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연 수천만 원</a:t>
            </a:r>
            <a:endParaRPr sz="700"/>
          </a:p>
        </p:txBody>
      </p:sp>
      <p:sp>
        <p:nvSpPr>
          <p:cNvPr id="270" name="Google Shape;270;p31"/>
          <p:cNvSpPr txBox="1"/>
          <p:nvPr/>
        </p:nvSpPr>
        <p:spPr>
          <a:xfrm>
            <a:off x="6588829" y="3180946"/>
            <a:ext cx="2148230" cy="2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오픈소스</a:t>
            </a:r>
            <a:endParaRPr sz="700"/>
          </a:p>
        </p:txBody>
      </p:sp>
      <p:cxnSp>
        <p:nvCxnSpPr>
          <p:cNvPr id="271" name="Google Shape;271;p31"/>
          <p:cNvCxnSpPr/>
          <p:nvPr/>
        </p:nvCxnSpPr>
        <p:spPr>
          <a:xfrm rot="1980">
            <a:off x="409418" y="3672307"/>
            <a:ext cx="8330027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31"/>
          <p:cNvSpPr txBox="1"/>
          <p:nvPr/>
        </p:nvSpPr>
        <p:spPr>
          <a:xfrm>
            <a:off x="411804" y="3716290"/>
            <a:ext cx="1509941" cy="2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대상</a:t>
            </a:r>
            <a:endParaRPr sz="700"/>
          </a:p>
        </p:txBody>
      </p:sp>
      <p:sp>
        <p:nvSpPr>
          <p:cNvPr id="273" name="Google Shape;273;p31"/>
          <p:cNvSpPr txBox="1"/>
          <p:nvPr/>
        </p:nvSpPr>
        <p:spPr>
          <a:xfrm>
            <a:off x="1921740" y="3735340"/>
            <a:ext cx="2333544" cy="19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DS 엔지니어</a:t>
            </a:r>
            <a:endParaRPr sz="700"/>
          </a:p>
        </p:txBody>
      </p:sp>
      <p:sp>
        <p:nvSpPr>
          <p:cNvPr id="274" name="Google Shape;274;p31"/>
          <p:cNvSpPr txBox="1"/>
          <p:nvPr/>
        </p:nvSpPr>
        <p:spPr>
          <a:xfrm>
            <a:off x="4255284" y="3721052"/>
            <a:ext cx="2333544" cy="1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대기업 CRM 팀</a:t>
            </a:r>
            <a:endParaRPr sz="700"/>
          </a:p>
        </p:txBody>
      </p:sp>
      <p:sp>
        <p:nvSpPr>
          <p:cNvPr id="275" name="Google Shape;275;p31"/>
          <p:cNvSpPr txBox="1"/>
          <p:nvPr/>
        </p:nvSpPr>
        <p:spPr>
          <a:xfrm>
            <a:off x="6588829" y="3735339"/>
            <a:ext cx="2148230" cy="205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SMB 담당자</a:t>
            </a:r>
            <a:endParaRPr sz="700"/>
          </a:p>
        </p:txBody>
      </p:sp>
      <p:cxnSp>
        <p:nvCxnSpPr>
          <p:cNvPr id="276" name="Google Shape;276;p31"/>
          <p:cNvCxnSpPr/>
          <p:nvPr/>
        </p:nvCxnSpPr>
        <p:spPr>
          <a:xfrm rot="1980">
            <a:off x="409418" y="4207651"/>
            <a:ext cx="8330027" cy="0"/>
          </a:xfrm>
          <a:prstGeom prst="straightConnector1">
            <a:avLst/>
          </a:prstGeom>
          <a:noFill/>
          <a:ln w="9525" cap="rnd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31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7</a:t>
            </a:fld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/>
          <p:nvPr/>
        </p:nvSpPr>
        <p:spPr>
          <a:xfrm>
            <a:off x="0" y="0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2"/>
          <p:cNvSpPr/>
          <p:nvPr/>
        </p:nvSpPr>
        <p:spPr>
          <a:xfrm>
            <a:off x="0" y="0"/>
            <a:ext cx="123540" cy="5147500"/>
          </a:xfrm>
          <a:custGeom>
            <a:avLst/>
            <a:gdLst/>
            <a:ahLst/>
            <a:cxnLst/>
            <a:rect l="l" t="t" r="r" b="b"/>
            <a:pathLst>
              <a:path w="329438" h="13726668" extrusionOk="0">
                <a:moveTo>
                  <a:pt x="0" y="0"/>
                </a:moveTo>
                <a:lnTo>
                  <a:pt x="329438" y="0"/>
                </a:lnTo>
                <a:lnTo>
                  <a:pt x="329438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480436" y="1682501"/>
            <a:ext cx="2745343" cy="37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700"/>
          </a:p>
        </p:txBody>
      </p:sp>
      <p:sp>
        <p:nvSpPr>
          <p:cNvPr id="285" name="Google Shape;285;p32"/>
          <p:cNvSpPr txBox="1"/>
          <p:nvPr/>
        </p:nvSpPr>
        <p:spPr>
          <a:xfrm>
            <a:off x="480436" y="2124808"/>
            <a:ext cx="823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대시 보드 시연 및 설명</a:t>
            </a:r>
            <a:endParaRPr sz="3000"/>
          </a:p>
        </p:txBody>
      </p:sp>
      <p:cxnSp>
        <p:nvCxnSpPr>
          <p:cNvPr id="286" name="Google Shape;286;p32"/>
          <p:cNvCxnSpPr/>
          <p:nvPr/>
        </p:nvCxnSpPr>
        <p:spPr>
          <a:xfrm>
            <a:off x="484629" y="2855066"/>
            <a:ext cx="3642919" cy="19074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32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8</a:t>
            </a:fld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33"/>
          <p:cNvCxnSpPr/>
          <p:nvPr/>
        </p:nvCxnSpPr>
        <p:spPr>
          <a:xfrm rot="5936">
            <a:off x="404646" y="1023453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33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시연 페이지</a:t>
            </a:r>
            <a:endParaRPr sz="700"/>
          </a:p>
        </p:txBody>
      </p:sp>
      <p:sp>
        <p:nvSpPr>
          <p:cNvPr id="295" name="Google Shape;295;p33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9</a:t>
            </a:fld>
            <a:endParaRPr sz="800"/>
          </a:p>
        </p:txBody>
      </p:sp>
      <p:pic>
        <p:nvPicPr>
          <p:cNvPr id="296" name="Google Shape;2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550" y="1117275"/>
            <a:ext cx="7364449" cy="37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34"/>
          <p:cNvCxnSpPr/>
          <p:nvPr/>
        </p:nvCxnSpPr>
        <p:spPr>
          <a:xfrm rot="5936">
            <a:off x="404646" y="1073780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34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시연 페이지</a:t>
            </a:r>
            <a:endParaRPr sz="700"/>
          </a:p>
        </p:txBody>
      </p:sp>
      <p:sp>
        <p:nvSpPr>
          <p:cNvPr id="304" name="Google Shape;304;p34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10</a:t>
            </a:fld>
            <a:endParaRPr sz="800"/>
          </a:p>
        </p:txBody>
      </p:sp>
      <p:pic>
        <p:nvPicPr>
          <p:cNvPr id="305" name="Google Shape;3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51" y="1257291"/>
            <a:ext cx="7471002" cy="38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35"/>
          <p:cNvCxnSpPr/>
          <p:nvPr/>
        </p:nvCxnSpPr>
        <p:spPr>
          <a:xfrm rot="5936">
            <a:off x="384515" y="1083846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2" name="Google Shape;312;p35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개요 페이지</a:t>
            </a:r>
            <a:endParaRPr sz="700"/>
          </a:p>
        </p:txBody>
      </p:sp>
      <p:sp>
        <p:nvSpPr>
          <p:cNvPr id="313" name="Google Shape;313;p35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11</a:t>
            </a:fld>
            <a:endParaRPr sz="800"/>
          </a:p>
        </p:txBody>
      </p:sp>
      <p:pic>
        <p:nvPicPr>
          <p:cNvPr id="314" name="Google Shape;3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26" y="1212275"/>
            <a:ext cx="7499448" cy="387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36"/>
          <p:cNvCxnSpPr/>
          <p:nvPr/>
        </p:nvCxnSpPr>
        <p:spPr>
          <a:xfrm rot="5936">
            <a:off x="404646" y="1103977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36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추천 페이지</a:t>
            </a:r>
            <a:endParaRPr sz="700"/>
          </a:p>
        </p:txBody>
      </p:sp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12</a:t>
            </a:fld>
            <a:endParaRPr sz="800"/>
          </a:p>
        </p:txBody>
      </p:sp>
      <p:pic>
        <p:nvPicPr>
          <p:cNvPr id="323" name="Google Shape;323;p36"/>
          <p:cNvPicPr preferRelativeResize="0"/>
          <p:nvPr/>
        </p:nvPicPr>
        <p:blipFill rotWithShape="1">
          <a:blip r:embed="rId3">
            <a:alphaModFix/>
          </a:blip>
          <a:srcRect r="-654" b="24772"/>
          <a:stretch/>
        </p:blipFill>
        <p:spPr>
          <a:xfrm>
            <a:off x="559575" y="1435473"/>
            <a:ext cx="8373299" cy="322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37"/>
          <p:cNvCxnSpPr/>
          <p:nvPr/>
        </p:nvCxnSpPr>
        <p:spPr>
          <a:xfrm rot="5936">
            <a:off x="404646" y="1103977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37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추천 페이지</a:t>
            </a:r>
            <a:endParaRPr sz="700"/>
          </a:p>
        </p:txBody>
      </p:sp>
      <p:sp>
        <p:nvSpPr>
          <p:cNvPr id="331" name="Google Shape;331;p37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13</a:t>
            </a:fld>
            <a:endParaRPr sz="800"/>
          </a:p>
        </p:txBody>
      </p:sp>
      <p:pic>
        <p:nvPicPr>
          <p:cNvPr id="332" name="Google Shape;332;p37"/>
          <p:cNvPicPr preferRelativeResize="0"/>
          <p:nvPr/>
        </p:nvPicPr>
        <p:blipFill rotWithShape="1">
          <a:blip r:embed="rId3">
            <a:alphaModFix/>
          </a:blip>
          <a:srcRect r="87791"/>
          <a:stretch/>
        </p:blipFill>
        <p:spPr>
          <a:xfrm>
            <a:off x="731350" y="1146425"/>
            <a:ext cx="890552" cy="3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431" y="1146425"/>
            <a:ext cx="6580636" cy="375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38"/>
          <p:cNvCxnSpPr/>
          <p:nvPr/>
        </p:nvCxnSpPr>
        <p:spPr>
          <a:xfrm rot="5936">
            <a:off x="404646" y="1053649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0" name="Google Shape;340;p38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고객 세그멘테이션 페이지</a:t>
            </a:r>
            <a:endParaRPr sz="700"/>
          </a:p>
        </p:txBody>
      </p:sp>
      <p:sp>
        <p:nvSpPr>
          <p:cNvPr id="341" name="Google Shape;341;p38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14</a:t>
            </a:fld>
            <a:endParaRPr sz="800"/>
          </a:p>
        </p:txBody>
      </p:sp>
      <p:pic>
        <p:nvPicPr>
          <p:cNvPr id="342" name="Google Shape;3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951" y="1137400"/>
            <a:ext cx="7596227" cy="386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39"/>
          <p:cNvCxnSpPr/>
          <p:nvPr/>
        </p:nvCxnSpPr>
        <p:spPr>
          <a:xfrm rot="5936">
            <a:off x="404646" y="1114043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39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모델 성능 페이지</a:t>
            </a:r>
            <a:endParaRPr sz="700"/>
          </a:p>
        </p:txBody>
      </p:sp>
      <p:sp>
        <p:nvSpPr>
          <p:cNvPr id="350" name="Google Shape;350;p39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15</a:t>
            </a:fld>
            <a:endParaRPr sz="800"/>
          </a:p>
        </p:txBody>
      </p:sp>
      <p:pic>
        <p:nvPicPr>
          <p:cNvPr id="351" name="Google Shape;3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376" y="1219950"/>
            <a:ext cx="7455949" cy="382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/>
          <p:nvPr/>
        </p:nvSpPr>
        <p:spPr>
          <a:xfrm>
            <a:off x="377486" y="473431"/>
            <a:ext cx="8373304" cy="51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PRD 13개 구현 완료</a:t>
            </a:r>
            <a:endParaRPr sz="700" dirty="0"/>
          </a:p>
        </p:txBody>
      </p:sp>
      <p:cxnSp>
        <p:nvCxnSpPr>
          <p:cNvPr id="357" name="Google Shape;357;p40"/>
          <p:cNvCxnSpPr/>
          <p:nvPr/>
        </p:nvCxnSpPr>
        <p:spPr>
          <a:xfrm rot="5880">
            <a:off x="404646" y="1264958"/>
            <a:ext cx="8339571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8" name="Google Shape;358;p40"/>
          <p:cNvSpPr/>
          <p:nvPr/>
        </p:nvSpPr>
        <p:spPr>
          <a:xfrm>
            <a:off x="411804" y="1475622"/>
            <a:ext cx="4015073" cy="3019902"/>
          </a:xfrm>
          <a:custGeom>
            <a:avLst/>
            <a:gdLst/>
            <a:ahLst/>
            <a:cxnLst/>
            <a:rect l="l" t="t" r="r" b="b"/>
            <a:pathLst>
              <a:path w="10706862" h="8053070" extrusionOk="0">
                <a:moveTo>
                  <a:pt x="0" y="0"/>
                </a:moveTo>
                <a:lnTo>
                  <a:pt x="10706862" y="0"/>
                </a:lnTo>
                <a:lnTo>
                  <a:pt x="10706862" y="8053070"/>
                </a:lnTo>
                <a:lnTo>
                  <a:pt x="0" y="8053070"/>
                </a:lnTo>
                <a:close/>
              </a:path>
            </a:pathLst>
          </a:custGeom>
          <a:solidFill>
            <a:srgbClr val="DBE7FE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0"/>
          <p:cNvSpPr txBox="1"/>
          <p:nvPr/>
        </p:nvSpPr>
        <p:spPr>
          <a:xfrm>
            <a:off x="728220" y="2342582"/>
            <a:ext cx="377484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13 / 13</a:t>
            </a:r>
            <a:endParaRPr sz="700" dirty="0"/>
          </a:p>
        </p:txBody>
      </p:sp>
      <p:sp>
        <p:nvSpPr>
          <p:cNvPr id="360" name="Google Shape;360;p40"/>
          <p:cNvSpPr txBox="1"/>
          <p:nvPr/>
        </p:nvSpPr>
        <p:spPr>
          <a:xfrm>
            <a:off x="652020" y="3242024"/>
            <a:ext cx="3774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2100" marR="0" lvl="1" indent="-15240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ko" sz="14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필수 요구사항 전부 구현</a:t>
            </a:r>
            <a:endParaRPr sz="700" dirty="0"/>
          </a:p>
          <a:p>
            <a:pPr marL="292100" marR="0" lvl="1" indent="-15240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Char char="•"/>
            </a:pPr>
            <a:r>
              <a:rPr lang="ko" sz="14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보너스 과제 4종 구현 </a:t>
            </a:r>
            <a:r>
              <a:rPr lang="ko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sz="700" dirty="0"/>
          </a:p>
        </p:txBody>
      </p:sp>
      <p:grpSp>
        <p:nvGrpSpPr>
          <p:cNvPr id="361" name="Google Shape;361;p40"/>
          <p:cNvGrpSpPr/>
          <p:nvPr/>
        </p:nvGrpSpPr>
        <p:grpSpPr>
          <a:xfrm>
            <a:off x="4594879" y="1472046"/>
            <a:ext cx="4159473" cy="3027045"/>
            <a:chOff x="0" y="0"/>
            <a:chExt cx="11091926" cy="8072120"/>
          </a:xfrm>
        </p:grpSpPr>
        <p:sp>
          <p:nvSpPr>
            <p:cNvPr id="362" name="Google Shape;362;p40"/>
            <p:cNvSpPr/>
            <p:nvPr/>
          </p:nvSpPr>
          <p:spPr>
            <a:xfrm>
              <a:off x="9525" y="9525"/>
              <a:ext cx="11072876" cy="8053070"/>
            </a:xfrm>
            <a:custGeom>
              <a:avLst/>
              <a:gdLst/>
              <a:ahLst/>
              <a:cxnLst/>
              <a:rect l="l" t="t" r="r" b="b"/>
              <a:pathLst>
                <a:path w="11072876" h="8053070" extrusionOk="0">
                  <a:moveTo>
                    <a:pt x="0" y="0"/>
                  </a:moveTo>
                  <a:lnTo>
                    <a:pt x="11072876" y="0"/>
                  </a:lnTo>
                  <a:lnTo>
                    <a:pt x="11072876" y="8053070"/>
                  </a:lnTo>
                  <a:lnTo>
                    <a:pt x="0" y="80530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0" y="0"/>
              <a:ext cx="11091926" cy="8072120"/>
            </a:xfrm>
            <a:custGeom>
              <a:avLst/>
              <a:gdLst/>
              <a:ahLst/>
              <a:cxnLst/>
              <a:rect l="l" t="t" r="r" b="b"/>
              <a:pathLst>
                <a:path w="11091926" h="8072120" extrusionOk="0">
                  <a:moveTo>
                    <a:pt x="9525" y="0"/>
                  </a:moveTo>
                  <a:lnTo>
                    <a:pt x="11082401" y="0"/>
                  </a:lnTo>
                  <a:cubicBezTo>
                    <a:pt x="11087608" y="0"/>
                    <a:pt x="11091926" y="4318"/>
                    <a:pt x="11091926" y="9525"/>
                  </a:cubicBezTo>
                  <a:lnTo>
                    <a:pt x="11091926" y="8062595"/>
                  </a:lnTo>
                  <a:cubicBezTo>
                    <a:pt x="11091926" y="8067801"/>
                    <a:pt x="11087608" y="8072120"/>
                    <a:pt x="11082401" y="8072120"/>
                  </a:cubicBezTo>
                  <a:lnTo>
                    <a:pt x="9525" y="8072120"/>
                  </a:lnTo>
                  <a:cubicBezTo>
                    <a:pt x="4318" y="8072120"/>
                    <a:pt x="0" y="8067801"/>
                    <a:pt x="0" y="806259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8062595"/>
                  </a:lnTo>
                  <a:lnTo>
                    <a:pt x="9525" y="8062595"/>
                  </a:lnTo>
                  <a:lnTo>
                    <a:pt x="9525" y="8053070"/>
                  </a:lnTo>
                  <a:lnTo>
                    <a:pt x="11082401" y="8053070"/>
                  </a:lnTo>
                  <a:lnTo>
                    <a:pt x="11082401" y="8062595"/>
                  </a:lnTo>
                  <a:lnTo>
                    <a:pt x="11072876" y="8062595"/>
                  </a:lnTo>
                  <a:lnTo>
                    <a:pt x="11072876" y="9525"/>
                  </a:lnTo>
                  <a:lnTo>
                    <a:pt x="11082401" y="9525"/>
                  </a:lnTo>
                  <a:lnTo>
                    <a:pt x="11082401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40"/>
          <p:cNvSpPr txBox="1"/>
          <p:nvPr/>
        </p:nvSpPr>
        <p:spPr>
          <a:xfrm>
            <a:off x="4804353" y="1628156"/>
            <a:ext cx="3774848" cy="1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Implementation Checklist</a:t>
            </a:r>
            <a:endParaRPr sz="700" dirty="0"/>
          </a:p>
        </p:txBody>
      </p:sp>
      <p:sp>
        <p:nvSpPr>
          <p:cNvPr id="365" name="Google Shape;365;p40"/>
          <p:cNvSpPr txBox="1"/>
          <p:nvPr/>
        </p:nvSpPr>
        <p:spPr>
          <a:xfrm>
            <a:off x="4648200" y="1969128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 dirty="0"/>
          </a:p>
        </p:txBody>
      </p:sp>
      <p:sp>
        <p:nvSpPr>
          <p:cNvPr id="366" name="Google Shape;366;p40"/>
          <p:cNvSpPr txBox="1"/>
          <p:nvPr/>
        </p:nvSpPr>
        <p:spPr>
          <a:xfrm>
            <a:off x="4819783" y="1969129"/>
            <a:ext cx="1956059" cy="1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고객 행동 시뮬레이터</a:t>
            </a:r>
            <a:endParaRPr sz="700" dirty="0"/>
          </a:p>
        </p:txBody>
      </p:sp>
      <p:sp>
        <p:nvSpPr>
          <p:cNvPr id="367" name="Google Shape;367;p40"/>
          <p:cNvSpPr txBox="1"/>
          <p:nvPr/>
        </p:nvSpPr>
        <p:spPr>
          <a:xfrm>
            <a:off x="4648200" y="2312300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68" name="Google Shape;368;p40"/>
          <p:cNvSpPr txBox="1"/>
          <p:nvPr/>
        </p:nvSpPr>
        <p:spPr>
          <a:xfrm>
            <a:off x="4819783" y="2312300"/>
            <a:ext cx="1956059" cy="1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코호트 &amp; 여정 분석</a:t>
            </a:r>
            <a:endParaRPr sz="700"/>
          </a:p>
        </p:txBody>
      </p:sp>
      <p:sp>
        <p:nvSpPr>
          <p:cNvPr id="369" name="Google Shape;369;p40"/>
          <p:cNvSpPr txBox="1"/>
          <p:nvPr/>
        </p:nvSpPr>
        <p:spPr>
          <a:xfrm>
            <a:off x="4648200" y="2655467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70" name="Google Shape;370;p40"/>
          <p:cNvSpPr txBox="1"/>
          <p:nvPr/>
        </p:nvSpPr>
        <p:spPr>
          <a:xfrm>
            <a:off x="4819783" y="2655467"/>
            <a:ext cx="1956059" cy="1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피처 엔지니어링 30+</a:t>
            </a:r>
            <a:endParaRPr sz="700"/>
          </a:p>
        </p:txBody>
      </p:sp>
      <p:sp>
        <p:nvSpPr>
          <p:cNvPr id="371" name="Google Shape;371;p40"/>
          <p:cNvSpPr txBox="1"/>
          <p:nvPr/>
        </p:nvSpPr>
        <p:spPr>
          <a:xfrm>
            <a:off x="4648200" y="2998634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72" name="Google Shape;372;p40"/>
          <p:cNvSpPr txBox="1"/>
          <p:nvPr/>
        </p:nvSpPr>
        <p:spPr>
          <a:xfrm>
            <a:off x="4819783" y="3008159"/>
            <a:ext cx="1956059" cy="191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ML 이탈 예측</a:t>
            </a:r>
            <a:endParaRPr sz="700" dirty="0"/>
          </a:p>
        </p:txBody>
      </p:sp>
      <p:sp>
        <p:nvSpPr>
          <p:cNvPr id="373" name="Google Shape;373;p40"/>
          <p:cNvSpPr txBox="1"/>
          <p:nvPr/>
        </p:nvSpPr>
        <p:spPr>
          <a:xfrm>
            <a:off x="4648200" y="3341801"/>
            <a:ext cx="205902" cy="18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74" name="Google Shape;374;p40"/>
          <p:cNvSpPr txBox="1"/>
          <p:nvPr/>
        </p:nvSpPr>
        <p:spPr>
          <a:xfrm>
            <a:off x="4819783" y="3351326"/>
            <a:ext cx="1956059" cy="191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DL 이탈 예측</a:t>
            </a:r>
            <a:endParaRPr sz="700" dirty="0"/>
          </a:p>
        </p:txBody>
      </p:sp>
      <p:sp>
        <p:nvSpPr>
          <p:cNvPr id="375" name="Google Shape;375;p40"/>
          <p:cNvSpPr txBox="1"/>
          <p:nvPr/>
        </p:nvSpPr>
        <p:spPr>
          <a:xfrm>
            <a:off x="4648200" y="3684971"/>
            <a:ext cx="205902" cy="18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76" name="Google Shape;376;p40"/>
          <p:cNvSpPr txBox="1"/>
          <p:nvPr/>
        </p:nvSpPr>
        <p:spPr>
          <a:xfrm>
            <a:off x="4819783" y="3694496"/>
            <a:ext cx="1956059" cy="15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ML+DL 앙상블</a:t>
            </a:r>
            <a:endParaRPr sz="700"/>
          </a:p>
        </p:txBody>
      </p:sp>
      <p:sp>
        <p:nvSpPr>
          <p:cNvPr id="377" name="Google Shape;377;p40"/>
          <p:cNvSpPr txBox="1"/>
          <p:nvPr/>
        </p:nvSpPr>
        <p:spPr>
          <a:xfrm>
            <a:off x="4648200" y="4028139"/>
            <a:ext cx="205902" cy="18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78" name="Google Shape;378;p40"/>
          <p:cNvSpPr txBox="1"/>
          <p:nvPr/>
        </p:nvSpPr>
        <p:spPr>
          <a:xfrm>
            <a:off x="4819783" y="4037664"/>
            <a:ext cx="1956059" cy="191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Uplift 모델링</a:t>
            </a:r>
            <a:endParaRPr sz="700" dirty="0"/>
          </a:p>
        </p:txBody>
      </p:sp>
      <p:sp>
        <p:nvSpPr>
          <p:cNvPr id="379" name="Google Shape;379;p40"/>
          <p:cNvSpPr txBox="1"/>
          <p:nvPr/>
        </p:nvSpPr>
        <p:spPr>
          <a:xfrm>
            <a:off x="6638577" y="1969128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80" name="Google Shape;380;p40"/>
          <p:cNvSpPr txBox="1"/>
          <p:nvPr/>
        </p:nvSpPr>
        <p:spPr>
          <a:xfrm>
            <a:off x="6810161" y="1978654"/>
            <a:ext cx="1956059" cy="191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CLV 예측</a:t>
            </a:r>
            <a:endParaRPr sz="700" dirty="0"/>
          </a:p>
        </p:txBody>
      </p:sp>
      <p:sp>
        <p:nvSpPr>
          <p:cNvPr id="381" name="Google Shape;381;p40"/>
          <p:cNvSpPr txBox="1"/>
          <p:nvPr/>
        </p:nvSpPr>
        <p:spPr>
          <a:xfrm>
            <a:off x="6638577" y="2312300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82" name="Google Shape;382;p40"/>
          <p:cNvSpPr txBox="1"/>
          <p:nvPr/>
        </p:nvSpPr>
        <p:spPr>
          <a:xfrm>
            <a:off x="6810161" y="2321825"/>
            <a:ext cx="1956059" cy="191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6+ 통합 세그먼테이션</a:t>
            </a:r>
            <a:endParaRPr sz="700" dirty="0"/>
          </a:p>
        </p:txBody>
      </p:sp>
      <p:sp>
        <p:nvSpPr>
          <p:cNvPr id="383" name="Google Shape;383;p40"/>
          <p:cNvSpPr txBox="1"/>
          <p:nvPr/>
        </p:nvSpPr>
        <p:spPr>
          <a:xfrm>
            <a:off x="6638577" y="2655467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84" name="Google Shape;384;p40"/>
          <p:cNvSpPr txBox="1"/>
          <p:nvPr/>
        </p:nvSpPr>
        <p:spPr>
          <a:xfrm>
            <a:off x="6810161" y="2655467"/>
            <a:ext cx="1956059" cy="1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예산 최적화</a:t>
            </a:r>
            <a:endParaRPr sz="700"/>
          </a:p>
        </p:txBody>
      </p:sp>
      <p:sp>
        <p:nvSpPr>
          <p:cNvPr id="385" name="Google Shape;385;p40"/>
          <p:cNvSpPr txBox="1"/>
          <p:nvPr/>
        </p:nvSpPr>
        <p:spPr>
          <a:xfrm>
            <a:off x="6638577" y="2998634"/>
            <a:ext cx="205902" cy="1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86" name="Google Shape;386;p40"/>
          <p:cNvSpPr txBox="1"/>
          <p:nvPr/>
        </p:nvSpPr>
        <p:spPr>
          <a:xfrm>
            <a:off x="6810161" y="3008159"/>
            <a:ext cx="1956059" cy="15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A/B 테스트</a:t>
            </a:r>
            <a:endParaRPr sz="700"/>
          </a:p>
        </p:txBody>
      </p:sp>
      <p:sp>
        <p:nvSpPr>
          <p:cNvPr id="387" name="Google Shape;387;p40"/>
          <p:cNvSpPr txBox="1"/>
          <p:nvPr/>
        </p:nvSpPr>
        <p:spPr>
          <a:xfrm>
            <a:off x="6638577" y="3341801"/>
            <a:ext cx="205902" cy="18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88" name="Google Shape;388;p40"/>
          <p:cNvSpPr txBox="1"/>
          <p:nvPr/>
        </p:nvSpPr>
        <p:spPr>
          <a:xfrm>
            <a:off x="6810161" y="3341801"/>
            <a:ext cx="1956059" cy="16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모델 모니터링</a:t>
            </a:r>
            <a:endParaRPr sz="700"/>
          </a:p>
        </p:txBody>
      </p:sp>
      <p:sp>
        <p:nvSpPr>
          <p:cNvPr id="389" name="Google Shape;389;p40"/>
          <p:cNvSpPr txBox="1"/>
          <p:nvPr/>
        </p:nvSpPr>
        <p:spPr>
          <a:xfrm>
            <a:off x="6638577" y="3684971"/>
            <a:ext cx="205902" cy="18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700"/>
          </a:p>
        </p:txBody>
      </p:sp>
      <p:sp>
        <p:nvSpPr>
          <p:cNvPr id="390" name="Google Shape;390;p40"/>
          <p:cNvSpPr txBox="1"/>
          <p:nvPr/>
        </p:nvSpPr>
        <p:spPr>
          <a:xfrm>
            <a:off x="6810161" y="3694496"/>
            <a:ext cx="1956059" cy="15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Streamlit 대시보드</a:t>
            </a:r>
            <a:endParaRPr sz="700"/>
          </a:p>
        </p:txBody>
      </p:sp>
      <p:sp>
        <p:nvSpPr>
          <p:cNvPr id="391" name="Google Shape;391;p40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16</a:t>
            </a:fld>
            <a:endParaRPr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/>
          <p:nvPr/>
        </p:nvSpPr>
        <p:spPr>
          <a:xfrm>
            <a:off x="-6920" y="0"/>
            <a:ext cx="9150905" cy="5147500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1"/>
          <p:cNvSpPr/>
          <p:nvPr/>
        </p:nvSpPr>
        <p:spPr>
          <a:xfrm>
            <a:off x="0" y="0"/>
            <a:ext cx="123540" cy="5147500"/>
          </a:xfrm>
          <a:custGeom>
            <a:avLst/>
            <a:gdLst/>
            <a:ahLst/>
            <a:cxnLst/>
            <a:rect l="l" t="t" r="r" b="b"/>
            <a:pathLst>
              <a:path w="329438" h="13726668" extrusionOk="0">
                <a:moveTo>
                  <a:pt x="0" y="0"/>
                </a:moveTo>
                <a:lnTo>
                  <a:pt x="329438" y="0"/>
                </a:lnTo>
                <a:lnTo>
                  <a:pt x="329438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 txBox="1"/>
          <p:nvPr/>
        </p:nvSpPr>
        <p:spPr>
          <a:xfrm>
            <a:off x="480436" y="1627313"/>
            <a:ext cx="82359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55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감사합니다.</a:t>
            </a:r>
            <a:endParaRPr sz="400"/>
          </a:p>
        </p:txBody>
      </p:sp>
      <p:cxnSp>
        <p:nvCxnSpPr>
          <p:cNvPr id="399" name="Google Shape;399;p41"/>
          <p:cNvCxnSpPr/>
          <p:nvPr/>
        </p:nvCxnSpPr>
        <p:spPr>
          <a:xfrm>
            <a:off x="487012" y="3836319"/>
            <a:ext cx="2951815" cy="14322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0" name="Google Shape;400;p41"/>
          <p:cNvSpPr txBox="1"/>
          <p:nvPr/>
        </p:nvSpPr>
        <p:spPr>
          <a:xfrm>
            <a:off x="510633" y="3943831"/>
            <a:ext cx="82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울트라캡짱팀   ·  캡스톤디자인1</a:t>
            </a:r>
            <a:endParaRPr sz="12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/>
          <p:nvPr/>
        </p:nvSpPr>
        <p:spPr>
          <a:xfrm>
            <a:off x="0" y="0"/>
            <a:ext cx="9150905" cy="5147501"/>
          </a:xfrm>
          <a:custGeom>
            <a:avLst/>
            <a:gdLst/>
            <a:ahLst/>
            <a:cxnLst/>
            <a:rect l="l" t="t" r="r" b="b"/>
            <a:pathLst>
              <a:path w="24402414" h="13726668" extrusionOk="0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43"/>
          <p:cNvCxnSpPr/>
          <p:nvPr/>
        </p:nvCxnSpPr>
        <p:spPr>
          <a:xfrm rot="5936">
            <a:off x="404646" y="1103977"/>
            <a:ext cx="8339712" cy="0"/>
          </a:xfrm>
          <a:prstGeom prst="straightConnector1">
            <a:avLst/>
          </a:prstGeom>
          <a:noFill/>
          <a:ln w="19050" cap="rnd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43"/>
          <p:cNvSpPr txBox="1"/>
          <p:nvPr/>
        </p:nvSpPr>
        <p:spPr>
          <a:xfrm>
            <a:off x="377486" y="425806"/>
            <a:ext cx="837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추천 페이지</a:t>
            </a:r>
            <a:endParaRPr sz="700"/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3276600" y="4903788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/>
              <a:t>19</a:t>
            </a:fld>
            <a:endParaRPr sz="800"/>
          </a:p>
        </p:txBody>
      </p:sp>
      <p:pic>
        <p:nvPicPr>
          <p:cNvPr id="413" name="Google Shape;413;p43"/>
          <p:cNvPicPr preferRelativeResize="0"/>
          <p:nvPr/>
        </p:nvPicPr>
        <p:blipFill rotWithShape="1">
          <a:blip r:embed="rId3">
            <a:alphaModFix/>
          </a:blip>
          <a:srcRect r="87791"/>
          <a:stretch/>
        </p:blipFill>
        <p:spPr>
          <a:xfrm>
            <a:off x="731350" y="1146425"/>
            <a:ext cx="890552" cy="3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5925" y="1146425"/>
            <a:ext cx="7486099" cy="3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6274" y="887500"/>
            <a:ext cx="6795749" cy="38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화면 슬라이드 쇼(16:9)</PresentationFormat>
  <Paragraphs>122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Arimo</vt:lpstr>
      <vt:lpstr>Calibri</vt:lpstr>
      <vt:lpstr>Arial</vt:lpstr>
      <vt:lpstr>Simple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</cp:revision>
  <dcterms:modified xsi:type="dcterms:W3CDTF">2026-06-10T12:08:06Z</dcterms:modified>
</cp:coreProperties>
</file>