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08"/>
    <p:restoredTop sz="94610"/>
  </p:normalViewPr>
  <p:slideViewPr>
    <p:cSldViewPr snapToGrid="0" snapToObjects="1">
      <p:cViewPr>
        <p:scale>
          <a:sx n="85" d="100"/>
          <a:sy n="85" d="100"/>
        </p:scale>
        <p:origin x="144" y="1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11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산학 프로젝트 주제 제안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고객 이탈 예측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ROI 최적화 시스템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16459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5인 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202</a:t>
            </a:r>
            <a:r>
              <a:rPr lang="en-US" altLang="ko-KR" sz="1100" dirty="0">
                <a:solidFill>
                  <a:srgbClr val="888888"/>
                </a:solidFill>
              </a:rPr>
              <a:t>6</a:t>
            </a:r>
            <a:r>
              <a:rPr lang="en-US" sz="1100" dirty="0">
                <a:solidFill>
                  <a:srgbClr val="888888"/>
                </a:solidFill>
              </a:rPr>
              <a:t> 산학연계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어떤 주제인가요?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고객 이탈 예측 및 리텐션 ROI 최적화 시스템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4864" cy="3108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🔍  이탈 예측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" y="2130552"/>
            <a:ext cx="2377440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ML + 딥러닝(LSTM/Transformer) 기반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고객 이탈 가능성 예측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SHAP으로 예측 근거 설명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54864" cy="3108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64992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💡  CLV · Uplift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64992" y="2130552"/>
            <a:ext cx="2377440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6499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고객 생애 가치(CLV) 예측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Uplift Modeling으로 마케팅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개입 효과 자체를 예측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35040" y="1600200"/>
            <a:ext cx="54864" cy="3108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199632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📊  전략 · 대시보드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9632" y="2130552"/>
            <a:ext cx="2377440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99632" y="2240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A/B 테스트 설계 및 분석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9632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예산 최적화 (선형 프로그래밍)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Streamlit 통합 대시보드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</a:rPr>
              <a:t>💬  데이터 수집 → 피처 엔지니어링 → 모델링 → 전략 수립까지 End-to-End ML 파이프라인 구축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목표 — Track별 필수 항목 &amp; 부가 목표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필수 목표  (Track A – 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50292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572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17043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데이터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73352" y="1170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고객 행동 시뮬레이터 · 코호트 분석 · Feature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5029200" cy="5943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572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18288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피처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73352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SHAP 피처 중요도 분석 · Optuna 하이퍼파라미터 최적화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50292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4572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4871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248716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ML+DL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73352" y="24871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이탈 예측 모델 (XGBoost·LightGBM·LSTM·Transformer·앙상블)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5029200" cy="5943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145536"/>
            <a:ext cx="4572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1455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314553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Uplift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73352" y="31455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causalml T-Learner · BG/NBD + Gamma-Gamma CLV 예측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03904"/>
            <a:ext cx="50292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3803904"/>
            <a:ext cx="4572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5760" y="38039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" y="380390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전략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73352" y="38039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리텐션 전략 · PuLP 예산 최적화 · scipy A/B 테스트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749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부가 목표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23560" y="1170432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623560" y="1170432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742432" y="11704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</a:rPr>
              <a:t>MLflow 실험 추적 (SQLite + artifacts)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23560" y="1828800"/>
            <a:ext cx="3200400" cy="5943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623560" y="182880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742432" y="1828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</a:rPr>
              <a:t>Docker Compose 배포 자동화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23560" y="2487168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623560" y="2487168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742432" y="24871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</a:rPr>
              <a:t>모델 드리프트 감지 &amp; 자동 재학습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23560" y="3145536"/>
            <a:ext cx="3200400" cy="59436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623560" y="3145536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742432" y="314553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</a:rPr>
              <a:t>pytest 기반 테스트 커버리지 확보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23560" y="3803904"/>
            <a:ext cx="3200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623560" y="3803904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742432" y="3803904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</a:rPr>
              <a:t>코드 품질 문서화 (README · 아키텍처)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팀 구성 및 R&amp;R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16459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16459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이승연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133856"/>
            <a:ext cx="1463040" cy="2011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92608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Track B+C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0896" y="1417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</a:rPr>
              <a:t>Backend + DL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" y="1719072"/>
            <a:ext cx="1426464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0896" y="17922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백엔드 파이프라인 구축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" y="234086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LSTM 이탈 예측 (PyTorch)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" y="288950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모델 모니터링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0896" y="34381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Docker 환경 구성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65960" y="749808"/>
            <a:ext cx="16459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965960" y="749808"/>
            <a:ext cx="16459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057400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태</a:t>
            </a:r>
            <a:r>
              <a:rPr lang="en-US" sz="1400" b="1" dirty="0" err="1">
                <a:solidFill>
                  <a:srgbClr val="FFFFFF"/>
                </a:solidFill>
              </a:rPr>
              <a:t>현준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57400" y="1133856"/>
            <a:ext cx="1463040" cy="2011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57400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Track A+C+D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75688" y="1417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</a:rPr>
              <a:t>Data + ML/DL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75688" y="1719072"/>
            <a:ext cx="1426464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075688" y="17922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데이터 가공·전처리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75688" y="234086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ML/DL 모델링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75688" y="288950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Uplift Modeling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75688" y="34381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피처 엔지니어링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30752" y="749808"/>
            <a:ext cx="16459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730752" y="749808"/>
            <a:ext cx="16459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822192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윤</a:t>
            </a:r>
            <a:r>
              <a:rPr lang="en-US" sz="1400" b="1" dirty="0" err="1">
                <a:solidFill>
                  <a:srgbClr val="FFFFFF"/>
                </a:solidFill>
              </a:rPr>
              <a:t>찬영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22192" y="1133856"/>
            <a:ext cx="1463040" cy="2011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822192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Track A+B+C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0" y="1417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</a:rPr>
              <a:t>Data + ML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1719072"/>
            <a:ext cx="1426464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840480" y="17922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데이터 수집·분석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234086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피처 엔지니어링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0" y="288950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XGBoost·LightGBM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0" y="34381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Redis 캐싱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95544" y="749808"/>
            <a:ext cx="16459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495544" y="749808"/>
            <a:ext cx="16459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586984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송</a:t>
            </a:r>
            <a:r>
              <a:rPr lang="en-US" sz="1400" b="1" dirty="0" err="1">
                <a:solidFill>
                  <a:srgbClr val="FFFFFF"/>
                </a:solidFill>
              </a:rPr>
              <a:t>은우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586984" y="1133856"/>
            <a:ext cx="1463040" cy="2011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586984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Track 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05272" y="1417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</a:rPr>
              <a:t>Strategy + Dashboard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05272" y="1719072"/>
            <a:ext cx="1426464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605272" y="17922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리텐션 전략 설계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05272" y="234086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Streamlit 대시보드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05272" y="288950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A/B 테스트 분석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05272" y="34381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예산 최적화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60336" y="749808"/>
            <a:ext cx="164592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7260336" y="749808"/>
            <a:ext cx="16459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351776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심</a:t>
            </a:r>
            <a:r>
              <a:rPr lang="en-US" sz="1400" b="1" dirty="0" err="1">
                <a:solidFill>
                  <a:srgbClr val="FFFFFF"/>
                </a:solidFill>
              </a:rPr>
              <a:t>은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351776" y="1133856"/>
            <a:ext cx="1463040" cy="201168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351776" y="1133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Track A+C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0064" y="14173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</a:rPr>
              <a:t>Data + ML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70064" y="1719072"/>
            <a:ext cx="1426464" cy="1828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370064" y="17922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데이터 전처리·분석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70064" y="234086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ML 모델링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70064" y="288950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고객 세그먼테이션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370064" y="343814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· </a:t>
            </a:r>
            <a:r>
              <a:rPr lang="en-US" sz="950" dirty="0">
                <a:solidFill>
                  <a:srgbClr val="3D3D3D"/>
                </a:solidFill>
              </a:rPr>
              <a:t>코호트 분석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기술 스택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Language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47672" y="841248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39112" y="749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Python 3.10+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206240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167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ML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47672" y="1408176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39112" y="1316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XGBoost · LightGBM · scikit-learn · SHAP · Optuna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836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DL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47672" y="1975104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39112" y="18836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PyTorch 2.0+  (LSTM · Transformer)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4206240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Uplift / CLV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47672" y="2542032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39112" y="24505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causalml (T-Learner) · lifetimes (BG/NBD + Gamma-Gamma)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47672" y="3108960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039112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scipy.optimize · PuLP (선형 프로그래밍)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4206240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Statistics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47672" y="3675888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039112" y="35844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scipy.stats · statsmodels  (A/B 테스트 · 생존분석)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151376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15137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47672" y="4242816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039112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Streamlit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749808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92040" y="749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Experiment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82512" y="841248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73952" y="749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MLflow  (SQLite + local artifacts)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316736"/>
            <a:ext cx="4206240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92040" y="13167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Feature Store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1408176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73952" y="13167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Parquet / CSV  +  Redis (실시간)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1883664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892040" y="18836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Containerization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82512" y="1975104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473952" y="18836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Docker · Docker Compose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2450592"/>
            <a:ext cx="4206240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92040" y="2450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82512" y="2542032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473952" y="24505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pandas · numpy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017520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9204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82512" y="3108960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473952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matplotlib · seaborn · plotly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3584448"/>
            <a:ext cx="4206240" cy="50292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92040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Testing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82512" y="3675888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6473952" y="35844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pytest · pytest-cov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54880" y="4151376"/>
            <a:ext cx="42062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92040" y="415137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Configuration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82512" y="4242816"/>
            <a:ext cx="18288" cy="3200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473952" y="41513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YAML (PyYAML)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필요 기술 vs 현재 보유 기술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097280" cy="3840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팀원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749808"/>
            <a:ext cx="4023360" cy="3840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749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현재 보유 기술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383280" cy="3840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532120" y="749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추가 학습 필요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16152"/>
            <a:ext cx="109728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63040" y="1216152"/>
            <a:ext cx="402336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532120" y="1216152"/>
            <a:ext cx="338328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0040" y="1216152"/>
            <a:ext cx="1097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이승연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1216152"/>
            <a:ext cx="54864" cy="64922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72768" y="1216152"/>
            <a:ext cx="39136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Java/Spring · AWS(EC2) · MySQL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216152"/>
            <a:ext cx="54864" cy="6492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41848" y="1216152"/>
            <a:ext cx="32735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PyTorch · LSTM · MLflow · Docker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929384"/>
            <a:ext cx="1097280" cy="649224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463040" y="1929384"/>
            <a:ext cx="4023360" cy="649224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532120" y="1929384"/>
            <a:ext cx="3383280" cy="649224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0040" y="1929384"/>
            <a:ext cx="1097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A1A1A"/>
                </a:solidFill>
              </a:rPr>
              <a:t>태</a:t>
            </a:r>
            <a:r>
              <a:rPr lang="en-US" sz="1100" b="1" dirty="0" err="1">
                <a:solidFill>
                  <a:srgbClr val="1A1A1A"/>
                </a:solidFill>
              </a:rPr>
              <a:t>현준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1929384"/>
            <a:ext cx="54864" cy="64922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572768" y="1929384"/>
            <a:ext cx="39136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C/C++ · Dart · Flutter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1929384"/>
            <a:ext cx="54864" cy="6492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41848" y="1929384"/>
            <a:ext cx="32735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Python(심화) · scikit-learn · XGBoost · Uplift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42616"/>
            <a:ext cx="109728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463040" y="2642616"/>
            <a:ext cx="402336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532120" y="2642616"/>
            <a:ext cx="338328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0040" y="2642616"/>
            <a:ext cx="1097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A1A1A"/>
                </a:solidFill>
              </a:rPr>
              <a:t>윤</a:t>
            </a:r>
            <a:r>
              <a:rPr lang="en-US" sz="1100" b="1" dirty="0" err="1">
                <a:solidFill>
                  <a:srgbClr val="1A1A1A"/>
                </a:solidFill>
              </a:rPr>
              <a:t>찬영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63040" y="2642616"/>
            <a:ext cx="54864" cy="64922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572768" y="2642616"/>
            <a:ext cx="39136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Python · Java/Spring · AWS · MySQL · Jenkins · Redis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2642616"/>
            <a:ext cx="54864" cy="6492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41848" y="2642616"/>
            <a:ext cx="32735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XGBoost 심화 · 딥러닝 · Uplift Modeling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355848"/>
            <a:ext cx="1097280" cy="649224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463040" y="3355848"/>
            <a:ext cx="4023360" cy="649224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532120" y="3355848"/>
            <a:ext cx="3383280" cy="649224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355848"/>
            <a:ext cx="1097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A1A1A"/>
                </a:solidFill>
              </a:rPr>
              <a:t>송</a:t>
            </a:r>
            <a:r>
              <a:rPr lang="en-US" sz="1100" b="1" dirty="0" err="1">
                <a:solidFill>
                  <a:srgbClr val="1A1A1A"/>
                </a:solidFill>
              </a:rPr>
              <a:t>은우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463040" y="3355848"/>
            <a:ext cx="54864" cy="64922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572768" y="3355848"/>
            <a:ext cx="39136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Kotlin · Java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3355848"/>
            <a:ext cx="54864" cy="6492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641848" y="3355848"/>
            <a:ext cx="32735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Python · 데이터 분석 · Streamlit · statsmodels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069080"/>
            <a:ext cx="109728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463040" y="4069080"/>
            <a:ext cx="402336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532120" y="4069080"/>
            <a:ext cx="3383280" cy="64922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20040" y="4069080"/>
            <a:ext cx="1097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A1A1A"/>
                </a:solidFill>
              </a:rPr>
              <a:t>심</a:t>
            </a:r>
            <a:r>
              <a:rPr lang="en-US" sz="1100" b="1" dirty="0" err="1">
                <a:solidFill>
                  <a:srgbClr val="1A1A1A"/>
                </a:solidFill>
              </a:rPr>
              <a:t>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4069080"/>
            <a:ext cx="54864" cy="64922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572768" y="4069080"/>
            <a:ext cx="39136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Python · C++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32120" y="4069080"/>
            <a:ext cx="54864" cy="6492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641848" y="4069080"/>
            <a:ext cx="32735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딥러닝 심화 · MLOps · 시계열 분석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828032"/>
            <a:ext cx="164592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21208" y="4828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현재 보유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828800" y="4828032"/>
            <a:ext cx="164592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2029968" y="48280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</a:rPr>
              <a:t>추가 학습 필요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전체 일정 타임라인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8503920" cy="5486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559052" y="1078992"/>
            <a:ext cx="219456" cy="21945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9748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8056" y="1417320"/>
            <a:ext cx="2441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" y="1700784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4월 1주 – 4월 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2084832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고객 행동 시뮬레이터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270662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코호트 분석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" y="33284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" y="3950208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피처 중요도 분석 (SHAP)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5132" y="1078992"/>
            <a:ext cx="219456" cy="21945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97480" cy="548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74136" y="1417320"/>
            <a:ext cx="2441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74136" y="1700784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5월 1주 – 5월 3주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4136" y="2084832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XGBoost / LightGBM 모델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74136" y="270662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LSTM · Transformer 모델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74136" y="33284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Uplift Modeling (T-Learner)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4136" y="3950208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CLV 예측 (BG/NBD)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5492" y="1078992"/>
            <a:ext cx="219456" cy="219456"/>
          </a:xfrm>
          <a:prstGeom prst="ellipse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126480" y="1417320"/>
            <a:ext cx="2697480" cy="548640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54496" y="1417320"/>
            <a:ext cx="2441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1700784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5월 4주 – 6월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2084832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고객 세그먼테이션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4496" y="270662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PuLP 예산 최적화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28416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Streamlit 대시보드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54496" y="3950208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✔  </a:t>
            </a:r>
            <a:r>
              <a:rPr lang="en-US" sz="1050" dirty="0">
                <a:solidFill>
                  <a:srgbClr val="3D3D3D"/>
                </a:solidFill>
              </a:rPr>
              <a:t>A/B 테스트 · 모델 모니터링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663440"/>
            <a:ext cx="1463040" cy="42062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20040" y="46634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4/10·17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계획 발표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0240" y="4663440"/>
            <a:ext cx="1280160" cy="42062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920240" y="46634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4/24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중간고사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37560" y="4663440"/>
            <a:ext cx="1371600" cy="4206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337560" y="46634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5/8·15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1차 점검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4663440"/>
            <a:ext cx="1417320" cy="4206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46634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5/22·29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2차 점검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00800" y="4663440"/>
            <a:ext cx="1234440" cy="420624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00800" y="466344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6/5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본선 리뷰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72400" y="4663440"/>
            <a:ext cx="1051560" cy="420624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772400" y="466344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6/12·19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최종 발표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</a:rPr>
              <a:t>AI 기반 고객 이탈 예측 &amp; ROI 최적화 시스템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</a:rPr>
              <a:t>—  </a:t>
            </a:r>
            <a:r>
              <a:rPr lang="en-US" sz="1300" dirty="0">
                <a:solidFill>
                  <a:srgbClr val="AAAAAA"/>
                </a:solidFill>
              </a:rPr>
              <a:t>5인 팀  |  </a:t>
            </a:r>
            <a:r>
              <a:rPr lang="ko-KR" altLang="en-US" sz="1300" dirty="0">
                <a:solidFill>
                  <a:srgbClr val="AAAAAA"/>
                </a:solidFill>
              </a:rPr>
              <a:t>이승연</a:t>
            </a:r>
            <a:r>
              <a:rPr lang="en-US" altLang="ko-KR" sz="1300" dirty="0">
                <a:solidFill>
                  <a:srgbClr val="AAAAAA"/>
                </a:solidFill>
              </a:rPr>
              <a:t>,</a:t>
            </a:r>
            <a:r>
              <a:rPr lang="ko-KR" altLang="en-US" sz="1300" dirty="0">
                <a:solidFill>
                  <a:srgbClr val="AAAAAA"/>
                </a:solidFill>
              </a:rPr>
              <a:t> </a:t>
            </a:r>
            <a:r>
              <a:rPr lang="ko-KR" altLang="en-US" sz="1300" dirty="0" err="1">
                <a:solidFill>
                  <a:srgbClr val="AAAAAA"/>
                </a:solidFill>
              </a:rPr>
              <a:t>송은우</a:t>
            </a:r>
            <a:r>
              <a:rPr lang="en-US" altLang="ko-KR" sz="1300" dirty="0">
                <a:solidFill>
                  <a:srgbClr val="AAAAAA"/>
                </a:solidFill>
              </a:rPr>
              <a:t>,</a:t>
            </a:r>
            <a:r>
              <a:rPr lang="ko-KR" altLang="en-US" sz="1300" dirty="0">
                <a:solidFill>
                  <a:srgbClr val="AAAAAA"/>
                </a:solidFill>
              </a:rPr>
              <a:t> 심은</a:t>
            </a:r>
            <a:r>
              <a:rPr lang="en-US" altLang="ko-KR" sz="1300" dirty="0">
                <a:solidFill>
                  <a:srgbClr val="AAAAAA"/>
                </a:solidFill>
              </a:rPr>
              <a:t>,</a:t>
            </a:r>
            <a:r>
              <a:rPr lang="ko-KR" altLang="en-US" sz="1300" dirty="0">
                <a:solidFill>
                  <a:srgbClr val="AAAAAA"/>
                </a:solidFill>
              </a:rPr>
              <a:t> 태현준</a:t>
            </a:r>
            <a:r>
              <a:rPr lang="en-US" altLang="ko-KR" sz="1300" dirty="0">
                <a:solidFill>
                  <a:srgbClr val="AAAAAA"/>
                </a:solidFill>
              </a:rPr>
              <a:t>,</a:t>
            </a:r>
            <a:r>
              <a:rPr lang="ko-KR" altLang="en-US" sz="1300" dirty="0">
                <a:solidFill>
                  <a:srgbClr val="AAAAAA"/>
                </a:solidFill>
              </a:rPr>
              <a:t> </a:t>
            </a:r>
            <a:r>
              <a:rPr lang="ko-KR" altLang="en-US" sz="1300" dirty="0" err="1">
                <a:solidFill>
                  <a:srgbClr val="AAAAAA"/>
                </a:solidFill>
              </a:rPr>
              <a:t>윤찬영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581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</a:rPr>
              <a:t>—  </a:t>
            </a:r>
            <a:r>
              <a:rPr lang="en-US" sz="1300" dirty="0">
                <a:solidFill>
                  <a:srgbClr val="AAAAAA"/>
                </a:solidFill>
              </a:rPr>
              <a:t>End-to-End ML 파이프라인 (데이터 → 예측 → 전략 → 모니터링)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78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</a:rPr>
              <a:t>—  </a:t>
            </a:r>
            <a:r>
              <a:rPr lang="en-US" sz="1300" dirty="0">
                <a:solidFill>
                  <a:srgbClr val="AAAAAA"/>
                </a:solidFill>
              </a:rPr>
              <a:t>서강 캡스톤 경진대회 본선 진출 목표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746</Words>
  <Application>Microsoft Macintosh PowerPoint</Application>
  <PresentationFormat>화면 슬라이드 쇼(16:9)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고객 이탈 예측 및 ROI 최적화</dc:title>
  <dc:subject>PptxGenJS Presentation</dc:subject>
  <dc:creator>PptxGenJS</dc:creator>
  <cp:lastModifiedBy>맥승연</cp:lastModifiedBy>
  <cp:revision>3</cp:revision>
  <dcterms:created xsi:type="dcterms:W3CDTF">2026-03-25T12:12:19Z</dcterms:created>
  <dcterms:modified xsi:type="dcterms:W3CDTF">2026-03-25T12:21:39Z</dcterms:modified>
</cp:coreProperties>
</file>