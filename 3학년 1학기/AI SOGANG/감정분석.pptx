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5" r:id="rId3"/>
    <p:sldId id="263" r:id="rId4"/>
    <p:sldId id="264" r:id="rId5"/>
    <p:sldId id="259" r:id="rId6"/>
    <p:sldId id="267" r:id="rId7"/>
    <p:sldId id="261" r:id="rId8"/>
    <p:sldId id="262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50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dirty="0"/>
              <a:t>Sentiment Direction </a:t>
            </a:r>
            <a:r>
              <a:rPr lang="ko-KR" altLang="en-US" dirty="0"/>
              <a:t>실험 목적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1280160"/>
            <a:ext cx="111908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2000" dirty="0"/>
              <a:t>모델 내부 </a:t>
            </a:r>
            <a:r>
              <a:rPr lang="en-US" altLang="ko-KR" sz="2000" dirty="0"/>
              <a:t>768</a:t>
            </a:r>
            <a:r>
              <a:rPr lang="ko-KR" altLang="en-US" sz="2000" dirty="0"/>
              <a:t>차원 공간에 </a:t>
            </a:r>
            <a:endParaRPr lang="en-US" altLang="ko-KR" sz="2000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endParaRPr lang="en-US" altLang="ko-KR" sz="2000" b="1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sz="2000" b="1" dirty="0"/>
              <a:t>'</a:t>
            </a:r>
            <a:r>
              <a:rPr lang="ko-KR" altLang="en-US" sz="2000" b="1" dirty="0"/>
              <a:t>실제 감정이 판단되는 기하학적 경로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감정 벡터</a:t>
            </a:r>
            <a:r>
              <a:rPr lang="en-US" altLang="ko-KR" sz="2000" b="1" dirty="0"/>
              <a:t>)'</a:t>
            </a:r>
            <a:r>
              <a:rPr lang="ko-KR" altLang="en-US" sz="2000" b="1" dirty="0"/>
              <a:t>가 실존하는지 직접 찾아내고 </a:t>
            </a:r>
            <a:endParaRPr lang="en-US" altLang="ko-KR" sz="2000" b="1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endParaRPr lang="en-US" altLang="ko-KR" sz="2000" b="1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2000" b="1" dirty="0"/>
              <a:t>그 작동 원리를 증명</a:t>
            </a:r>
            <a:r>
              <a:rPr lang="ko-KR" altLang="en-US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63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dirty="0"/>
              <a:t>Sentiment Direction </a:t>
            </a:r>
            <a:r>
              <a:rPr lang="ko-KR" altLang="en-US" dirty="0"/>
              <a:t>실험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lang="ko-KR" altLang="en-US" dirty="0"/>
              <a:t>질문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1280160"/>
            <a:ext cx="111908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lang="ko-KR" altLang="en-US" sz="2000" dirty="0"/>
              <a:t>감정 벡터가 존재하는가</a:t>
            </a:r>
            <a:r>
              <a:rPr lang="en-US" altLang="ko-KR" sz="2000" dirty="0"/>
              <a:t>?</a:t>
            </a:r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en-US" altLang="ko-KR" sz="2000" dirty="0"/>
              <a:t>  </a:t>
            </a:r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sz="2000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sz="2000" dirty="0" err="1"/>
              <a:t>감정</a:t>
            </a:r>
            <a:r>
              <a:rPr lang="en-US" altLang="ko-KR" sz="2000" dirty="0"/>
              <a:t> </a:t>
            </a:r>
            <a:r>
              <a:rPr lang="ko-KR" altLang="en-US" sz="2000" dirty="0"/>
              <a:t>벡터가 실제로 작동하는가</a:t>
            </a:r>
            <a:r>
              <a:rPr lang="en-US" altLang="ko-KR" sz="2000" dirty="0"/>
              <a:t>?</a:t>
            </a:r>
            <a:endParaRPr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sz="2000" dirty="0"/>
              <a:t>  </a:t>
            </a: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endParaRPr sz="2000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sz="2000" dirty="0" err="1"/>
              <a:t>감정</a:t>
            </a:r>
            <a:r>
              <a:rPr lang="en-US" altLang="ko-KR" sz="2000" dirty="0"/>
              <a:t> </a:t>
            </a:r>
            <a:r>
              <a:rPr lang="ko-KR" altLang="en-US" sz="2000" dirty="0"/>
              <a:t>벡터가</a:t>
            </a:r>
            <a:r>
              <a:rPr sz="2000" dirty="0"/>
              <a:t> </a:t>
            </a:r>
            <a:r>
              <a:rPr lang="ko-KR" altLang="en-US" sz="2000" dirty="0"/>
              <a:t>어느 레이어부터 형성이 시작될까</a:t>
            </a:r>
            <a:r>
              <a:rPr lang="en-US" altLang="ko-KR" sz="2000" dirty="0"/>
              <a:t>?</a:t>
            </a:r>
            <a:endParaRPr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6290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dirty="0"/>
              <a:t>Sentiment Direction </a:t>
            </a:r>
            <a:r>
              <a:rPr lang="ko-KR" altLang="en-US" dirty="0"/>
              <a:t>실험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lang="ko-KR" altLang="en-US" dirty="0"/>
              <a:t>질문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1280160"/>
            <a:ext cx="111908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lang="ko-KR" altLang="en-US" sz="2000" dirty="0"/>
              <a:t>감정 벡터의 존재 여부</a:t>
            </a: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en-US" altLang="ko-KR" sz="2000" dirty="0"/>
              <a:t>  - </a:t>
            </a:r>
            <a:r>
              <a:rPr lang="en-US" altLang="ko-KR" sz="2000" dirty="0" err="1"/>
              <a:t>H1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긍정</a:t>
            </a:r>
            <a:r>
              <a:rPr lang="en-US" altLang="ko-KR" sz="2000" dirty="0"/>
              <a:t>/</a:t>
            </a:r>
            <a:r>
              <a:rPr lang="ko-KR" altLang="en-US" sz="2000" dirty="0"/>
              <a:t>부정을 </a:t>
            </a:r>
            <a:r>
              <a:rPr lang="ko-KR" altLang="en-US" sz="2000" dirty="0" err="1"/>
              <a:t>구분짓는</a:t>
            </a:r>
            <a:r>
              <a:rPr lang="ko-KR" altLang="en-US" sz="2000" dirty="0"/>
              <a:t> 감정 벡터가 존재할 것이다</a:t>
            </a:r>
            <a:r>
              <a:rPr lang="en-US" altLang="ko-KR" sz="2000" dirty="0"/>
              <a:t>.</a:t>
            </a:r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ko-KR" altLang="en-US" sz="2000" dirty="0"/>
              <a:t>  </a:t>
            </a:r>
            <a:r>
              <a:rPr lang="en-US" altLang="ko-KR" sz="2000" dirty="0"/>
              <a:t>- </a:t>
            </a:r>
            <a:r>
              <a:rPr lang="en-US" altLang="ko-KR" sz="2000" dirty="0" err="1"/>
              <a:t>H2</a:t>
            </a:r>
            <a:r>
              <a:rPr lang="en-US" altLang="ko-KR" sz="2000" dirty="0"/>
              <a:t> : </a:t>
            </a:r>
            <a:r>
              <a:rPr lang="ko-KR" altLang="en-US" sz="2000" dirty="0"/>
              <a:t>감정 벡터는 수학적 최적의 긍정</a:t>
            </a:r>
            <a:r>
              <a:rPr lang="en-US" altLang="ko-KR" sz="2000" dirty="0"/>
              <a:t>/</a:t>
            </a:r>
            <a:r>
              <a:rPr lang="ko-KR" altLang="en-US" sz="2000" dirty="0"/>
              <a:t>부정 분류 기준선과 유사할 것이다</a:t>
            </a:r>
            <a:r>
              <a:rPr lang="en-US" altLang="ko-KR" sz="2000" dirty="0"/>
              <a:t>.</a:t>
            </a:r>
          </a:p>
          <a:p>
            <a:pPr>
              <a:defRPr sz="1350">
                <a:solidFill>
                  <a:srgbClr val="CBD5E1"/>
                </a:solidFill>
                <a:latin typeface="맑은 고딕"/>
              </a:defRPr>
            </a:pPr>
            <a:endParaRPr sz="2000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sz="2000" dirty="0" err="1"/>
              <a:t>감정</a:t>
            </a:r>
            <a:r>
              <a:rPr lang="en-US" altLang="ko-KR" sz="2000" dirty="0"/>
              <a:t> </a:t>
            </a:r>
            <a:r>
              <a:rPr lang="ko-KR" altLang="en-US" sz="2000" dirty="0"/>
              <a:t>벡터</a:t>
            </a:r>
            <a:r>
              <a:rPr sz="2000" dirty="0"/>
              <a:t>의 </a:t>
            </a:r>
            <a:r>
              <a:rPr sz="2000" dirty="0" err="1"/>
              <a:t>실제</a:t>
            </a:r>
            <a:r>
              <a:rPr sz="2000" dirty="0"/>
              <a:t> </a:t>
            </a:r>
            <a:r>
              <a:rPr sz="2000" dirty="0" err="1"/>
              <a:t>작동</a:t>
            </a:r>
            <a:r>
              <a:rPr sz="2000" dirty="0"/>
              <a:t> </a:t>
            </a:r>
            <a:r>
              <a:rPr sz="2000" dirty="0" err="1"/>
              <a:t>여부</a:t>
            </a:r>
            <a:r>
              <a:rPr sz="2000" dirty="0"/>
              <a:t> </a:t>
            </a:r>
            <a:r>
              <a:rPr sz="2000" dirty="0" err="1"/>
              <a:t>검증</a:t>
            </a:r>
            <a:endParaRPr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sz="2000" dirty="0"/>
              <a:t>  - </a:t>
            </a:r>
            <a:r>
              <a:rPr sz="2000" dirty="0" err="1"/>
              <a:t>H3</a:t>
            </a:r>
            <a:r>
              <a:rPr lang="en-US" altLang="ko-KR" sz="2000" dirty="0"/>
              <a:t> </a:t>
            </a:r>
            <a:r>
              <a:rPr sz="2000" dirty="0"/>
              <a:t>: </a:t>
            </a:r>
            <a:r>
              <a:rPr sz="2000" dirty="0" err="1"/>
              <a:t>XAI</a:t>
            </a:r>
            <a:r>
              <a:rPr sz="2000" dirty="0"/>
              <a:t> </a:t>
            </a:r>
            <a:r>
              <a:rPr sz="2000" dirty="0" err="1"/>
              <a:t>핵심</a:t>
            </a:r>
            <a:r>
              <a:rPr sz="2000" dirty="0"/>
              <a:t> </a:t>
            </a:r>
            <a:r>
              <a:rPr sz="2000" dirty="0" err="1"/>
              <a:t>단어를</a:t>
            </a:r>
            <a:r>
              <a:rPr sz="2000" dirty="0"/>
              <a:t> </a:t>
            </a:r>
            <a:r>
              <a:rPr sz="2000" dirty="0" err="1"/>
              <a:t>제거하면</a:t>
            </a:r>
            <a:r>
              <a:rPr sz="2000" dirty="0"/>
              <a:t> </a:t>
            </a:r>
            <a:r>
              <a:rPr lang="ko-KR" altLang="en-US" sz="2000" dirty="0"/>
              <a:t>감정 벡터로의 </a:t>
            </a:r>
            <a:r>
              <a:rPr sz="2000" dirty="0" err="1"/>
              <a:t>투영</a:t>
            </a:r>
            <a:r>
              <a:rPr sz="2000" dirty="0"/>
              <a:t> </a:t>
            </a:r>
            <a:r>
              <a:rPr sz="2000" dirty="0" err="1"/>
              <a:t>점수가</a:t>
            </a:r>
            <a:r>
              <a:rPr sz="2000" dirty="0"/>
              <a:t> </a:t>
            </a: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en-US" altLang="ko-KR" sz="2000" dirty="0"/>
              <a:t>		</a:t>
            </a:r>
            <a:r>
              <a:rPr sz="2000" dirty="0" err="1"/>
              <a:t>유의미하게</a:t>
            </a:r>
            <a:r>
              <a:rPr sz="2000" dirty="0"/>
              <a:t> </a:t>
            </a:r>
            <a:r>
              <a:rPr sz="2000" dirty="0" err="1"/>
              <a:t>깎일</a:t>
            </a:r>
            <a:r>
              <a:rPr sz="2000" dirty="0"/>
              <a:t> </a:t>
            </a:r>
            <a:r>
              <a:rPr sz="2000" dirty="0" err="1"/>
              <a:t>것이다</a:t>
            </a:r>
            <a:r>
              <a:rPr sz="2000" dirty="0"/>
              <a:t>.</a:t>
            </a:r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sz="2000" dirty="0"/>
              <a:t>  - </a:t>
            </a:r>
            <a:r>
              <a:rPr sz="2000" dirty="0" err="1"/>
              <a:t>H4</a:t>
            </a:r>
            <a:r>
              <a:rPr lang="en-US" altLang="ko-KR" sz="2000" dirty="0"/>
              <a:t> </a:t>
            </a:r>
            <a:r>
              <a:rPr sz="2000" dirty="0"/>
              <a:t>: </a:t>
            </a:r>
            <a:r>
              <a:rPr sz="2000" dirty="0" err="1"/>
              <a:t>단어</a:t>
            </a:r>
            <a:r>
              <a:rPr sz="2000" dirty="0"/>
              <a:t> </a:t>
            </a:r>
            <a:r>
              <a:rPr sz="2000" dirty="0" err="1"/>
              <a:t>제거로</a:t>
            </a:r>
            <a:r>
              <a:rPr sz="2000" dirty="0"/>
              <a:t> </a:t>
            </a:r>
            <a:r>
              <a:rPr sz="2000" dirty="0" err="1"/>
              <a:t>발생하는</a:t>
            </a:r>
            <a:r>
              <a:rPr sz="2000" dirty="0"/>
              <a:t> </a:t>
            </a:r>
            <a:r>
              <a:rPr sz="2000" dirty="0" err="1"/>
              <a:t>768차원</a:t>
            </a:r>
            <a:r>
              <a:rPr sz="2000" dirty="0"/>
              <a:t> </a:t>
            </a:r>
            <a:r>
              <a:rPr sz="2000" dirty="0" err="1"/>
              <a:t>전체</a:t>
            </a:r>
            <a:r>
              <a:rPr sz="2000" dirty="0"/>
              <a:t> </a:t>
            </a:r>
            <a:r>
              <a:rPr sz="2000" dirty="0" err="1"/>
              <a:t>의미</a:t>
            </a:r>
            <a:r>
              <a:rPr sz="2000" dirty="0"/>
              <a:t> </a:t>
            </a:r>
            <a:r>
              <a:rPr sz="2000" dirty="0" err="1"/>
              <a:t>변화</a:t>
            </a:r>
            <a:r>
              <a:rPr sz="2000" dirty="0"/>
              <a:t> 중 </a:t>
            </a: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en-US" altLang="ko-KR" sz="2000" dirty="0"/>
              <a:t>		</a:t>
            </a:r>
            <a:r>
              <a:rPr sz="2000" dirty="0" err="1"/>
              <a:t>대부분이</a:t>
            </a:r>
            <a:r>
              <a:rPr sz="2000" dirty="0"/>
              <a:t> </a:t>
            </a:r>
            <a:r>
              <a:rPr sz="2000" dirty="0" err="1"/>
              <a:t>오직</a:t>
            </a:r>
            <a:r>
              <a:rPr sz="2000" dirty="0"/>
              <a:t> </a:t>
            </a:r>
            <a:r>
              <a:rPr sz="2000" dirty="0" err="1"/>
              <a:t>감정축을</a:t>
            </a:r>
            <a:r>
              <a:rPr sz="2000" dirty="0"/>
              <a:t> </a:t>
            </a:r>
            <a:r>
              <a:rPr sz="2000" dirty="0" err="1"/>
              <a:t>따라</a:t>
            </a:r>
            <a:r>
              <a:rPr sz="2000" dirty="0"/>
              <a:t> </a:t>
            </a:r>
            <a:r>
              <a:rPr sz="2000" dirty="0" err="1"/>
              <a:t>붕괴할</a:t>
            </a:r>
            <a:r>
              <a:rPr sz="2000" dirty="0"/>
              <a:t> </a:t>
            </a:r>
            <a:r>
              <a:rPr sz="2000" dirty="0" err="1"/>
              <a:t>것이다</a:t>
            </a:r>
            <a:r>
              <a:rPr sz="2000" dirty="0"/>
              <a:t>.</a:t>
            </a:r>
          </a:p>
          <a:p>
            <a:pPr>
              <a:defRPr sz="1350">
                <a:solidFill>
                  <a:srgbClr val="CBD5E1"/>
                </a:solidFill>
                <a:latin typeface="맑은 고딕"/>
              </a:defRPr>
            </a:pPr>
            <a:endParaRPr sz="2000" dirty="0"/>
          </a:p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💡 </a:t>
            </a:r>
            <a:r>
              <a:rPr sz="2000" dirty="0" err="1"/>
              <a:t>감정선이</a:t>
            </a:r>
            <a:r>
              <a:rPr sz="2000" dirty="0"/>
              <a:t> </a:t>
            </a:r>
            <a:r>
              <a:rPr sz="2000" dirty="0" err="1"/>
              <a:t>형성되는</a:t>
            </a:r>
            <a:r>
              <a:rPr sz="2000" dirty="0"/>
              <a:t> </a:t>
            </a:r>
            <a:r>
              <a:rPr sz="2000" dirty="0" err="1"/>
              <a:t>시점</a:t>
            </a:r>
            <a:r>
              <a:rPr sz="2000" dirty="0"/>
              <a:t> </a:t>
            </a:r>
            <a:r>
              <a:rPr sz="2000" dirty="0" err="1"/>
              <a:t>추적</a:t>
            </a:r>
            <a:endParaRPr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sz="2000" dirty="0"/>
              <a:t>  </a:t>
            </a:r>
            <a:r>
              <a:rPr lang="en-US" altLang="ko-KR" sz="2000" dirty="0"/>
              <a:t>- </a:t>
            </a:r>
            <a:r>
              <a:rPr lang="en-US" altLang="ko-KR" sz="2000" dirty="0" err="1"/>
              <a:t>H5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이러한 감정선의 존재와 실제 작동 현상은 </a:t>
            </a:r>
            <a:endParaRPr lang="en-US" altLang="ko-KR" sz="2000" dirty="0"/>
          </a:p>
          <a:p>
            <a:pPr lvl="1">
              <a:defRPr sz="1250">
                <a:solidFill>
                  <a:srgbClr val="CBD5E1"/>
                </a:solidFill>
                <a:latin typeface="맑은 고딕"/>
              </a:defRPr>
            </a:pPr>
            <a:r>
              <a:rPr lang="en-US" altLang="ko-KR" sz="2000" dirty="0"/>
              <a:t>		</a:t>
            </a:r>
            <a:r>
              <a:rPr lang="ko-KR" altLang="en-US" sz="2000" dirty="0"/>
              <a:t>인코더 중간 레이어를 거치며 점진적으로 형성될 것이다</a:t>
            </a:r>
            <a:r>
              <a:rPr lang="en-US" altLang="ko-KR" sz="2000" dirty="0"/>
              <a:t>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05781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1.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감정</a:t>
            </a:r>
            <a:r>
              <a:rPr lang="en-US" altLang="ko-KR" dirty="0"/>
              <a:t> </a:t>
            </a:r>
            <a:r>
              <a:rPr lang="ko-KR" altLang="en-US" dirty="0"/>
              <a:t>벡터</a:t>
            </a:r>
            <a:r>
              <a:rPr dirty="0"/>
              <a:t>의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원리</a:t>
            </a:r>
            <a:r>
              <a:rPr dirty="0"/>
              <a:t> 및 </a:t>
            </a:r>
            <a:r>
              <a:rPr dirty="0" err="1"/>
              <a:t>연산</a:t>
            </a:r>
            <a:r>
              <a:rPr dirty="0"/>
              <a:t> 흐</a:t>
            </a:r>
            <a:r>
              <a:rPr lang="ko-KR" altLang="en-US" dirty="0" err="1"/>
              <a:t>름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CE2929-9D67-4F79-82D1-8C379560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40" y="1499010"/>
            <a:ext cx="2994729" cy="53589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552772-8E2C-4A7F-BADE-12CC89439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80" y="1559416"/>
            <a:ext cx="5841843" cy="52127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79058-B377-446D-B66B-C6D1EA465C8D}"/>
              </a:ext>
            </a:extLst>
          </p:cNvPr>
          <p:cNvSpPr txBox="1"/>
          <p:nvPr/>
        </p:nvSpPr>
        <p:spPr>
          <a:xfrm>
            <a:off x="6643350" y="1095407"/>
            <a:ext cx="4135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 err="1"/>
              <a:t>H2</a:t>
            </a:r>
            <a:r>
              <a:rPr sz="2000" dirty="0"/>
              <a:t>. </a:t>
            </a:r>
            <a:r>
              <a:rPr sz="2000" dirty="0" err="1"/>
              <a:t>분류</a:t>
            </a:r>
            <a:r>
              <a:rPr sz="2000" dirty="0"/>
              <a:t> </a:t>
            </a:r>
            <a:r>
              <a:rPr sz="2000" dirty="0" err="1"/>
              <a:t>기준선과의</a:t>
            </a:r>
            <a:r>
              <a:rPr sz="2000" dirty="0"/>
              <a:t> </a:t>
            </a:r>
            <a:r>
              <a:rPr lang="ko-KR" altLang="en-US" sz="2000" dirty="0"/>
              <a:t>유사도 검증</a:t>
            </a:r>
            <a:endParaRPr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23074-FF64-465F-9007-57FA3F7297C1}"/>
              </a:ext>
            </a:extLst>
          </p:cNvPr>
          <p:cNvSpPr txBox="1"/>
          <p:nvPr/>
        </p:nvSpPr>
        <p:spPr>
          <a:xfrm>
            <a:off x="1726740" y="1006402"/>
            <a:ext cx="2994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 err="1"/>
              <a:t>H1</a:t>
            </a:r>
            <a:r>
              <a:rPr sz="2000" dirty="0"/>
              <a:t>. </a:t>
            </a:r>
            <a:r>
              <a:rPr lang="ko-KR" altLang="en-US" sz="2000" dirty="0"/>
              <a:t>감정 벡터 존재 여부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36708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1.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감정</a:t>
            </a:r>
            <a:r>
              <a:rPr lang="en-US" altLang="ko-KR" dirty="0"/>
              <a:t> </a:t>
            </a:r>
            <a:r>
              <a:rPr lang="ko-KR" altLang="en-US" dirty="0"/>
              <a:t>벡터</a:t>
            </a:r>
            <a:r>
              <a:rPr dirty="0"/>
              <a:t>의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56539"/>
            <a:ext cx="11274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1600" dirty="0"/>
              <a:t>⭐ </a:t>
            </a:r>
            <a:r>
              <a:rPr lang="en-US" altLang="ko-KR" sz="1600" b="1" dirty="0" err="1"/>
              <a:t>H1</a:t>
            </a:r>
            <a:r>
              <a:rPr lang="en-US" altLang="ko-KR" sz="1600" b="1" dirty="0"/>
              <a:t> : </a:t>
            </a:r>
            <a:r>
              <a:rPr lang="ko-KR" altLang="en-US" sz="1600" b="1" dirty="0"/>
              <a:t>단순한 평균 차이로 구한 감정 벡터만으로도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문장의 긍정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부정을 유의미하게 분류할 수 있음을 확인</a:t>
            </a:r>
            <a:endParaRPr lang="en-US" altLang="ko-KR" sz="1600" b="1" dirty="0"/>
          </a:p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endParaRPr lang="en-US" altLang="ko-KR" sz="1600" dirty="0"/>
          </a:p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rPr sz="1600" dirty="0"/>
              <a:t>⭐ </a:t>
            </a:r>
            <a:r>
              <a:rPr lang="en-US" sz="1600" dirty="0" err="1"/>
              <a:t>H2</a:t>
            </a:r>
            <a:r>
              <a:rPr lang="en-US" sz="1600" dirty="0"/>
              <a:t> </a:t>
            </a:r>
            <a:r>
              <a:rPr sz="1600" dirty="0"/>
              <a:t>: </a:t>
            </a:r>
            <a:r>
              <a:rPr sz="1600" dirty="0" err="1"/>
              <a:t>분류</a:t>
            </a:r>
            <a:r>
              <a:rPr sz="1600" dirty="0"/>
              <a:t> </a:t>
            </a:r>
            <a:r>
              <a:rPr sz="1600" dirty="0" err="1"/>
              <a:t>기준</a:t>
            </a:r>
            <a:r>
              <a:rPr lang="ko-KR" altLang="en-US" sz="1600" dirty="0"/>
              <a:t>선</a:t>
            </a:r>
            <a:r>
              <a:rPr sz="1600" dirty="0"/>
              <a:t>과 </a:t>
            </a:r>
            <a:r>
              <a:rPr sz="1600" dirty="0" err="1"/>
              <a:t>우리가</a:t>
            </a:r>
            <a:r>
              <a:rPr sz="1600" dirty="0"/>
              <a:t> </a:t>
            </a:r>
            <a:r>
              <a:rPr sz="1600" dirty="0" err="1"/>
              <a:t>찾은</a:t>
            </a:r>
            <a:r>
              <a:rPr sz="1600" dirty="0"/>
              <a:t> </a:t>
            </a:r>
            <a:r>
              <a:rPr sz="1600" dirty="0" err="1"/>
              <a:t>감정</a:t>
            </a:r>
            <a:r>
              <a:rPr lang="en-US" altLang="ko-KR" sz="1600" dirty="0"/>
              <a:t> </a:t>
            </a:r>
            <a:r>
              <a:rPr lang="ko-KR" altLang="en-US" sz="1600" dirty="0"/>
              <a:t>벡터가</a:t>
            </a:r>
            <a:r>
              <a:rPr sz="1600" dirty="0"/>
              <a:t> </a:t>
            </a:r>
            <a:r>
              <a:rPr sz="1600" dirty="0" err="1"/>
              <a:t>7층에서</a:t>
            </a:r>
            <a:r>
              <a:rPr sz="1600" dirty="0"/>
              <a:t> 98.90% </a:t>
            </a:r>
            <a:r>
              <a:rPr sz="1600" dirty="0" err="1"/>
              <a:t>수학적으로</a:t>
            </a:r>
            <a:r>
              <a:rPr sz="1600" dirty="0"/>
              <a:t> </a:t>
            </a:r>
            <a:r>
              <a:rPr sz="1600" dirty="0" err="1"/>
              <a:t>일치함을</a:t>
            </a:r>
            <a:r>
              <a:rPr sz="1600" dirty="0"/>
              <a:t> </a:t>
            </a:r>
            <a:r>
              <a:rPr sz="1600" dirty="0" err="1"/>
              <a:t>확인</a:t>
            </a:r>
            <a:endParaRPr sz="1600" dirty="0"/>
          </a:p>
          <a:p>
            <a:pPr lvl="1">
              <a:defRPr sz="1000">
                <a:solidFill>
                  <a:srgbClr val="CBD5E1"/>
                </a:solidFill>
                <a:latin typeface="맑은 고딕"/>
              </a:defRPr>
            </a:pPr>
            <a:r>
              <a:rPr sz="1600" dirty="0"/>
              <a:t>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68780"/>
              </p:ext>
            </p:extLst>
          </p:nvPr>
        </p:nvGraphicFramePr>
        <p:xfrm>
          <a:off x="457200" y="2377440"/>
          <a:ext cx="5486400" cy="415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레이어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긍정 평균 </a:t>
                      </a:r>
                      <a:r>
                        <a:rPr lang="ko-KR" altLang="en-US" dirty="0" err="1"/>
                        <a:t>투영값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부정 평균 </a:t>
                      </a:r>
                      <a:r>
                        <a:rPr lang="ko-KR" altLang="en-US" dirty="0" err="1"/>
                        <a:t>투영값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차이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정확도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Spearman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+0.1929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-0.1956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0.3885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61.72%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66.97%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30.28%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+0.0741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-0.0748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0.1489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60.86%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65.91%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28.47%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+0.0975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-0.1093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0.2068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55.90%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62.17%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24.66%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+0.0563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-0.0642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0.1205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56.60%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67.56%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35.55%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-0.0211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0.0405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64.07%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72.24%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47.09%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-0.0112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0.0213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59.06%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66.69%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36.32%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-0.0128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0.0250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72.47%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79.46%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63.13%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상전이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+0.0294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-0.0297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0.0591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83.13%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90.84%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87.90%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+0.1687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-0.1717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0.3404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85.19%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92.38%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90.70%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+0.6933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-0.6987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1.3920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86.21%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94.98%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97.17%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+2.8383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-2.8536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5.6919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86.89%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98.08%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+6.4681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-6.4817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12.9499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94.71%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92.92%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+9.4137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-9.4403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18.8539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88.27%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95.15%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/>
                        <a:t>99.08%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2377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레이어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Cosine Sim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rPr dirty="0"/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63.37%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63.22%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68.83%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39.65%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68.63%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74.99%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38.43%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73.52%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73.14%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80.78%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34.81%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76.22%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75.88%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83.68%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40.62%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정렬폭등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76.14%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74.82%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82.97%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85.18%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77.44%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76.66%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84.62%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86.78%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81.87%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81.31%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89.13%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96.77%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정점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85.04%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85.02%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92.43%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87.40%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87.42%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85.79%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87.95%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95.11%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82.12%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수축시작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88.42%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88.47%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48.03%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88.24%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88.32%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88.30%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95.26%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/>
                        <a:t>6.71%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2. </a:t>
            </a:r>
            <a:r>
              <a:rPr dirty="0" err="1"/>
              <a:t>감정</a:t>
            </a:r>
            <a:r>
              <a:rPr lang="en-US" altLang="ko-KR" dirty="0"/>
              <a:t> </a:t>
            </a:r>
            <a:r>
              <a:rPr lang="ko-KR" altLang="en-US" dirty="0"/>
              <a:t>벡터</a:t>
            </a:r>
            <a:r>
              <a:rPr dirty="0"/>
              <a:t>의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원리</a:t>
            </a:r>
            <a:r>
              <a:rPr dirty="0"/>
              <a:t> 및 </a:t>
            </a:r>
            <a:r>
              <a:rPr dirty="0" err="1"/>
              <a:t>연산</a:t>
            </a:r>
            <a:r>
              <a:rPr dirty="0"/>
              <a:t> 흐</a:t>
            </a:r>
            <a:r>
              <a:rPr lang="ko-KR" altLang="en-US" dirty="0" err="1"/>
              <a:t>름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961C18-9B2C-4C3F-AD7B-807A3E78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01" y="1485900"/>
            <a:ext cx="5824039" cy="52428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93A6D9E-0F08-4B5F-BC58-F88BFBC57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338" y="1485900"/>
            <a:ext cx="5558680" cy="5242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F4FA55-3E0E-4A1E-BEB5-BB26573244D4}"/>
              </a:ext>
            </a:extLst>
          </p:cNvPr>
          <p:cNvSpPr txBox="1"/>
          <p:nvPr/>
        </p:nvSpPr>
        <p:spPr>
          <a:xfrm>
            <a:off x="1184457" y="1085790"/>
            <a:ext cx="4244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sz="2000" dirty="0" err="1"/>
              <a:t>H3</a:t>
            </a:r>
            <a:r>
              <a:rPr sz="2000" dirty="0"/>
              <a:t>. </a:t>
            </a:r>
            <a:r>
              <a:rPr sz="2000" dirty="0" err="1"/>
              <a:t>중요</a:t>
            </a:r>
            <a:r>
              <a:rPr sz="2000" dirty="0"/>
              <a:t> </a:t>
            </a:r>
            <a:r>
              <a:rPr sz="2000" dirty="0" err="1"/>
              <a:t>단어</a:t>
            </a:r>
            <a:r>
              <a:rPr sz="2000" dirty="0"/>
              <a:t> </a:t>
            </a:r>
            <a:r>
              <a:rPr sz="2000" dirty="0" err="1"/>
              <a:t>제거</a:t>
            </a:r>
            <a:r>
              <a:rPr sz="2000" dirty="0"/>
              <a:t> 시 </a:t>
            </a:r>
            <a:r>
              <a:rPr sz="2000" dirty="0" err="1"/>
              <a:t>감정의</a:t>
            </a:r>
            <a:r>
              <a:rPr sz="2000" dirty="0"/>
              <a:t> </a:t>
            </a:r>
            <a:r>
              <a:rPr lang="ko-KR" altLang="en-US" sz="2000" dirty="0"/>
              <a:t>약화</a:t>
            </a:r>
            <a:endParaRPr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E2694-8BE6-46A1-B2FE-90FF76ADCFFC}"/>
              </a:ext>
            </a:extLst>
          </p:cNvPr>
          <p:cNvSpPr txBox="1"/>
          <p:nvPr/>
        </p:nvSpPr>
        <p:spPr>
          <a:xfrm>
            <a:off x="7033611" y="985666"/>
            <a:ext cx="45546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sz="2000" dirty="0" err="1"/>
              <a:t>H4</a:t>
            </a:r>
            <a:r>
              <a:rPr lang="en-US" altLang="ko-KR" sz="2000" dirty="0"/>
              <a:t>. </a:t>
            </a:r>
            <a:r>
              <a:rPr lang="ko-KR" altLang="en-US" sz="2000" dirty="0"/>
              <a:t>의미 변화 중 감정 변화 비중 분석</a:t>
            </a:r>
          </a:p>
        </p:txBody>
      </p:sp>
    </p:spTree>
    <p:extLst>
      <p:ext uri="{BB962C8B-B14F-4D97-AF65-F5344CB8AC3E}">
        <p14:creationId xmlns:p14="http://schemas.microsoft.com/office/powerpoint/2010/main" val="360892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2. </a:t>
            </a:r>
            <a:r>
              <a:rPr dirty="0" err="1"/>
              <a:t>감정</a:t>
            </a:r>
            <a:r>
              <a:rPr lang="en-US" altLang="ko-KR" dirty="0"/>
              <a:t> </a:t>
            </a:r>
            <a:r>
              <a:rPr lang="ko-KR" altLang="en-US" dirty="0"/>
              <a:t>벡터</a:t>
            </a:r>
            <a:r>
              <a:rPr dirty="0"/>
              <a:t>의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9943" y="947811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1600" dirty="0"/>
              <a:t>⭐ </a:t>
            </a:r>
            <a:r>
              <a:rPr lang="en-US" altLang="ko-KR" sz="1600" dirty="0" err="1"/>
              <a:t>H3</a:t>
            </a:r>
            <a:r>
              <a:rPr lang="en-US" altLang="ko-KR" sz="1600" dirty="0"/>
              <a:t> : </a:t>
            </a:r>
            <a:r>
              <a:rPr lang="en-US" altLang="ko-KR" sz="1600" dirty="0" err="1"/>
              <a:t>XAI</a:t>
            </a:r>
            <a:r>
              <a:rPr lang="ko-KR" altLang="en-US" sz="1600" dirty="0"/>
              <a:t>가 지목한 중요 단어 제거 시</a:t>
            </a:r>
            <a:r>
              <a:rPr lang="en-US" altLang="ko-KR" sz="1600" dirty="0"/>
              <a:t>, </a:t>
            </a:r>
            <a:r>
              <a:rPr lang="ko-KR" altLang="en-US" sz="1600" dirty="0"/>
              <a:t>감정 벡터 상의 점수가 무작위 제거 대비 유의미하게 폭락함을 확인</a:t>
            </a:r>
          </a:p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endParaRPr lang="ko-KR" altLang="en-US" sz="1600" dirty="0"/>
          </a:p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sz="1600" dirty="0"/>
              <a:t>⭐ </a:t>
            </a:r>
            <a:r>
              <a:rPr lang="en-US" altLang="ko-KR" sz="1600" dirty="0" err="1"/>
              <a:t>H4</a:t>
            </a:r>
            <a:r>
              <a:rPr lang="en-US" altLang="ko-KR" sz="1600" dirty="0"/>
              <a:t> : </a:t>
            </a:r>
            <a:r>
              <a:rPr lang="ko-KR" altLang="en-US" sz="1600" dirty="0"/>
              <a:t>단어 제거 시 발생하는 전체 의미 변화의 절반 이상</a:t>
            </a:r>
            <a:r>
              <a:rPr lang="en-US" altLang="ko-KR" sz="1600" dirty="0"/>
              <a:t>(51.85%)</a:t>
            </a:r>
            <a:r>
              <a:rPr lang="ko-KR" altLang="en-US" sz="1600" dirty="0"/>
              <a:t>이 오직 감정 벡터 방향에 집중됨을 확인</a:t>
            </a:r>
            <a:endParaRPr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971295"/>
              </p:ext>
            </p:extLst>
          </p:nvPr>
        </p:nvGraphicFramePr>
        <p:xfrm>
          <a:off x="457200" y="2377440"/>
          <a:ext cx="5486400" cy="424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레이어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XAI 약화량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Random 약화량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유의성 판정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+0.1030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+0.0560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0.70110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+0.0517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0.61172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+0.2259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+0.0503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0.67959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+0.1197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+0.0203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0.79775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+0.0316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+0.0059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0.02486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✔️ 유의미 (p&lt;0.05)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+0.0188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0.27806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+0.0173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+0.0097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0.03028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✔️ 유의미 (p&lt;0.05)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상전이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+0.0388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+0.0222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0.00004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⭐ 극도유의 (p&lt;0.0001)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+0.1951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+0.0874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0.00003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⭐ 극도유의 (p&lt;0.0001)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+0.7338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+0.3095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0.00001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👑 최고유의 (p&lt;0.00001)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+2.9071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+1.0352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0.00006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⭐ 극도유의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+6.1134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+1.8608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0.00014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⭐ 극도유의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+8.6040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+2.8524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0.00004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/>
                        <a:t>⭐ </a:t>
                      </a:r>
                      <a:r>
                        <a:rPr dirty="0" err="1"/>
                        <a:t>극도유의</a:t>
                      </a:r>
                      <a:endParaRPr dirty="0"/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2377440"/>
          <a:ext cx="5486400" cy="4167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레이어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총변화 크기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Ratio (비중)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Alignment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타겟팅 판정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1.40%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노이즈 분산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0.4599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9.89%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-0.0075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노이즈 분산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0.0503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19.50%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초기 수렴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0.0203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❌ 일시적 감쇠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0.0059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12.82%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+0.0766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✔️ 선형화 진입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17.97%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+0.0808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✔️ 완만 축적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0.0097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18.51%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+0.1851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✔️ 정렬 진행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상전이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0.0222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23.05%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+0.2303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⭐ 기하학적 변곡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0.0874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26.73%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+0.2672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⭐ 인과성 심화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0.3095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51.85%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+0.5109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👑 집중변화 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1.0352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54.04%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+0.5183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⭐ 고집적 유지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1.8608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46.60%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+0.4399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⭐ 고집적 유지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2.8524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50.63%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+0.4787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⭐ 고집적 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심화실험</a:t>
            </a:r>
            <a:r>
              <a:rPr dirty="0"/>
              <a:t> </a:t>
            </a:r>
            <a:r>
              <a:rPr dirty="0" err="1"/>
              <a:t>결론</a:t>
            </a:r>
            <a:r>
              <a:rPr dirty="0"/>
              <a:t> 및 AI Safety </a:t>
            </a:r>
            <a:r>
              <a:rPr dirty="0" err="1"/>
              <a:t>확장</a:t>
            </a:r>
            <a:r>
              <a:rPr lang="ko-KR" altLang="en-US" dirty="0"/>
              <a:t>성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78408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👑 </a:t>
            </a:r>
            <a:r>
              <a:rPr dirty="0" err="1"/>
              <a:t>심화실험</a:t>
            </a:r>
            <a:r>
              <a:rPr dirty="0"/>
              <a:t> </a:t>
            </a:r>
            <a:r>
              <a:rPr dirty="0" err="1"/>
              <a:t>학술적</a:t>
            </a:r>
            <a:r>
              <a:rPr dirty="0"/>
              <a:t> </a:t>
            </a:r>
            <a:r>
              <a:rPr dirty="0" err="1"/>
              <a:t>의의</a:t>
            </a:r>
            <a:r>
              <a:rPr dirty="0"/>
              <a:t> </a:t>
            </a:r>
            <a:r>
              <a:rPr dirty="0" err="1"/>
              <a:t>요약</a:t>
            </a:r>
            <a:endParaRPr lang="ko-KR" altLang="en-US" dirty="0"/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모델 내부에 </a:t>
            </a:r>
            <a:r>
              <a:rPr lang="en-US" altLang="ko-KR" dirty="0"/>
              <a:t>7</a:t>
            </a:r>
            <a:r>
              <a:rPr lang="ko-KR" altLang="en-US" dirty="0"/>
              <a:t>층</a:t>
            </a:r>
            <a:r>
              <a:rPr lang="en-US" altLang="ko-KR" dirty="0"/>
              <a:t>~9</a:t>
            </a:r>
            <a:r>
              <a:rPr lang="ko-KR" altLang="en-US" dirty="0"/>
              <a:t>층을 가로지르는 뚜렷한 ‘감정 벡터</a:t>
            </a:r>
            <a:r>
              <a:rPr lang="en-US" altLang="ko-KR" dirty="0"/>
              <a:t>'</a:t>
            </a:r>
            <a:r>
              <a:rPr lang="ko-KR" altLang="en-US" dirty="0"/>
              <a:t>가 존재함을 입증하였다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dirty="0"/>
              <a:t>- </a:t>
            </a:r>
            <a:r>
              <a:rPr dirty="0" err="1"/>
              <a:t>XAI가</a:t>
            </a:r>
            <a:r>
              <a:rPr dirty="0"/>
              <a:t> </a:t>
            </a:r>
            <a:r>
              <a:rPr dirty="0" err="1"/>
              <a:t>뽑은</a:t>
            </a:r>
            <a:r>
              <a:rPr dirty="0"/>
              <a:t> </a:t>
            </a:r>
            <a:r>
              <a:rPr dirty="0" err="1"/>
              <a:t>피처들은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768차원</a:t>
            </a:r>
            <a:r>
              <a:rPr dirty="0"/>
              <a:t> </a:t>
            </a:r>
            <a:r>
              <a:rPr dirty="0" err="1"/>
              <a:t>공간에서</a:t>
            </a:r>
            <a:r>
              <a:rPr dirty="0"/>
              <a:t> 이 </a:t>
            </a:r>
            <a:r>
              <a:rPr dirty="0" err="1"/>
              <a:t>감정</a:t>
            </a:r>
            <a:r>
              <a:rPr lang="ko-KR" altLang="en-US" dirty="0"/>
              <a:t>축</a:t>
            </a:r>
            <a:r>
              <a:rPr dirty="0"/>
              <a:t> </a:t>
            </a:r>
            <a:r>
              <a:rPr dirty="0" err="1"/>
              <a:t>좌표를</a:t>
            </a:r>
            <a:r>
              <a:rPr dirty="0"/>
              <a:t> </a:t>
            </a:r>
            <a:r>
              <a:rPr dirty="0" err="1"/>
              <a:t>지탱하고</a:t>
            </a:r>
            <a:r>
              <a:rPr dirty="0"/>
              <a:t> </a:t>
            </a:r>
            <a:r>
              <a:rPr dirty="0" err="1"/>
              <a:t>조율하는</a:t>
            </a:r>
            <a:r>
              <a:rPr dirty="0"/>
              <a:t> </a:t>
            </a:r>
            <a:r>
              <a:rPr dirty="0" err="1"/>
              <a:t>핵심기둥임이</a:t>
            </a:r>
            <a:r>
              <a:rPr dirty="0"/>
              <a:t> </a:t>
            </a:r>
            <a:r>
              <a:rPr lang="ko-KR" altLang="en-US" dirty="0"/>
              <a:t>증명하였다</a:t>
            </a:r>
            <a:r>
              <a:rPr lang="en-US" altLang="ko-KR" dirty="0"/>
              <a:t>.</a:t>
            </a:r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endParaRPr dirty="0"/>
          </a:p>
          <a:p>
            <a:pPr>
              <a:defRPr sz="145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🛡️ AI Safety 및 </a:t>
            </a:r>
            <a:r>
              <a:rPr lang="en-US" dirty="0"/>
              <a:t>Alignment </a:t>
            </a:r>
            <a:r>
              <a:rPr lang="ko-KR" altLang="en-US" dirty="0"/>
              <a:t>등</a:t>
            </a:r>
            <a:r>
              <a:rPr dirty="0"/>
              <a:t>의 </a:t>
            </a:r>
            <a:r>
              <a:rPr dirty="0" err="1"/>
              <a:t>기술적</a:t>
            </a:r>
            <a:r>
              <a:rPr dirty="0"/>
              <a:t> </a:t>
            </a:r>
            <a:r>
              <a:rPr dirty="0" err="1"/>
              <a:t>확장성</a:t>
            </a:r>
            <a:endParaRPr dirty="0"/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본 실험을 통해 모델이 </a:t>
            </a:r>
            <a:r>
              <a:rPr lang="en-US" altLang="ko-KR" dirty="0"/>
              <a:t>'</a:t>
            </a:r>
            <a:r>
              <a:rPr lang="ko-KR" altLang="en-US" dirty="0"/>
              <a:t>감정 벡터</a:t>
            </a:r>
            <a:r>
              <a:rPr lang="en-US" altLang="ko-KR" dirty="0"/>
              <a:t>'</a:t>
            </a:r>
            <a:r>
              <a:rPr lang="ko-KR" altLang="en-US" dirty="0"/>
              <a:t>를 기준으로 의사결정을 내림을 확인했으며</a:t>
            </a:r>
            <a:r>
              <a:rPr lang="en-US" altLang="ko-KR" dirty="0"/>
              <a:t>, </a:t>
            </a:r>
            <a:r>
              <a:rPr lang="ko-KR" altLang="en-US" dirty="0"/>
              <a:t>이는 감정 외의 다른 추상적 개념들 역시 고유의 기하학적 축</a:t>
            </a:r>
            <a:r>
              <a:rPr lang="en-US" altLang="ko-KR" dirty="0"/>
              <a:t>(</a:t>
            </a:r>
            <a:r>
              <a:rPr lang="ko-KR" altLang="en-US" dirty="0"/>
              <a:t>벡터</a:t>
            </a:r>
            <a:r>
              <a:rPr lang="en-US" altLang="ko-KR" dirty="0"/>
              <a:t>)</a:t>
            </a:r>
            <a:r>
              <a:rPr lang="ko-KR" altLang="en-US" dirty="0"/>
              <a:t>으로 존재할 것임을 시사한다</a:t>
            </a:r>
            <a:r>
              <a:rPr lang="en-US" altLang="ko-KR" dirty="0"/>
              <a:t>.</a:t>
            </a:r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이러한 기하학적 특성은 감정 분석을 넘어</a:t>
            </a:r>
            <a:r>
              <a:rPr lang="en-US" altLang="ko-KR" dirty="0"/>
              <a:t>, </a:t>
            </a:r>
            <a:r>
              <a:rPr lang="ko-KR" altLang="en-US" dirty="0"/>
              <a:t>자연어 처리의 다양한 도메인과 개념으로 제어 범위를 확장할 수 있는 가능성을 제시한다</a:t>
            </a:r>
            <a:r>
              <a:rPr lang="en-US" altLang="ko-KR" dirty="0"/>
              <a:t>.</a:t>
            </a:r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예컨대 거대 모델</a:t>
            </a:r>
            <a:r>
              <a:rPr lang="en-US" altLang="ko-KR" dirty="0"/>
              <a:t>(</a:t>
            </a:r>
            <a:r>
              <a:rPr lang="en-US" altLang="ko-KR" dirty="0" err="1"/>
              <a:t>LLM</a:t>
            </a:r>
            <a:r>
              <a:rPr lang="en-US" altLang="ko-KR" dirty="0"/>
              <a:t>)</a:t>
            </a:r>
            <a:r>
              <a:rPr lang="ko-KR" altLang="en-US" dirty="0"/>
              <a:t>의 내부 은닉 공간에서 **</a:t>
            </a:r>
            <a:r>
              <a:rPr lang="en-US" altLang="ko-KR" dirty="0"/>
              <a:t>'</a:t>
            </a:r>
            <a:r>
              <a:rPr lang="ko-KR" altLang="en-US" dirty="0"/>
              <a:t>유해성</a:t>
            </a:r>
            <a:r>
              <a:rPr lang="en-US" altLang="ko-KR" dirty="0"/>
              <a:t>'**</a:t>
            </a:r>
            <a:r>
              <a:rPr lang="ko-KR" altLang="en-US" dirty="0"/>
              <a:t>이나 </a:t>
            </a:r>
            <a:r>
              <a:rPr lang="en-US" altLang="ko-KR" dirty="0"/>
              <a:t>'</a:t>
            </a:r>
            <a:r>
              <a:rPr lang="ko-KR" altLang="en-US" dirty="0"/>
              <a:t>편향</a:t>
            </a:r>
            <a:r>
              <a:rPr lang="en-US" altLang="ko-KR" dirty="0"/>
              <a:t>' </a:t>
            </a:r>
            <a:r>
              <a:rPr lang="ko-KR" altLang="en-US" dirty="0"/>
              <a:t>벡터를 찾아낸 뒤</a:t>
            </a:r>
            <a:r>
              <a:rPr lang="en-US" altLang="ko-KR" dirty="0"/>
              <a:t>, </a:t>
            </a:r>
            <a:r>
              <a:rPr lang="ko-KR" altLang="en-US" dirty="0"/>
              <a:t>추론 과정에서 해당 축의 값을 물리적으로 억제하거나 </a:t>
            </a:r>
            <a:r>
              <a:rPr lang="ko-KR" altLang="en-US" dirty="0" err="1"/>
              <a:t>우회시킬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결과적으로</a:t>
            </a:r>
            <a:r>
              <a:rPr lang="en-US" altLang="ko-KR" dirty="0"/>
              <a:t>, </a:t>
            </a:r>
            <a:r>
              <a:rPr lang="ko-KR" altLang="en-US" dirty="0"/>
              <a:t>사후 해석이나 </a:t>
            </a:r>
            <a:r>
              <a:rPr lang="ko-KR" altLang="en-US" dirty="0" err="1"/>
              <a:t>재학습</a:t>
            </a:r>
            <a:r>
              <a:rPr lang="ko-KR" altLang="en-US" dirty="0"/>
              <a:t> 없이도 내부 연산 경로를 직접 조작해 유해한 생성을 원천 차단하는 </a:t>
            </a:r>
            <a:r>
              <a:rPr lang="en-US" altLang="ko-KR" dirty="0"/>
              <a:t>'</a:t>
            </a:r>
            <a:r>
              <a:rPr lang="ko-KR" altLang="en-US" dirty="0"/>
              <a:t>기하학적 </a:t>
            </a:r>
            <a:r>
              <a:rPr lang="en-US" altLang="ko-KR" dirty="0"/>
              <a:t>AI Alignment (AI Safety)' </a:t>
            </a:r>
            <a:r>
              <a:rPr lang="ko-KR" altLang="en-US" dirty="0"/>
              <a:t>기술의 핵심 기반이 될 수 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/>
              <a:t>실험 한계 및 향후 계획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7840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dirty="0"/>
              <a:t> </a:t>
            </a:r>
            <a:r>
              <a:rPr lang="ko-KR" altLang="en-US" dirty="0"/>
              <a:t>실험 한계</a:t>
            </a:r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b="1" dirty="0"/>
              <a:t>1. </a:t>
            </a:r>
            <a:r>
              <a:rPr lang="ko-KR" altLang="en-US" b="1" dirty="0"/>
              <a:t>제한된 표본 크기 </a:t>
            </a:r>
            <a:r>
              <a:rPr lang="en-US" altLang="ko-KR" dirty="0"/>
              <a:t>: </a:t>
            </a:r>
            <a:r>
              <a:rPr lang="en-US" altLang="ko-KR" dirty="0" err="1"/>
              <a:t>LLM</a:t>
            </a:r>
            <a:r>
              <a:rPr lang="ko-KR" altLang="en-US" dirty="0"/>
              <a:t>과의 비교 실험이 </a:t>
            </a:r>
            <a:r>
              <a:rPr lang="en-US" altLang="ko-KR" dirty="0"/>
              <a:t>30</a:t>
            </a:r>
            <a:r>
              <a:rPr lang="ko-KR" altLang="en-US" dirty="0"/>
              <a:t>개의 한정된 커스텀 샘플로만 진행되어</a:t>
            </a:r>
            <a:r>
              <a:rPr lang="en-US" altLang="ko-KR" dirty="0"/>
              <a:t>, </a:t>
            </a:r>
            <a:r>
              <a:rPr lang="ko-KR" altLang="en-US" dirty="0"/>
              <a:t>전체 데이터의 분포를 완벽하게 대변하기에는 통계적 한계가 존재합니다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endParaRPr lang="en-US" altLang="ko-KR" dirty="0"/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b="1" dirty="0"/>
              <a:t>2. </a:t>
            </a:r>
            <a:r>
              <a:rPr lang="ko-KR" altLang="en-US" b="1" dirty="0"/>
              <a:t>평가 기준의 불완전성 </a:t>
            </a:r>
            <a:r>
              <a:rPr lang="en-US" altLang="ko-KR" dirty="0"/>
              <a:t>: </a:t>
            </a:r>
            <a:r>
              <a:rPr lang="ko-KR" altLang="en-US" dirty="0"/>
              <a:t>평가의 기준으로 삼은 </a:t>
            </a:r>
            <a:r>
              <a:rPr lang="en-US" altLang="ko-KR" dirty="0" err="1"/>
              <a:t>LLM</a:t>
            </a:r>
            <a:r>
              <a:rPr lang="ko-KR" altLang="en-US" dirty="0"/>
              <a:t>의 해석 역시 절대적인 인간의 정답</a:t>
            </a:r>
            <a:r>
              <a:rPr lang="en-US" altLang="ko-KR" dirty="0"/>
              <a:t>(Ground Truth)</a:t>
            </a:r>
            <a:r>
              <a:rPr lang="ko-KR" altLang="en-US" dirty="0"/>
              <a:t>을 대체할 수는 없으므로</a:t>
            </a:r>
            <a:r>
              <a:rPr lang="en-US" altLang="ko-KR" dirty="0"/>
              <a:t>, </a:t>
            </a:r>
            <a:r>
              <a:rPr lang="ko-KR" altLang="en-US" dirty="0"/>
              <a:t>비교 기준 자체에 대한 추가적인 신뢰성 검증이 필요합니다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endParaRPr lang="en-US" altLang="ko-KR" dirty="0"/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b="1" dirty="0"/>
              <a:t>3. </a:t>
            </a:r>
            <a:r>
              <a:rPr lang="ko-KR" altLang="en-US" b="1" dirty="0"/>
              <a:t>감정의 선형적 단순화 </a:t>
            </a:r>
            <a:r>
              <a:rPr lang="en-US" altLang="ko-KR" dirty="0"/>
              <a:t>: </a:t>
            </a:r>
            <a:r>
              <a:rPr lang="ko-KR" altLang="en-US" dirty="0"/>
              <a:t>반어법이나 복합 감정 등 </a:t>
            </a:r>
            <a:r>
              <a:rPr lang="ko-KR" altLang="en-US" dirty="0" err="1"/>
              <a:t>비선형적이고</a:t>
            </a:r>
            <a:r>
              <a:rPr lang="ko-KR" altLang="en-US" dirty="0"/>
              <a:t> </a:t>
            </a:r>
            <a:r>
              <a:rPr lang="ko-KR" altLang="en-US" dirty="0" err="1"/>
              <a:t>다차원적인</a:t>
            </a:r>
            <a:r>
              <a:rPr lang="ko-KR" altLang="en-US" dirty="0"/>
              <a:t> 인간의 언어를 단순한 </a:t>
            </a:r>
            <a:r>
              <a:rPr lang="en-US" altLang="ko-KR" dirty="0"/>
              <a:t>1</a:t>
            </a:r>
            <a:r>
              <a:rPr lang="ko-KR" altLang="en-US" dirty="0"/>
              <a:t>차원의 직선 축</a:t>
            </a:r>
            <a:r>
              <a:rPr lang="en-US" altLang="ko-KR" dirty="0"/>
              <a:t>(</a:t>
            </a:r>
            <a:r>
              <a:rPr lang="ko-KR" altLang="en-US" dirty="0"/>
              <a:t>감정선</a:t>
            </a:r>
            <a:r>
              <a:rPr lang="en-US" altLang="ko-KR" dirty="0"/>
              <a:t>)</a:t>
            </a:r>
            <a:r>
              <a:rPr lang="ko-KR" altLang="en-US" dirty="0"/>
              <a:t>으로만 가정하여 분석했다는 기하학적 한계가 있습니다</a:t>
            </a:r>
            <a:r>
              <a:rPr lang="en-US" altLang="ko-KR" dirty="0"/>
              <a:t>.</a:t>
            </a:r>
          </a:p>
          <a:p>
            <a:pPr lvl="1">
              <a:defRPr sz="1350">
                <a:solidFill>
                  <a:srgbClr val="CBD5E1"/>
                </a:solidFill>
                <a:latin typeface="맑은 고딕"/>
              </a:defRPr>
            </a:pPr>
            <a:endParaRPr dirty="0"/>
          </a:p>
          <a:p>
            <a:pPr>
              <a:defRPr sz="145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dirty="0"/>
              <a:t>- </a:t>
            </a:r>
            <a:r>
              <a:rPr lang="ko-KR" altLang="en-US" dirty="0"/>
              <a:t>향후 계획</a:t>
            </a:r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b="1" dirty="0"/>
              <a:t>1. </a:t>
            </a:r>
            <a:r>
              <a:rPr lang="ko-KR" altLang="en-US" b="1" dirty="0"/>
              <a:t>대규모 평가 지표 고도화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현재의 소규모 커스텀 샘플 평가를 대규모 데이터셋 및 인간 주석 교차 검증 기반으로 확장하여</a:t>
            </a:r>
            <a:r>
              <a:rPr lang="en-US" altLang="ko-KR" dirty="0"/>
              <a:t>, </a:t>
            </a:r>
            <a:r>
              <a:rPr lang="en-US" altLang="ko-KR" dirty="0" err="1"/>
              <a:t>XAI</a:t>
            </a:r>
            <a:r>
              <a:rPr lang="en-US" altLang="ko-KR" dirty="0"/>
              <a:t> </a:t>
            </a:r>
            <a:r>
              <a:rPr lang="ko-KR" altLang="en-US" dirty="0"/>
              <a:t>품질 평가의 통계적 신뢰성을 확보할 계획입니다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endParaRPr lang="en-US" altLang="ko-KR" dirty="0"/>
          </a:p>
          <a:p>
            <a:pPr marL="742950" lvl="1" indent="-285750">
              <a:buFontTx/>
              <a:buChar char="-"/>
              <a:defRPr sz="1350">
                <a:solidFill>
                  <a:srgbClr val="CBD5E1"/>
                </a:solidFill>
                <a:latin typeface="맑은 고딕"/>
              </a:defRPr>
            </a:pPr>
            <a:r>
              <a:rPr lang="en-US" altLang="ko-KR" b="1" dirty="0"/>
              <a:t>2. </a:t>
            </a:r>
            <a:r>
              <a:rPr lang="ko-KR" altLang="en-US" b="1" dirty="0"/>
              <a:t>능동형 </a:t>
            </a:r>
            <a:r>
              <a:rPr lang="en-US" altLang="ko-KR" b="1" dirty="0"/>
              <a:t>AI </a:t>
            </a:r>
            <a:r>
              <a:rPr lang="ko-KR" altLang="en-US" b="1" dirty="0"/>
              <a:t>제어 구현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단순한 내부 관찰을 넘어</a:t>
            </a:r>
            <a:r>
              <a:rPr lang="en-US" altLang="ko-KR" dirty="0"/>
              <a:t>, </a:t>
            </a:r>
            <a:r>
              <a:rPr lang="ko-KR" altLang="en-US" dirty="0"/>
              <a:t>추론 과정에서 특정 기하학적 축을 실시간으로 억제</a:t>
            </a:r>
            <a:r>
              <a:rPr lang="en-US" altLang="ko-KR" dirty="0"/>
              <a:t>·</a:t>
            </a:r>
            <a:r>
              <a:rPr lang="ko-KR" altLang="en-US" dirty="0"/>
              <a:t>조작함으로써 </a:t>
            </a:r>
            <a:r>
              <a:rPr lang="ko-KR" altLang="en-US" dirty="0" err="1"/>
              <a:t>재학습</a:t>
            </a:r>
            <a:r>
              <a:rPr lang="ko-KR" altLang="en-US" dirty="0"/>
              <a:t> 없이도 </a:t>
            </a:r>
            <a:r>
              <a:rPr lang="en-US" altLang="ko-KR" dirty="0"/>
              <a:t>AI</a:t>
            </a:r>
            <a:r>
              <a:rPr lang="ko-KR" altLang="en-US" dirty="0"/>
              <a:t>의 출력을 원천 통제하는 기술을 개발할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627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1272</Words>
  <Application>Microsoft Office PowerPoint</Application>
  <PresentationFormat>와이드스크린</PresentationFormat>
  <Paragraphs>434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122</cp:revision>
  <dcterms:created xsi:type="dcterms:W3CDTF">2013-01-27T09:14:16Z</dcterms:created>
  <dcterms:modified xsi:type="dcterms:W3CDTF">2026-07-08T12:39:55Z</dcterms:modified>
  <cp:category/>
</cp:coreProperties>
</file>