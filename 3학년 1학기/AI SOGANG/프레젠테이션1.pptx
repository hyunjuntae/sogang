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58" r:id="rId5"/>
    <p:sldId id="259" r:id="rId6"/>
    <p:sldId id="263" r:id="rId7"/>
    <p:sldId id="264" r:id="rId8"/>
    <p:sldId id="265" r:id="rId9"/>
    <p:sldId id="270" r:id="rId10"/>
    <p:sldId id="269" r:id="rId11"/>
    <p:sldId id="272" r:id="rId12"/>
    <p:sldId id="267" r:id="rId13"/>
    <p:sldId id="26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F69DA-4491-4DB4-98D4-1A1F18E7C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AE6EC2-2E19-4ED6-8618-354A20091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7EB96-9669-46B7-8CC0-CE9B4A81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7EC81-EC36-4F15-98A9-32437F7E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92A51-D1E4-43E4-AEA7-AFBCCB32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79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32F99-9B9D-4662-8A83-7F407DEA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C06A46-086D-4CA3-BEA0-37D4ED89E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5CDFE0-A4F0-45B4-BDA5-6EC42407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0B9580-DDD3-4325-9B55-FC224859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2FC7F-41D7-4F4D-8CF2-6CC9D597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59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8E44C-6546-4CD1-8834-68D2A1EC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3A7B8F-10FB-4CD3-B642-22EB4BCC2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F088E2-4725-4F94-8734-6AF3CFA4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EE57EF-17A5-4F75-A843-E24A04C8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ACB379-D24C-47AF-936F-92E515C5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93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C6722-842A-4EE2-827E-67487ED6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95A82-98C2-4A58-A58C-C6A9ACBFB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BEF556-390F-419C-95F7-979BE8D86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642761-898C-4B5B-B16D-D0311EAF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4161FF-0E88-4604-A4AA-F7686DA9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A23868-27DF-4634-815F-87EF32F3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06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9AD99-039C-44AD-AE0B-491A43A9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6FA848-5A9C-4F5C-BF2E-31C59FB72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92FD57-EC4E-401F-AD3C-5860A7451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BEE51A-CED2-4672-86BE-EB31BC14A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97D681-70CD-447E-896D-F902B1104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2D1764-FBD9-40FD-989E-A463D4B1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94999B-FF4D-4AC1-9CB7-6933A99E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238FEC-ED5D-4AB2-9C9E-60EF5B13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80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77680-AA97-4B5B-B70F-67F0CC3E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B2647C-696E-4B93-96E3-BE9B0256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E7199F-DFCB-480B-99A0-E585C497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37BBE0-95A8-4EAF-9608-0A03B486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54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8AC92B-232B-421C-A2D0-3B5B098A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23083B-3CC4-4904-A72C-172A8C12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44351-2404-41B8-8A8A-5E0D73EC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81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62633-9D28-406F-95E1-5F2F1102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17D3F3-0C28-4CBF-8151-60E62B107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106ACD-FFAF-42C6-93F7-E5A1F0DC3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7DC1D4-E2EA-457D-B8B1-850070EE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4CE3D6-59E7-4BD9-AFDC-972F2295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F68D34-8C98-4029-A9DC-CD7CD29EB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96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546A2-5E1C-492C-BCFF-B81391E5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217C56F-9095-4BBE-AA43-25A452C17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6C07D2-B354-47BC-9D90-855B8B8CD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8BFC85-7C10-4499-882D-D0D701F2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48F90D-806F-4A3B-BE85-EE35B7F0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B29DED-E90D-4538-9635-7FE619EF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93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B4907-BCF5-4977-9EC0-01C182EC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D21F84-CCF2-4B42-8E34-DF99B1453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C67AE-56DC-4E6B-AA34-9A5FD7A2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C158E-7DD4-4CC3-9F4A-94241CEB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1FB2F7-5BC9-4DA7-A6DB-6C2FDC2C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06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B268E7-E644-44ED-9281-1BE3F6C93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A21C43-DC39-423B-B55D-5757D2C21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B6D33-F94F-4FF0-8FE5-ED368FB5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D7E9B3-16D3-45F9-B4C0-291833DA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385B87-095D-44BC-91BF-B1DB54CA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87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BA3A0D-ADFC-45B3-B79E-0099EA46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0ED497-DF71-4926-B950-54C25218E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CF359-2E1D-4834-A8B6-7036F554D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CF53D-B648-4A02-8A78-98B584AD1DAE}" type="datetimeFigureOut">
              <a:rPr lang="ko-KR" altLang="en-US" smtClean="0"/>
              <a:t>2026-07-08(Wednesday)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53FD5-E30A-4C52-B26C-2B7910EB0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81B800-F9DF-4ED2-88A7-B9148E34A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6C8AD-A6F5-4C07-AAF9-A32B949954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7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D7C85-8CE8-48C5-9187-CF0A867F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XAI</a:t>
            </a:r>
            <a:r>
              <a:rPr lang="en-US" altLang="ko-KR" dirty="0"/>
              <a:t> </a:t>
            </a:r>
            <a:r>
              <a:rPr lang="ko-KR" altLang="en-US" dirty="0"/>
              <a:t>기법의 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A4202D-AAB4-43A0-8CDD-D8420D36E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2000" dirty="0" err="1"/>
              <a:t>XAI</a:t>
            </a:r>
            <a:r>
              <a:rPr lang="ko-KR" altLang="en-US" sz="2000" dirty="0"/>
              <a:t> 기법들은 개별 단어의 기여도 순위만 사후적으로 매길 뿐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모델 내부의 고차원</a:t>
            </a:r>
            <a:r>
              <a:rPr lang="en-US" altLang="ko-KR" sz="2000" dirty="0"/>
              <a:t> </a:t>
            </a:r>
            <a:r>
              <a:rPr lang="ko-KR" altLang="en-US" sz="2000" dirty="0"/>
              <a:t>공간에서 </a:t>
            </a:r>
            <a:r>
              <a:rPr lang="en-US" altLang="ko-KR" sz="2000" dirty="0"/>
              <a:t>'</a:t>
            </a:r>
            <a:r>
              <a:rPr lang="ko-KR" altLang="en-US" sz="2000" dirty="0"/>
              <a:t>감정</a:t>
            </a:r>
            <a:r>
              <a:rPr lang="en-US" altLang="ko-KR" sz="2000" dirty="0"/>
              <a:t>'</a:t>
            </a:r>
            <a:r>
              <a:rPr lang="ko-KR" altLang="en-US" sz="2000" dirty="0"/>
              <a:t>이라는 추상적인 개념이 </a:t>
            </a:r>
            <a:r>
              <a:rPr lang="ko-KR" altLang="en-US" sz="2000" u="sng" dirty="0"/>
              <a:t>실제 어떤 기하학적 경로로 </a:t>
            </a:r>
            <a:r>
              <a:rPr lang="ko-KR" altLang="en-US" sz="2000" u="sng" dirty="0" err="1"/>
              <a:t>연산되는지</a:t>
            </a:r>
            <a:r>
              <a:rPr lang="ko-KR" altLang="en-US" sz="2000" dirty="0" err="1"/>
              <a:t>는</a:t>
            </a:r>
            <a:r>
              <a:rPr lang="ko-KR" altLang="en-US" sz="2000" dirty="0"/>
              <a:t> 설명하지 못함</a:t>
            </a:r>
            <a:r>
              <a:rPr lang="en-US" altLang="ko-KR" sz="2000" dirty="0"/>
              <a:t>.</a:t>
            </a:r>
          </a:p>
          <a:p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 Sentiment Direction </a:t>
            </a:r>
            <a:r>
              <a:rPr lang="ko-KR" altLang="en-US" sz="2000" dirty="0">
                <a:sym typeface="Wingdings" panose="05000000000000000000" pitchFamily="2" charset="2"/>
              </a:rPr>
              <a:t>분석 실험을 통해</a:t>
            </a:r>
            <a:r>
              <a:rPr lang="en-US" altLang="ko-KR" sz="2000" dirty="0"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ym typeface="Wingdings" panose="05000000000000000000" pitchFamily="2" charset="2"/>
              </a:rPr>
              <a:t>모델 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7227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7617D-3545-4F9C-BB2A-5487A426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Sentiment</a:t>
            </a:r>
            <a:r>
              <a:rPr lang="ko-KR" altLang="en-US" dirty="0"/>
              <a:t> </a:t>
            </a:r>
            <a:r>
              <a:rPr lang="en-US" altLang="ko-KR" dirty="0"/>
              <a:t>Direction </a:t>
            </a:r>
            <a:r>
              <a:rPr lang="ko-KR" altLang="en-US" dirty="0"/>
              <a:t>실험 핵심 질문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103492-A34B-4CB4-9C48-8E095B6B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모델 내부에 긍정과 부정을 </a:t>
            </a:r>
            <a:r>
              <a:rPr lang="ko-KR" altLang="en-US" dirty="0" err="1"/>
              <a:t>구분짓는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‘</a:t>
            </a:r>
            <a:r>
              <a:rPr lang="ko-KR" altLang="en-US" dirty="0"/>
              <a:t>감정 벡터</a:t>
            </a:r>
            <a:r>
              <a:rPr lang="en-US" altLang="ko-KR" dirty="0"/>
              <a:t>’</a:t>
            </a:r>
            <a:r>
              <a:rPr lang="ko-KR" altLang="en-US" dirty="0"/>
              <a:t>가 존재할까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만약 그런 벡터가 존재한다면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en-US" altLang="ko-KR" dirty="0" err="1"/>
              <a:t>XAI</a:t>
            </a:r>
            <a:r>
              <a:rPr lang="ko-KR" altLang="en-US" dirty="0"/>
              <a:t>에서 중요하다고 판단했던 단어를 지운다면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hidden state</a:t>
            </a:r>
            <a:r>
              <a:rPr lang="ko-KR" altLang="en-US" dirty="0"/>
              <a:t>의 변화가</a:t>
            </a:r>
            <a:r>
              <a:rPr lang="en-US" altLang="ko-KR" dirty="0"/>
              <a:t> </a:t>
            </a:r>
            <a:r>
              <a:rPr lang="ko-KR" altLang="en-US" dirty="0"/>
              <a:t>감정 벡터의 방향으로 일어날까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88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BDA6F-5239-4B69-BD7B-4A247BC7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796853-485B-454D-853A-18829842CD59}"/>
              </a:ext>
            </a:extLst>
          </p:cNvPr>
          <p:cNvSpPr/>
          <p:nvPr/>
        </p:nvSpPr>
        <p:spPr>
          <a:xfrm>
            <a:off x="192947" y="1825305"/>
            <a:ext cx="3786028" cy="8670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문장들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C9EF16-AB1E-4296-AC4C-966ED343B26F}"/>
              </a:ext>
            </a:extLst>
          </p:cNvPr>
          <p:cNvSpPr/>
          <p:nvPr/>
        </p:nvSpPr>
        <p:spPr>
          <a:xfrm>
            <a:off x="6050076" y="1820411"/>
            <a:ext cx="3786028" cy="972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토큰화된</a:t>
            </a:r>
            <a:r>
              <a:rPr lang="ko-KR" altLang="en-US" dirty="0"/>
              <a:t> 문장들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D5818C5-629D-4E5D-84BF-311D81740458}"/>
              </a:ext>
            </a:extLst>
          </p:cNvPr>
          <p:cNvSpPr/>
          <p:nvPr/>
        </p:nvSpPr>
        <p:spPr>
          <a:xfrm>
            <a:off x="4745999" y="2068611"/>
            <a:ext cx="1144222" cy="3706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82BC29-EE53-4915-8B58-DCD37D016158}"/>
              </a:ext>
            </a:extLst>
          </p:cNvPr>
          <p:cNvSpPr/>
          <p:nvPr/>
        </p:nvSpPr>
        <p:spPr>
          <a:xfrm>
            <a:off x="6050076" y="1820412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13C9DC-4051-454D-8BCE-D3ED060E53D6}"/>
              </a:ext>
            </a:extLst>
          </p:cNvPr>
          <p:cNvSpPr/>
          <p:nvPr/>
        </p:nvSpPr>
        <p:spPr>
          <a:xfrm>
            <a:off x="6050076" y="2064198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3D5324-DF40-4553-B993-381CDD171577}"/>
              </a:ext>
            </a:extLst>
          </p:cNvPr>
          <p:cNvSpPr/>
          <p:nvPr/>
        </p:nvSpPr>
        <p:spPr>
          <a:xfrm>
            <a:off x="6050076" y="2307985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EC684E-C406-441B-96AF-454BAC07A5C2}"/>
              </a:ext>
            </a:extLst>
          </p:cNvPr>
          <p:cNvSpPr/>
          <p:nvPr/>
        </p:nvSpPr>
        <p:spPr>
          <a:xfrm>
            <a:off x="6050076" y="2549566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55BD8F-8B88-45E4-96C7-F1BC3E556562}"/>
              </a:ext>
            </a:extLst>
          </p:cNvPr>
          <p:cNvSpPr/>
          <p:nvPr/>
        </p:nvSpPr>
        <p:spPr>
          <a:xfrm>
            <a:off x="1396065" y="3294644"/>
            <a:ext cx="134614" cy="1935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41CF69-732F-4CA3-9E8E-AB5A5ED2A101}"/>
              </a:ext>
            </a:extLst>
          </p:cNvPr>
          <p:cNvSpPr/>
          <p:nvPr/>
        </p:nvSpPr>
        <p:spPr>
          <a:xfrm>
            <a:off x="1673706" y="3294644"/>
            <a:ext cx="134614" cy="1935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04FE48-C5D1-4D34-AB4E-DBC859EC5225}"/>
              </a:ext>
            </a:extLst>
          </p:cNvPr>
          <p:cNvSpPr/>
          <p:nvPr/>
        </p:nvSpPr>
        <p:spPr>
          <a:xfrm>
            <a:off x="1951346" y="3294644"/>
            <a:ext cx="134614" cy="1935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FF0A24F-5277-4211-92A7-747A3567388F}"/>
              </a:ext>
            </a:extLst>
          </p:cNvPr>
          <p:cNvSpPr/>
          <p:nvPr/>
        </p:nvSpPr>
        <p:spPr>
          <a:xfrm>
            <a:off x="2388844" y="4262622"/>
            <a:ext cx="134614" cy="1125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0400932-3C12-4369-A43C-8305A2B06794}"/>
              </a:ext>
            </a:extLst>
          </p:cNvPr>
          <p:cNvSpPr/>
          <p:nvPr/>
        </p:nvSpPr>
        <p:spPr>
          <a:xfrm>
            <a:off x="2683313" y="4262621"/>
            <a:ext cx="134614" cy="1125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3D08199-6366-484A-B940-5D9AC87C88FC}"/>
              </a:ext>
            </a:extLst>
          </p:cNvPr>
          <p:cNvSpPr/>
          <p:nvPr/>
        </p:nvSpPr>
        <p:spPr>
          <a:xfrm>
            <a:off x="2977782" y="4262621"/>
            <a:ext cx="134614" cy="1125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DFA68A-BE35-4455-A9C5-E69100ADE363}"/>
              </a:ext>
            </a:extLst>
          </p:cNvPr>
          <p:cNvSpPr/>
          <p:nvPr/>
        </p:nvSpPr>
        <p:spPr>
          <a:xfrm>
            <a:off x="4611384" y="3294644"/>
            <a:ext cx="134614" cy="1935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C38017-2D78-45BF-875F-CC4E73627B78}"/>
              </a:ext>
            </a:extLst>
          </p:cNvPr>
          <p:cNvSpPr/>
          <p:nvPr/>
        </p:nvSpPr>
        <p:spPr>
          <a:xfrm>
            <a:off x="4889026" y="3294644"/>
            <a:ext cx="134614" cy="1935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EAFDF3-04BC-4908-BB88-0BA7325FE664}"/>
              </a:ext>
            </a:extLst>
          </p:cNvPr>
          <p:cNvSpPr/>
          <p:nvPr/>
        </p:nvSpPr>
        <p:spPr>
          <a:xfrm>
            <a:off x="5166666" y="3294644"/>
            <a:ext cx="134614" cy="1935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C8029B0-AB70-423A-8686-1C203AF0124D}"/>
              </a:ext>
            </a:extLst>
          </p:cNvPr>
          <p:cNvSpPr/>
          <p:nvPr/>
        </p:nvSpPr>
        <p:spPr>
          <a:xfrm>
            <a:off x="3255422" y="3294644"/>
            <a:ext cx="134614" cy="1935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E7213-9D1B-4A43-BF75-8F5456CD0265}"/>
              </a:ext>
            </a:extLst>
          </p:cNvPr>
          <p:cNvSpPr/>
          <p:nvPr/>
        </p:nvSpPr>
        <p:spPr>
          <a:xfrm>
            <a:off x="3638934" y="4262622"/>
            <a:ext cx="134614" cy="1125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AFCF4ED-E590-41C3-B95F-299C79B06EC0}"/>
              </a:ext>
            </a:extLst>
          </p:cNvPr>
          <p:cNvSpPr/>
          <p:nvPr/>
        </p:nvSpPr>
        <p:spPr>
          <a:xfrm>
            <a:off x="3933403" y="4262621"/>
            <a:ext cx="134614" cy="1125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96B6C72-6598-44DA-9ED1-3E3766250F6B}"/>
              </a:ext>
            </a:extLst>
          </p:cNvPr>
          <p:cNvSpPr/>
          <p:nvPr/>
        </p:nvSpPr>
        <p:spPr>
          <a:xfrm>
            <a:off x="4227872" y="4262621"/>
            <a:ext cx="134614" cy="1125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A9AF05D-22E8-4AC2-A9A2-4A66D2D049A9}"/>
              </a:ext>
            </a:extLst>
          </p:cNvPr>
          <p:cNvSpPr/>
          <p:nvPr/>
        </p:nvSpPr>
        <p:spPr>
          <a:xfrm rot="3225062">
            <a:off x="3364154" y="5423739"/>
            <a:ext cx="501912" cy="2573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A94A0A-0F65-4465-B2E5-53BB39837B0F}"/>
              </a:ext>
            </a:extLst>
          </p:cNvPr>
          <p:cNvSpPr/>
          <p:nvPr/>
        </p:nvSpPr>
        <p:spPr>
          <a:xfrm>
            <a:off x="3978975" y="5692732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0D89BD-22D3-4451-84D8-F67B6C6C27E9}"/>
              </a:ext>
            </a:extLst>
          </p:cNvPr>
          <p:cNvSpPr/>
          <p:nvPr/>
        </p:nvSpPr>
        <p:spPr>
          <a:xfrm>
            <a:off x="3978975" y="5936519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3D6E53-2ED2-4119-8A6A-012B3C380EDB}"/>
              </a:ext>
            </a:extLst>
          </p:cNvPr>
          <p:cNvSpPr/>
          <p:nvPr/>
        </p:nvSpPr>
        <p:spPr>
          <a:xfrm>
            <a:off x="3978975" y="6180305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691EB2-C1E0-4EED-AEA6-C19EF1CA6984}"/>
              </a:ext>
            </a:extLst>
          </p:cNvPr>
          <p:cNvSpPr/>
          <p:nvPr/>
        </p:nvSpPr>
        <p:spPr>
          <a:xfrm>
            <a:off x="3978975" y="6421886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7BD15616-A8B6-475F-91F0-17641325B709}"/>
              </a:ext>
            </a:extLst>
          </p:cNvPr>
          <p:cNvSpPr/>
          <p:nvPr/>
        </p:nvSpPr>
        <p:spPr>
          <a:xfrm rot="20838925">
            <a:off x="5044105" y="5745991"/>
            <a:ext cx="638014" cy="202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A4FE60C-E174-4E36-86D9-312636524348}"/>
              </a:ext>
            </a:extLst>
          </p:cNvPr>
          <p:cNvSpPr/>
          <p:nvPr/>
        </p:nvSpPr>
        <p:spPr>
          <a:xfrm>
            <a:off x="6067165" y="5309331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A3C29C0-C0C2-4ADC-8FD5-E7526D24685E}"/>
              </a:ext>
            </a:extLst>
          </p:cNvPr>
          <p:cNvSpPr/>
          <p:nvPr/>
        </p:nvSpPr>
        <p:spPr>
          <a:xfrm>
            <a:off x="6067165" y="5553117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46C50C6-B22D-4538-901B-6715708E38ED}"/>
              </a:ext>
            </a:extLst>
          </p:cNvPr>
          <p:cNvSpPr/>
          <p:nvPr/>
        </p:nvSpPr>
        <p:spPr>
          <a:xfrm>
            <a:off x="6067165" y="5796904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E1AB2D5-199E-4B47-8643-043395DC3738}"/>
              </a:ext>
            </a:extLst>
          </p:cNvPr>
          <p:cNvSpPr/>
          <p:nvPr/>
        </p:nvSpPr>
        <p:spPr>
          <a:xfrm>
            <a:off x="6067165" y="6038486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125FE05-6C91-4FD1-8BA1-8A910D5C056F}"/>
              </a:ext>
            </a:extLst>
          </p:cNvPr>
          <p:cNvSpPr/>
          <p:nvPr/>
        </p:nvSpPr>
        <p:spPr>
          <a:xfrm>
            <a:off x="7968592" y="5330842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B64265E-325A-4493-941D-A861FDD3ED1C}"/>
              </a:ext>
            </a:extLst>
          </p:cNvPr>
          <p:cNvSpPr/>
          <p:nvPr/>
        </p:nvSpPr>
        <p:spPr>
          <a:xfrm>
            <a:off x="7968592" y="5574628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D938977-3D85-45A6-B9DC-7EF267974DDD}"/>
              </a:ext>
            </a:extLst>
          </p:cNvPr>
          <p:cNvSpPr/>
          <p:nvPr/>
        </p:nvSpPr>
        <p:spPr>
          <a:xfrm>
            <a:off x="7968592" y="5818415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4343E-A976-44F0-85CD-425657D939B0}"/>
              </a:ext>
            </a:extLst>
          </p:cNvPr>
          <p:cNvSpPr/>
          <p:nvPr/>
        </p:nvSpPr>
        <p:spPr>
          <a:xfrm>
            <a:off x="7968592" y="6059996"/>
            <a:ext cx="680082" cy="24378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2AC8C1-0D64-421E-895D-B784E31E5211}"/>
              </a:ext>
            </a:extLst>
          </p:cNvPr>
          <p:cNvSpPr txBox="1"/>
          <p:nvPr/>
        </p:nvSpPr>
        <p:spPr>
          <a:xfrm>
            <a:off x="7968592" y="4844906"/>
            <a:ext cx="648212" cy="29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긍정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B9D7BC-AF3E-4E76-BB0D-6C71BB5D7882}"/>
              </a:ext>
            </a:extLst>
          </p:cNvPr>
          <p:cNvSpPr txBox="1"/>
          <p:nvPr/>
        </p:nvSpPr>
        <p:spPr>
          <a:xfrm>
            <a:off x="6099037" y="4844906"/>
            <a:ext cx="648212" cy="29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333D48A-7C02-4107-AB1B-D015859917CC}"/>
              </a:ext>
            </a:extLst>
          </p:cNvPr>
          <p:cNvSpPr/>
          <p:nvPr/>
        </p:nvSpPr>
        <p:spPr>
          <a:xfrm>
            <a:off x="6059018" y="6523853"/>
            <a:ext cx="680082" cy="24378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BF5C8F-B5EC-42BE-9FD8-91054B087F93}"/>
              </a:ext>
            </a:extLst>
          </p:cNvPr>
          <p:cNvSpPr/>
          <p:nvPr/>
        </p:nvSpPr>
        <p:spPr>
          <a:xfrm>
            <a:off x="7968592" y="6523853"/>
            <a:ext cx="680082" cy="2437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FC4E6A-43D5-468C-AF71-DEDA110A1F89}"/>
              </a:ext>
            </a:extLst>
          </p:cNvPr>
          <p:cNvSpPr txBox="1"/>
          <p:nvPr/>
        </p:nvSpPr>
        <p:spPr>
          <a:xfrm>
            <a:off x="7029741" y="6421886"/>
            <a:ext cx="648212" cy="29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D345897-92DB-4FEE-AA81-8804B508F61B}"/>
              </a:ext>
            </a:extLst>
          </p:cNvPr>
          <p:cNvSpPr/>
          <p:nvPr/>
        </p:nvSpPr>
        <p:spPr>
          <a:xfrm>
            <a:off x="11080753" y="5936519"/>
            <a:ext cx="680082" cy="24378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2696EE6-2C76-4D7E-B359-0B8F8D53F93A}"/>
              </a:ext>
            </a:extLst>
          </p:cNvPr>
          <p:cNvSpPr/>
          <p:nvPr/>
        </p:nvSpPr>
        <p:spPr>
          <a:xfrm>
            <a:off x="9736542" y="5936519"/>
            <a:ext cx="680082" cy="2437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CLS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A8FE60B-1759-4FC9-AC4D-3EE9E45728FB}"/>
              </a:ext>
            </a:extLst>
          </p:cNvPr>
          <p:cNvSpPr/>
          <p:nvPr/>
        </p:nvSpPr>
        <p:spPr>
          <a:xfrm>
            <a:off x="10618281" y="6038556"/>
            <a:ext cx="260816" cy="36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CF607094-FBFF-4AA3-AE62-B159DA50A5B7}"/>
              </a:ext>
            </a:extLst>
          </p:cNvPr>
          <p:cNvSpPr/>
          <p:nvPr/>
        </p:nvSpPr>
        <p:spPr>
          <a:xfrm rot="20378682">
            <a:off x="8953807" y="6284188"/>
            <a:ext cx="638014" cy="202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9F528CE9-C5A7-4DD5-A3D3-928DDE4ED310}"/>
              </a:ext>
            </a:extLst>
          </p:cNvPr>
          <p:cNvSpPr/>
          <p:nvPr/>
        </p:nvSpPr>
        <p:spPr>
          <a:xfrm rot="16200000">
            <a:off x="10495981" y="5161508"/>
            <a:ext cx="501912" cy="2573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0F3F95D-2EAB-45E8-84C6-8D8192123D30}"/>
              </a:ext>
            </a:extLst>
          </p:cNvPr>
          <p:cNvSpPr/>
          <p:nvPr/>
        </p:nvSpPr>
        <p:spPr>
          <a:xfrm>
            <a:off x="9987493" y="4546703"/>
            <a:ext cx="1518886" cy="24378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감정 벡터</a:t>
            </a: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A1511139-7C2A-40EE-B03E-52F32D183BE8}"/>
              </a:ext>
            </a:extLst>
          </p:cNvPr>
          <p:cNvSpPr/>
          <p:nvPr/>
        </p:nvSpPr>
        <p:spPr>
          <a:xfrm rot="5400000">
            <a:off x="6224111" y="2869693"/>
            <a:ext cx="412987" cy="259064"/>
          </a:xfrm>
          <a:prstGeom prst="rightArrow">
            <a:avLst>
              <a:gd name="adj1" fmla="val 23842"/>
              <a:gd name="adj2" fmla="val 271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246D1DAB-15D0-4E20-840A-D340FA643B90}"/>
              </a:ext>
            </a:extLst>
          </p:cNvPr>
          <p:cNvSpPr/>
          <p:nvPr/>
        </p:nvSpPr>
        <p:spPr>
          <a:xfrm rot="10800000">
            <a:off x="508275" y="3089234"/>
            <a:ext cx="5881843" cy="213281"/>
          </a:xfrm>
          <a:prstGeom prst="rightArrow">
            <a:avLst>
              <a:gd name="adj1" fmla="val 23842"/>
              <a:gd name="adj2" fmla="val 271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A3D62918-DDBC-4189-9929-ACFA412ED934}"/>
              </a:ext>
            </a:extLst>
          </p:cNvPr>
          <p:cNvSpPr/>
          <p:nvPr/>
        </p:nvSpPr>
        <p:spPr>
          <a:xfrm rot="5400000">
            <a:off x="116190" y="3510069"/>
            <a:ext cx="858838" cy="259064"/>
          </a:xfrm>
          <a:prstGeom prst="rightArrow">
            <a:avLst>
              <a:gd name="adj1" fmla="val 23842"/>
              <a:gd name="adj2" fmla="val 271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B43C1DDD-AC31-48DF-A4A3-DD42FCCE5B57}"/>
              </a:ext>
            </a:extLst>
          </p:cNvPr>
          <p:cNvSpPr/>
          <p:nvPr/>
        </p:nvSpPr>
        <p:spPr>
          <a:xfrm>
            <a:off x="508274" y="3963176"/>
            <a:ext cx="5194310" cy="213281"/>
          </a:xfrm>
          <a:prstGeom prst="rightArrow">
            <a:avLst>
              <a:gd name="adj1" fmla="val 23842"/>
              <a:gd name="adj2" fmla="val 271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F4E74D-AA4F-471E-BB2E-8911F27A1C9E}"/>
              </a:ext>
            </a:extLst>
          </p:cNvPr>
          <p:cNvSpPr txBox="1"/>
          <p:nvPr/>
        </p:nvSpPr>
        <p:spPr>
          <a:xfrm>
            <a:off x="342613" y="5307039"/>
            <a:ext cx="879715" cy="29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레이어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AFF6C2-F1DB-4D40-BA81-1E769064357D}"/>
              </a:ext>
            </a:extLst>
          </p:cNvPr>
          <p:cNvSpPr txBox="1"/>
          <p:nvPr/>
        </p:nvSpPr>
        <p:spPr>
          <a:xfrm>
            <a:off x="1306983" y="5285529"/>
            <a:ext cx="312210" cy="29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230863-BBB4-4AF8-BE4A-E931E0282F4B}"/>
              </a:ext>
            </a:extLst>
          </p:cNvPr>
          <p:cNvSpPr txBox="1"/>
          <p:nvPr/>
        </p:nvSpPr>
        <p:spPr>
          <a:xfrm>
            <a:off x="1583399" y="5283237"/>
            <a:ext cx="312210" cy="29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06D01F-312D-4B02-B72A-8652598CFB6C}"/>
              </a:ext>
            </a:extLst>
          </p:cNvPr>
          <p:cNvSpPr txBox="1"/>
          <p:nvPr/>
        </p:nvSpPr>
        <p:spPr>
          <a:xfrm>
            <a:off x="1895609" y="5280945"/>
            <a:ext cx="312210" cy="291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762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D4BE2-7D30-4A7A-9E28-34C2C2195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F9A892-28F1-4695-BAC8-6B0592519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69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0C02D-2DE9-404A-9AE2-0D26C487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773A03-229C-410E-99EC-81C983C7E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37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58AA3-0DF6-4E92-8AB1-D95CE6DF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FCDD95-C8CB-4B06-BE88-EA814B43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78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7A684-D344-47BD-B3B2-1FF8E13F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C989B2-9061-49F5-BE41-FCCE467A1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84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C1EDA-E346-4E32-8608-3A0A6C05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Sentiment Direction </a:t>
            </a:r>
            <a:r>
              <a:rPr lang="ko-KR" altLang="en-US" dirty="0"/>
              <a:t>실험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42E53-246F-4EB2-AAC5-332507C18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16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7617D-3545-4F9C-BB2A-5487A426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Sentiment</a:t>
            </a:r>
            <a:r>
              <a:rPr lang="ko-KR" altLang="en-US" dirty="0"/>
              <a:t> </a:t>
            </a:r>
            <a:r>
              <a:rPr lang="en-US" altLang="ko-KR" dirty="0"/>
              <a:t>Direction </a:t>
            </a:r>
            <a:r>
              <a:rPr lang="ko-KR" altLang="en-US" dirty="0"/>
              <a:t>실험 핵심 질문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103492-A34B-4CB4-9C48-8E095B6B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1.</a:t>
            </a:r>
            <a:r>
              <a:rPr lang="ko-KR" altLang="en-US" sz="2000" dirty="0"/>
              <a:t> 감정 벡터 존재 여부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/>
              <a:t>모델 내부에 긍정과 부정을 </a:t>
            </a:r>
            <a:r>
              <a:rPr lang="ko-KR" altLang="en-US" sz="2000" dirty="0" err="1"/>
              <a:t>구분짓는</a:t>
            </a:r>
            <a:r>
              <a:rPr lang="en-US" altLang="ko-KR" sz="2000" dirty="0"/>
              <a:t> ‘</a:t>
            </a:r>
            <a:r>
              <a:rPr lang="ko-KR" altLang="en-US" sz="2000" dirty="0"/>
              <a:t>감정 벡터</a:t>
            </a:r>
            <a:r>
              <a:rPr lang="en-US" altLang="ko-KR" sz="2000" dirty="0"/>
              <a:t>’</a:t>
            </a:r>
            <a:r>
              <a:rPr lang="ko-KR" altLang="en-US" sz="2000" dirty="0"/>
              <a:t>가 존재할까</a:t>
            </a:r>
            <a:r>
              <a:rPr lang="en-US" altLang="ko-KR" sz="2000" dirty="0"/>
              <a:t>?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감정 벡터 실제 작동 여부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/>
              <a:t>만약 그런 벡터가 존재한다면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XAI</a:t>
            </a:r>
            <a:r>
              <a:rPr lang="ko-KR" altLang="en-US" sz="2000" dirty="0"/>
              <a:t>에서 중요하다고 판단했던 단어를 지운다면</a:t>
            </a:r>
            <a:r>
              <a:rPr lang="en-US" altLang="ko-KR" sz="2000" dirty="0"/>
              <a:t> hidden state</a:t>
            </a:r>
            <a:r>
              <a:rPr lang="ko-KR" altLang="en-US" sz="2000" dirty="0"/>
              <a:t>의 변화가</a:t>
            </a:r>
            <a:r>
              <a:rPr lang="en-US" altLang="ko-KR" sz="2000" dirty="0"/>
              <a:t> </a:t>
            </a:r>
            <a:r>
              <a:rPr lang="ko-KR" altLang="en-US" sz="2000" dirty="0"/>
              <a:t>감정 벡터의 방향으로 일어날까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5492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C1EDA-E346-4E32-8608-3A0A6C050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감정 벡터 존재 여부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D42E53-246F-4EB2-AAC5-332507C18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/>
              <a:t>H1</a:t>
            </a:r>
            <a:r>
              <a:rPr lang="en-US" altLang="ko-KR" sz="2000" dirty="0"/>
              <a:t>. (</a:t>
            </a:r>
            <a:r>
              <a:rPr lang="ko-KR" altLang="en-US" sz="2000" dirty="0"/>
              <a:t>감정선 존재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ko-KR" altLang="en-US" sz="2000" dirty="0"/>
              <a:t>긍정</a:t>
            </a:r>
            <a:r>
              <a:rPr lang="en-US" altLang="ko-KR" sz="2000" dirty="0"/>
              <a:t>/</a:t>
            </a:r>
            <a:r>
              <a:rPr lang="ko-KR" altLang="en-US" sz="2000" dirty="0"/>
              <a:t>부정을 </a:t>
            </a:r>
            <a:r>
              <a:rPr lang="ko-KR" altLang="en-US" sz="2000" dirty="0" err="1"/>
              <a:t>구분짓는</a:t>
            </a:r>
            <a:r>
              <a:rPr lang="ko-KR" altLang="en-US" sz="2000" dirty="0"/>
              <a:t> 감정 벡터를 찾아낸다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 err="1"/>
              <a:t>H2</a:t>
            </a:r>
            <a:r>
              <a:rPr lang="en-US" altLang="ko-KR" sz="2000" dirty="0"/>
              <a:t>. (</a:t>
            </a:r>
            <a:r>
              <a:rPr lang="ko-KR" altLang="en-US" sz="2000" dirty="0" err="1"/>
              <a:t>분류선</a:t>
            </a:r>
            <a:r>
              <a:rPr lang="ko-KR" altLang="en-US" sz="2000" dirty="0"/>
              <a:t> 정렬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ko-KR" altLang="en-US" sz="2000" dirty="0"/>
              <a:t>감정 벡터가 수학적 최적의 긍정</a:t>
            </a:r>
            <a:r>
              <a:rPr lang="en-US" altLang="ko-KR" sz="2000" dirty="0"/>
              <a:t>/</a:t>
            </a:r>
            <a:r>
              <a:rPr lang="ko-KR" altLang="en-US" sz="2000" dirty="0"/>
              <a:t>부정 분류 기준선과 얼마나 유사한지 확인한다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88798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C1EDA-E346-4E32-8608-3A0A6C050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H1</a:t>
            </a:r>
            <a:r>
              <a:rPr lang="en-US" altLang="ko-KR" dirty="0"/>
              <a:t>, </a:t>
            </a:r>
            <a:r>
              <a:rPr lang="en-US" altLang="ko-KR" dirty="0" err="1"/>
              <a:t>H2</a:t>
            </a:r>
            <a:r>
              <a:rPr lang="en-US" altLang="ko-KR" dirty="0"/>
              <a:t> </a:t>
            </a:r>
            <a:r>
              <a:rPr lang="ko-KR" altLang="en-US" dirty="0"/>
              <a:t>실행 흐름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6C41D8-BD15-4A30-A010-688BE85A36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4" t="3041" r="4637" b="3039"/>
          <a:stretch/>
        </p:blipFill>
        <p:spPr>
          <a:xfrm>
            <a:off x="1912691" y="1392572"/>
            <a:ext cx="2883379" cy="54654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BFB7B8-FD81-477E-A0E8-03456858A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466" y="1320047"/>
            <a:ext cx="4723548" cy="553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8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921E5-ECD7-4A26-9701-276EB5C8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감정 벡터 존재 여부 실험 결과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360168-F5E4-4CA5-A5DD-3BAD18D6B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65232"/>
              </p:ext>
            </p:extLst>
          </p:nvPr>
        </p:nvGraphicFramePr>
        <p:xfrm>
          <a:off x="473978" y="2159326"/>
          <a:ext cx="5486400" cy="4156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레이어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긍정 평균 </a:t>
                      </a:r>
                      <a:r>
                        <a:rPr lang="ko-KR" altLang="en-US" dirty="0" err="1"/>
                        <a:t>투영값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부정 평균 </a:t>
                      </a:r>
                      <a:r>
                        <a:rPr lang="ko-KR" altLang="en-US" dirty="0" err="1"/>
                        <a:t>투영값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lang="ko-KR" altLang="en-US" dirty="0"/>
                        <a:t>차이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정확도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Spearman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Embed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+0.1929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-0.1956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0.3885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61.72%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66.97%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30.28%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+0.0741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-0.0748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0.1489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60.86%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65.91%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28.47%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+0.0975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-0.1093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0.2068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55.90%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62.17%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24.66%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+0.0563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-0.0642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0.1205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56.60%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67.56%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35.55%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+0.0195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-0.0211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0.0405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64.07%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72.24%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47.09%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-0.0112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0.0213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59.06%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66.69%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36.32%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+0.0122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-0.0128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0.0250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72.47%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79.46%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63.13%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상전이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+0.0294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-0.0297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0.0591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83.13%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90.84%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87.90%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+0.1687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-0.1717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0.3404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85.19%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92.38%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90.70%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완성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+0.6933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-0.6987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1.3920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86.21%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94.98%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97.17%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+2.8383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-2.8536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5.6919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86.89%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95.14%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98.08%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+6.4681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-6.4817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12.9499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94.71%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92.92%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+9.4137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-9.4403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18.8539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88.27%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95.15%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/>
                        <a:t>99.08%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7F2645-8B99-42D8-8644-98D89346E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48082"/>
              </p:ext>
            </p:extLst>
          </p:nvPr>
        </p:nvGraphicFramePr>
        <p:xfrm>
          <a:off x="6234698" y="2159326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 err="1"/>
                        <a:t>레이어</a:t>
                      </a:r>
                      <a:endParaRPr dirty="0"/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Cosine Sim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rPr dirty="0"/>
                        <a:t>Embed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63.37%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63.22%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68.83%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39.65%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68.62%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68.63%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74.99%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38.43%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73.52%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73.14%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80.78%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34.81%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Early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76.22%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75.88%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83.68%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40.62%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정렬폭등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76.14%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74.82%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82.97%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85.18%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77.44%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76.66%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84.62%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86.78%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81.87%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81.31%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89.13%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96.77%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정점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85.04%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85.02%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92.43%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98.90%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87.40%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87.42%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85.79%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Primary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88.05%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87.95%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95.11%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82.12%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수축시작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88.42%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88.47%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95.21%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48.03%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Mid-Lat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88.24%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95.21%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CBD5E1"/>
                          </a:solidFill>
                          <a:latin typeface="맑은 고딕"/>
                        </a:defRPr>
                      </a:pPr>
                      <a:r>
                        <a:t>11.29%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918"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출력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88.32%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88.30%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95.26%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dirty="0"/>
                        <a:t>6.71%</a:t>
                      </a:r>
                    </a:p>
                  </a:txBody>
                  <a:tcPr>
                    <a:solidFill>
                      <a:srgbClr val="881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20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C3EAD-22B1-4815-A31E-F1605CD1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2DF3A-BF86-4271-92DD-CA953D865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76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536</Words>
  <Application>Microsoft Office PowerPoint</Application>
  <PresentationFormat>와이드스크린</PresentationFormat>
  <Paragraphs>253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XAI 기법의 한계</vt:lpstr>
      <vt:lpstr>Sentiment Direction 실험 핵심 질문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Sentiment Direction 실험 목적</vt:lpstr>
      <vt:lpstr>Sentiment Direction 실험 핵심 질문</vt:lpstr>
      <vt:lpstr>감정 벡터 존재 여부</vt:lpstr>
      <vt:lpstr>H1, H2 실행 흐름</vt:lpstr>
      <vt:lpstr>감정 벡터 존재 여부 실험 결과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50</cp:revision>
  <dcterms:created xsi:type="dcterms:W3CDTF">2026-07-08T03:36:12Z</dcterms:created>
  <dcterms:modified xsi:type="dcterms:W3CDTF">2026-07-08T11:04:20Z</dcterms:modified>
</cp:coreProperties>
</file>