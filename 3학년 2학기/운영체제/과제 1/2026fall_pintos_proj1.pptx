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51" r:id="rId2"/>
    <p:sldMasterId id="2147483653" r:id="rId3"/>
  </p:sldMasterIdLst>
  <p:notesMasterIdLst>
    <p:notesMasterId r:id="rId99"/>
  </p:notesMasterIdLst>
  <p:handoutMasterIdLst>
    <p:handoutMasterId r:id="rId100"/>
  </p:handoutMasterIdLst>
  <p:sldIdLst>
    <p:sldId id="355" r:id="rId4"/>
    <p:sldId id="257" r:id="rId5"/>
    <p:sldId id="319" r:id="rId6"/>
    <p:sldId id="258" r:id="rId7"/>
    <p:sldId id="357" r:id="rId8"/>
    <p:sldId id="359" r:id="rId9"/>
    <p:sldId id="361" r:id="rId10"/>
    <p:sldId id="259" r:id="rId11"/>
    <p:sldId id="326" r:id="rId12"/>
    <p:sldId id="327" r:id="rId13"/>
    <p:sldId id="261" r:id="rId14"/>
    <p:sldId id="304" r:id="rId15"/>
    <p:sldId id="263" r:id="rId16"/>
    <p:sldId id="264" r:id="rId17"/>
    <p:sldId id="362" r:id="rId18"/>
    <p:sldId id="317" r:id="rId19"/>
    <p:sldId id="332" r:id="rId20"/>
    <p:sldId id="318" r:id="rId21"/>
    <p:sldId id="265" r:id="rId22"/>
    <p:sldId id="268" r:id="rId23"/>
    <p:sldId id="363" r:id="rId24"/>
    <p:sldId id="328" r:id="rId25"/>
    <p:sldId id="364" r:id="rId26"/>
    <p:sldId id="309" r:id="rId27"/>
    <p:sldId id="310" r:id="rId28"/>
    <p:sldId id="312" r:id="rId29"/>
    <p:sldId id="314" r:id="rId30"/>
    <p:sldId id="315" r:id="rId31"/>
    <p:sldId id="341" r:id="rId32"/>
    <p:sldId id="320" r:id="rId33"/>
    <p:sldId id="270" r:id="rId34"/>
    <p:sldId id="333" r:id="rId35"/>
    <p:sldId id="334" r:id="rId36"/>
    <p:sldId id="354" r:id="rId37"/>
    <p:sldId id="271" r:id="rId38"/>
    <p:sldId id="322" r:id="rId39"/>
    <p:sldId id="275" r:id="rId40"/>
    <p:sldId id="276" r:id="rId41"/>
    <p:sldId id="287" r:id="rId42"/>
    <p:sldId id="277" r:id="rId43"/>
    <p:sldId id="335" r:id="rId44"/>
    <p:sldId id="387" r:id="rId45"/>
    <p:sldId id="281" r:id="rId46"/>
    <p:sldId id="349" r:id="rId47"/>
    <p:sldId id="337" r:id="rId48"/>
    <p:sldId id="343" r:id="rId49"/>
    <p:sldId id="345" r:id="rId50"/>
    <p:sldId id="344" r:id="rId51"/>
    <p:sldId id="346" r:id="rId52"/>
    <p:sldId id="340" r:id="rId53"/>
    <p:sldId id="350" r:id="rId54"/>
    <p:sldId id="347" r:id="rId55"/>
    <p:sldId id="338" r:id="rId56"/>
    <p:sldId id="278" r:id="rId57"/>
    <p:sldId id="279" r:id="rId58"/>
    <p:sldId id="280" r:id="rId59"/>
    <p:sldId id="336" r:id="rId60"/>
    <p:sldId id="339" r:id="rId61"/>
    <p:sldId id="323" r:id="rId62"/>
    <p:sldId id="330" r:id="rId63"/>
    <p:sldId id="351" r:id="rId64"/>
    <p:sldId id="316" r:id="rId65"/>
    <p:sldId id="313" r:id="rId66"/>
    <p:sldId id="384" r:id="rId67"/>
    <p:sldId id="385" r:id="rId68"/>
    <p:sldId id="324" r:id="rId69"/>
    <p:sldId id="374" r:id="rId70"/>
    <p:sldId id="375" r:id="rId71"/>
    <p:sldId id="376" r:id="rId72"/>
    <p:sldId id="377" r:id="rId73"/>
    <p:sldId id="378" r:id="rId74"/>
    <p:sldId id="379" r:id="rId75"/>
    <p:sldId id="380" r:id="rId76"/>
    <p:sldId id="381" r:id="rId77"/>
    <p:sldId id="382" r:id="rId78"/>
    <p:sldId id="383" r:id="rId79"/>
    <p:sldId id="273" r:id="rId80"/>
    <p:sldId id="290" r:id="rId81"/>
    <p:sldId id="297" r:id="rId82"/>
    <p:sldId id="298" r:id="rId83"/>
    <p:sldId id="300" r:id="rId84"/>
    <p:sldId id="301" r:id="rId85"/>
    <p:sldId id="386" r:id="rId86"/>
    <p:sldId id="282" r:id="rId87"/>
    <p:sldId id="395" r:id="rId88"/>
    <p:sldId id="283" r:id="rId89"/>
    <p:sldId id="391" r:id="rId90"/>
    <p:sldId id="393" r:id="rId91"/>
    <p:sldId id="390" r:id="rId92"/>
    <p:sldId id="284" r:id="rId93"/>
    <p:sldId id="285" r:id="rId94"/>
    <p:sldId id="286" r:id="rId95"/>
    <p:sldId id="288" r:id="rId96"/>
    <p:sldId id="356" r:id="rId97"/>
    <p:sldId id="358" r:id="rId98"/>
  </p:sldIdLst>
  <p:sldSz cx="12192000" cy="6858000"/>
  <p:notesSz cx="6797675" cy="9926638"/>
  <p:embeddedFontLst>
    <p:embeddedFont>
      <p:font typeface="맑은 고딕" panose="020B0503020000020004" pitchFamily="34" charset="-127"/>
      <p:regular r:id="rId101"/>
      <p:bold r:id="rId102"/>
    </p:embeddedFont>
    <p:embeddedFont>
      <p:font typeface="Cambria Math" panose="02040503050406030204" pitchFamily="18" charset="0"/>
      <p:regular r:id="rId103"/>
    </p:embeddedFont>
    <p:embeddedFont>
      <p:font typeface="Consolas" panose="020B0609020204030204" pitchFamily="49" charset="0"/>
      <p:regular r:id="rId104"/>
      <p:bold r:id="rId105"/>
      <p:italic r:id="rId106"/>
      <p:boldItalic r:id="rId107"/>
    </p:embeddedFont>
    <p:embeddedFont>
      <p:font typeface="Hack" panose="020B0609030202020204" pitchFamily="49" charset="0"/>
      <p:regular r:id="rId108"/>
      <p:bold r:id="rId109"/>
      <p:italic r:id="rId110"/>
      <p:boldItalic r:id="rId111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CE4E55D-3BE3-7944-934B-9512B8C88C64}">
          <p14:sldIdLst>
            <p14:sldId id="355"/>
            <p14:sldId id="257"/>
          </p14:sldIdLst>
        </p14:section>
        <p14:section name="Chapter 1" id="{034DA381-DCB9-E64E-80DE-0D32FA27CFF9}">
          <p14:sldIdLst>
            <p14:sldId id="319"/>
            <p14:sldId id="258"/>
            <p14:sldId id="357"/>
            <p14:sldId id="359"/>
            <p14:sldId id="361"/>
            <p14:sldId id="259"/>
            <p14:sldId id="326"/>
            <p14:sldId id="327"/>
            <p14:sldId id="261"/>
            <p14:sldId id="304"/>
            <p14:sldId id="263"/>
            <p14:sldId id="264"/>
            <p14:sldId id="362"/>
            <p14:sldId id="317"/>
            <p14:sldId id="332"/>
            <p14:sldId id="318"/>
            <p14:sldId id="265"/>
            <p14:sldId id="268"/>
            <p14:sldId id="363"/>
            <p14:sldId id="328"/>
            <p14:sldId id="364"/>
            <p14:sldId id="309"/>
            <p14:sldId id="310"/>
            <p14:sldId id="312"/>
            <p14:sldId id="314"/>
            <p14:sldId id="315"/>
            <p14:sldId id="341"/>
          </p14:sldIdLst>
        </p14:section>
        <p14:section name="Chapter 2" id="{944E9D01-2134-CC48-8DB5-991CA38B128A}">
          <p14:sldIdLst>
            <p14:sldId id="320"/>
            <p14:sldId id="270"/>
            <p14:sldId id="333"/>
            <p14:sldId id="334"/>
            <p14:sldId id="354"/>
            <p14:sldId id="271"/>
            <p14:sldId id="322"/>
            <p14:sldId id="275"/>
            <p14:sldId id="276"/>
            <p14:sldId id="287"/>
            <p14:sldId id="277"/>
            <p14:sldId id="335"/>
            <p14:sldId id="387"/>
            <p14:sldId id="281"/>
            <p14:sldId id="349"/>
            <p14:sldId id="337"/>
            <p14:sldId id="343"/>
            <p14:sldId id="345"/>
            <p14:sldId id="344"/>
            <p14:sldId id="346"/>
            <p14:sldId id="340"/>
            <p14:sldId id="350"/>
            <p14:sldId id="347"/>
            <p14:sldId id="338"/>
            <p14:sldId id="278"/>
            <p14:sldId id="279"/>
            <p14:sldId id="280"/>
            <p14:sldId id="336"/>
            <p14:sldId id="339"/>
            <p14:sldId id="323"/>
            <p14:sldId id="330"/>
            <p14:sldId id="351"/>
            <p14:sldId id="316"/>
            <p14:sldId id="313"/>
            <p14:sldId id="384"/>
            <p14:sldId id="385"/>
            <p14:sldId id="324"/>
            <p14:sldId id="374"/>
            <p14:sldId id="375"/>
            <p14:sldId id="376"/>
            <p14:sldId id="377"/>
            <p14:sldId id="378"/>
            <p14:sldId id="379"/>
            <p14:sldId id="380"/>
            <p14:sldId id="381"/>
            <p14:sldId id="382"/>
            <p14:sldId id="383"/>
          </p14:sldIdLst>
        </p14:section>
        <p14:section name="Chapter 3." id="{836692E7-471E-FB49-937B-CCA2E1E1F7AB}">
          <p14:sldIdLst>
            <p14:sldId id="273"/>
            <p14:sldId id="290"/>
            <p14:sldId id="297"/>
            <p14:sldId id="298"/>
            <p14:sldId id="300"/>
            <p14:sldId id="301"/>
            <p14:sldId id="386"/>
          </p14:sldIdLst>
        </p14:section>
        <p14:section name="Chapter 4" id="{93490998-48FE-D444-9434-A70CE47134E4}">
          <p14:sldIdLst>
            <p14:sldId id="282"/>
            <p14:sldId id="395"/>
            <p14:sldId id="283"/>
            <p14:sldId id="391"/>
            <p14:sldId id="393"/>
            <p14:sldId id="390"/>
          </p14:sldIdLst>
        </p14:section>
        <p14:section name="Chapter 5" id="{A0FEFE6D-2335-D445-9333-D530E4EA4AB3}">
          <p14:sldIdLst>
            <p14:sldId id="284"/>
          </p14:sldIdLst>
        </p14:section>
        <p14:section name="Chapter 6" id="{D6EE67E7-09D0-5D48-A5E6-59A8FD8626D3}">
          <p14:sldIdLst>
            <p14:sldId id="285"/>
            <p14:sldId id="286"/>
            <p14:sldId id="288"/>
            <p14:sldId id="356"/>
            <p14:sldId id="35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32FF"/>
    <a:srgbClr val="1065E7"/>
    <a:srgbClr val="D8BFB6"/>
    <a:srgbClr val="7A81FF"/>
    <a:srgbClr val="A28E6A"/>
    <a:srgbClr val="EEAF97"/>
    <a:srgbClr val="0096FF"/>
    <a:srgbClr val="9E3510"/>
    <a:srgbClr val="F08C6A"/>
    <a:srgbClr val="418A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6208C10-4511-441B-AF0E-AA09D804605A}" v="34" dt="2025-11-05T07:09:19.16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밝은 스타일 2 - 강조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밝은 스타일 1 - 강조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4503" autoAdjust="0"/>
    <p:restoredTop sz="94619"/>
  </p:normalViewPr>
  <p:slideViewPr>
    <p:cSldViewPr snapToGrid="0">
      <p:cViewPr varScale="1">
        <p:scale>
          <a:sx n="60" d="100"/>
          <a:sy n="60" d="100"/>
        </p:scale>
        <p:origin x="208" y="223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2976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79" d="100"/>
          <a:sy n="79" d="100"/>
        </p:scale>
        <p:origin x="3388" y="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117" Type="http://schemas.microsoft.com/office/2015/10/relationships/revisionInfo" Target="revisionInfo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84" Type="http://schemas.openxmlformats.org/officeDocument/2006/relationships/slide" Target="slides/slide81.xml"/><Relationship Id="rId89" Type="http://schemas.openxmlformats.org/officeDocument/2006/relationships/slide" Target="slides/slide86.xml"/><Relationship Id="rId112" Type="http://schemas.openxmlformats.org/officeDocument/2006/relationships/presProps" Target="presProps.xml"/><Relationship Id="rId16" Type="http://schemas.openxmlformats.org/officeDocument/2006/relationships/slide" Target="slides/slide13.xml"/><Relationship Id="rId107" Type="http://schemas.openxmlformats.org/officeDocument/2006/relationships/font" Target="fonts/font7.fntdata"/><Relationship Id="rId11" Type="http://schemas.openxmlformats.org/officeDocument/2006/relationships/slide" Target="slides/slide8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74" Type="http://schemas.openxmlformats.org/officeDocument/2006/relationships/slide" Target="slides/slide71.xml"/><Relationship Id="rId79" Type="http://schemas.openxmlformats.org/officeDocument/2006/relationships/slide" Target="slides/slide76.xml"/><Relationship Id="rId102" Type="http://schemas.openxmlformats.org/officeDocument/2006/relationships/font" Target="fonts/font2.fntdata"/><Relationship Id="rId5" Type="http://schemas.openxmlformats.org/officeDocument/2006/relationships/slide" Target="slides/slide2.xml"/><Relationship Id="rId90" Type="http://schemas.openxmlformats.org/officeDocument/2006/relationships/slide" Target="slides/slide87.xml"/><Relationship Id="rId95" Type="http://schemas.openxmlformats.org/officeDocument/2006/relationships/slide" Target="slides/slide92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113" Type="http://schemas.openxmlformats.org/officeDocument/2006/relationships/viewProps" Target="viewProps.xml"/><Relationship Id="rId80" Type="http://schemas.openxmlformats.org/officeDocument/2006/relationships/slide" Target="slides/slide77.xml"/><Relationship Id="rId85" Type="http://schemas.openxmlformats.org/officeDocument/2006/relationships/slide" Target="slides/slide82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59" Type="http://schemas.openxmlformats.org/officeDocument/2006/relationships/slide" Target="slides/slide56.xml"/><Relationship Id="rId103" Type="http://schemas.openxmlformats.org/officeDocument/2006/relationships/font" Target="fonts/font3.fntdata"/><Relationship Id="rId108" Type="http://schemas.openxmlformats.org/officeDocument/2006/relationships/font" Target="fonts/font8.fntdata"/><Relationship Id="rId54" Type="http://schemas.openxmlformats.org/officeDocument/2006/relationships/slide" Target="slides/slide51.xml"/><Relationship Id="rId70" Type="http://schemas.openxmlformats.org/officeDocument/2006/relationships/slide" Target="slides/slide67.xml"/><Relationship Id="rId75" Type="http://schemas.openxmlformats.org/officeDocument/2006/relationships/slide" Target="slides/slide72.xml"/><Relationship Id="rId91" Type="http://schemas.openxmlformats.org/officeDocument/2006/relationships/slide" Target="slides/slide88.xml"/><Relationship Id="rId96" Type="http://schemas.openxmlformats.org/officeDocument/2006/relationships/slide" Target="slides/slide9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49" Type="http://schemas.openxmlformats.org/officeDocument/2006/relationships/slide" Target="slides/slide46.xml"/><Relationship Id="rId114" Type="http://schemas.openxmlformats.org/officeDocument/2006/relationships/theme" Target="theme/theme1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slide" Target="slides/slide70.xml"/><Relationship Id="rId78" Type="http://schemas.openxmlformats.org/officeDocument/2006/relationships/slide" Target="slides/slide75.xml"/><Relationship Id="rId81" Type="http://schemas.openxmlformats.org/officeDocument/2006/relationships/slide" Target="slides/slide78.xml"/><Relationship Id="rId86" Type="http://schemas.openxmlformats.org/officeDocument/2006/relationships/slide" Target="slides/slide83.xml"/><Relationship Id="rId94" Type="http://schemas.openxmlformats.org/officeDocument/2006/relationships/slide" Target="slides/slide91.xml"/><Relationship Id="rId99" Type="http://schemas.openxmlformats.org/officeDocument/2006/relationships/notesMaster" Target="notesMasters/notesMaster1.xml"/><Relationship Id="rId101" Type="http://schemas.openxmlformats.org/officeDocument/2006/relationships/font" Target="fonts/font1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109" Type="http://schemas.openxmlformats.org/officeDocument/2006/relationships/font" Target="fonts/font9.fntdata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slide" Target="slides/slide73.xml"/><Relationship Id="rId97" Type="http://schemas.openxmlformats.org/officeDocument/2006/relationships/slide" Target="slides/slide94.xml"/><Relationship Id="rId104" Type="http://schemas.openxmlformats.org/officeDocument/2006/relationships/font" Target="fonts/font4.fntdata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92" Type="http://schemas.openxmlformats.org/officeDocument/2006/relationships/slide" Target="slides/slide8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4" Type="http://schemas.openxmlformats.org/officeDocument/2006/relationships/slide" Target="slides/slide21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66" Type="http://schemas.openxmlformats.org/officeDocument/2006/relationships/slide" Target="slides/slide63.xml"/><Relationship Id="rId87" Type="http://schemas.openxmlformats.org/officeDocument/2006/relationships/slide" Target="slides/slide84.xml"/><Relationship Id="rId110" Type="http://schemas.openxmlformats.org/officeDocument/2006/relationships/font" Target="fonts/font10.fntdata"/><Relationship Id="rId115" Type="http://schemas.openxmlformats.org/officeDocument/2006/relationships/tableStyles" Target="tableStyles.xml"/><Relationship Id="rId61" Type="http://schemas.openxmlformats.org/officeDocument/2006/relationships/slide" Target="slides/slide58.xml"/><Relationship Id="rId82" Type="http://schemas.openxmlformats.org/officeDocument/2006/relationships/slide" Target="slides/slide79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56" Type="http://schemas.openxmlformats.org/officeDocument/2006/relationships/slide" Target="slides/slide53.xml"/><Relationship Id="rId77" Type="http://schemas.openxmlformats.org/officeDocument/2006/relationships/slide" Target="slides/slide74.xml"/><Relationship Id="rId100" Type="http://schemas.openxmlformats.org/officeDocument/2006/relationships/handoutMaster" Target="handoutMasters/handoutMaster1.xml"/><Relationship Id="rId105" Type="http://schemas.openxmlformats.org/officeDocument/2006/relationships/font" Target="fonts/font5.fntdata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93" Type="http://schemas.openxmlformats.org/officeDocument/2006/relationships/slide" Target="slides/slide90.xml"/><Relationship Id="rId98" Type="http://schemas.openxmlformats.org/officeDocument/2006/relationships/slide" Target="slides/slide95.xml"/><Relationship Id="rId3" Type="http://schemas.openxmlformats.org/officeDocument/2006/relationships/slideMaster" Target="slideMasters/slideMaster3.xml"/><Relationship Id="rId25" Type="http://schemas.openxmlformats.org/officeDocument/2006/relationships/slide" Target="slides/slide22.xml"/><Relationship Id="rId46" Type="http://schemas.openxmlformats.org/officeDocument/2006/relationships/slide" Target="slides/slide43.xml"/><Relationship Id="rId67" Type="http://schemas.openxmlformats.org/officeDocument/2006/relationships/slide" Target="slides/slide64.xml"/><Relationship Id="rId116" Type="http://schemas.microsoft.com/office/2016/11/relationships/changesInfo" Target="changesInfos/changesInfo1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62" Type="http://schemas.openxmlformats.org/officeDocument/2006/relationships/slide" Target="slides/slide59.xml"/><Relationship Id="rId83" Type="http://schemas.openxmlformats.org/officeDocument/2006/relationships/slide" Target="slides/slide80.xml"/><Relationship Id="rId88" Type="http://schemas.openxmlformats.org/officeDocument/2006/relationships/slide" Target="slides/slide85.xml"/><Relationship Id="rId111" Type="http://schemas.openxmlformats.org/officeDocument/2006/relationships/font" Target="fonts/font11.fntdata"/><Relationship Id="rId15" Type="http://schemas.openxmlformats.org/officeDocument/2006/relationships/slide" Target="slides/slide12.xml"/><Relationship Id="rId36" Type="http://schemas.openxmlformats.org/officeDocument/2006/relationships/slide" Target="slides/slide33.xml"/><Relationship Id="rId57" Type="http://schemas.openxmlformats.org/officeDocument/2006/relationships/slide" Target="slides/slide54.xml"/><Relationship Id="rId106" Type="http://schemas.openxmlformats.org/officeDocument/2006/relationships/font" Target="fonts/font6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성훈 안" userId="da184307f067086e" providerId="LiveId" clId="{FBD7746A-3E45-48D4-A18F-7B391C5DFBEF}"/>
    <pc:docChg chg="addSld modSld modSection">
      <pc:chgData name="성훈 안" userId="da184307f067086e" providerId="LiveId" clId="{FBD7746A-3E45-48D4-A18F-7B391C5DFBEF}" dt="2025-11-05T07:09:19.167" v="40" actId="20577"/>
      <pc:docMkLst>
        <pc:docMk/>
      </pc:docMkLst>
      <pc:sldChg chg="modSp add">
        <pc:chgData name="성훈 안" userId="da184307f067086e" providerId="LiveId" clId="{FBD7746A-3E45-48D4-A18F-7B391C5DFBEF}" dt="2025-11-05T07:09:19.167" v="40" actId="20577"/>
        <pc:sldMkLst>
          <pc:docMk/>
          <pc:sldMk cId="4150589974" sldId="365"/>
        </pc:sldMkLst>
        <pc:spChg chg="mod">
          <ac:chgData name="성훈 안" userId="da184307f067086e" providerId="LiveId" clId="{FBD7746A-3E45-48D4-A18F-7B391C5DFBEF}" dt="2025-11-05T07:09:19.167" v="40" actId="20577"/>
          <ac:spMkLst>
            <pc:docMk/>
            <pc:sldMk cId="4150589974" sldId="365"/>
            <ac:spMk id="3" creationId="{BE1EDB94-0E52-6653-F93B-005C035B2AF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2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0444" y="2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60581E-683C-4D45-B4A3-B2BADCA6341C}" type="datetimeFigureOut">
              <a:rPr lang="ko-KR" altLang="en-US" smtClean="0"/>
              <a:t>2026. 9. 7.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28586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0444" y="9428586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541943-B560-4317-B5CC-C1D9C3581C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069422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A6C406-99C8-4ABD-9E1A-DCB391F0FBA5}" type="datetimeFigureOut">
              <a:rPr lang="ko-KR" altLang="en-US" smtClean="0"/>
              <a:t>2026. 9. 7.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DCEB74-7A4F-484D-B2A9-B3D5231A89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756882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file_write</a:t>
            </a:r>
            <a:r>
              <a:rPr lang="en-US" altLang="ko-KR" dirty="0"/>
              <a:t> should not be performed.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B159E7-2790-4F78-8D56-B17DFDA0432C}" type="slidenum">
              <a:rPr lang="ko-KR" altLang="en-US" smtClean="0"/>
              <a:t>74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25881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7">
            <a:extLst>
              <a:ext uri="{FF2B5EF4-FFF2-40B4-BE49-F238E27FC236}">
                <a16:creationId xmlns:a16="http://schemas.microsoft.com/office/drawing/2014/main" id="{E4B29DF9-1BA3-4536-862C-6B340690D6E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292293" y="4099484"/>
            <a:ext cx="7607415" cy="51495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pPr lvl="0"/>
            <a:r>
              <a:rPr lang="en-US" altLang="ko-KR"/>
              <a:t>Conference Name</a:t>
            </a:r>
            <a:endParaRPr lang="ko-KR" altLang="en-US"/>
          </a:p>
        </p:txBody>
      </p:sp>
      <p:sp>
        <p:nvSpPr>
          <p:cNvPr id="11" name="텍스트 개체 틀 7">
            <a:extLst>
              <a:ext uri="{FF2B5EF4-FFF2-40B4-BE49-F238E27FC236}">
                <a16:creationId xmlns:a16="http://schemas.microsoft.com/office/drawing/2014/main" id="{B57FA5EB-BE34-4A3F-8DDE-B4B12061C14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546337" y="5383953"/>
            <a:ext cx="2706742" cy="51495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pPr lvl="0"/>
            <a:r>
              <a:rPr lang="en-US" altLang="ko-KR"/>
              <a:t>Presenter</a:t>
            </a:r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97B834F1-B50B-49D9-B28F-E10487E59BD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24564" y="2307538"/>
            <a:ext cx="6142873" cy="514954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r>
              <a:rPr lang="en-US" altLang="ko-KR"/>
              <a:t>Title</a:t>
            </a:r>
            <a:endParaRPr lang="ko-KR" altLang="en-US"/>
          </a:p>
        </p:txBody>
      </p:sp>
      <p:sp>
        <p:nvSpPr>
          <p:cNvPr id="14" name="부제목 2">
            <a:extLst>
              <a:ext uri="{FF2B5EF4-FFF2-40B4-BE49-F238E27FC236}">
                <a16:creationId xmlns:a16="http://schemas.microsoft.com/office/drawing/2014/main" id="{F045053E-BC1A-4A13-BA44-3A4557D9873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10000" y="3264782"/>
            <a:ext cx="4572000" cy="42132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/>
              <a:t>Authors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46817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5AB719-145F-4F9C-B55B-A53E54AAA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567" y="373438"/>
            <a:ext cx="10515600" cy="482773"/>
          </a:xfrm>
          <a:prstGeom prst="rect">
            <a:avLst/>
          </a:prstGeom>
        </p:spPr>
        <p:txBody>
          <a:bodyPr/>
          <a:lstStyle>
            <a:lvl1pPr>
              <a:defRPr lang="ko-KR" altLang="en-US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5AC54423-C9AD-4B88-BD41-47BFF96D7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2520"/>
            <a:ext cx="10515600" cy="4951396"/>
          </a:xfrm>
          <a:prstGeom prst="rect">
            <a:avLst/>
          </a:prstGeom>
        </p:spPr>
        <p:txBody>
          <a:bodyPr/>
          <a:lstStyle>
            <a:lvl1pPr latinLnBrk="0" hangingPunct="0">
              <a:defRPr sz="2000"/>
            </a:lvl1pPr>
            <a:lvl2pPr latinLnBrk="0" hangingPunct="0">
              <a:defRPr sz="1800"/>
            </a:lvl2pPr>
            <a:lvl3pPr latinLnBrk="0" hangingPunct="0">
              <a:defRPr sz="1600"/>
            </a:lvl3pPr>
            <a:lvl4pPr latinLnBrk="0" hangingPunct="0">
              <a:defRPr sz="1400"/>
            </a:lvl4pPr>
            <a:lvl5pPr latinLnBrk="0" hangingPunct="0">
              <a:defRPr sz="1400"/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B75827DF-05E3-CC4C-9E8F-C343D162E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2656" y="5991138"/>
            <a:ext cx="446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A305A6-A07C-784C-BBE4-67C27A551C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089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ank_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  <a:prstGeom prst="rect">
            <a:avLst/>
          </a:prstGeom>
        </p:spPr>
        <p:txBody>
          <a:bodyPr anchor="ctr"/>
          <a:lstStyle>
            <a:lvl1pPr algn="ctr">
              <a:defRPr sz="36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0605296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_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43488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0EA475AE-90BE-4717-9A07-08D20891D2D6}"/>
              </a:ext>
            </a:extLst>
          </p:cNvPr>
          <p:cNvCxnSpPr/>
          <p:nvPr userDrawn="1"/>
        </p:nvCxnSpPr>
        <p:spPr>
          <a:xfrm>
            <a:off x="536171" y="6329795"/>
            <a:ext cx="109728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그림 16">
            <a:extLst>
              <a:ext uri="{FF2B5EF4-FFF2-40B4-BE49-F238E27FC236}">
                <a16:creationId xmlns:a16="http://schemas.microsoft.com/office/drawing/2014/main" id="{7D4ED610-F180-4D11-A694-56841178238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6589" y="6396239"/>
            <a:ext cx="1392381" cy="413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7009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F99CB50-1A09-4E52-A514-93EC01E8C15E}"/>
              </a:ext>
            </a:extLst>
          </p:cNvPr>
          <p:cNvCxnSpPr/>
          <p:nvPr userDrawn="1"/>
        </p:nvCxnSpPr>
        <p:spPr>
          <a:xfrm>
            <a:off x="536171" y="929120"/>
            <a:ext cx="109728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7996A5F2-505B-4623-A3B5-9BB08AEB8CDC}"/>
              </a:ext>
            </a:extLst>
          </p:cNvPr>
          <p:cNvCxnSpPr/>
          <p:nvPr userDrawn="1"/>
        </p:nvCxnSpPr>
        <p:spPr>
          <a:xfrm>
            <a:off x="536171" y="6329795"/>
            <a:ext cx="109728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그림 8">
            <a:extLst>
              <a:ext uri="{FF2B5EF4-FFF2-40B4-BE49-F238E27FC236}">
                <a16:creationId xmlns:a16="http://schemas.microsoft.com/office/drawing/2014/main" id="{05A26090-E38B-48AB-AD3D-E65FD6DD22B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6589" y="6396239"/>
            <a:ext cx="1392381" cy="413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6572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4001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" Target="slide3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slide" Target="slide11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wmf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wmf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" Target="slide28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6">
            <a:extLst>
              <a:ext uri="{FF2B5EF4-FFF2-40B4-BE49-F238E27FC236}">
                <a16:creationId xmlns:a16="http://schemas.microsoft.com/office/drawing/2014/main" id="{4582DBF4-EC0C-7F46-8353-7AB29448E3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6265" y="959798"/>
            <a:ext cx="8539471" cy="514954"/>
          </a:xfrm>
        </p:spPr>
        <p:txBody>
          <a:bodyPr/>
          <a:lstStyle/>
          <a:p>
            <a:r>
              <a:rPr lang="en-US" altLang="ko-KR" sz="3600" b="1" dirty="0"/>
              <a:t>Project #1: User Program</a:t>
            </a:r>
            <a:endParaRPr lang="en-US" sz="3600" b="1" dirty="0"/>
          </a:p>
        </p:txBody>
      </p:sp>
      <p:sp>
        <p:nvSpPr>
          <p:cNvPr id="16" name="Subtitle 7">
            <a:extLst>
              <a:ext uri="{FF2B5EF4-FFF2-40B4-BE49-F238E27FC236}">
                <a16:creationId xmlns:a16="http://schemas.microsoft.com/office/drawing/2014/main" id="{73C6FA77-2020-9B6C-DD17-103C4ABADD9D}"/>
              </a:ext>
            </a:extLst>
          </p:cNvPr>
          <p:cNvSpPr>
            <a:spLocks noGrp="1"/>
          </p:cNvSpPr>
          <p:nvPr/>
        </p:nvSpPr>
        <p:spPr>
          <a:xfrm>
            <a:off x="3742116" y="1631275"/>
            <a:ext cx="4572000" cy="421322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[CSE4070]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0959CDC3-F918-9986-1A83-2042827CEA34}"/>
              </a:ext>
            </a:extLst>
          </p:cNvPr>
          <p:cNvSpPr>
            <a:spLocks noGrp="1"/>
          </p:cNvSpPr>
          <p:nvPr/>
        </p:nvSpPr>
        <p:spPr>
          <a:xfrm>
            <a:off x="5477172" y="5396146"/>
            <a:ext cx="1101888" cy="502056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/>
              <a:t>Fall 2026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A617EEC3-DA21-AA58-0752-ABE180C0388B}"/>
              </a:ext>
            </a:extLst>
          </p:cNvPr>
          <p:cNvSpPr>
            <a:spLocks noGrp="1"/>
          </p:cNvSpPr>
          <p:nvPr/>
        </p:nvSpPr>
        <p:spPr>
          <a:xfrm>
            <a:off x="2292293" y="3629056"/>
            <a:ext cx="7471646" cy="1663118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Teaching Assistants</a:t>
            </a:r>
          </a:p>
          <a:p>
            <a:r>
              <a:rPr lang="en-US" altLang="ko-KR" sz="1800" dirty="0"/>
              <a:t>Seong Jang (01), </a:t>
            </a:r>
            <a:r>
              <a:rPr lang="en-US" altLang="ko-KR" sz="1800" dirty="0" err="1"/>
              <a:t>Taewan</a:t>
            </a:r>
            <a:r>
              <a:rPr lang="en-US" altLang="ko-KR" sz="1800" dirty="0"/>
              <a:t> Noh (01)</a:t>
            </a:r>
          </a:p>
          <a:p>
            <a:r>
              <a:rPr lang="en-US" altLang="ko-KR" sz="1800" dirty="0" err="1"/>
              <a:t>Seungjae</a:t>
            </a:r>
            <a:r>
              <a:rPr lang="en-US" altLang="ko-KR" sz="1800" dirty="0"/>
              <a:t> Lee (02), Myoungjoon Kim (02)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5E3C148D-47CA-EBFC-7BD6-EBDA28A4CE6B}"/>
              </a:ext>
            </a:extLst>
          </p:cNvPr>
          <p:cNvSpPr txBox="1">
            <a:spLocks/>
          </p:cNvSpPr>
          <p:nvPr/>
        </p:nvSpPr>
        <p:spPr>
          <a:xfrm>
            <a:off x="2292293" y="2209119"/>
            <a:ext cx="7607415" cy="131454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Instructors</a:t>
            </a:r>
          </a:p>
          <a:p>
            <a:r>
              <a:rPr lang="en-US" altLang="ko-KR" dirty="0"/>
              <a:t>Prof. </a:t>
            </a:r>
            <a:r>
              <a:rPr lang="en-US" altLang="ko-KR" dirty="0" err="1"/>
              <a:t>Youngjae</a:t>
            </a:r>
            <a:r>
              <a:rPr lang="en-US" altLang="ko-KR" dirty="0"/>
              <a:t> Kim (01)</a:t>
            </a:r>
            <a:endParaRPr lang="en-US" dirty="0"/>
          </a:p>
          <a:p>
            <a:r>
              <a:rPr lang="en-US" dirty="0"/>
              <a:t>Prof. </a:t>
            </a:r>
            <a:r>
              <a:rPr lang="en-US" dirty="0" err="1"/>
              <a:t>Sungyong</a:t>
            </a:r>
            <a:r>
              <a:rPr lang="en-US" dirty="0"/>
              <a:t> Park (02)</a:t>
            </a:r>
          </a:p>
        </p:txBody>
      </p:sp>
    </p:spTree>
    <p:extLst>
      <p:ext uri="{BB962C8B-B14F-4D97-AF65-F5344CB8AC3E}">
        <p14:creationId xmlns:p14="http://schemas.microsoft.com/office/powerpoint/2010/main" val="14438556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434268-9701-444C-BBAE-2B4AD4EA7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Contents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4ED3EA-9E58-4B18-8CB7-714D5308C8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altLang="ko-KR" b="1" dirty="0"/>
              <a:t>Prerequisites</a:t>
            </a:r>
          </a:p>
          <a:p>
            <a:pPr lvl="1"/>
            <a:r>
              <a:rPr lang="en-US" altLang="ko-KR" sz="1600" dirty="0"/>
              <a:t>Background</a:t>
            </a:r>
          </a:p>
          <a:p>
            <a:pPr lvl="1"/>
            <a:r>
              <a:rPr lang="en-US" altLang="ko-KR" sz="1600" dirty="0"/>
              <a:t>How User Program Works</a:t>
            </a:r>
          </a:p>
          <a:p>
            <a:pPr lvl="1"/>
            <a:r>
              <a:rPr lang="en-US" altLang="ko-KR" sz="1600" dirty="0"/>
              <a:t>Code Level Flow</a:t>
            </a:r>
          </a:p>
          <a:p>
            <a:pPr lvl="1"/>
            <a:r>
              <a:rPr lang="en-US" altLang="ko-KR" sz="1600" dirty="0"/>
              <a:t>Virtual Memory </a:t>
            </a:r>
          </a:p>
          <a:p>
            <a:pPr lvl="1"/>
            <a:r>
              <a:rPr lang="en-US" altLang="ko-KR" sz="1600" dirty="0"/>
              <a:t>System Calls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b="1" dirty="0"/>
              <a:t>Requirements</a:t>
            </a:r>
            <a:endParaRPr lang="en-US" altLang="ko-KR" dirty="0"/>
          </a:p>
          <a:p>
            <a:pPr lvl="1"/>
            <a:r>
              <a:rPr lang="en-US" altLang="ko-KR" sz="1600" dirty="0"/>
              <a:t>Process Termination Messages</a:t>
            </a:r>
          </a:p>
          <a:p>
            <a:pPr lvl="1"/>
            <a:r>
              <a:rPr lang="en-US" altLang="ko-KR" sz="1600" dirty="0"/>
              <a:t>Argument Passing</a:t>
            </a:r>
          </a:p>
          <a:p>
            <a:pPr lvl="1"/>
            <a:r>
              <a:rPr lang="en-US" altLang="ko-KR" sz="1600" dirty="0"/>
              <a:t>System Calls</a:t>
            </a:r>
          </a:p>
          <a:p>
            <a:pPr lvl="1"/>
            <a:r>
              <a:rPr lang="en-US" altLang="ko-KR" sz="1600" dirty="0"/>
              <a:t>Base File System</a:t>
            </a:r>
          </a:p>
          <a:p>
            <a:pPr lvl="1"/>
            <a:r>
              <a:rPr lang="en-US" altLang="ko-KR" sz="1600" dirty="0"/>
              <a:t>File System Call Implementation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b="1" dirty="0"/>
              <a:t>Suggested Order of Implementation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b="1" dirty="0"/>
              <a:t>Evaluation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b="1" dirty="0"/>
              <a:t>Documentation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b="1" dirty="0"/>
              <a:t>Submission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BFE50B13-C56F-314E-8ECE-9274DC570B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2656" y="5991138"/>
            <a:ext cx="446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A305A6-A07C-784C-BBE4-67C27A551CE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0671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E1D795A-D9EC-FD40-8569-510E8D30B30D}"/>
              </a:ext>
            </a:extLst>
          </p:cNvPr>
          <p:cNvSpPr txBox="1"/>
          <p:nvPr/>
        </p:nvSpPr>
        <p:spPr>
          <a:xfrm>
            <a:off x="4680837" y="3105835"/>
            <a:ext cx="28303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Prerequisites</a:t>
            </a:r>
          </a:p>
        </p:txBody>
      </p:sp>
    </p:spTree>
    <p:extLst>
      <p:ext uri="{BB962C8B-B14F-4D97-AF65-F5344CB8AC3E}">
        <p14:creationId xmlns:p14="http://schemas.microsoft.com/office/powerpoint/2010/main" val="12358748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7A4EEB5-B615-5240-BF24-F47555F28FEC}"/>
              </a:ext>
            </a:extLst>
          </p:cNvPr>
          <p:cNvSpPr/>
          <p:nvPr/>
        </p:nvSpPr>
        <p:spPr>
          <a:xfrm>
            <a:off x="838200" y="1939529"/>
            <a:ext cx="10232967" cy="32961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rgbClr val="00B0F0"/>
                </a:solidFill>
              </a:rPr>
              <a:t>~/pintos/</a:t>
            </a:r>
            <a:r>
              <a:rPr lang="en-US" altLang="ko-KR" dirty="0" err="1">
                <a:solidFill>
                  <a:srgbClr val="00B0F0"/>
                </a:solidFill>
              </a:rPr>
              <a:t>src</a:t>
            </a:r>
            <a:r>
              <a:rPr lang="en-US" altLang="ko-KR" dirty="0">
                <a:solidFill>
                  <a:srgbClr val="00B0F0"/>
                </a:solidFill>
              </a:rPr>
              <a:t>/</a:t>
            </a:r>
            <a:r>
              <a:rPr lang="en-US" altLang="ko-KR" dirty="0" err="1">
                <a:solidFill>
                  <a:srgbClr val="00B0F0"/>
                </a:solidFill>
              </a:rPr>
              <a:t>userprog</a:t>
            </a:r>
            <a:r>
              <a:rPr lang="en-US" altLang="ko-KR" dirty="0">
                <a:solidFill>
                  <a:srgbClr val="00B0F0"/>
                </a:solidFill>
              </a:rPr>
              <a:t> $ </a:t>
            </a:r>
            <a:r>
              <a:rPr lang="en-US" altLang="ko-KR" dirty="0"/>
              <a:t>pintos --</a:t>
            </a:r>
            <a:r>
              <a:rPr lang="en-US" altLang="ko-KR" dirty="0" err="1"/>
              <a:t>filesys</a:t>
            </a:r>
            <a:r>
              <a:rPr lang="en-US" altLang="ko-KR" dirty="0"/>
              <a:t>-size=2 -p ../examples/echo -a echo -- -f -q run 'echo x'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BF72BD1-27AC-824F-8E36-42F508FC9B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349" y="2805141"/>
            <a:ext cx="5329451" cy="2802621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Background</a:t>
            </a:r>
            <a:endParaRPr lang="ko-KR" altLang="en-US" dirty="0"/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3DD40252-21DA-BE47-A766-53C3F9F19D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2656" y="5991138"/>
            <a:ext cx="446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A305A6-A07C-784C-BBE4-67C27A551CE4}" type="slidenum">
              <a:rPr lang="en-US" smtClean="0"/>
              <a:t>4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16E457-1FB2-8C44-992F-22DA6376D579}"/>
              </a:ext>
            </a:extLst>
          </p:cNvPr>
          <p:cNvSpPr txBox="1"/>
          <p:nvPr/>
        </p:nvSpPr>
        <p:spPr>
          <a:xfrm>
            <a:off x="6532993" y="2295940"/>
            <a:ext cx="47141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Do not miss to type "--" (two hyphens!).</a:t>
            </a:r>
          </a:p>
        </p:txBody>
      </p:sp>
      <p:sp>
        <p:nvSpPr>
          <p:cNvPr id="5" name="생각 풍선: 구름 모양 4">
            <a:extLst>
              <a:ext uri="{FF2B5EF4-FFF2-40B4-BE49-F238E27FC236}">
                <a16:creationId xmlns:a16="http://schemas.microsoft.com/office/drawing/2014/main" id="{6D0F686D-D33A-46BB-A9A0-FC43C1175DC6}"/>
              </a:ext>
            </a:extLst>
          </p:cNvPr>
          <p:cNvSpPr/>
          <p:nvPr/>
        </p:nvSpPr>
        <p:spPr>
          <a:xfrm>
            <a:off x="6730809" y="3753852"/>
            <a:ext cx="3740102" cy="1436913"/>
          </a:xfrm>
          <a:prstGeom prst="cloud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 hangingPunct="0"/>
            <a:r>
              <a:rPr lang="en-US" altLang="ko-KR" dirty="0"/>
              <a:t>It seems that the 'echo’ program has been run properly, but...</a:t>
            </a:r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13986EDE-B809-4F8E-A7C1-B26F661301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Pintos is a simple OS which can boot, execute an application, and power off.</a:t>
            </a:r>
          </a:p>
          <a:p>
            <a:r>
              <a:rPr lang="en-US" altLang="ko-KR" dirty="0"/>
              <a:t>Run 'echo' application on Pintos first. </a:t>
            </a:r>
            <a:r>
              <a:rPr lang="en-US" altLang="ko-KR" sz="1800" b="1" dirty="0">
                <a:solidFill>
                  <a:srgbClr val="FF0000"/>
                </a:solidFill>
              </a:rPr>
              <a:t>(</a:t>
            </a:r>
            <a:r>
              <a:rPr lang="en-US" altLang="ko-KR" sz="1800" b="1" u="sng" dirty="0">
                <a:solidFill>
                  <a:srgbClr val="FF0000"/>
                </a:solidFill>
              </a:rPr>
              <a:t>Run 'make' in </a:t>
            </a:r>
            <a:r>
              <a:rPr lang="en-US" altLang="ko-KR" sz="1800" b="1" u="sng" dirty="0" err="1">
                <a:solidFill>
                  <a:srgbClr val="FF0000"/>
                </a:solidFill>
              </a:rPr>
              <a:t>src</a:t>
            </a:r>
            <a:r>
              <a:rPr lang="en-US" altLang="ko-KR" sz="1800" b="1" u="sng" dirty="0">
                <a:solidFill>
                  <a:srgbClr val="FF0000"/>
                </a:solidFill>
              </a:rPr>
              <a:t>/examples and</a:t>
            </a:r>
            <a:r>
              <a:rPr lang="ko-KR" altLang="en-US" sz="1800" b="1" u="sng" dirty="0">
                <a:solidFill>
                  <a:srgbClr val="FF0000"/>
                </a:solidFill>
              </a:rPr>
              <a:t> </a:t>
            </a:r>
            <a:r>
              <a:rPr lang="en-US" altLang="ko-KR" sz="1800" b="1" u="sng" dirty="0" err="1">
                <a:solidFill>
                  <a:srgbClr val="FF0000"/>
                </a:solidFill>
              </a:rPr>
              <a:t>src</a:t>
            </a:r>
            <a:r>
              <a:rPr lang="en-US" altLang="ko-KR" sz="1800" b="1" u="sng" dirty="0">
                <a:solidFill>
                  <a:srgbClr val="FF0000"/>
                </a:solidFill>
              </a:rPr>
              <a:t>/</a:t>
            </a:r>
            <a:r>
              <a:rPr lang="en-US" altLang="ko-KR" sz="1800" b="1" u="sng" dirty="0" err="1">
                <a:solidFill>
                  <a:srgbClr val="FF0000"/>
                </a:solidFill>
              </a:rPr>
              <a:t>userprog</a:t>
            </a:r>
            <a:r>
              <a:rPr lang="en-US" altLang="ko-KR" sz="1800" b="1" dirty="0">
                <a:solidFill>
                  <a:srgbClr val="FF0000"/>
                </a:solidFill>
              </a:rPr>
              <a:t> first)</a:t>
            </a:r>
            <a:endParaRPr lang="en-US" altLang="ko-KR" b="1" dirty="0">
              <a:solidFill>
                <a:srgbClr val="FF0000"/>
              </a:solidFill>
            </a:endParaRP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85253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7A4EEB5-B615-5240-BF24-F47555F28FEC}"/>
              </a:ext>
            </a:extLst>
          </p:cNvPr>
          <p:cNvSpPr/>
          <p:nvPr/>
        </p:nvSpPr>
        <p:spPr>
          <a:xfrm>
            <a:off x="838200" y="1939529"/>
            <a:ext cx="10232967" cy="32961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rgbClr val="00B0F0"/>
                </a:solidFill>
              </a:rPr>
              <a:t>~/pintos/</a:t>
            </a:r>
            <a:r>
              <a:rPr lang="en-US" altLang="ko-KR" dirty="0" err="1">
                <a:solidFill>
                  <a:srgbClr val="00B0F0"/>
                </a:solidFill>
              </a:rPr>
              <a:t>src</a:t>
            </a:r>
            <a:r>
              <a:rPr lang="en-US" altLang="ko-KR" dirty="0">
                <a:solidFill>
                  <a:srgbClr val="00B0F0"/>
                </a:solidFill>
              </a:rPr>
              <a:t>/</a:t>
            </a:r>
            <a:r>
              <a:rPr lang="en-US" altLang="ko-KR" dirty="0" err="1">
                <a:solidFill>
                  <a:srgbClr val="00B0F0"/>
                </a:solidFill>
              </a:rPr>
              <a:t>userprog</a:t>
            </a:r>
            <a:r>
              <a:rPr lang="en-US" altLang="ko-KR" dirty="0">
                <a:solidFill>
                  <a:srgbClr val="00B0F0"/>
                </a:solidFill>
              </a:rPr>
              <a:t> $ </a:t>
            </a:r>
            <a:r>
              <a:rPr lang="en-US" altLang="ko-KR" dirty="0"/>
              <a:t>pintos --</a:t>
            </a:r>
            <a:r>
              <a:rPr lang="en-US" altLang="ko-KR" dirty="0" err="1"/>
              <a:t>filesys</a:t>
            </a:r>
            <a:r>
              <a:rPr lang="en-US" altLang="ko-KR" dirty="0"/>
              <a:t>-size=2 -p ../examples/echo -a echo -- -f -q run 'echo x'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BF72BD1-27AC-824F-8E36-42F508FC9B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349" y="2805141"/>
            <a:ext cx="5329451" cy="2802621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Background</a:t>
            </a:r>
            <a:endParaRPr lang="ko-KR" altLang="en-US" dirty="0"/>
          </a:p>
        </p:txBody>
      </p:sp>
      <p:sp>
        <p:nvSpPr>
          <p:cNvPr id="16" name="내용 개체 틀 10">
            <a:extLst>
              <a:ext uri="{FF2B5EF4-FFF2-40B4-BE49-F238E27FC236}">
                <a16:creationId xmlns:a16="http://schemas.microsoft.com/office/drawing/2014/main" id="{4671F026-5F0F-4B55-80D4-FCBF6C85EB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Pintos is a simple OS which can boot, execute an application, and power off.</a:t>
            </a:r>
          </a:p>
          <a:p>
            <a:r>
              <a:rPr lang="en-US" altLang="ko-KR" dirty="0"/>
              <a:t>Run 'echo' application on Pintos first. </a:t>
            </a:r>
            <a:r>
              <a:rPr lang="en-US" altLang="ko-KR" sz="1800" b="1" dirty="0">
                <a:solidFill>
                  <a:srgbClr val="FF0000"/>
                </a:solidFill>
              </a:rPr>
              <a:t>(</a:t>
            </a:r>
            <a:r>
              <a:rPr lang="en-US" altLang="ko-KR" sz="1800" b="1" u="sng" dirty="0">
                <a:solidFill>
                  <a:srgbClr val="FF0000"/>
                </a:solidFill>
              </a:rPr>
              <a:t>Run 'make' in </a:t>
            </a:r>
            <a:r>
              <a:rPr lang="en-US" altLang="ko-KR" sz="1800" b="1" u="sng" dirty="0" err="1">
                <a:solidFill>
                  <a:srgbClr val="FF0000"/>
                </a:solidFill>
              </a:rPr>
              <a:t>src</a:t>
            </a:r>
            <a:r>
              <a:rPr lang="en-US" altLang="ko-KR" sz="1800" b="1" u="sng" dirty="0">
                <a:solidFill>
                  <a:srgbClr val="FF0000"/>
                </a:solidFill>
              </a:rPr>
              <a:t>/examples and</a:t>
            </a:r>
            <a:r>
              <a:rPr lang="ko-KR" altLang="en-US" sz="1800" b="1" u="sng" dirty="0">
                <a:solidFill>
                  <a:srgbClr val="FF0000"/>
                </a:solidFill>
              </a:rPr>
              <a:t> </a:t>
            </a:r>
            <a:r>
              <a:rPr lang="en-US" altLang="ko-KR" sz="1800" b="1" u="sng" dirty="0" err="1">
                <a:solidFill>
                  <a:srgbClr val="FF0000"/>
                </a:solidFill>
              </a:rPr>
              <a:t>src</a:t>
            </a:r>
            <a:r>
              <a:rPr lang="en-US" altLang="ko-KR" sz="1800" b="1" u="sng" dirty="0">
                <a:solidFill>
                  <a:srgbClr val="FF0000"/>
                </a:solidFill>
              </a:rPr>
              <a:t>/</a:t>
            </a:r>
            <a:r>
              <a:rPr lang="en-US" altLang="ko-KR" sz="1800" b="1" u="sng" dirty="0" err="1">
                <a:solidFill>
                  <a:srgbClr val="FF0000"/>
                </a:solidFill>
              </a:rPr>
              <a:t>userprog</a:t>
            </a:r>
            <a:r>
              <a:rPr lang="en-US" altLang="ko-KR" sz="1800" b="1" dirty="0">
                <a:solidFill>
                  <a:srgbClr val="FF0000"/>
                </a:solidFill>
              </a:rPr>
              <a:t> first)</a:t>
            </a:r>
            <a:endParaRPr lang="en-US" altLang="ko-KR" b="1" dirty="0">
              <a:solidFill>
                <a:srgbClr val="FF0000"/>
              </a:solidFill>
            </a:endParaRPr>
          </a:p>
          <a:p>
            <a:endParaRPr lang="ko-KR" altLang="en-US" dirty="0"/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3DD40252-21DA-BE47-A766-53C3F9F19D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A305A6-A07C-784C-BBE4-67C27A551CE4}" type="slidenum">
              <a:rPr lang="en-US" smtClean="0"/>
              <a:t>5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16E457-1FB2-8C44-992F-22DA6376D579}"/>
              </a:ext>
            </a:extLst>
          </p:cNvPr>
          <p:cNvSpPr txBox="1"/>
          <p:nvPr/>
        </p:nvSpPr>
        <p:spPr>
          <a:xfrm>
            <a:off x="6532993" y="2295940"/>
            <a:ext cx="46997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Do not miss to type "--" (two hyphens!).</a:t>
            </a:r>
          </a:p>
        </p:txBody>
      </p:sp>
      <p:cxnSp>
        <p:nvCxnSpPr>
          <p:cNvPr id="11" name="Straight Arrow Connector 7">
            <a:extLst>
              <a:ext uri="{FF2B5EF4-FFF2-40B4-BE49-F238E27FC236}">
                <a16:creationId xmlns:a16="http://schemas.microsoft.com/office/drawing/2014/main" id="{EF91513F-632D-4F72-BA5B-DD41C3E09253}"/>
              </a:ext>
            </a:extLst>
          </p:cNvPr>
          <p:cNvCxnSpPr>
            <a:cxnSpLocks/>
          </p:cNvCxnSpPr>
          <p:nvPr/>
        </p:nvCxnSpPr>
        <p:spPr>
          <a:xfrm>
            <a:off x="3648074" y="4034141"/>
            <a:ext cx="3209926" cy="0"/>
          </a:xfrm>
          <a:prstGeom prst="straightConnector1">
            <a:avLst/>
          </a:prstGeom>
          <a:ln w="15875">
            <a:solidFill>
              <a:srgbClr val="C0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5A8C7EE-1C72-4F96-BACA-EAB282DF0D3F}"/>
              </a:ext>
            </a:extLst>
          </p:cNvPr>
          <p:cNvSpPr txBox="1"/>
          <p:nvPr/>
        </p:nvSpPr>
        <p:spPr>
          <a:xfrm>
            <a:off x="6858000" y="3712436"/>
            <a:ext cx="40662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can not see the result of 'echo x'</a:t>
            </a:r>
          </a:p>
          <a:p>
            <a:r>
              <a:rPr lang="en-US" dirty="0"/>
              <a:t>because of </a:t>
            </a:r>
            <a:r>
              <a:rPr lang="en-US" b="1" dirty="0"/>
              <a:t>lack of implementation.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B2C7E6E-74EE-4754-BF87-4FC041F2460C}"/>
              </a:ext>
            </a:extLst>
          </p:cNvPr>
          <p:cNvGrpSpPr/>
          <p:nvPr/>
        </p:nvGrpSpPr>
        <p:grpSpPr>
          <a:xfrm>
            <a:off x="7001838" y="4734978"/>
            <a:ext cx="3615647" cy="955021"/>
            <a:chOff x="7001838" y="4975125"/>
            <a:chExt cx="3615647" cy="955021"/>
          </a:xfrm>
        </p:grpSpPr>
        <p:pic>
          <p:nvPicPr>
            <p:cNvPr id="14" name="Picture 10">
              <a:extLst>
                <a:ext uri="{FF2B5EF4-FFF2-40B4-BE49-F238E27FC236}">
                  <a16:creationId xmlns:a16="http://schemas.microsoft.com/office/drawing/2014/main" id="{5083EEF3-EC44-4727-A808-44835E8A1D6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01838" y="4975125"/>
              <a:ext cx="3615647" cy="573212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BB36D35-852B-458B-B3F4-BFE3E44FD429}"/>
                </a:ext>
              </a:extLst>
            </p:cNvPr>
            <p:cNvSpPr txBox="1"/>
            <p:nvPr/>
          </p:nvSpPr>
          <p:spPr>
            <a:xfrm>
              <a:off x="7216853" y="5560814"/>
              <a:ext cx="32369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We should be able to see 'x’.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60855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95D5A3-48A2-449F-8F96-CD962660B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Background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D1CA420-98C9-4309-AB41-AB5EDFEDB1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Why can't we see the result of 'echo' command?</a:t>
            </a:r>
          </a:p>
          <a:p>
            <a:endParaRPr lang="en-US" altLang="ko-KR" dirty="0"/>
          </a:p>
          <a:p>
            <a:r>
              <a:rPr lang="en-US" altLang="ko-KR" dirty="0"/>
              <a:t>It is because, in current Pintos, </a:t>
            </a:r>
            <a:r>
              <a:rPr lang="en-US" altLang="ko-KR" b="1" dirty="0">
                <a:solidFill>
                  <a:srgbClr val="1065E7"/>
                </a:solidFill>
              </a:rPr>
              <a:t>system call, system call handler, argument passing, and user stack</a:t>
            </a:r>
            <a:r>
              <a:rPr lang="en-US" altLang="ko-KR" dirty="0"/>
              <a:t> have not been implemented. </a:t>
            </a:r>
          </a:p>
          <a:p>
            <a:endParaRPr lang="en-US" altLang="ko-KR" dirty="0"/>
          </a:p>
          <a:p>
            <a:r>
              <a:rPr lang="en-US" altLang="ko-KR" dirty="0"/>
              <a:t>Basically, current Pintos does not implement many OS functionalities, including those above.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8FDE2E2-3710-4F13-8A7B-72D020F4FC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0A305A6-A07C-784C-BBE4-67C27A551CE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0716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460CA4-4F57-45E2-816F-DFDAC5365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Background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77E5E1-69B0-4DF3-8DAA-AB9B377FDC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In this project, students will have to make the Pintos </a:t>
            </a:r>
            <a:r>
              <a:rPr lang="en-US" altLang="ko-KR" b="1" dirty="0">
                <a:solidFill>
                  <a:srgbClr val="1065E7"/>
                </a:solidFill>
              </a:rPr>
              <a:t>be able to execute user programs properly.</a:t>
            </a:r>
          </a:p>
          <a:p>
            <a:r>
              <a:rPr lang="en-US" altLang="ko-KR" dirty="0"/>
              <a:t>Students should work in the following directories and modify the following files: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4457E57-5BEF-48C4-A926-A9223FCA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0A305A6-A07C-784C-BBE4-67C27A551CE4}" type="slidenum">
              <a:rPr lang="en-US" smtClean="0"/>
              <a:t>7</a:t>
            </a:fld>
            <a:endParaRPr lang="en-US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CFC49D29-0568-4901-83D4-28668977C1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4490477"/>
              </p:ext>
            </p:extLst>
          </p:nvPr>
        </p:nvGraphicFramePr>
        <p:xfrm>
          <a:off x="957829" y="2604419"/>
          <a:ext cx="10104827" cy="3289309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022071">
                  <a:extLst>
                    <a:ext uri="{9D8B030D-6E8A-4147-A177-3AD203B41FA5}">
                      <a16:colId xmlns:a16="http://schemas.microsoft.com/office/drawing/2014/main" val="3716314643"/>
                    </a:ext>
                  </a:extLst>
                </a:gridCol>
                <a:gridCol w="4041378">
                  <a:extLst>
                    <a:ext uri="{9D8B030D-6E8A-4147-A177-3AD203B41FA5}">
                      <a16:colId xmlns:a16="http://schemas.microsoft.com/office/drawing/2014/main" val="1302387373"/>
                    </a:ext>
                  </a:extLst>
                </a:gridCol>
                <a:gridCol w="4041378">
                  <a:extLst>
                    <a:ext uri="{9D8B030D-6E8A-4147-A177-3AD203B41FA5}">
                      <a16:colId xmlns:a16="http://schemas.microsoft.com/office/drawing/2014/main" val="1698409918"/>
                    </a:ext>
                  </a:extLst>
                </a:gridCol>
              </a:tblGrid>
              <a:tr h="410213"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102553" marR="102553" marT="51277" marB="5127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Files to be modified</a:t>
                      </a:r>
                      <a:endParaRPr lang="ko-KR" altLang="en-US" sz="2000" dirty="0"/>
                    </a:p>
                  </a:txBody>
                  <a:tcPr marL="102553" marR="102553" marT="51277" marB="5127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Referenced files </a:t>
                      </a:r>
                      <a:endParaRPr lang="ko-KR" altLang="en-US" sz="2000" dirty="0"/>
                    </a:p>
                  </a:txBody>
                  <a:tcPr marL="102553" marR="102553" marT="51277" marB="5127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4612983"/>
                  </a:ext>
                </a:extLst>
              </a:tr>
              <a:tr h="6495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err="1"/>
                        <a:t>src</a:t>
                      </a:r>
                      <a:r>
                        <a:rPr lang="en-US" altLang="ko-KR" sz="1800" dirty="0"/>
                        <a:t>/</a:t>
                      </a:r>
                      <a:r>
                        <a:rPr lang="en-US" altLang="ko-KR" sz="1800" b="1" dirty="0" err="1"/>
                        <a:t>userprog</a:t>
                      </a:r>
                      <a:endParaRPr lang="ko-KR" altLang="en-US" sz="1800" b="1" dirty="0"/>
                    </a:p>
                  </a:txBody>
                  <a:tcPr marL="102553" marR="102553" marT="51277" marB="5127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err="1"/>
                        <a:t>process.h</a:t>
                      </a:r>
                      <a:r>
                        <a:rPr lang="en-US" altLang="ko-KR" sz="1800" baseline="0" dirty="0"/>
                        <a:t> </a:t>
                      </a:r>
                      <a:r>
                        <a:rPr lang="en-US" altLang="ko-KR" sz="1800" dirty="0"/>
                        <a:t>/</a:t>
                      </a:r>
                      <a:r>
                        <a:rPr lang="en-US" altLang="ko-KR" sz="1800" baseline="0" dirty="0"/>
                        <a:t> </a:t>
                      </a:r>
                      <a:r>
                        <a:rPr lang="en-US" altLang="ko-KR" sz="1800" b="1" dirty="0" err="1"/>
                        <a:t>process.c</a:t>
                      </a:r>
                      <a:endParaRPr lang="en-US" altLang="ko-KR" sz="1800" b="1" dirty="0"/>
                    </a:p>
                    <a:p>
                      <a:pPr algn="ctr" latinLnBrk="1"/>
                      <a:r>
                        <a:rPr lang="en-US" altLang="ko-KR" sz="1800" dirty="0" err="1"/>
                        <a:t>syscall.h</a:t>
                      </a:r>
                      <a:r>
                        <a:rPr lang="en-US" altLang="ko-KR" sz="1800" baseline="0" dirty="0"/>
                        <a:t> / </a:t>
                      </a:r>
                      <a:r>
                        <a:rPr lang="en-US" altLang="ko-KR" sz="1800" b="1" baseline="0" dirty="0" err="1"/>
                        <a:t>syscall.c</a:t>
                      </a:r>
                      <a:endParaRPr lang="en-US" altLang="ko-KR" sz="1800" b="1" baseline="0" dirty="0"/>
                    </a:p>
                  </a:txBody>
                  <a:tcPr marL="102553" marR="102553" marT="51277" marB="5127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dirty="0" err="1"/>
                        <a:t>pagedir.h</a:t>
                      </a:r>
                      <a:r>
                        <a:rPr lang="en-US" altLang="ko-KR" sz="1800" b="1" baseline="0" dirty="0"/>
                        <a:t> / </a:t>
                      </a:r>
                      <a:r>
                        <a:rPr lang="en-US" altLang="ko-KR" sz="1800" b="1" baseline="0" dirty="0" err="1"/>
                        <a:t>pagedir.c</a:t>
                      </a:r>
                      <a:endParaRPr lang="en-US" altLang="ko-KR" sz="1800" b="1" baseline="0" dirty="0"/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aseline="0" dirty="0" err="1"/>
                        <a:t>exception.h</a:t>
                      </a:r>
                      <a:r>
                        <a:rPr lang="en-US" altLang="ko-KR" sz="1800" baseline="0" dirty="0"/>
                        <a:t> / </a:t>
                      </a:r>
                      <a:r>
                        <a:rPr lang="en-US" altLang="ko-KR" sz="1800" baseline="0" dirty="0" err="1"/>
                        <a:t>exception.c</a:t>
                      </a:r>
                      <a:r>
                        <a:rPr lang="en-US" altLang="ko-KR" sz="1800" baseline="0" dirty="0"/>
                        <a:t> </a:t>
                      </a:r>
                      <a:endParaRPr lang="ko-KR" altLang="en-US" sz="1800" dirty="0"/>
                    </a:p>
                  </a:txBody>
                  <a:tcPr marL="102553" marR="102553" marT="51277" marB="5127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2787699"/>
                  </a:ext>
                </a:extLst>
              </a:tr>
              <a:tr h="6495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err="1"/>
                        <a:t>src</a:t>
                      </a:r>
                      <a:r>
                        <a:rPr lang="en-US" altLang="ko-KR" sz="1800" dirty="0"/>
                        <a:t>/</a:t>
                      </a:r>
                      <a:r>
                        <a:rPr lang="en-US" altLang="ko-KR" sz="1800" b="1" dirty="0"/>
                        <a:t>threads</a:t>
                      </a:r>
                      <a:endParaRPr lang="ko-KR" altLang="en-US" sz="1800" b="1" dirty="0"/>
                    </a:p>
                  </a:txBody>
                  <a:tcPr marL="102553" marR="102553" marT="51277" marB="5127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1" dirty="0" err="1"/>
                        <a:t>thread.h</a:t>
                      </a:r>
                      <a:r>
                        <a:rPr lang="en-US" altLang="ko-KR" sz="1800" dirty="0"/>
                        <a:t> / </a:t>
                      </a:r>
                      <a:r>
                        <a:rPr lang="en-US" altLang="ko-KR" sz="1800" dirty="0" err="1"/>
                        <a:t>thread.c</a:t>
                      </a:r>
                      <a:endParaRPr lang="en-US" altLang="ko-KR" sz="1800" baseline="0" dirty="0"/>
                    </a:p>
                  </a:txBody>
                  <a:tcPr marL="102553" marR="102553" marT="51277" marB="5127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err="1"/>
                        <a:t>synch.h</a:t>
                      </a:r>
                      <a:r>
                        <a:rPr lang="en-US" altLang="ko-KR" sz="1800" dirty="0"/>
                        <a:t> / </a:t>
                      </a:r>
                      <a:r>
                        <a:rPr lang="en-US" altLang="ko-KR" sz="1800" dirty="0" err="1"/>
                        <a:t>synch.c</a:t>
                      </a:r>
                      <a:endParaRPr lang="en-US" altLang="ko-KR" sz="1800" dirty="0"/>
                    </a:p>
                    <a:p>
                      <a:pPr algn="ctr" latinLnBrk="1"/>
                      <a:r>
                        <a:rPr lang="en-US" altLang="ko-KR" sz="1800" dirty="0" err="1"/>
                        <a:t>vaddr.h</a:t>
                      </a:r>
                      <a:endParaRPr lang="ko-KR" altLang="en-US" sz="1800" dirty="0"/>
                    </a:p>
                  </a:txBody>
                  <a:tcPr marL="102553" marR="102553" marT="51277" marB="5127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6066355"/>
                  </a:ext>
                </a:extLst>
              </a:tr>
              <a:tr h="6495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err="1"/>
                        <a:t>src</a:t>
                      </a:r>
                      <a:r>
                        <a:rPr lang="en-US" altLang="ko-KR" sz="1800" dirty="0"/>
                        <a:t>/</a:t>
                      </a:r>
                      <a:r>
                        <a:rPr lang="en-US" altLang="ko-KR" sz="1800" b="1" dirty="0"/>
                        <a:t>devices</a:t>
                      </a:r>
                      <a:endParaRPr lang="ko-KR" altLang="en-US" sz="1800" b="1" dirty="0"/>
                    </a:p>
                  </a:txBody>
                  <a:tcPr marL="102553" marR="102553" marT="51277" marB="5127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/>
                        <a:t>-</a:t>
                      </a:r>
                      <a:endParaRPr lang="ko-KR" altLang="en-US" sz="1800" dirty="0"/>
                    </a:p>
                  </a:txBody>
                  <a:tcPr marL="102553" marR="102553" marT="51277" marB="5127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err="1"/>
                        <a:t>shutdown.h</a:t>
                      </a:r>
                      <a:r>
                        <a:rPr lang="en-US" altLang="ko-KR" sz="1800" baseline="0" dirty="0"/>
                        <a:t> / </a:t>
                      </a:r>
                      <a:r>
                        <a:rPr lang="en-US" altLang="ko-KR" sz="1800" baseline="0" dirty="0" err="1"/>
                        <a:t>shutdown.c</a:t>
                      </a:r>
                      <a:endParaRPr lang="en-US" altLang="ko-KR" sz="1800" baseline="0" dirty="0"/>
                    </a:p>
                    <a:p>
                      <a:pPr algn="ctr" latinLnBrk="1"/>
                      <a:r>
                        <a:rPr lang="en-US" altLang="ko-KR" sz="1800" baseline="0" dirty="0" err="1"/>
                        <a:t>input.h</a:t>
                      </a:r>
                      <a:r>
                        <a:rPr lang="en-US" altLang="ko-KR" sz="1800" baseline="0" dirty="0"/>
                        <a:t> / </a:t>
                      </a:r>
                      <a:r>
                        <a:rPr lang="en-US" altLang="ko-KR" sz="1800" baseline="0" dirty="0" err="1"/>
                        <a:t>input.c</a:t>
                      </a:r>
                      <a:endParaRPr lang="ko-KR" altLang="en-US" sz="1800" dirty="0"/>
                    </a:p>
                  </a:txBody>
                  <a:tcPr marL="102553" marR="102553" marT="51277" marB="5127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6745548"/>
                  </a:ext>
                </a:extLst>
              </a:tr>
              <a:tr h="9229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err="1"/>
                        <a:t>src</a:t>
                      </a:r>
                      <a:r>
                        <a:rPr lang="en-US" altLang="ko-KR" sz="1800" dirty="0"/>
                        <a:t>/</a:t>
                      </a:r>
                      <a:r>
                        <a:rPr lang="en-US" altLang="ko-KR" sz="1800" b="1" dirty="0"/>
                        <a:t>lib</a:t>
                      </a:r>
                      <a:endParaRPr lang="ko-KR" altLang="en-US" sz="1800" b="1" dirty="0"/>
                    </a:p>
                  </a:txBody>
                  <a:tcPr marL="102553" marR="102553" marT="51277" marB="5127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dirty="0" err="1"/>
                        <a:t>syscall-nr.h</a:t>
                      </a:r>
                      <a:endParaRPr lang="en-US" altLang="ko-KR" sz="1800" b="1" dirty="0"/>
                    </a:p>
                    <a:p>
                      <a:pPr algn="ctr" latinLnBrk="1"/>
                      <a:r>
                        <a:rPr lang="en-US" altLang="ko-KR" sz="1800" b="1" dirty="0"/>
                        <a:t>user/</a:t>
                      </a:r>
                      <a:r>
                        <a:rPr lang="en-US" altLang="ko-KR" sz="1800" b="1" dirty="0" err="1"/>
                        <a:t>syscall.h</a:t>
                      </a:r>
                      <a:endParaRPr lang="en-US" altLang="ko-KR" sz="1800" b="1" baseline="0" dirty="0"/>
                    </a:p>
                    <a:p>
                      <a:pPr algn="ctr" latinLnBrk="1"/>
                      <a:r>
                        <a:rPr lang="en-US" altLang="ko-KR" sz="1800" b="1" baseline="0" dirty="0"/>
                        <a:t>user/</a:t>
                      </a:r>
                      <a:r>
                        <a:rPr lang="en-US" altLang="ko-KR" sz="1800" b="1" baseline="0" dirty="0" err="1"/>
                        <a:t>syscall.c</a:t>
                      </a:r>
                      <a:endParaRPr lang="ko-KR" altLang="en-US" sz="1800" b="1" dirty="0"/>
                    </a:p>
                  </a:txBody>
                  <a:tcPr marL="102553" marR="102553" marT="51277" marB="5127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/>
                        <a:t>-</a:t>
                      </a:r>
                      <a:endParaRPr lang="ko-KR" altLang="en-US" sz="1800" dirty="0"/>
                    </a:p>
                  </a:txBody>
                  <a:tcPr marL="102553" marR="102553" marT="51277" marB="5127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32562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66016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How User Program Works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/>
              <a:t>Procedure: 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dirty="0"/>
              <a:t>Pintos can load and run </a:t>
            </a:r>
            <a:r>
              <a:rPr lang="en-US" altLang="ko-KR"/>
              <a:t>regular ELF(Executable &amp; Linkable Format) </a:t>
            </a:r>
            <a:r>
              <a:rPr lang="en-US" altLang="ko-KR" dirty="0"/>
              <a:t>executables.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dirty="0"/>
              <a:t>To run a user program, we must copy (put) the user program to the simulated file system disk.</a:t>
            </a:r>
            <a:endParaRPr lang="ko-KR" altLang="en-US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4073487-99D2-554F-9AC8-7E26B30BD1AC}"/>
              </a:ext>
            </a:extLst>
          </p:cNvPr>
          <p:cNvGrpSpPr/>
          <p:nvPr/>
        </p:nvGrpSpPr>
        <p:grpSpPr>
          <a:xfrm>
            <a:off x="838200" y="2939051"/>
            <a:ext cx="2895358" cy="2862105"/>
            <a:chOff x="8337173" y="2462269"/>
            <a:chExt cx="2895358" cy="2862105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B47FAF0-A226-0446-B0BD-419AEE16D7CF}"/>
                </a:ext>
              </a:extLst>
            </p:cNvPr>
            <p:cNvSpPr/>
            <p:nvPr/>
          </p:nvSpPr>
          <p:spPr>
            <a:xfrm>
              <a:off x="8337176" y="4751953"/>
              <a:ext cx="2895355" cy="572421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H/W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5378399-8626-F940-AD8E-C4DA21281BBB}"/>
                </a:ext>
              </a:extLst>
            </p:cNvPr>
            <p:cNvSpPr/>
            <p:nvPr/>
          </p:nvSpPr>
          <p:spPr>
            <a:xfrm>
              <a:off x="8337176" y="4179532"/>
              <a:ext cx="2895355" cy="572421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Linux (Ubuntu)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40C53CE0-94DB-2942-961A-F9DD98F6CAB7}"/>
                </a:ext>
              </a:extLst>
            </p:cNvPr>
            <p:cNvSpPr/>
            <p:nvPr/>
          </p:nvSpPr>
          <p:spPr>
            <a:xfrm>
              <a:off x="8337174" y="3607111"/>
              <a:ext cx="2895355" cy="572421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QEMU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EE9D40ED-9855-D845-943A-1180B5930B07}"/>
                </a:ext>
              </a:extLst>
            </p:cNvPr>
            <p:cNvSpPr/>
            <p:nvPr/>
          </p:nvSpPr>
          <p:spPr>
            <a:xfrm>
              <a:off x="8337174" y="3034690"/>
              <a:ext cx="2895355" cy="572421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rgbClr val="C00000"/>
                  </a:solidFill>
                </a:rPr>
                <a:t>Pintos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66D211F0-33DB-8F4F-B31E-1D8206B51CC8}"/>
                </a:ext>
              </a:extLst>
            </p:cNvPr>
            <p:cNvSpPr/>
            <p:nvPr/>
          </p:nvSpPr>
          <p:spPr>
            <a:xfrm>
              <a:off x="8337173" y="2462269"/>
              <a:ext cx="2895355" cy="572421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User Programs</a:t>
              </a:r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4E61FF6B-5AE8-4942-930F-C9EDE4700E33}"/>
              </a:ext>
            </a:extLst>
          </p:cNvPr>
          <p:cNvSpPr/>
          <p:nvPr/>
        </p:nvSpPr>
        <p:spPr>
          <a:xfrm>
            <a:off x="4917501" y="2980269"/>
            <a:ext cx="4631635" cy="286210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85498E4-5564-A245-B4A4-D2BC3576D6EF}"/>
              </a:ext>
            </a:extLst>
          </p:cNvPr>
          <p:cNvSpPr/>
          <p:nvPr/>
        </p:nvSpPr>
        <p:spPr>
          <a:xfrm>
            <a:off x="5086467" y="3124432"/>
            <a:ext cx="2703443" cy="226345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9BCBACE-DCA5-3D42-8C2E-5DC6EA9D777D}"/>
              </a:ext>
            </a:extLst>
          </p:cNvPr>
          <p:cNvSpPr/>
          <p:nvPr/>
        </p:nvSpPr>
        <p:spPr>
          <a:xfrm>
            <a:off x="5265371" y="3353032"/>
            <a:ext cx="2266122" cy="170953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033E3C3-78D0-5B46-9C19-9E226BD65890}"/>
              </a:ext>
            </a:extLst>
          </p:cNvPr>
          <p:cNvSpPr/>
          <p:nvPr/>
        </p:nvSpPr>
        <p:spPr>
          <a:xfrm>
            <a:off x="5444275" y="3552690"/>
            <a:ext cx="1520687" cy="111498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E22EA24-29D5-D048-AE48-F1249839AF4D}"/>
              </a:ext>
            </a:extLst>
          </p:cNvPr>
          <p:cNvSpPr txBox="1"/>
          <p:nvPr/>
        </p:nvSpPr>
        <p:spPr>
          <a:xfrm>
            <a:off x="6425437" y="5431824"/>
            <a:ext cx="16157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CSPRO server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5C11BF8-85FB-5940-8C13-F544B9A294F9}"/>
              </a:ext>
            </a:extLst>
          </p:cNvPr>
          <p:cNvSpPr txBox="1"/>
          <p:nvPr/>
        </p:nvSpPr>
        <p:spPr>
          <a:xfrm>
            <a:off x="5956326" y="5039167"/>
            <a:ext cx="9637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Ubuntu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91EF83E-F7E9-4642-A428-98E2978B6A92}"/>
              </a:ext>
            </a:extLst>
          </p:cNvPr>
          <p:cNvSpPr txBox="1"/>
          <p:nvPr/>
        </p:nvSpPr>
        <p:spPr>
          <a:xfrm>
            <a:off x="5971072" y="4662637"/>
            <a:ext cx="8547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QEMU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114B8FB-67F8-C34E-83DD-A5685DFB562F}"/>
              </a:ext>
            </a:extLst>
          </p:cNvPr>
          <p:cNvSpPr txBox="1"/>
          <p:nvPr/>
        </p:nvSpPr>
        <p:spPr>
          <a:xfrm>
            <a:off x="5769756" y="3918632"/>
            <a:ext cx="8697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Pintos</a:t>
            </a:r>
          </a:p>
        </p:txBody>
      </p:sp>
      <p:sp>
        <p:nvSpPr>
          <p:cNvPr id="48" name="Right Arrow 47">
            <a:extLst>
              <a:ext uri="{FF2B5EF4-FFF2-40B4-BE49-F238E27FC236}">
                <a16:creationId xmlns:a16="http://schemas.microsoft.com/office/drawing/2014/main" id="{EE0FA169-F145-4B4E-8918-613893EAE5D7}"/>
              </a:ext>
            </a:extLst>
          </p:cNvPr>
          <p:cNvSpPr/>
          <p:nvPr/>
        </p:nvSpPr>
        <p:spPr>
          <a:xfrm>
            <a:off x="3925489" y="4166263"/>
            <a:ext cx="886436" cy="496374"/>
          </a:xfrm>
          <a:prstGeom prst="rightArrow">
            <a:avLst>
              <a:gd name="adj1" fmla="val 50000"/>
              <a:gd name="adj2" fmla="val 7110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Can 28">
            <a:extLst>
              <a:ext uri="{FF2B5EF4-FFF2-40B4-BE49-F238E27FC236}">
                <a16:creationId xmlns:a16="http://schemas.microsoft.com/office/drawing/2014/main" id="{21291FF7-56E8-E14D-9D96-CD83AB6BB2F1}"/>
              </a:ext>
            </a:extLst>
          </p:cNvPr>
          <p:cNvSpPr/>
          <p:nvPr/>
        </p:nvSpPr>
        <p:spPr>
          <a:xfrm>
            <a:off x="8190368" y="3199567"/>
            <a:ext cx="1073426" cy="2166731"/>
          </a:xfrm>
          <a:prstGeom prst="can">
            <a:avLst/>
          </a:prstGeom>
          <a:solidFill>
            <a:srgbClr val="418AB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39C26BC-965F-4A47-8335-BC4DB7D87F79}"/>
              </a:ext>
            </a:extLst>
          </p:cNvPr>
          <p:cNvSpPr txBox="1"/>
          <p:nvPr/>
        </p:nvSpPr>
        <p:spPr>
          <a:xfrm>
            <a:off x="8415938" y="4918941"/>
            <a:ext cx="6222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Disk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B32151D-C57E-B042-81B1-2772F83B397F}"/>
              </a:ext>
            </a:extLst>
          </p:cNvPr>
          <p:cNvSpPr txBox="1"/>
          <p:nvPr/>
        </p:nvSpPr>
        <p:spPr>
          <a:xfrm>
            <a:off x="9892056" y="3487969"/>
            <a:ext cx="11912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Simulated</a:t>
            </a:r>
          </a:p>
          <a:p>
            <a:r>
              <a:rPr lang="en-US" sz="1600" dirty="0"/>
              <a:t>Pintos disk</a:t>
            </a:r>
          </a:p>
        </p:txBody>
      </p:sp>
      <p:sp>
        <p:nvSpPr>
          <p:cNvPr id="40" name="Can 39">
            <a:extLst>
              <a:ext uri="{FF2B5EF4-FFF2-40B4-BE49-F238E27FC236}">
                <a16:creationId xmlns:a16="http://schemas.microsoft.com/office/drawing/2014/main" id="{75F904F4-358A-144F-9729-873C1F9CA790}"/>
              </a:ext>
            </a:extLst>
          </p:cNvPr>
          <p:cNvSpPr/>
          <p:nvPr/>
        </p:nvSpPr>
        <p:spPr>
          <a:xfrm>
            <a:off x="8414739" y="3576105"/>
            <a:ext cx="622286" cy="654726"/>
          </a:xfrm>
          <a:prstGeom prst="can">
            <a:avLst/>
          </a:prstGeom>
          <a:solidFill>
            <a:srgbClr val="F08C6A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41E1A740-5455-8C48-A11A-CE4F2E37CD2D}"/>
              </a:ext>
            </a:extLst>
          </p:cNvPr>
          <p:cNvSpPr/>
          <p:nvPr/>
        </p:nvSpPr>
        <p:spPr>
          <a:xfrm>
            <a:off x="8492519" y="3840503"/>
            <a:ext cx="466725" cy="208997"/>
          </a:xfrm>
          <a:prstGeom prst="ellips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E9D571E6-4E7D-6048-8B6E-0239550DBC10}"/>
              </a:ext>
            </a:extLst>
          </p:cNvPr>
          <p:cNvSpPr/>
          <p:nvPr/>
        </p:nvSpPr>
        <p:spPr>
          <a:xfrm>
            <a:off x="8492519" y="4591783"/>
            <a:ext cx="466725" cy="208997"/>
          </a:xfrm>
          <a:prstGeom prst="ellips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487A830-DC01-3A40-AC01-075FCBB7807B}"/>
              </a:ext>
            </a:extLst>
          </p:cNvPr>
          <p:cNvSpPr txBox="1"/>
          <p:nvPr/>
        </p:nvSpPr>
        <p:spPr>
          <a:xfrm>
            <a:off x="9930102" y="4696991"/>
            <a:ext cx="15443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User program </a:t>
            </a:r>
          </a:p>
          <a:p>
            <a:r>
              <a:rPr lang="en-US" sz="1600" dirty="0"/>
              <a:t>for Pintos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5F3BF8E0-1444-0047-AFA3-93B3845C71FA}"/>
              </a:ext>
            </a:extLst>
          </p:cNvPr>
          <p:cNvCxnSpPr>
            <a:stCxn id="40" idx="4"/>
            <a:endCxn id="36" idx="1"/>
          </p:cNvCxnSpPr>
          <p:nvPr/>
        </p:nvCxnSpPr>
        <p:spPr>
          <a:xfrm flipV="1">
            <a:off x="9037025" y="3780357"/>
            <a:ext cx="855031" cy="123111"/>
          </a:xfrm>
          <a:prstGeom prst="straightConnector1">
            <a:avLst/>
          </a:prstGeom>
          <a:ln w="15875">
            <a:solidFill>
              <a:schemeClr val="tx1"/>
            </a:solidFill>
            <a:headEnd type="triangle" w="sm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CD3A7776-1E49-614D-969F-99CE5C37C58A}"/>
              </a:ext>
            </a:extLst>
          </p:cNvPr>
          <p:cNvCxnSpPr>
            <a:cxnSpLocks/>
            <a:stCxn id="42" idx="6"/>
            <a:endCxn id="43" idx="1"/>
          </p:cNvCxnSpPr>
          <p:nvPr/>
        </p:nvCxnSpPr>
        <p:spPr>
          <a:xfrm>
            <a:off x="8959244" y="4696282"/>
            <a:ext cx="970858" cy="293097"/>
          </a:xfrm>
          <a:prstGeom prst="straightConnector1">
            <a:avLst/>
          </a:prstGeom>
          <a:ln w="15875">
            <a:solidFill>
              <a:schemeClr val="tx1"/>
            </a:solidFill>
            <a:headEnd type="triangle" w="sm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CBD2B1F6-9A11-C642-A662-BDA2B300B84C}"/>
              </a:ext>
            </a:extLst>
          </p:cNvPr>
          <p:cNvCxnSpPr>
            <a:cxnSpLocks/>
            <a:stCxn id="41" idx="4"/>
            <a:endCxn id="42" idx="0"/>
          </p:cNvCxnSpPr>
          <p:nvPr/>
        </p:nvCxnSpPr>
        <p:spPr>
          <a:xfrm>
            <a:off x="8725882" y="4049500"/>
            <a:ext cx="0" cy="542283"/>
          </a:xfrm>
          <a:prstGeom prst="straightConnector1">
            <a:avLst/>
          </a:prstGeom>
          <a:ln w="15875">
            <a:solidFill>
              <a:schemeClr val="tx1"/>
            </a:solidFill>
            <a:headEnd type="triangle" w="sm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8738A666-43B3-C947-9292-D2FE2BB01F39}"/>
              </a:ext>
            </a:extLst>
          </p:cNvPr>
          <p:cNvSpPr txBox="1"/>
          <p:nvPr/>
        </p:nvSpPr>
        <p:spPr>
          <a:xfrm>
            <a:off x="8683603" y="4241131"/>
            <a:ext cx="5100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C000"/>
                </a:solidFill>
              </a:rPr>
              <a:t>PUT</a:t>
            </a:r>
            <a:endParaRPr lang="en-US" dirty="0">
              <a:solidFill>
                <a:srgbClr val="FFC000"/>
              </a:solidFill>
            </a:endParaRPr>
          </a:p>
        </p:txBody>
      </p:sp>
      <p:sp>
        <p:nvSpPr>
          <p:cNvPr id="63" name="Left-Right Arrow 62">
            <a:extLst>
              <a:ext uri="{FF2B5EF4-FFF2-40B4-BE49-F238E27FC236}">
                <a16:creationId xmlns:a16="http://schemas.microsoft.com/office/drawing/2014/main" id="{BD1ED63C-89FA-9F47-ADCE-6BCF599F1E19}"/>
              </a:ext>
            </a:extLst>
          </p:cNvPr>
          <p:cNvSpPr/>
          <p:nvPr/>
        </p:nvSpPr>
        <p:spPr>
          <a:xfrm>
            <a:off x="6984357" y="3994146"/>
            <a:ext cx="1183127" cy="285830"/>
          </a:xfrm>
          <a:prstGeom prst="leftRightArrow">
            <a:avLst>
              <a:gd name="adj1" fmla="val 50000"/>
              <a:gd name="adj2" fmla="val 76659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Slide Number Placeholder 1">
            <a:extLst>
              <a:ext uri="{FF2B5EF4-FFF2-40B4-BE49-F238E27FC236}">
                <a16:creationId xmlns:a16="http://schemas.microsoft.com/office/drawing/2014/main" id="{DE14894F-621E-CE40-B93A-984D665B58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2656" y="5991138"/>
            <a:ext cx="446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A305A6-A07C-784C-BBE4-67C27A551CE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526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41" grpId="0" animBg="1"/>
      <p:bldP spid="6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How User Program Works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en-US" altLang="ko-KR" dirty="0"/>
              <a:t>Consider the previous example more in detail</a:t>
            </a:r>
          </a:p>
          <a:p>
            <a:pPr marL="0" indent="0">
              <a:lnSpc>
                <a:spcPct val="120000"/>
              </a:lnSpc>
              <a:buNone/>
            </a:pPr>
            <a:endParaRPr lang="en-US" altLang="ko-KR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ko-KR" b="1" dirty="0">
                <a:solidFill>
                  <a:srgbClr val="1065E7"/>
                </a:solidFill>
              </a:rPr>
              <a:t>"--</a:t>
            </a:r>
            <a:r>
              <a:rPr lang="en-US" altLang="ko-KR" b="1" dirty="0" err="1">
                <a:solidFill>
                  <a:srgbClr val="1065E7"/>
                </a:solidFill>
              </a:rPr>
              <a:t>filesys</a:t>
            </a:r>
            <a:r>
              <a:rPr lang="en-US" altLang="ko-KR" b="1" dirty="0">
                <a:solidFill>
                  <a:srgbClr val="1065E7"/>
                </a:solidFill>
              </a:rPr>
              <a:t>-size=2": </a:t>
            </a:r>
            <a:r>
              <a:rPr lang="en-US" altLang="ko-KR" dirty="0"/>
              <a:t>Make simulated Pintos disk which consists of 2MB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ko-KR" b="1" dirty="0">
                <a:solidFill>
                  <a:srgbClr val="1065E7"/>
                </a:solidFill>
              </a:rPr>
              <a:t>"-p ../examples/echo </a:t>
            </a:r>
            <a:r>
              <a:rPr lang="en-US" altLang="ko-KR" b="1" dirty="0">
                <a:solidFill>
                  <a:srgbClr val="7030A0"/>
                </a:solidFill>
              </a:rPr>
              <a:t>-a</a:t>
            </a:r>
            <a:r>
              <a:rPr lang="en-US" altLang="ko-KR" b="1" dirty="0">
                <a:solidFill>
                  <a:srgbClr val="1065E7"/>
                </a:solidFill>
              </a:rPr>
              <a:t> echo": </a:t>
            </a:r>
            <a:r>
              <a:rPr lang="en-US" altLang="ko-KR" dirty="0"/>
              <a:t>Copy '../examples/echo' into the simulated disk and </a:t>
            </a:r>
            <a:r>
              <a:rPr lang="en-US" altLang="ko-KR" dirty="0">
                <a:solidFill>
                  <a:srgbClr val="FF0000"/>
                </a:solidFill>
              </a:rPr>
              <a:t>change the name </a:t>
            </a:r>
            <a:r>
              <a:rPr lang="en-US" altLang="ko-KR" dirty="0"/>
              <a:t>from '../examples/echo' to 'echo'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ko-KR" b="1" dirty="0">
                <a:solidFill>
                  <a:srgbClr val="1065E7"/>
                </a:solidFill>
              </a:rPr>
              <a:t>"--" between echo and -f: </a:t>
            </a:r>
            <a:r>
              <a:rPr lang="en-US" altLang="ko-KR" dirty="0"/>
              <a:t>Separate pintos' options and kernel arguments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ko-KR" b="1" dirty="0">
                <a:solidFill>
                  <a:srgbClr val="1065E7"/>
                </a:solidFill>
              </a:rPr>
              <a:t>"-f": </a:t>
            </a:r>
            <a:r>
              <a:rPr lang="en-US" altLang="ko-KR" dirty="0"/>
              <a:t>Pintos formats the simulated disk.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ko-KR" b="1" dirty="0">
                <a:solidFill>
                  <a:srgbClr val="1065E7"/>
                </a:solidFill>
              </a:rPr>
              <a:t>"-q": </a:t>
            </a:r>
            <a:r>
              <a:rPr lang="en-US" altLang="ko-KR" dirty="0"/>
              <a:t>Pintos will be terminated after execution of 'echo’.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ko-KR" b="1" dirty="0">
                <a:solidFill>
                  <a:srgbClr val="1065E7"/>
                </a:solidFill>
              </a:rPr>
              <a:t>"run 'echo x'": </a:t>
            </a:r>
            <a:r>
              <a:rPr lang="en-US" altLang="ko-KR" dirty="0"/>
              <a:t>Pintos will execute 'echo' with argument 'x’.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3281328-1157-7B4C-A844-AC6CAB9782B7}"/>
              </a:ext>
            </a:extLst>
          </p:cNvPr>
          <p:cNvSpPr/>
          <p:nvPr/>
        </p:nvSpPr>
        <p:spPr>
          <a:xfrm>
            <a:off x="979516" y="1675534"/>
            <a:ext cx="10232967" cy="32961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rgbClr val="00B0F0"/>
                </a:solidFill>
              </a:rPr>
              <a:t>~/pintos/</a:t>
            </a:r>
            <a:r>
              <a:rPr lang="en-US" altLang="ko-KR" dirty="0" err="1">
                <a:solidFill>
                  <a:srgbClr val="00B0F0"/>
                </a:solidFill>
              </a:rPr>
              <a:t>src</a:t>
            </a:r>
            <a:r>
              <a:rPr lang="en-US" altLang="ko-KR" dirty="0">
                <a:solidFill>
                  <a:srgbClr val="00B0F0"/>
                </a:solidFill>
              </a:rPr>
              <a:t>/</a:t>
            </a:r>
            <a:r>
              <a:rPr lang="en-US" altLang="ko-KR" dirty="0" err="1">
                <a:solidFill>
                  <a:srgbClr val="00B0F0"/>
                </a:solidFill>
              </a:rPr>
              <a:t>userprog</a:t>
            </a:r>
            <a:r>
              <a:rPr lang="en-US" altLang="ko-KR" dirty="0">
                <a:solidFill>
                  <a:srgbClr val="00B0F0"/>
                </a:solidFill>
              </a:rPr>
              <a:t> $ </a:t>
            </a:r>
            <a:r>
              <a:rPr lang="en-US" altLang="ko-KR" dirty="0"/>
              <a:t>pintos --</a:t>
            </a:r>
            <a:r>
              <a:rPr lang="en-US" altLang="ko-KR" dirty="0" err="1"/>
              <a:t>filesys</a:t>
            </a:r>
            <a:r>
              <a:rPr lang="en-US" altLang="ko-KR" dirty="0"/>
              <a:t>-size=2 -p ../examples/echo -a echo -- -f -q run 'echo x'</a:t>
            </a: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E3D989E2-EF8C-6146-8C22-C648F75611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2656" y="5991138"/>
            <a:ext cx="446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A305A6-A07C-784C-BBE4-67C27A551CE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907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How User Program Works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en-US" altLang="ko-KR" dirty="0"/>
              <a:t>Consider the previous example more in detail</a:t>
            </a:r>
          </a:p>
          <a:p>
            <a:pPr marL="0" indent="0">
              <a:lnSpc>
                <a:spcPct val="120000"/>
              </a:lnSpc>
              <a:buNone/>
            </a:pPr>
            <a:endParaRPr lang="en-US" altLang="ko-KR" dirty="0"/>
          </a:p>
          <a:p>
            <a:pPr>
              <a:lnSpc>
                <a:spcPct val="120000"/>
              </a:lnSpc>
              <a:buFont typeface="Wingdings" pitchFamily="2" charset="2"/>
              <a:buChar char="ü"/>
            </a:pPr>
            <a:r>
              <a:rPr lang="en-US" altLang="ko-KR" dirty="0"/>
              <a:t>'echo' is the application that writes arguments to the </a:t>
            </a:r>
            <a:r>
              <a:rPr lang="en-US" altLang="ko-KR" b="1" dirty="0">
                <a:solidFill>
                  <a:srgbClr val="1065E7"/>
                </a:solidFill>
              </a:rPr>
              <a:t>standard output</a:t>
            </a:r>
            <a:r>
              <a:rPr lang="en-US" altLang="ko-KR" dirty="0"/>
              <a:t>.</a:t>
            </a:r>
          </a:p>
          <a:p>
            <a:pPr>
              <a:lnSpc>
                <a:spcPct val="120000"/>
              </a:lnSpc>
              <a:buFont typeface="Wingdings" pitchFamily="2" charset="2"/>
              <a:buChar char="ü"/>
            </a:pPr>
            <a:r>
              <a:rPr lang="en-US" altLang="ko-KR" dirty="0"/>
              <a:t>Thus, 'echo' needs the</a:t>
            </a:r>
            <a:r>
              <a:rPr lang="en-US" altLang="ko-KR" dirty="0">
                <a:solidFill>
                  <a:srgbClr val="1065E7"/>
                </a:solidFill>
              </a:rPr>
              <a:t> </a:t>
            </a:r>
            <a:r>
              <a:rPr lang="en-US" altLang="ko-KR" dirty="0"/>
              <a:t>I/O functionality provided by system call</a:t>
            </a:r>
            <a:r>
              <a:rPr lang="en-US" altLang="ko-KR" dirty="0">
                <a:solidFill>
                  <a:srgbClr val="1065E7"/>
                </a:solidFill>
              </a:rPr>
              <a:t> </a:t>
            </a:r>
            <a:r>
              <a:rPr lang="en-US" altLang="ko-KR" dirty="0"/>
              <a:t>in the kernel.</a:t>
            </a:r>
          </a:p>
          <a:p>
            <a:pPr>
              <a:lnSpc>
                <a:spcPct val="120000"/>
              </a:lnSpc>
              <a:buFont typeface="Wingdings" pitchFamily="2" charset="2"/>
              <a:buChar char="ü"/>
            </a:pPr>
            <a:r>
              <a:rPr lang="en-US" altLang="ko-KR" dirty="0"/>
              <a:t>And, it also needs user stack implementation which stores arguments and passes them to kernel.</a:t>
            </a:r>
          </a:p>
          <a:p>
            <a:pPr>
              <a:lnSpc>
                <a:spcPct val="120000"/>
              </a:lnSpc>
              <a:buFont typeface="Wingdings" pitchFamily="2" charset="2"/>
              <a:buChar char="ü"/>
            </a:pPr>
            <a:r>
              <a:rPr lang="en-US" altLang="ko-KR" dirty="0"/>
              <a:t>But, Pintos has no implementation for </a:t>
            </a:r>
            <a:r>
              <a:rPr lang="en-US" altLang="ko-KR" b="1" dirty="0">
                <a:solidFill>
                  <a:srgbClr val="1065E7"/>
                </a:solidFill>
              </a:rPr>
              <a:t>system calls </a:t>
            </a:r>
            <a:r>
              <a:rPr lang="en-US" altLang="ko-KR" dirty="0"/>
              <a:t>and </a:t>
            </a:r>
            <a:r>
              <a:rPr lang="en-US" altLang="ko-KR" b="1" dirty="0">
                <a:solidFill>
                  <a:srgbClr val="1065E7"/>
                </a:solidFill>
              </a:rPr>
              <a:t>user stacks</a:t>
            </a:r>
            <a:r>
              <a:rPr lang="en-US" altLang="ko-KR" dirty="0"/>
              <a:t>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3281328-1157-7B4C-A844-AC6CAB9782B7}"/>
              </a:ext>
            </a:extLst>
          </p:cNvPr>
          <p:cNvSpPr/>
          <p:nvPr/>
        </p:nvSpPr>
        <p:spPr>
          <a:xfrm>
            <a:off x="979516" y="1675534"/>
            <a:ext cx="10232967" cy="32961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rgbClr val="00B0F0"/>
                </a:solidFill>
              </a:rPr>
              <a:t>~/pintos/</a:t>
            </a:r>
            <a:r>
              <a:rPr lang="en-US" altLang="ko-KR" dirty="0" err="1">
                <a:solidFill>
                  <a:srgbClr val="00B0F0"/>
                </a:solidFill>
              </a:rPr>
              <a:t>src</a:t>
            </a:r>
            <a:r>
              <a:rPr lang="en-US" altLang="ko-KR" dirty="0">
                <a:solidFill>
                  <a:srgbClr val="00B0F0"/>
                </a:solidFill>
              </a:rPr>
              <a:t>/</a:t>
            </a:r>
            <a:r>
              <a:rPr lang="en-US" altLang="ko-KR" dirty="0" err="1">
                <a:solidFill>
                  <a:srgbClr val="00B0F0"/>
                </a:solidFill>
              </a:rPr>
              <a:t>userprog</a:t>
            </a:r>
            <a:r>
              <a:rPr lang="en-US" altLang="ko-KR" dirty="0">
                <a:solidFill>
                  <a:srgbClr val="00B0F0"/>
                </a:solidFill>
              </a:rPr>
              <a:t> $ </a:t>
            </a:r>
            <a:r>
              <a:rPr lang="en-US" altLang="ko-KR" dirty="0"/>
              <a:t>pintos --</a:t>
            </a:r>
            <a:r>
              <a:rPr lang="en-US" altLang="ko-KR" dirty="0" err="1"/>
              <a:t>filesys</a:t>
            </a:r>
            <a:r>
              <a:rPr lang="en-US" altLang="ko-KR" dirty="0"/>
              <a:t>-size=2 -p ../examples/echo -a echo -- -f -q run 'echo x'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FD99AF-02D9-6F49-9534-D769ADE3DD28}"/>
              </a:ext>
            </a:extLst>
          </p:cNvPr>
          <p:cNvSpPr txBox="1"/>
          <p:nvPr/>
        </p:nvSpPr>
        <p:spPr>
          <a:xfrm>
            <a:off x="1866765" y="4740401"/>
            <a:ext cx="86136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That's why we were not able to see the result of 'echo x’.</a:t>
            </a:r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1943510B-5704-C347-914F-A17171FFA0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2656" y="5991138"/>
            <a:ext cx="446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A305A6-A07C-784C-BBE4-67C27A551CE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858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Code Level Flow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/>
              <a:t>$ pintos --</a:t>
            </a:r>
            <a:r>
              <a:rPr lang="en-US" altLang="ko-KR" dirty="0" err="1"/>
              <a:t>filesys</a:t>
            </a:r>
            <a:r>
              <a:rPr lang="en-US" altLang="ko-KR" dirty="0"/>
              <a:t>-size=2 -p ../examples/echo -a echo -- -f -q run </a:t>
            </a:r>
            <a:r>
              <a:rPr lang="en-US" altLang="ko-KR" b="1" dirty="0">
                <a:solidFill>
                  <a:schemeClr val="accent2"/>
                </a:solidFill>
              </a:rPr>
              <a:t>'echo x'</a:t>
            </a:r>
            <a:endParaRPr lang="ko-KR" altLang="en-US" b="1" dirty="0">
              <a:solidFill>
                <a:schemeClr val="accent2"/>
              </a:solidFill>
            </a:endParaRP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6525940"/>
              </p:ext>
            </p:extLst>
          </p:nvPr>
        </p:nvGraphicFramePr>
        <p:xfrm>
          <a:off x="1032529" y="1613717"/>
          <a:ext cx="1954877" cy="195528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954877">
                  <a:extLst>
                    <a:ext uri="{9D8B030D-6E8A-4147-A177-3AD203B41FA5}">
                      <a16:colId xmlns:a16="http://schemas.microsoft.com/office/drawing/2014/main" val="252031173"/>
                    </a:ext>
                  </a:extLst>
                </a:gridCol>
              </a:tblGrid>
              <a:tr h="32773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threads/</a:t>
                      </a:r>
                      <a:r>
                        <a:rPr lang="en-US" altLang="ko-KR" sz="1600" dirty="0" err="1"/>
                        <a:t>init.c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1363982"/>
                  </a:ext>
                </a:extLst>
              </a:tr>
              <a:tr h="162000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1" dirty="0" err="1">
                          <a:solidFill>
                            <a:schemeClr val="accent2"/>
                          </a:solidFill>
                        </a:rPr>
                        <a:t>int</a:t>
                      </a:r>
                      <a:r>
                        <a:rPr lang="en-US" altLang="ko-KR" sz="1400" b="1" baseline="0" dirty="0">
                          <a:solidFill>
                            <a:schemeClr val="accent2"/>
                          </a:solidFill>
                        </a:rPr>
                        <a:t> main()</a:t>
                      </a:r>
                      <a:r>
                        <a:rPr lang="en-US" altLang="ko-KR" sz="1400" baseline="0" dirty="0"/>
                        <a:t>{</a:t>
                      </a:r>
                    </a:p>
                    <a:p>
                      <a:pPr latinLnBrk="1"/>
                      <a:r>
                        <a:rPr lang="en-US" altLang="ko-KR" sz="1400" baseline="0" dirty="0"/>
                        <a:t>    …</a:t>
                      </a:r>
                    </a:p>
                    <a:p>
                      <a:pPr latinLnBrk="1"/>
                      <a:r>
                        <a:rPr lang="en-US" altLang="ko-KR" sz="1400" baseline="0" dirty="0"/>
                        <a:t>    </a:t>
                      </a:r>
                      <a:r>
                        <a:rPr lang="en-US" altLang="ko-KR" sz="1400" baseline="0" dirty="0" err="1"/>
                        <a:t>syscall_init</a:t>
                      </a:r>
                      <a:r>
                        <a:rPr lang="en-US" altLang="ko-KR" sz="1400" baseline="0" dirty="0"/>
                        <a:t>();</a:t>
                      </a:r>
                    </a:p>
                    <a:p>
                      <a:pPr latinLnBrk="1"/>
                      <a:r>
                        <a:rPr lang="en-US" altLang="ko-KR" sz="1400" baseline="0" dirty="0"/>
                        <a:t>    …</a:t>
                      </a:r>
                    </a:p>
                    <a:p>
                      <a:pPr latinLnBrk="1"/>
                      <a:r>
                        <a:rPr lang="en-US" altLang="ko-KR" sz="1400" baseline="0" dirty="0"/>
                        <a:t>    </a:t>
                      </a:r>
                      <a:r>
                        <a:rPr lang="en-US" altLang="ko-KR" sz="1400" b="1" baseline="0" dirty="0" err="1">
                          <a:solidFill>
                            <a:schemeClr val="accent2"/>
                          </a:solidFill>
                        </a:rPr>
                        <a:t>run_actions</a:t>
                      </a:r>
                      <a:r>
                        <a:rPr lang="en-US" altLang="ko-KR" sz="1400" b="1" baseline="0" dirty="0">
                          <a:solidFill>
                            <a:schemeClr val="accent2"/>
                          </a:solidFill>
                        </a:rPr>
                        <a:t>(</a:t>
                      </a:r>
                      <a:r>
                        <a:rPr lang="en-US" altLang="ko-KR" sz="1400" b="1" baseline="0" dirty="0" err="1">
                          <a:solidFill>
                            <a:schemeClr val="accent2"/>
                          </a:solidFill>
                        </a:rPr>
                        <a:t>argv</a:t>
                      </a:r>
                      <a:r>
                        <a:rPr lang="en-US" altLang="ko-KR" sz="1400" b="1" baseline="0" dirty="0">
                          <a:solidFill>
                            <a:schemeClr val="accent2"/>
                          </a:solidFill>
                        </a:rPr>
                        <a:t>);</a:t>
                      </a:r>
                    </a:p>
                    <a:p>
                      <a:pPr latinLnBrk="1"/>
                      <a:r>
                        <a:rPr lang="en-US" altLang="ko-KR" sz="1400" baseline="0" dirty="0"/>
                        <a:t>    … </a:t>
                      </a:r>
                    </a:p>
                    <a:p>
                      <a:pPr latinLnBrk="1"/>
                      <a:r>
                        <a:rPr lang="en-US" altLang="ko-KR" sz="1400" baseline="0" dirty="0"/>
                        <a:t>}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1230250"/>
                  </a:ext>
                </a:extLst>
              </a:tr>
            </a:tbl>
          </a:graphicData>
        </a:graphic>
      </p:graphicFrame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4271447"/>
              </p:ext>
            </p:extLst>
          </p:nvPr>
        </p:nvGraphicFramePr>
        <p:xfrm>
          <a:off x="6602791" y="1614765"/>
          <a:ext cx="3548149" cy="195528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548149">
                  <a:extLst>
                    <a:ext uri="{9D8B030D-6E8A-4147-A177-3AD203B41FA5}">
                      <a16:colId xmlns:a16="http://schemas.microsoft.com/office/drawing/2014/main" val="252031173"/>
                    </a:ext>
                  </a:extLst>
                </a:gridCol>
              </a:tblGrid>
              <a:tr h="2814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threads/</a:t>
                      </a:r>
                      <a:r>
                        <a:rPr lang="en-US" altLang="ko-KR" sz="1600" dirty="0" err="1"/>
                        <a:t>init.c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1363982"/>
                  </a:ext>
                </a:extLst>
              </a:tr>
              <a:tr h="162000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void </a:t>
                      </a:r>
                      <a:r>
                        <a:rPr lang="en-US" altLang="ko-KR" sz="1400" dirty="0" err="1"/>
                        <a:t>run_task</a:t>
                      </a:r>
                      <a:r>
                        <a:rPr lang="en-US" altLang="ko-KR" sz="1400" dirty="0"/>
                        <a:t>(){</a:t>
                      </a:r>
                    </a:p>
                    <a:p>
                      <a:pPr latinLnBrk="1"/>
                      <a:r>
                        <a:rPr lang="en-US" altLang="ko-KR" sz="1400" baseline="0" dirty="0"/>
                        <a:t>    …</a:t>
                      </a:r>
                    </a:p>
                    <a:p>
                      <a:pPr latinLnBrk="1"/>
                      <a:r>
                        <a:rPr lang="en-US" altLang="ko-KR" sz="1400" b="1" baseline="0" dirty="0"/>
                        <a:t>    </a:t>
                      </a:r>
                      <a:r>
                        <a:rPr lang="en-US" altLang="ko-KR" sz="1400" b="1" baseline="0" dirty="0" err="1">
                          <a:solidFill>
                            <a:schemeClr val="accent2"/>
                          </a:solidFill>
                        </a:rPr>
                        <a:t>process_wait</a:t>
                      </a:r>
                      <a:r>
                        <a:rPr lang="en-US" altLang="ko-KR" sz="1400" b="1" baseline="0" dirty="0">
                          <a:solidFill>
                            <a:schemeClr val="accent2"/>
                          </a:solidFill>
                        </a:rPr>
                        <a:t>(</a:t>
                      </a:r>
                      <a:r>
                        <a:rPr lang="en-US" altLang="ko-KR" sz="1400" b="1" baseline="0" dirty="0" err="1">
                          <a:solidFill>
                            <a:schemeClr val="accent2"/>
                          </a:solidFill>
                        </a:rPr>
                        <a:t>process_execute</a:t>
                      </a:r>
                      <a:r>
                        <a:rPr lang="en-US" altLang="ko-KR" sz="1400" b="1" baseline="0" dirty="0">
                          <a:solidFill>
                            <a:schemeClr val="accent2"/>
                          </a:solidFill>
                        </a:rPr>
                        <a:t>(task));</a:t>
                      </a:r>
                    </a:p>
                    <a:p>
                      <a:pPr latinLnBrk="1"/>
                      <a:r>
                        <a:rPr lang="en-US" altLang="ko-KR" sz="1400" baseline="0" dirty="0"/>
                        <a:t>    ...</a:t>
                      </a:r>
                      <a:endParaRPr lang="en-US" altLang="ko-KR" sz="1400" dirty="0"/>
                    </a:p>
                    <a:p>
                      <a:pPr latinLnBrk="1"/>
                      <a:r>
                        <a:rPr lang="en-US" altLang="ko-KR" sz="1400" dirty="0"/>
                        <a:t>}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1230250"/>
                  </a:ext>
                </a:extLst>
              </a:tr>
            </a:tbl>
          </a:graphicData>
        </a:graphic>
      </p:graphicFrame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6032755"/>
              </p:ext>
            </p:extLst>
          </p:nvPr>
        </p:nvGraphicFramePr>
        <p:xfrm>
          <a:off x="1778396" y="3794123"/>
          <a:ext cx="3241198" cy="217093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241198">
                  <a:extLst>
                    <a:ext uri="{9D8B030D-6E8A-4147-A177-3AD203B41FA5}">
                      <a16:colId xmlns:a16="http://schemas.microsoft.com/office/drawing/2014/main" val="252031173"/>
                    </a:ext>
                  </a:extLst>
                </a:gridCol>
              </a:tblGrid>
              <a:tr h="37225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/>
                        <a:t>userprog</a:t>
                      </a:r>
                      <a:r>
                        <a:rPr lang="en-US" altLang="ko-KR" sz="1600" dirty="0"/>
                        <a:t>/</a:t>
                      </a:r>
                      <a:r>
                        <a:rPr lang="en-US" altLang="ko-KR" sz="1600" dirty="0" err="1"/>
                        <a:t>process.c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1363982"/>
                  </a:ext>
                </a:extLst>
              </a:tr>
              <a:tr h="179867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/>
                        <a:t>tid_t</a:t>
                      </a:r>
                      <a:r>
                        <a:rPr lang="en-US" altLang="ko-KR" sz="1400" dirty="0"/>
                        <a:t> </a:t>
                      </a:r>
                      <a:r>
                        <a:rPr lang="en-US" altLang="ko-KR" sz="1400" dirty="0" err="1"/>
                        <a:t>process_execute</a:t>
                      </a:r>
                      <a:r>
                        <a:rPr lang="en-US" altLang="ko-KR" sz="1400" dirty="0"/>
                        <a:t>(){</a:t>
                      </a:r>
                    </a:p>
                    <a:p>
                      <a:pPr latinLnBrk="1"/>
                      <a:r>
                        <a:rPr lang="en-US" altLang="ko-KR" sz="1400" baseline="0" dirty="0"/>
                        <a:t>    …</a:t>
                      </a:r>
                    </a:p>
                    <a:p>
                      <a:pPr latinLnBrk="1"/>
                      <a:r>
                        <a:rPr lang="en-US" altLang="ko-KR" sz="1400" baseline="0" dirty="0"/>
                        <a:t>    </a:t>
                      </a:r>
                      <a:r>
                        <a:rPr lang="en-US" altLang="ko-KR" sz="1400" baseline="0" dirty="0" err="1"/>
                        <a:t>thread_create</a:t>
                      </a:r>
                      <a:r>
                        <a:rPr lang="en-US" altLang="ko-KR" sz="1400" baseline="0" dirty="0"/>
                        <a:t>(…, </a:t>
                      </a:r>
                      <a:r>
                        <a:rPr lang="en-US" altLang="ko-KR" sz="1400" b="1" baseline="0" dirty="0" err="1">
                          <a:solidFill>
                            <a:schemeClr val="accent2"/>
                          </a:solidFill>
                        </a:rPr>
                        <a:t>start_process</a:t>
                      </a:r>
                      <a:r>
                        <a:rPr lang="en-US" altLang="ko-KR" sz="1400" baseline="0" dirty="0"/>
                        <a:t>, …);</a:t>
                      </a:r>
                    </a:p>
                    <a:p>
                      <a:pPr latinLnBrk="1"/>
                      <a:r>
                        <a:rPr lang="en-US" altLang="ko-KR" sz="1400" baseline="0" dirty="0"/>
                        <a:t>    …</a:t>
                      </a:r>
                    </a:p>
                    <a:p>
                      <a:pPr latinLnBrk="1"/>
                      <a:r>
                        <a:rPr lang="en-US" altLang="ko-KR" sz="1400" dirty="0"/>
                        <a:t>}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1230250"/>
                  </a:ext>
                </a:extLst>
              </a:tr>
            </a:tbl>
          </a:graphicData>
        </a:graphic>
      </p:graphicFrame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9218675"/>
              </p:ext>
            </p:extLst>
          </p:nvPr>
        </p:nvGraphicFramePr>
        <p:xfrm>
          <a:off x="8941031" y="3794123"/>
          <a:ext cx="2567939" cy="2168191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567939">
                  <a:extLst>
                    <a:ext uri="{9D8B030D-6E8A-4147-A177-3AD203B41FA5}">
                      <a16:colId xmlns:a16="http://schemas.microsoft.com/office/drawing/2014/main" val="252031173"/>
                    </a:ext>
                  </a:extLst>
                </a:gridCol>
              </a:tblGrid>
              <a:tr h="3698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/>
                        <a:t>userprog</a:t>
                      </a:r>
                      <a:r>
                        <a:rPr lang="en-US" altLang="ko-KR" sz="1600" dirty="0"/>
                        <a:t>/</a:t>
                      </a:r>
                      <a:r>
                        <a:rPr lang="en-US" altLang="ko-KR" sz="1600" dirty="0" err="1"/>
                        <a:t>process.c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1363982"/>
                  </a:ext>
                </a:extLst>
              </a:tr>
              <a:tr h="162000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bool load(filename, ){</a:t>
                      </a:r>
                    </a:p>
                    <a:p>
                      <a:pPr latinLnBrk="1"/>
                      <a:r>
                        <a:rPr lang="en-US" altLang="ko-KR" sz="1400" dirty="0"/>
                        <a:t>     …</a:t>
                      </a:r>
                    </a:p>
                    <a:p>
                      <a:pPr latinLnBrk="1"/>
                      <a:r>
                        <a:rPr lang="en-US" altLang="ko-KR" sz="1400" dirty="0">
                          <a:solidFill>
                            <a:srgbClr val="0070C0"/>
                          </a:solidFill>
                        </a:rPr>
                        <a:t>     </a:t>
                      </a:r>
                      <a:r>
                        <a:rPr lang="en-US" altLang="ko-KR" sz="1400" b="1" dirty="0" err="1">
                          <a:solidFill>
                            <a:srgbClr val="0070C0"/>
                          </a:solidFill>
                        </a:rPr>
                        <a:t>TODO</a:t>
                      </a:r>
                      <a:r>
                        <a:rPr lang="en-US" altLang="ko-KR" sz="1400" b="1" dirty="0">
                          <a:solidFill>
                            <a:srgbClr val="0070C0"/>
                          </a:solidFill>
                        </a:rPr>
                        <a:t>: parse file</a:t>
                      </a:r>
                      <a:r>
                        <a:rPr lang="en-US" altLang="ko-KR" sz="1400" b="1" baseline="0" dirty="0">
                          <a:solidFill>
                            <a:srgbClr val="0070C0"/>
                          </a:solidFill>
                        </a:rPr>
                        <a:t> name </a:t>
                      </a:r>
                      <a:endParaRPr lang="en-US" altLang="ko-KR" sz="1400" dirty="0">
                        <a:solidFill>
                          <a:srgbClr val="0070C0"/>
                        </a:solidFill>
                      </a:endParaRPr>
                    </a:p>
                    <a:p>
                      <a:pPr latinLnBrk="1"/>
                      <a:r>
                        <a:rPr lang="en-US" altLang="ko-KR" sz="1400" dirty="0"/>
                        <a:t>     </a:t>
                      </a:r>
                      <a:r>
                        <a:rPr lang="en-US" altLang="ko-KR" sz="1400" dirty="0" err="1"/>
                        <a:t>filesys_open</a:t>
                      </a:r>
                      <a:r>
                        <a:rPr lang="en-US" altLang="ko-KR" sz="1400" dirty="0"/>
                        <a:t>(…);</a:t>
                      </a:r>
                    </a:p>
                    <a:p>
                      <a:pPr latinLnBrk="1"/>
                      <a:r>
                        <a:rPr lang="en-US" altLang="ko-KR" sz="1400" dirty="0"/>
                        <a:t>     …</a:t>
                      </a:r>
                    </a:p>
                    <a:p>
                      <a:pPr latinLnBrk="1"/>
                      <a:r>
                        <a:rPr lang="en-US" altLang="ko-KR" sz="1400" dirty="0"/>
                        <a:t>    </a:t>
                      </a:r>
                      <a:r>
                        <a:rPr lang="en-US" altLang="ko-KR" sz="1400" baseline="0" dirty="0"/>
                        <a:t> </a:t>
                      </a:r>
                      <a:r>
                        <a:rPr lang="en-US" altLang="ko-KR" sz="1400" baseline="0" dirty="0" err="1"/>
                        <a:t>setup_stack</a:t>
                      </a:r>
                      <a:r>
                        <a:rPr lang="en-US" altLang="ko-KR" sz="1400" baseline="0" dirty="0"/>
                        <a:t>(</a:t>
                      </a:r>
                      <a:r>
                        <a:rPr lang="en-US" altLang="ko-KR" sz="1400" baseline="0" dirty="0" err="1"/>
                        <a:t>esp</a:t>
                      </a:r>
                      <a:r>
                        <a:rPr lang="en-US" altLang="ko-KR" sz="1400" baseline="0" dirty="0"/>
                        <a:t>);</a:t>
                      </a:r>
                      <a:endParaRPr lang="en-US" altLang="ko-KR" sz="1400" dirty="0"/>
                    </a:p>
                    <a:p>
                      <a:pPr latinLnBrk="1"/>
                      <a:r>
                        <a:rPr lang="en-US" altLang="ko-KR" sz="1400" b="1" dirty="0">
                          <a:solidFill>
                            <a:srgbClr val="0070C0"/>
                          </a:solidFill>
                        </a:rPr>
                        <a:t>     </a:t>
                      </a:r>
                      <a:r>
                        <a:rPr lang="en-US" altLang="ko-KR" sz="1400" b="1" dirty="0" err="1">
                          <a:solidFill>
                            <a:srgbClr val="0070C0"/>
                          </a:solidFill>
                        </a:rPr>
                        <a:t>TODO</a:t>
                      </a:r>
                      <a:r>
                        <a:rPr lang="en-US" altLang="ko-KR" sz="1400" b="1" dirty="0">
                          <a:solidFill>
                            <a:srgbClr val="0070C0"/>
                          </a:solidFill>
                        </a:rPr>
                        <a:t>: construct stack</a:t>
                      </a:r>
                    </a:p>
                    <a:p>
                      <a:pPr latinLnBrk="1"/>
                      <a:r>
                        <a:rPr lang="en-US" altLang="ko-KR" sz="1400" dirty="0"/>
                        <a:t>}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1230250"/>
                  </a:ext>
                </a:extLst>
              </a:tr>
            </a:tbl>
          </a:graphicData>
        </a:graphic>
      </p:graphicFrame>
      <p:graphicFrame>
        <p:nvGraphicFramePr>
          <p:cNvPr id="10" name="표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1699533"/>
              </p:ext>
            </p:extLst>
          </p:nvPr>
        </p:nvGraphicFramePr>
        <p:xfrm>
          <a:off x="5813367" y="3796864"/>
          <a:ext cx="2416232" cy="2168191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416232">
                  <a:extLst>
                    <a:ext uri="{9D8B030D-6E8A-4147-A177-3AD203B41FA5}">
                      <a16:colId xmlns:a16="http://schemas.microsoft.com/office/drawing/2014/main" val="252031173"/>
                    </a:ext>
                  </a:extLst>
                </a:gridCol>
              </a:tblGrid>
              <a:tr h="3717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/>
                        <a:t>userprog</a:t>
                      </a:r>
                      <a:r>
                        <a:rPr lang="en-US" altLang="ko-KR" sz="1600" dirty="0"/>
                        <a:t>/</a:t>
                      </a:r>
                      <a:r>
                        <a:rPr lang="en-US" altLang="ko-KR" sz="1600" dirty="0" err="1"/>
                        <a:t>process.c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1363982"/>
                  </a:ext>
                </a:extLst>
              </a:tr>
              <a:tr h="179640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static void </a:t>
                      </a:r>
                      <a:r>
                        <a:rPr lang="en-US" altLang="ko-KR" sz="1400" dirty="0" err="1"/>
                        <a:t>start_process</a:t>
                      </a:r>
                      <a:r>
                        <a:rPr lang="en-US" altLang="ko-KR" sz="1400" dirty="0"/>
                        <a:t>(){</a:t>
                      </a:r>
                    </a:p>
                    <a:p>
                      <a:pPr latinLnBrk="1"/>
                      <a:r>
                        <a:rPr lang="en-US" altLang="ko-KR" sz="1400" baseline="0" dirty="0"/>
                        <a:t>    …</a:t>
                      </a:r>
                    </a:p>
                    <a:p>
                      <a:pPr latinLnBrk="1"/>
                      <a:r>
                        <a:rPr lang="en-US" altLang="ko-KR" sz="1400" baseline="0" dirty="0"/>
                        <a:t>    </a:t>
                      </a:r>
                      <a:r>
                        <a:rPr lang="en-US" altLang="ko-KR" sz="1400" b="1" baseline="0" dirty="0">
                          <a:solidFill>
                            <a:schemeClr val="accent2"/>
                          </a:solidFill>
                        </a:rPr>
                        <a:t>load(filename);</a:t>
                      </a:r>
                    </a:p>
                    <a:p>
                      <a:pPr latinLnBrk="1"/>
                      <a:r>
                        <a:rPr lang="en-US" altLang="ko-KR" sz="1400" baseline="0" dirty="0"/>
                        <a:t>    ….</a:t>
                      </a:r>
                      <a:endParaRPr lang="en-US" altLang="ko-KR" sz="1400" dirty="0"/>
                    </a:p>
                    <a:p>
                      <a:pPr latinLnBrk="1"/>
                      <a:r>
                        <a:rPr lang="en-US" altLang="ko-KR" sz="1400" dirty="0"/>
                        <a:t>}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1230250"/>
                  </a:ext>
                </a:extLst>
              </a:tr>
            </a:tbl>
          </a:graphicData>
        </a:graphic>
      </p:graphicFrame>
      <p:graphicFrame>
        <p:nvGraphicFramePr>
          <p:cNvPr id="44" name="표 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6379650"/>
              </p:ext>
            </p:extLst>
          </p:nvPr>
        </p:nvGraphicFramePr>
        <p:xfrm>
          <a:off x="3698511" y="1613717"/>
          <a:ext cx="2193175" cy="195528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193175">
                  <a:extLst>
                    <a:ext uri="{9D8B030D-6E8A-4147-A177-3AD203B41FA5}">
                      <a16:colId xmlns:a16="http://schemas.microsoft.com/office/drawing/2014/main" val="252031173"/>
                    </a:ext>
                  </a:extLst>
                </a:gridCol>
              </a:tblGrid>
              <a:tr h="32773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threads/</a:t>
                      </a:r>
                      <a:r>
                        <a:rPr lang="en-US" altLang="ko-KR" sz="1600" dirty="0" err="1"/>
                        <a:t>init.c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1363982"/>
                  </a:ext>
                </a:extLst>
              </a:tr>
              <a:tr h="162000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aseline="0" dirty="0"/>
                        <a:t>Static void </a:t>
                      </a:r>
                      <a:r>
                        <a:rPr lang="en-US" altLang="ko-KR" sz="1400" baseline="0" dirty="0" err="1"/>
                        <a:t>run_actions</a:t>
                      </a:r>
                      <a:r>
                        <a:rPr lang="en-US" altLang="ko-KR" sz="1400" baseline="0" dirty="0"/>
                        <a:t>(){</a:t>
                      </a:r>
                    </a:p>
                    <a:p>
                      <a:pPr latinLnBrk="1"/>
                      <a:r>
                        <a:rPr lang="en-US" altLang="ko-KR" sz="1400" baseline="0" dirty="0"/>
                        <a:t>    …</a:t>
                      </a:r>
                    </a:p>
                    <a:p>
                      <a:pPr latinLnBrk="1"/>
                      <a:r>
                        <a:rPr lang="en-US" altLang="ko-KR" sz="1400" b="1" baseline="0" dirty="0">
                          <a:solidFill>
                            <a:schemeClr val="accent2"/>
                          </a:solidFill>
                        </a:rPr>
                        <a:t>    {“run”, 2, </a:t>
                      </a:r>
                      <a:r>
                        <a:rPr lang="en-US" altLang="ko-KR" sz="1400" b="1" baseline="0" dirty="0" err="1">
                          <a:solidFill>
                            <a:schemeClr val="accent2"/>
                          </a:solidFill>
                        </a:rPr>
                        <a:t>run_task</a:t>
                      </a:r>
                      <a:r>
                        <a:rPr lang="en-US" altLang="ko-KR" sz="1400" b="1" baseline="0" dirty="0">
                          <a:solidFill>
                            <a:schemeClr val="accent2"/>
                          </a:solidFill>
                        </a:rPr>
                        <a:t>}</a:t>
                      </a:r>
                    </a:p>
                    <a:p>
                      <a:pPr latinLnBrk="1"/>
                      <a:r>
                        <a:rPr lang="en-US" altLang="ko-KR" sz="1400" baseline="0" dirty="0"/>
                        <a:t>    … </a:t>
                      </a:r>
                    </a:p>
                    <a:p>
                      <a:pPr latinLnBrk="1"/>
                      <a:r>
                        <a:rPr lang="en-US" altLang="ko-KR" sz="1400" b="1" baseline="0" dirty="0">
                          <a:solidFill>
                            <a:schemeClr val="accent2"/>
                          </a:solidFill>
                        </a:rPr>
                        <a:t>    </a:t>
                      </a:r>
                      <a:r>
                        <a:rPr lang="en-US" altLang="ko-KR" sz="1400" b="1" kern="1200" baseline="0" dirty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a-&gt;function (</a:t>
                      </a:r>
                      <a:r>
                        <a:rPr lang="en-US" altLang="ko-KR" sz="1400" b="1" kern="1200" baseline="0" dirty="0" err="1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argv</a:t>
                      </a:r>
                      <a:r>
                        <a:rPr lang="en-US" altLang="ko-KR" sz="1400" b="1" kern="1200" baseline="0" dirty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);</a:t>
                      </a:r>
                    </a:p>
                    <a:p>
                      <a:pPr latinLnBrk="1"/>
                      <a:r>
                        <a:rPr lang="en-US" altLang="ko-KR" sz="1400" baseline="0" dirty="0"/>
                        <a:t>}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1230250"/>
                  </a:ext>
                </a:extLst>
              </a:tr>
            </a:tbl>
          </a:graphicData>
        </a:graphic>
      </p:graphicFrame>
      <p:sp>
        <p:nvSpPr>
          <p:cNvPr id="7" name="오른쪽 화살표 6"/>
          <p:cNvSpPr/>
          <p:nvPr/>
        </p:nvSpPr>
        <p:spPr>
          <a:xfrm>
            <a:off x="3117273" y="2394065"/>
            <a:ext cx="515389" cy="465513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오른쪽 화살표 14"/>
          <p:cNvSpPr/>
          <p:nvPr/>
        </p:nvSpPr>
        <p:spPr>
          <a:xfrm>
            <a:off x="6031108" y="2394065"/>
            <a:ext cx="515389" cy="465513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오른쪽 화살표 15"/>
          <p:cNvSpPr/>
          <p:nvPr/>
        </p:nvSpPr>
        <p:spPr>
          <a:xfrm>
            <a:off x="1199479" y="4645461"/>
            <a:ext cx="515389" cy="465513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오른쪽 화살표 16"/>
          <p:cNvSpPr/>
          <p:nvPr/>
        </p:nvSpPr>
        <p:spPr>
          <a:xfrm>
            <a:off x="5160028" y="4645461"/>
            <a:ext cx="515389" cy="465513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오른쪽 화살표 17"/>
          <p:cNvSpPr/>
          <p:nvPr/>
        </p:nvSpPr>
        <p:spPr>
          <a:xfrm>
            <a:off x="8348321" y="4645460"/>
            <a:ext cx="515389" cy="465513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A151D0-83D7-5646-B25B-78824B7B0CE7}"/>
              </a:ext>
            </a:extLst>
          </p:cNvPr>
          <p:cNvSpPr txBox="1"/>
          <p:nvPr/>
        </p:nvSpPr>
        <p:spPr>
          <a:xfrm>
            <a:off x="486345" y="6381750"/>
            <a:ext cx="24811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※ Go to </a:t>
            </a:r>
            <a:r>
              <a:rPr lang="en-US" sz="1400" dirty="0">
                <a:hlinkClick r:id="rId2" action="ppaction://hlinksldjump"/>
              </a:rPr>
              <a:t>'Argument Passing'</a:t>
            </a:r>
            <a:endParaRPr lang="en-US" sz="1400" dirty="0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0B77E99F-7D0A-A84B-8CD2-3408EE7186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2656" y="5991138"/>
            <a:ext cx="446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A305A6-A07C-784C-BBE4-67C27A551CE4}" type="slidenum">
              <a:rPr lang="en-US" smtClean="0"/>
              <a:t>11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7BE900-DD6B-1546-8544-E9668C8167AE}"/>
              </a:ext>
            </a:extLst>
          </p:cNvPr>
          <p:cNvSpPr txBox="1"/>
          <p:nvPr/>
        </p:nvSpPr>
        <p:spPr>
          <a:xfrm>
            <a:off x="9103755" y="2086288"/>
            <a:ext cx="8066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'echo x'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4E1C3BB-9413-AD4D-9BE7-3CC4081E25E7}"/>
              </a:ext>
            </a:extLst>
          </p:cNvPr>
          <p:cNvCxnSpPr>
            <a:cxnSpLocks/>
            <a:endCxn id="11" idx="2"/>
          </p:cNvCxnSpPr>
          <p:nvPr/>
        </p:nvCxnSpPr>
        <p:spPr>
          <a:xfrm flipH="1" flipV="1">
            <a:off x="9507071" y="2394065"/>
            <a:ext cx="145976" cy="2925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58591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Code Level Flow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/>
              <a:t>$ pintos --</a:t>
            </a:r>
            <a:r>
              <a:rPr lang="en-US" altLang="ko-KR" dirty="0" err="1"/>
              <a:t>filesys</a:t>
            </a:r>
            <a:r>
              <a:rPr lang="en-US" altLang="ko-KR" dirty="0"/>
              <a:t>-size=2 -p ../examples/echo -a echo -- -f -q run </a:t>
            </a:r>
            <a:r>
              <a:rPr lang="en-US" altLang="ko-KR" b="1" dirty="0">
                <a:solidFill>
                  <a:schemeClr val="accent2"/>
                </a:solidFill>
              </a:rPr>
              <a:t>'echo x'</a:t>
            </a:r>
            <a:endParaRPr lang="ko-KR" altLang="en-US" b="1" dirty="0">
              <a:solidFill>
                <a:schemeClr val="accent2"/>
              </a:solidFill>
            </a:endParaRPr>
          </a:p>
        </p:txBody>
      </p:sp>
      <p:graphicFrame>
        <p:nvGraphicFramePr>
          <p:cNvPr id="4" name="표 3"/>
          <p:cNvGraphicFramePr>
            <a:graphicFrameLocks noGrp="1"/>
          </p:cNvGraphicFramePr>
          <p:nvPr/>
        </p:nvGraphicFramePr>
        <p:xfrm>
          <a:off x="1032529" y="1613717"/>
          <a:ext cx="1954877" cy="195528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954877">
                  <a:extLst>
                    <a:ext uri="{9D8B030D-6E8A-4147-A177-3AD203B41FA5}">
                      <a16:colId xmlns:a16="http://schemas.microsoft.com/office/drawing/2014/main" val="252031173"/>
                    </a:ext>
                  </a:extLst>
                </a:gridCol>
              </a:tblGrid>
              <a:tr h="32773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threads/</a:t>
                      </a:r>
                      <a:r>
                        <a:rPr lang="en-US" altLang="ko-KR" sz="1600" dirty="0" err="1"/>
                        <a:t>init.c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1363982"/>
                  </a:ext>
                </a:extLst>
              </a:tr>
              <a:tr h="162000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1" dirty="0" err="1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int</a:t>
                      </a:r>
                      <a:r>
                        <a:rPr lang="en-US" altLang="ko-KR" sz="14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 main()</a:t>
                      </a:r>
                      <a:r>
                        <a:rPr lang="en-US" altLang="ko-KR" sz="14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{</a:t>
                      </a:r>
                    </a:p>
                    <a:p>
                      <a:pPr latinLnBrk="1"/>
                      <a:r>
                        <a:rPr lang="en-US" altLang="ko-KR" sz="14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    …</a:t>
                      </a:r>
                    </a:p>
                    <a:p>
                      <a:pPr latinLnBrk="1"/>
                      <a:r>
                        <a:rPr lang="en-US" altLang="ko-KR" sz="14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    </a:t>
                      </a:r>
                      <a:r>
                        <a:rPr lang="en-US" altLang="ko-KR" sz="1400" baseline="0" dirty="0" err="1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syscall_init</a:t>
                      </a:r>
                      <a:r>
                        <a:rPr lang="en-US" altLang="ko-KR" sz="14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();</a:t>
                      </a:r>
                    </a:p>
                    <a:p>
                      <a:pPr latinLnBrk="1"/>
                      <a:r>
                        <a:rPr lang="en-US" altLang="ko-KR" sz="14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    …</a:t>
                      </a:r>
                    </a:p>
                    <a:p>
                      <a:pPr latinLnBrk="1"/>
                      <a:r>
                        <a:rPr lang="en-US" altLang="ko-KR" sz="14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    </a:t>
                      </a:r>
                      <a:r>
                        <a:rPr lang="en-US" altLang="ko-KR" sz="1400" b="1" baseline="0" dirty="0" err="1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run_actions</a:t>
                      </a:r>
                      <a:r>
                        <a:rPr lang="en-US" altLang="ko-KR" sz="14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(</a:t>
                      </a:r>
                      <a:r>
                        <a:rPr lang="en-US" altLang="ko-KR" sz="1400" b="1" baseline="0" dirty="0" err="1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argv</a:t>
                      </a:r>
                      <a:r>
                        <a:rPr lang="en-US" altLang="ko-KR" sz="14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);</a:t>
                      </a:r>
                    </a:p>
                    <a:p>
                      <a:pPr latinLnBrk="1"/>
                      <a:r>
                        <a:rPr lang="en-US" altLang="ko-KR" sz="14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    … </a:t>
                      </a:r>
                    </a:p>
                    <a:p>
                      <a:pPr latinLnBrk="1"/>
                      <a:r>
                        <a:rPr lang="en-US" altLang="ko-KR" sz="14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}</a:t>
                      </a:r>
                      <a:endParaRPr lang="ko-KR" altLang="en-US" sz="14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1230250"/>
                  </a:ext>
                </a:extLst>
              </a:tr>
            </a:tbl>
          </a:graphicData>
        </a:graphic>
      </p:graphicFrame>
      <p:graphicFrame>
        <p:nvGraphicFramePr>
          <p:cNvPr id="5" name="표 4"/>
          <p:cNvGraphicFramePr>
            <a:graphicFrameLocks noGrp="1"/>
          </p:cNvGraphicFramePr>
          <p:nvPr/>
        </p:nvGraphicFramePr>
        <p:xfrm>
          <a:off x="6602791" y="1614765"/>
          <a:ext cx="3548149" cy="195528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548149">
                  <a:extLst>
                    <a:ext uri="{9D8B030D-6E8A-4147-A177-3AD203B41FA5}">
                      <a16:colId xmlns:a16="http://schemas.microsoft.com/office/drawing/2014/main" val="252031173"/>
                    </a:ext>
                  </a:extLst>
                </a:gridCol>
              </a:tblGrid>
              <a:tr h="2814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threads/</a:t>
                      </a:r>
                      <a:r>
                        <a:rPr lang="en-US" altLang="ko-KR" sz="1600" dirty="0" err="1"/>
                        <a:t>init.c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1363982"/>
                  </a:ext>
                </a:extLst>
              </a:tr>
              <a:tr h="162000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void </a:t>
                      </a:r>
                      <a:r>
                        <a:rPr lang="en-US" altLang="ko-KR" sz="1400" dirty="0" err="1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run_task</a:t>
                      </a:r>
                      <a:r>
                        <a:rPr lang="en-US" altLang="ko-KR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(){</a:t>
                      </a:r>
                    </a:p>
                    <a:p>
                      <a:pPr latinLnBrk="1"/>
                      <a:r>
                        <a:rPr lang="en-US" altLang="ko-KR" sz="14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    …</a:t>
                      </a:r>
                    </a:p>
                    <a:p>
                      <a:pPr latinLnBrk="1"/>
                      <a:r>
                        <a:rPr lang="en-US" altLang="ko-KR" sz="14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    </a:t>
                      </a:r>
                      <a:r>
                        <a:rPr lang="en-US" altLang="ko-KR" sz="1400" b="1" baseline="0" dirty="0" err="1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process_wait</a:t>
                      </a:r>
                      <a:r>
                        <a:rPr lang="en-US" altLang="ko-KR" sz="14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(</a:t>
                      </a:r>
                      <a:r>
                        <a:rPr lang="en-US" altLang="ko-KR" sz="1400" b="1" baseline="0" dirty="0" err="1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process_execute</a:t>
                      </a:r>
                      <a:r>
                        <a:rPr lang="en-US" altLang="ko-KR" sz="14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(task));</a:t>
                      </a:r>
                    </a:p>
                    <a:p>
                      <a:pPr latinLnBrk="1"/>
                      <a:r>
                        <a:rPr lang="en-US" altLang="ko-KR" sz="14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    ...</a:t>
                      </a:r>
                      <a:endParaRPr lang="en-US" altLang="ko-KR" sz="14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  <a:p>
                      <a:pPr latinLnBrk="1"/>
                      <a:r>
                        <a:rPr lang="en-US" altLang="ko-KR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}</a:t>
                      </a:r>
                      <a:endParaRPr lang="ko-KR" altLang="en-US" sz="14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1230250"/>
                  </a:ext>
                </a:extLst>
              </a:tr>
            </a:tbl>
          </a:graphicData>
        </a:graphic>
      </p:graphicFrame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1735936"/>
              </p:ext>
            </p:extLst>
          </p:nvPr>
        </p:nvGraphicFramePr>
        <p:xfrm>
          <a:off x="1778396" y="3794123"/>
          <a:ext cx="3241198" cy="217093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241198">
                  <a:extLst>
                    <a:ext uri="{9D8B030D-6E8A-4147-A177-3AD203B41FA5}">
                      <a16:colId xmlns:a16="http://schemas.microsoft.com/office/drawing/2014/main" val="252031173"/>
                    </a:ext>
                  </a:extLst>
                </a:gridCol>
              </a:tblGrid>
              <a:tr h="37225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/>
                        <a:t>userprog</a:t>
                      </a:r>
                      <a:r>
                        <a:rPr lang="en-US" altLang="ko-KR" sz="1600" dirty="0"/>
                        <a:t>/</a:t>
                      </a:r>
                      <a:r>
                        <a:rPr lang="en-US" altLang="ko-KR" sz="1600" dirty="0" err="1"/>
                        <a:t>process.c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1363982"/>
                  </a:ext>
                </a:extLst>
              </a:tr>
              <a:tr h="179867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tid_t</a:t>
                      </a:r>
                      <a:r>
                        <a:rPr lang="en-US" altLang="ko-KR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 </a:t>
                      </a:r>
                      <a:r>
                        <a:rPr lang="en-US" altLang="ko-KR" sz="1400" dirty="0" err="1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process_execute</a:t>
                      </a:r>
                      <a:r>
                        <a:rPr lang="en-US" altLang="ko-KR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(){</a:t>
                      </a:r>
                    </a:p>
                    <a:p>
                      <a:pPr latinLnBrk="1"/>
                      <a:r>
                        <a:rPr lang="en-US" altLang="ko-KR" sz="14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    …</a:t>
                      </a:r>
                    </a:p>
                    <a:p>
                      <a:pPr latinLnBrk="1"/>
                      <a:r>
                        <a:rPr lang="en-US" altLang="ko-KR" sz="14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    </a:t>
                      </a:r>
                      <a:r>
                        <a:rPr lang="en-US" altLang="ko-KR" sz="1400" baseline="0" dirty="0" err="1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thread_create</a:t>
                      </a:r>
                      <a:r>
                        <a:rPr lang="en-US" altLang="ko-KR" sz="14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(…, </a:t>
                      </a:r>
                      <a:r>
                        <a:rPr lang="en-US" altLang="ko-KR" sz="1400" b="1" baseline="0" dirty="0" err="1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start_process</a:t>
                      </a:r>
                      <a:r>
                        <a:rPr lang="en-US" altLang="ko-KR" sz="14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, …);</a:t>
                      </a:r>
                    </a:p>
                    <a:p>
                      <a:pPr latinLnBrk="1"/>
                      <a:r>
                        <a:rPr lang="en-US" altLang="ko-KR" sz="14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    …</a:t>
                      </a:r>
                    </a:p>
                    <a:p>
                      <a:pPr latinLnBrk="1"/>
                      <a:r>
                        <a:rPr lang="en-US" altLang="ko-KR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}</a:t>
                      </a:r>
                      <a:endParaRPr lang="ko-KR" altLang="en-US" sz="14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1230250"/>
                  </a:ext>
                </a:extLst>
              </a:tr>
            </a:tbl>
          </a:graphicData>
        </a:graphic>
      </p:graphicFrame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2960554"/>
              </p:ext>
            </p:extLst>
          </p:nvPr>
        </p:nvGraphicFramePr>
        <p:xfrm>
          <a:off x="8941031" y="3794123"/>
          <a:ext cx="2567939" cy="2168191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567939">
                  <a:extLst>
                    <a:ext uri="{9D8B030D-6E8A-4147-A177-3AD203B41FA5}">
                      <a16:colId xmlns:a16="http://schemas.microsoft.com/office/drawing/2014/main" val="252031173"/>
                    </a:ext>
                  </a:extLst>
                </a:gridCol>
              </a:tblGrid>
              <a:tr h="3698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/>
                        <a:t>userprog</a:t>
                      </a:r>
                      <a:r>
                        <a:rPr lang="en-US" altLang="ko-KR" sz="1600" dirty="0"/>
                        <a:t>/</a:t>
                      </a:r>
                      <a:r>
                        <a:rPr lang="en-US" altLang="ko-KR" sz="1600" dirty="0" err="1"/>
                        <a:t>process.c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1363982"/>
                  </a:ext>
                </a:extLst>
              </a:tr>
              <a:tr h="162000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bool load(filename, ){</a:t>
                      </a:r>
                    </a:p>
                    <a:p>
                      <a:pPr latinLnBrk="1"/>
                      <a:r>
                        <a:rPr lang="en-US" altLang="ko-KR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     …</a:t>
                      </a:r>
                    </a:p>
                    <a:p>
                      <a:pPr latinLnBrk="1"/>
                      <a:r>
                        <a:rPr lang="en-US" altLang="ko-KR" sz="1400" b="1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     </a:t>
                      </a:r>
                      <a:r>
                        <a:rPr lang="en-US" altLang="ko-KR" sz="1400" b="1" dirty="0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TODO</a:t>
                      </a:r>
                      <a:r>
                        <a:rPr lang="en-US" altLang="ko-KR" sz="1400" b="1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: parse file</a:t>
                      </a:r>
                      <a:r>
                        <a:rPr lang="en-US" altLang="ko-KR" sz="1400" b="1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 name </a:t>
                      </a:r>
                      <a:endParaRPr lang="en-US" altLang="ko-KR" sz="1400" b="1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  <a:p>
                      <a:pPr latinLnBrk="1"/>
                      <a:r>
                        <a:rPr lang="en-US" altLang="ko-KR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     </a:t>
                      </a:r>
                      <a:r>
                        <a:rPr lang="en-US" altLang="ko-KR" sz="1400" dirty="0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filesys_open</a:t>
                      </a:r>
                      <a:r>
                        <a:rPr lang="en-US" altLang="ko-KR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(…);</a:t>
                      </a:r>
                    </a:p>
                    <a:p>
                      <a:pPr latinLnBrk="1"/>
                      <a:r>
                        <a:rPr lang="en-US" altLang="ko-KR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     …</a:t>
                      </a:r>
                    </a:p>
                    <a:p>
                      <a:pPr latinLnBrk="1"/>
                      <a:r>
                        <a:rPr lang="en-US" altLang="ko-KR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    </a:t>
                      </a:r>
                      <a:r>
                        <a:rPr lang="en-US" altLang="ko-KR" sz="14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altLang="ko-KR" sz="1400" baseline="0" dirty="0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setup_stack</a:t>
                      </a:r>
                      <a:r>
                        <a:rPr lang="en-US" altLang="ko-KR" sz="14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(</a:t>
                      </a:r>
                      <a:r>
                        <a:rPr lang="en-US" altLang="ko-KR" sz="1400" baseline="0" dirty="0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esp</a:t>
                      </a:r>
                      <a:r>
                        <a:rPr lang="en-US" altLang="ko-KR" sz="14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);</a:t>
                      </a:r>
                      <a:endParaRPr lang="en-US" altLang="ko-KR" sz="14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  <a:p>
                      <a:pPr latinLnBrk="1"/>
                      <a:r>
                        <a:rPr lang="en-US" altLang="ko-KR" sz="1400" b="1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    </a:t>
                      </a:r>
                      <a:r>
                        <a:rPr lang="en-US" altLang="ko-KR" sz="1400" b="1" kern="12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TODO</a:t>
                      </a:r>
                      <a:r>
                        <a:rPr lang="en-US" altLang="ko-KR" sz="1400" b="1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: construct stack</a:t>
                      </a:r>
                    </a:p>
                    <a:p>
                      <a:pPr latinLnBrk="1"/>
                      <a:r>
                        <a:rPr lang="en-US" altLang="ko-KR" sz="1400" dirty="0"/>
                        <a:t>}</a:t>
                      </a:r>
                      <a:endParaRPr lang="ko-KR" altLang="en-US" sz="14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1230250"/>
                  </a:ext>
                </a:extLst>
              </a:tr>
            </a:tbl>
          </a:graphicData>
        </a:graphic>
      </p:graphicFrame>
      <p:graphicFrame>
        <p:nvGraphicFramePr>
          <p:cNvPr id="10" name="표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3520750"/>
              </p:ext>
            </p:extLst>
          </p:nvPr>
        </p:nvGraphicFramePr>
        <p:xfrm>
          <a:off x="5813367" y="3796864"/>
          <a:ext cx="2416232" cy="2168191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416232">
                  <a:extLst>
                    <a:ext uri="{9D8B030D-6E8A-4147-A177-3AD203B41FA5}">
                      <a16:colId xmlns:a16="http://schemas.microsoft.com/office/drawing/2014/main" val="252031173"/>
                    </a:ext>
                  </a:extLst>
                </a:gridCol>
              </a:tblGrid>
              <a:tr h="3717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/>
                        <a:t>userprog</a:t>
                      </a:r>
                      <a:r>
                        <a:rPr lang="en-US" altLang="ko-KR" sz="1600" dirty="0"/>
                        <a:t>/</a:t>
                      </a:r>
                      <a:r>
                        <a:rPr lang="en-US" altLang="ko-KR" sz="1600" dirty="0" err="1"/>
                        <a:t>process.c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1363982"/>
                  </a:ext>
                </a:extLst>
              </a:tr>
              <a:tr h="179640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static void </a:t>
                      </a:r>
                      <a:r>
                        <a:rPr lang="en-US" altLang="ko-KR" sz="1400" dirty="0" err="1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start_process</a:t>
                      </a:r>
                      <a:r>
                        <a:rPr lang="en-US" altLang="ko-KR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(){</a:t>
                      </a:r>
                    </a:p>
                    <a:p>
                      <a:pPr latinLnBrk="1"/>
                      <a:r>
                        <a:rPr lang="en-US" altLang="ko-KR" sz="14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    …</a:t>
                      </a:r>
                    </a:p>
                    <a:p>
                      <a:pPr latinLnBrk="1"/>
                      <a:r>
                        <a:rPr lang="en-US" altLang="ko-KR" sz="14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    </a:t>
                      </a:r>
                      <a:r>
                        <a:rPr lang="en-US" altLang="ko-KR" sz="14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load(filename);</a:t>
                      </a:r>
                    </a:p>
                    <a:p>
                      <a:pPr latinLnBrk="1"/>
                      <a:r>
                        <a:rPr lang="en-US" altLang="ko-KR" sz="14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    ….</a:t>
                      </a:r>
                      <a:endParaRPr lang="en-US" altLang="ko-KR" sz="14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  <a:p>
                      <a:pPr latinLnBrk="1"/>
                      <a:r>
                        <a:rPr lang="en-US" altLang="ko-KR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}</a:t>
                      </a:r>
                      <a:endParaRPr lang="ko-KR" altLang="en-US" sz="14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1230250"/>
                  </a:ext>
                </a:extLst>
              </a:tr>
            </a:tbl>
          </a:graphicData>
        </a:graphic>
      </p:graphicFrame>
      <p:graphicFrame>
        <p:nvGraphicFramePr>
          <p:cNvPr id="44" name="표 43"/>
          <p:cNvGraphicFramePr>
            <a:graphicFrameLocks noGrp="1"/>
          </p:cNvGraphicFramePr>
          <p:nvPr/>
        </p:nvGraphicFramePr>
        <p:xfrm>
          <a:off x="3698511" y="1613717"/>
          <a:ext cx="2193175" cy="195528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193175">
                  <a:extLst>
                    <a:ext uri="{9D8B030D-6E8A-4147-A177-3AD203B41FA5}">
                      <a16:colId xmlns:a16="http://schemas.microsoft.com/office/drawing/2014/main" val="252031173"/>
                    </a:ext>
                  </a:extLst>
                </a:gridCol>
              </a:tblGrid>
              <a:tr h="32773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threads/</a:t>
                      </a:r>
                      <a:r>
                        <a:rPr lang="en-US" altLang="ko-KR" sz="1600" dirty="0" err="1"/>
                        <a:t>init.c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1363982"/>
                  </a:ext>
                </a:extLst>
              </a:tr>
              <a:tr h="162000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Static void </a:t>
                      </a:r>
                      <a:r>
                        <a:rPr lang="en-US" altLang="ko-KR" sz="1400" baseline="0" dirty="0" err="1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run_action</a:t>
                      </a:r>
                      <a:r>
                        <a:rPr lang="en-US" altLang="ko-KR" sz="14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(){</a:t>
                      </a:r>
                    </a:p>
                    <a:p>
                      <a:pPr latinLnBrk="1"/>
                      <a:r>
                        <a:rPr lang="en-US" altLang="ko-KR" sz="14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    …</a:t>
                      </a:r>
                    </a:p>
                    <a:p>
                      <a:pPr latinLnBrk="1"/>
                      <a:r>
                        <a:rPr lang="en-US" altLang="ko-KR" sz="14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    {“run”, 2, </a:t>
                      </a:r>
                      <a:r>
                        <a:rPr lang="en-US" altLang="ko-KR" sz="1400" b="1" baseline="0" dirty="0" err="1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run_task</a:t>
                      </a:r>
                      <a:r>
                        <a:rPr lang="en-US" altLang="ko-KR" sz="14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}</a:t>
                      </a:r>
                    </a:p>
                    <a:p>
                      <a:pPr latinLnBrk="1"/>
                      <a:r>
                        <a:rPr lang="en-US" altLang="ko-KR" sz="14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    … </a:t>
                      </a:r>
                    </a:p>
                    <a:p>
                      <a:pPr latinLnBrk="1"/>
                      <a:r>
                        <a:rPr lang="en-US" altLang="ko-KR" sz="14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}</a:t>
                      </a:r>
                      <a:endParaRPr lang="ko-KR" altLang="en-US" sz="14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1230250"/>
                  </a:ext>
                </a:extLst>
              </a:tr>
            </a:tbl>
          </a:graphicData>
        </a:graphic>
      </p:graphicFrame>
      <p:sp>
        <p:nvSpPr>
          <p:cNvPr id="7" name="오른쪽 화살표 6"/>
          <p:cNvSpPr/>
          <p:nvPr/>
        </p:nvSpPr>
        <p:spPr>
          <a:xfrm>
            <a:off x="3117273" y="2394065"/>
            <a:ext cx="515389" cy="465513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오른쪽 화살표 14"/>
          <p:cNvSpPr/>
          <p:nvPr/>
        </p:nvSpPr>
        <p:spPr>
          <a:xfrm>
            <a:off x="6031108" y="2394065"/>
            <a:ext cx="515389" cy="465513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오른쪽 화살표 15"/>
          <p:cNvSpPr/>
          <p:nvPr/>
        </p:nvSpPr>
        <p:spPr>
          <a:xfrm>
            <a:off x="1199479" y="4645461"/>
            <a:ext cx="515389" cy="465513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오른쪽 화살표 16"/>
          <p:cNvSpPr/>
          <p:nvPr/>
        </p:nvSpPr>
        <p:spPr>
          <a:xfrm>
            <a:off x="5160028" y="4645461"/>
            <a:ext cx="515389" cy="465513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오른쪽 화살표 17"/>
          <p:cNvSpPr/>
          <p:nvPr/>
        </p:nvSpPr>
        <p:spPr>
          <a:xfrm>
            <a:off x="8348321" y="4645460"/>
            <a:ext cx="515389" cy="465513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20" name="표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0307575"/>
              </p:ext>
            </p:extLst>
          </p:nvPr>
        </p:nvGraphicFramePr>
        <p:xfrm>
          <a:off x="1296335" y="2198582"/>
          <a:ext cx="3510736" cy="1310640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3510736">
                  <a:extLst>
                    <a:ext uri="{9D8B030D-6E8A-4147-A177-3AD203B41FA5}">
                      <a16:colId xmlns:a16="http://schemas.microsoft.com/office/drawing/2014/main" val="1013775778"/>
                    </a:ext>
                  </a:extLst>
                </a:gridCol>
              </a:tblGrid>
              <a:tr h="78555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>
                          <a:solidFill>
                            <a:schemeClr val="accent2"/>
                          </a:solidFill>
                        </a:rPr>
                        <a:t>Options for pintos utility</a:t>
                      </a:r>
                    </a:p>
                    <a:p>
                      <a:pPr algn="ctr" latinLnBrk="1"/>
                      <a:r>
                        <a:rPr lang="en-US" altLang="ko-KR" sz="1600" b="1" dirty="0">
                          <a:solidFill>
                            <a:schemeClr val="accent2"/>
                          </a:solidFill>
                        </a:rPr>
                        <a:t>'-' for single character option</a:t>
                      </a:r>
                    </a:p>
                    <a:p>
                      <a:pPr algn="ctr" latinLnBrk="1"/>
                      <a:r>
                        <a:rPr lang="en-US" altLang="ko-KR" sz="1600" b="1" dirty="0">
                          <a:solidFill>
                            <a:schemeClr val="accent2"/>
                          </a:solidFill>
                        </a:rPr>
                        <a:t>'--' for multiple characters option</a:t>
                      </a:r>
                    </a:p>
                    <a:p>
                      <a:pPr algn="ctr" latinLnBrk="1"/>
                      <a:r>
                        <a:rPr lang="en-US" altLang="ko-KR" sz="1600" b="1" dirty="0">
                          <a:solidFill>
                            <a:schemeClr val="accent2"/>
                          </a:solidFill>
                        </a:rPr>
                        <a:t>(You can read option executing 'pintos --help')</a:t>
                      </a:r>
                      <a:endParaRPr lang="ko-KR" altLang="en-US" sz="1600" b="1" dirty="0">
                        <a:solidFill>
                          <a:schemeClr val="accent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4179000"/>
                  </a:ext>
                </a:extLst>
              </a:tr>
            </a:tbl>
          </a:graphicData>
        </a:graphic>
      </p:graphicFrame>
      <p:cxnSp>
        <p:nvCxnSpPr>
          <p:cNvPr id="11" name="직선 화살표 연결선 10"/>
          <p:cNvCxnSpPr>
            <a:stCxn id="24" idx="2"/>
            <a:endCxn id="22" idx="0"/>
          </p:cNvCxnSpPr>
          <p:nvPr/>
        </p:nvCxnSpPr>
        <p:spPr>
          <a:xfrm>
            <a:off x="7253488" y="1487714"/>
            <a:ext cx="1955180" cy="710284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/>
          <p:cNvCxnSpPr>
            <a:cxnSpLocks/>
            <a:stCxn id="23" idx="2"/>
            <a:endCxn id="20" idx="0"/>
          </p:cNvCxnSpPr>
          <p:nvPr/>
        </p:nvCxnSpPr>
        <p:spPr>
          <a:xfrm flipH="1">
            <a:off x="3051703" y="1487689"/>
            <a:ext cx="1449662" cy="710893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2" name="표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4810876"/>
              </p:ext>
            </p:extLst>
          </p:nvPr>
        </p:nvGraphicFramePr>
        <p:xfrm>
          <a:off x="7312675" y="2197998"/>
          <a:ext cx="3791987" cy="785557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3791987">
                  <a:extLst>
                    <a:ext uri="{9D8B030D-6E8A-4147-A177-3AD203B41FA5}">
                      <a16:colId xmlns:a16="http://schemas.microsoft.com/office/drawing/2014/main" val="1013775778"/>
                    </a:ext>
                  </a:extLst>
                </a:gridCol>
              </a:tblGrid>
              <a:tr h="78555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>
                          <a:solidFill>
                            <a:schemeClr val="accent2"/>
                          </a:solidFill>
                        </a:rPr>
                        <a:t>Separator between pintos options and Pintos kernel arguments</a:t>
                      </a:r>
                      <a:endParaRPr lang="ko-KR" altLang="en-US" sz="1600" b="1" dirty="0">
                        <a:solidFill>
                          <a:schemeClr val="accent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4179000"/>
                  </a:ext>
                </a:extLst>
              </a:tr>
            </a:tbl>
          </a:graphicData>
        </a:graphic>
      </p:graphicFrame>
      <p:sp>
        <p:nvSpPr>
          <p:cNvPr id="23" name="직사각형 22"/>
          <p:cNvSpPr/>
          <p:nvPr/>
        </p:nvSpPr>
        <p:spPr>
          <a:xfrm>
            <a:off x="1907771" y="1099962"/>
            <a:ext cx="5187187" cy="387727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/>
          <p:cNvSpPr/>
          <p:nvPr/>
        </p:nvSpPr>
        <p:spPr>
          <a:xfrm>
            <a:off x="7111000" y="1099987"/>
            <a:ext cx="284975" cy="387727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Slide Number Placeholder 1">
            <a:extLst>
              <a:ext uri="{FF2B5EF4-FFF2-40B4-BE49-F238E27FC236}">
                <a16:creationId xmlns:a16="http://schemas.microsoft.com/office/drawing/2014/main" id="{BA3A3865-A9BF-FA48-83D4-5E2AD04FD5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2656" y="5991138"/>
            <a:ext cx="446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A305A6-A07C-784C-BBE4-67C27A551CE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176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Code Level Flow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/>
              <a:t>$ pintos --</a:t>
            </a:r>
            <a:r>
              <a:rPr lang="en-US" altLang="ko-KR" dirty="0" err="1"/>
              <a:t>filesys</a:t>
            </a:r>
            <a:r>
              <a:rPr lang="en-US" altLang="ko-KR" dirty="0"/>
              <a:t>-size=2 -p ../examples/echo -a echo -- -f -q run </a:t>
            </a:r>
            <a:r>
              <a:rPr lang="en-US" altLang="ko-KR" b="1" dirty="0">
                <a:solidFill>
                  <a:schemeClr val="accent2"/>
                </a:solidFill>
              </a:rPr>
              <a:t>'echo x'</a:t>
            </a:r>
            <a:endParaRPr lang="ko-KR" altLang="en-US" b="1" dirty="0">
              <a:solidFill>
                <a:schemeClr val="accent2"/>
              </a:solidFill>
            </a:endParaRP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9903046"/>
              </p:ext>
            </p:extLst>
          </p:nvPr>
        </p:nvGraphicFramePr>
        <p:xfrm>
          <a:off x="1032529" y="1613717"/>
          <a:ext cx="1954877" cy="195528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954877">
                  <a:extLst>
                    <a:ext uri="{9D8B030D-6E8A-4147-A177-3AD203B41FA5}">
                      <a16:colId xmlns:a16="http://schemas.microsoft.com/office/drawing/2014/main" val="252031173"/>
                    </a:ext>
                  </a:extLst>
                </a:gridCol>
              </a:tblGrid>
              <a:tr h="32773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threads/</a:t>
                      </a:r>
                      <a:r>
                        <a:rPr lang="en-US" altLang="ko-KR" sz="1600" dirty="0" err="1"/>
                        <a:t>init.c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1363982"/>
                  </a:ext>
                </a:extLst>
              </a:tr>
              <a:tr h="162000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1" dirty="0" err="1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int</a:t>
                      </a:r>
                      <a:r>
                        <a:rPr lang="en-US" altLang="ko-KR" sz="14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 main()</a:t>
                      </a:r>
                      <a:r>
                        <a:rPr lang="en-US" altLang="ko-KR" sz="14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{</a:t>
                      </a:r>
                    </a:p>
                    <a:p>
                      <a:pPr latinLnBrk="1"/>
                      <a:r>
                        <a:rPr lang="en-US" altLang="ko-KR" sz="14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    …</a:t>
                      </a:r>
                    </a:p>
                    <a:p>
                      <a:pPr latinLnBrk="1"/>
                      <a:r>
                        <a:rPr lang="en-US" altLang="ko-KR" sz="14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    </a:t>
                      </a:r>
                      <a:r>
                        <a:rPr lang="en-US" altLang="ko-KR" sz="1400" baseline="0" dirty="0" err="1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syscall_init</a:t>
                      </a:r>
                      <a:r>
                        <a:rPr lang="en-US" altLang="ko-KR" sz="14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();</a:t>
                      </a:r>
                    </a:p>
                    <a:p>
                      <a:pPr latinLnBrk="1"/>
                      <a:r>
                        <a:rPr lang="en-US" altLang="ko-KR" sz="14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    …</a:t>
                      </a:r>
                    </a:p>
                    <a:p>
                      <a:pPr latinLnBrk="1"/>
                      <a:r>
                        <a:rPr lang="en-US" altLang="ko-KR" sz="14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    </a:t>
                      </a:r>
                      <a:r>
                        <a:rPr lang="en-US" altLang="ko-KR" sz="1400" b="1" baseline="0" dirty="0" err="1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run_actions</a:t>
                      </a:r>
                      <a:r>
                        <a:rPr lang="en-US" altLang="ko-KR" sz="14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(</a:t>
                      </a:r>
                      <a:r>
                        <a:rPr lang="en-US" altLang="ko-KR" sz="1400" b="1" baseline="0" dirty="0" err="1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argv</a:t>
                      </a:r>
                      <a:r>
                        <a:rPr lang="en-US" altLang="ko-KR" sz="14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);</a:t>
                      </a:r>
                    </a:p>
                    <a:p>
                      <a:pPr latinLnBrk="1"/>
                      <a:r>
                        <a:rPr lang="en-US" altLang="ko-KR" sz="14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    … </a:t>
                      </a:r>
                    </a:p>
                    <a:p>
                      <a:pPr latinLnBrk="1"/>
                      <a:r>
                        <a:rPr lang="en-US" altLang="ko-KR" sz="14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}</a:t>
                      </a:r>
                      <a:endParaRPr lang="ko-KR" altLang="en-US" sz="14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1230250"/>
                  </a:ext>
                </a:extLst>
              </a:tr>
            </a:tbl>
          </a:graphicData>
        </a:graphic>
      </p:graphicFrame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8228225"/>
              </p:ext>
            </p:extLst>
          </p:nvPr>
        </p:nvGraphicFramePr>
        <p:xfrm>
          <a:off x="6602791" y="1614765"/>
          <a:ext cx="3548149" cy="195528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548149">
                  <a:extLst>
                    <a:ext uri="{9D8B030D-6E8A-4147-A177-3AD203B41FA5}">
                      <a16:colId xmlns:a16="http://schemas.microsoft.com/office/drawing/2014/main" val="252031173"/>
                    </a:ext>
                  </a:extLst>
                </a:gridCol>
              </a:tblGrid>
              <a:tr h="2814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threads/</a:t>
                      </a:r>
                      <a:r>
                        <a:rPr lang="en-US" altLang="ko-KR" sz="1600" dirty="0" err="1"/>
                        <a:t>init.c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1363982"/>
                  </a:ext>
                </a:extLst>
              </a:tr>
              <a:tr h="162000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void </a:t>
                      </a:r>
                      <a:r>
                        <a:rPr lang="en-US" altLang="ko-KR" sz="1400" dirty="0" err="1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run_task</a:t>
                      </a:r>
                      <a:r>
                        <a:rPr lang="en-US" altLang="ko-KR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(){</a:t>
                      </a:r>
                    </a:p>
                    <a:p>
                      <a:pPr latinLnBrk="1"/>
                      <a:r>
                        <a:rPr lang="en-US" altLang="ko-KR" sz="14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    …</a:t>
                      </a:r>
                    </a:p>
                    <a:p>
                      <a:pPr latinLnBrk="1"/>
                      <a:r>
                        <a:rPr lang="en-US" altLang="ko-KR" sz="14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    </a:t>
                      </a:r>
                      <a:r>
                        <a:rPr lang="en-US" altLang="ko-KR" sz="1400" b="1" baseline="0" dirty="0" err="1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process_wait</a:t>
                      </a:r>
                      <a:r>
                        <a:rPr lang="en-US" altLang="ko-KR" sz="14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(</a:t>
                      </a:r>
                      <a:r>
                        <a:rPr lang="en-US" altLang="ko-KR" sz="1400" b="1" baseline="0" dirty="0" err="1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process_execute</a:t>
                      </a:r>
                      <a:r>
                        <a:rPr lang="en-US" altLang="ko-KR" sz="14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(task));</a:t>
                      </a:r>
                    </a:p>
                    <a:p>
                      <a:pPr latinLnBrk="1"/>
                      <a:r>
                        <a:rPr lang="en-US" altLang="ko-KR" sz="14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    ...</a:t>
                      </a:r>
                      <a:endParaRPr lang="en-US" altLang="ko-KR" sz="14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  <a:p>
                      <a:pPr latinLnBrk="1"/>
                      <a:r>
                        <a:rPr lang="en-US" altLang="ko-KR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}</a:t>
                      </a:r>
                      <a:endParaRPr lang="ko-KR" altLang="en-US" sz="14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1230250"/>
                  </a:ext>
                </a:extLst>
              </a:tr>
            </a:tbl>
          </a:graphicData>
        </a:graphic>
      </p:graphicFrame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8276777"/>
              </p:ext>
            </p:extLst>
          </p:nvPr>
        </p:nvGraphicFramePr>
        <p:xfrm>
          <a:off x="1778396" y="3794123"/>
          <a:ext cx="3241198" cy="217093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241198">
                  <a:extLst>
                    <a:ext uri="{9D8B030D-6E8A-4147-A177-3AD203B41FA5}">
                      <a16:colId xmlns:a16="http://schemas.microsoft.com/office/drawing/2014/main" val="252031173"/>
                    </a:ext>
                  </a:extLst>
                </a:gridCol>
              </a:tblGrid>
              <a:tr h="37225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/>
                        <a:t>userprog</a:t>
                      </a:r>
                      <a:r>
                        <a:rPr lang="en-US" altLang="ko-KR" sz="1600" dirty="0"/>
                        <a:t>/</a:t>
                      </a:r>
                      <a:r>
                        <a:rPr lang="en-US" altLang="ko-KR" sz="1600" dirty="0" err="1"/>
                        <a:t>process.c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1363982"/>
                  </a:ext>
                </a:extLst>
              </a:tr>
              <a:tr h="179867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tid_t</a:t>
                      </a:r>
                      <a:r>
                        <a:rPr lang="en-US" altLang="ko-KR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 </a:t>
                      </a:r>
                      <a:r>
                        <a:rPr lang="en-US" altLang="ko-KR" sz="1400" dirty="0" err="1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process_execute</a:t>
                      </a:r>
                      <a:r>
                        <a:rPr lang="en-US" altLang="ko-KR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(){</a:t>
                      </a:r>
                    </a:p>
                    <a:p>
                      <a:pPr latinLnBrk="1"/>
                      <a:r>
                        <a:rPr lang="en-US" altLang="ko-KR" sz="14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    …</a:t>
                      </a:r>
                    </a:p>
                    <a:p>
                      <a:pPr latinLnBrk="1"/>
                      <a:r>
                        <a:rPr lang="en-US" altLang="ko-KR" sz="14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    </a:t>
                      </a:r>
                      <a:r>
                        <a:rPr lang="en-US" altLang="ko-KR" sz="1400" baseline="0" dirty="0" err="1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thread_create</a:t>
                      </a:r>
                      <a:r>
                        <a:rPr lang="en-US" altLang="ko-KR" sz="14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(…, </a:t>
                      </a:r>
                      <a:r>
                        <a:rPr lang="en-US" altLang="ko-KR" sz="1400" b="1" baseline="0" dirty="0" err="1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start_process</a:t>
                      </a:r>
                      <a:r>
                        <a:rPr lang="en-US" altLang="ko-KR" sz="14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, …);</a:t>
                      </a:r>
                    </a:p>
                    <a:p>
                      <a:pPr latinLnBrk="1"/>
                      <a:r>
                        <a:rPr lang="en-US" altLang="ko-KR" sz="14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    …</a:t>
                      </a:r>
                    </a:p>
                    <a:p>
                      <a:pPr latinLnBrk="1"/>
                      <a:r>
                        <a:rPr lang="en-US" altLang="ko-KR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}</a:t>
                      </a:r>
                      <a:endParaRPr lang="ko-KR" altLang="en-US" sz="14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1230250"/>
                  </a:ext>
                </a:extLst>
              </a:tr>
            </a:tbl>
          </a:graphicData>
        </a:graphic>
      </p:graphicFrame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4883207"/>
              </p:ext>
            </p:extLst>
          </p:nvPr>
        </p:nvGraphicFramePr>
        <p:xfrm>
          <a:off x="8941031" y="3794123"/>
          <a:ext cx="2567939" cy="2168191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567939">
                  <a:extLst>
                    <a:ext uri="{9D8B030D-6E8A-4147-A177-3AD203B41FA5}">
                      <a16:colId xmlns:a16="http://schemas.microsoft.com/office/drawing/2014/main" val="252031173"/>
                    </a:ext>
                  </a:extLst>
                </a:gridCol>
              </a:tblGrid>
              <a:tr h="3698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/>
                        <a:t>userprog</a:t>
                      </a:r>
                      <a:r>
                        <a:rPr lang="en-US" altLang="ko-KR" sz="1600" dirty="0"/>
                        <a:t>/</a:t>
                      </a:r>
                      <a:r>
                        <a:rPr lang="en-US" altLang="ko-KR" sz="1600" dirty="0" err="1"/>
                        <a:t>process.c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1363982"/>
                  </a:ext>
                </a:extLst>
              </a:tr>
              <a:tr h="162000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bool load(filename, ){</a:t>
                      </a:r>
                    </a:p>
                    <a:p>
                      <a:pPr latinLnBrk="1"/>
                      <a:r>
                        <a:rPr lang="en-US" altLang="ko-KR" sz="1400" dirty="0"/>
                        <a:t>     …</a:t>
                      </a:r>
                    </a:p>
                    <a:p>
                      <a:pPr latinLnBrk="1"/>
                      <a:r>
                        <a:rPr lang="en-US" altLang="ko-KR" sz="1400" b="1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     </a:t>
                      </a:r>
                      <a:r>
                        <a:rPr lang="en-US" altLang="ko-KR" sz="1400" b="1" kern="1200" dirty="0" err="1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TODO</a:t>
                      </a:r>
                      <a:r>
                        <a:rPr lang="en-US" altLang="ko-KR" sz="1400" b="1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: parse file name</a:t>
                      </a:r>
                    </a:p>
                    <a:p>
                      <a:pPr latinLnBrk="1"/>
                      <a:r>
                        <a:rPr lang="en-US" altLang="ko-KR" sz="1400" dirty="0"/>
                        <a:t>     </a:t>
                      </a:r>
                      <a:r>
                        <a:rPr lang="en-US" altLang="ko-KR" sz="1400" dirty="0" err="1"/>
                        <a:t>filesys_open</a:t>
                      </a:r>
                      <a:r>
                        <a:rPr lang="en-US" altLang="ko-KR" sz="1400" dirty="0"/>
                        <a:t>(…);</a:t>
                      </a:r>
                    </a:p>
                    <a:p>
                      <a:pPr latinLnBrk="1"/>
                      <a:r>
                        <a:rPr lang="en-US" altLang="ko-KR" sz="1400" dirty="0"/>
                        <a:t>     …</a:t>
                      </a:r>
                    </a:p>
                    <a:p>
                      <a:pPr latinLnBrk="1"/>
                      <a:r>
                        <a:rPr lang="en-US" altLang="ko-KR" sz="1400" dirty="0"/>
                        <a:t>    </a:t>
                      </a:r>
                      <a:r>
                        <a:rPr lang="en-US" altLang="ko-KR" sz="1400" baseline="0" dirty="0"/>
                        <a:t> </a:t>
                      </a:r>
                      <a:r>
                        <a:rPr lang="en-US" altLang="ko-KR" sz="1400" baseline="0" dirty="0" err="1"/>
                        <a:t>setup_stack</a:t>
                      </a:r>
                      <a:r>
                        <a:rPr lang="en-US" altLang="ko-KR" sz="1400" baseline="0" dirty="0"/>
                        <a:t>(</a:t>
                      </a:r>
                      <a:r>
                        <a:rPr lang="en-US" altLang="ko-KR" sz="1400" baseline="0" dirty="0" err="1"/>
                        <a:t>esp</a:t>
                      </a:r>
                      <a:r>
                        <a:rPr lang="en-US" altLang="ko-KR" sz="1400" baseline="0" dirty="0"/>
                        <a:t>);</a:t>
                      </a:r>
                      <a:endParaRPr lang="en-US" altLang="ko-KR" sz="1400" dirty="0"/>
                    </a:p>
                    <a:p>
                      <a:pPr latinLnBrk="1"/>
                      <a:r>
                        <a:rPr lang="en-US" altLang="ko-KR" sz="1400" b="1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     </a:t>
                      </a:r>
                      <a:r>
                        <a:rPr lang="en-US" altLang="ko-KR" sz="1400" b="1" kern="1200" dirty="0" err="1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TODO</a:t>
                      </a:r>
                      <a:r>
                        <a:rPr lang="en-US" altLang="ko-KR" sz="1400" b="1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: construct stack</a:t>
                      </a:r>
                    </a:p>
                    <a:p>
                      <a:pPr latinLnBrk="1"/>
                      <a:r>
                        <a:rPr lang="en-US" altLang="ko-KR" sz="1400" dirty="0"/>
                        <a:t>}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1230250"/>
                  </a:ext>
                </a:extLst>
              </a:tr>
            </a:tbl>
          </a:graphicData>
        </a:graphic>
      </p:graphicFrame>
      <p:graphicFrame>
        <p:nvGraphicFramePr>
          <p:cNvPr id="10" name="표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0863173"/>
              </p:ext>
            </p:extLst>
          </p:nvPr>
        </p:nvGraphicFramePr>
        <p:xfrm>
          <a:off x="5813367" y="3796864"/>
          <a:ext cx="2416232" cy="2168191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416232">
                  <a:extLst>
                    <a:ext uri="{9D8B030D-6E8A-4147-A177-3AD203B41FA5}">
                      <a16:colId xmlns:a16="http://schemas.microsoft.com/office/drawing/2014/main" val="252031173"/>
                    </a:ext>
                  </a:extLst>
                </a:gridCol>
              </a:tblGrid>
              <a:tr h="3717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/>
                        <a:t>userprog</a:t>
                      </a:r>
                      <a:r>
                        <a:rPr lang="en-US" altLang="ko-KR" sz="1600" dirty="0"/>
                        <a:t>/</a:t>
                      </a:r>
                      <a:r>
                        <a:rPr lang="en-US" altLang="ko-KR" sz="1600" dirty="0" err="1"/>
                        <a:t>process.c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1363982"/>
                  </a:ext>
                </a:extLst>
              </a:tr>
              <a:tr h="179640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static void </a:t>
                      </a:r>
                      <a:r>
                        <a:rPr lang="en-US" altLang="ko-KR" sz="1400" dirty="0" err="1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start_process</a:t>
                      </a:r>
                      <a:r>
                        <a:rPr lang="en-US" altLang="ko-KR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(){</a:t>
                      </a:r>
                    </a:p>
                    <a:p>
                      <a:pPr latinLnBrk="1"/>
                      <a:r>
                        <a:rPr lang="en-US" altLang="ko-KR" sz="14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    …</a:t>
                      </a:r>
                    </a:p>
                    <a:p>
                      <a:pPr latinLnBrk="1"/>
                      <a:r>
                        <a:rPr lang="en-US" altLang="ko-KR" sz="14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    </a:t>
                      </a:r>
                      <a:r>
                        <a:rPr lang="en-US" altLang="ko-KR" sz="14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load(filename);</a:t>
                      </a:r>
                    </a:p>
                    <a:p>
                      <a:pPr latinLnBrk="1"/>
                      <a:r>
                        <a:rPr lang="en-US" altLang="ko-KR" sz="14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    ….</a:t>
                      </a:r>
                      <a:endParaRPr lang="en-US" altLang="ko-KR" sz="14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  <a:p>
                      <a:pPr latinLnBrk="1"/>
                      <a:r>
                        <a:rPr lang="en-US" altLang="ko-KR" sz="1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}</a:t>
                      </a:r>
                      <a:endParaRPr lang="ko-KR" altLang="en-US" sz="14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1230250"/>
                  </a:ext>
                </a:extLst>
              </a:tr>
            </a:tbl>
          </a:graphicData>
        </a:graphic>
      </p:graphicFrame>
      <p:graphicFrame>
        <p:nvGraphicFramePr>
          <p:cNvPr id="44" name="표 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4304284"/>
              </p:ext>
            </p:extLst>
          </p:nvPr>
        </p:nvGraphicFramePr>
        <p:xfrm>
          <a:off x="3698511" y="1613717"/>
          <a:ext cx="2193175" cy="195528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193175">
                  <a:extLst>
                    <a:ext uri="{9D8B030D-6E8A-4147-A177-3AD203B41FA5}">
                      <a16:colId xmlns:a16="http://schemas.microsoft.com/office/drawing/2014/main" val="252031173"/>
                    </a:ext>
                  </a:extLst>
                </a:gridCol>
              </a:tblGrid>
              <a:tr h="32773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threads/</a:t>
                      </a:r>
                      <a:r>
                        <a:rPr lang="en-US" altLang="ko-KR" sz="1600" dirty="0" err="1"/>
                        <a:t>init.c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1363982"/>
                  </a:ext>
                </a:extLst>
              </a:tr>
              <a:tr h="162000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Static void </a:t>
                      </a:r>
                      <a:r>
                        <a:rPr lang="en-US" altLang="ko-KR" sz="1400" baseline="0" dirty="0" err="1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run_action</a:t>
                      </a:r>
                      <a:r>
                        <a:rPr lang="en-US" altLang="ko-KR" sz="14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(){</a:t>
                      </a:r>
                    </a:p>
                    <a:p>
                      <a:pPr latinLnBrk="1"/>
                      <a:r>
                        <a:rPr lang="en-US" altLang="ko-KR" sz="14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    …</a:t>
                      </a:r>
                    </a:p>
                    <a:p>
                      <a:pPr latinLnBrk="1"/>
                      <a:r>
                        <a:rPr lang="en-US" altLang="ko-KR" sz="14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    {“run”, 2, </a:t>
                      </a:r>
                      <a:r>
                        <a:rPr lang="en-US" altLang="ko-KR" sz="1400" b="1" baseline="0" dirty="0" err="1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run_task</a:t>
                      </a:r>
                      <a:r>
                        <a:rPr lang="en-US" altLang="ko-KR" sz="1400" b="1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}</a:t>
                      </a:r>
                    </a:p>
                    <a:p>
                      <a:pPr latinLnBrk="1"/>
                      <a:r>
                        <a:rPr lang="en-US" altLang="ko-KR" sz="14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    … </a:t>
                      </a:r>
                    </a:p>
                    <a:p>
                      <a:pPr latinLnBrk="1"/>
                      <a:r>
                        <a:rPr lang="en-US" altLang="ko-KR" sz="1400" baseline="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}</a:t>
                      </a:r>
                      <a:endParaRPr lang="ko-KR" altLang="en-US" sz="14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1230250"/>
                  </a:ext>
                </a:extLst>
              </a:tr>
            </a:tbl>
          </a:graphicData>
        </a:graphic>
      </p:graphicFrame>
      <p:sp>
        <p:nvSpPr>
          <p:cNvPr id="7" name="오른쪽 화살표 6"/>
          <p:cNvSpPr/>
          <p:nvPr/>
        </p:nvSpPr>
        <p:spPr>
          <a:xfrm>
            <a:off x="3117273" y="2394065"/>
            <a:ext cx="515389" cy="465513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오른쪽 화살표 14"/>
          <p:cNvSpPr/>
          <p:nvPr/>
        </p:nvSpPr>
        <p:spPr>
          <a:xfrm>
            <a:off x="6031108" y="2394065"/>
            <a:ext cx="515389" cy="465513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오른쪽 화살표 15"/>
          <p:cNvSpPr/>
          <p:nvPr/>
        </p:nvSpPr>
        <p:spPr>
          <a:xfrm>
            <a:off x="1199479" y="4645461"/>
            <a:ext cx="515389" cy="465513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오른쪽 화살표 16"/>
          <p:cNvSpPr/>
          <p:nvPr/>
        </p:nvSpPr>
        <p:spPr>
          <a:xfrm>
            <a:off x="5160028" y="4645461"/>
            <a:ext cx="515389" cy="465513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오른쪽 화살표 17"/>
          <p:cNvSpPr/>
          <p:nvPr/>
        </p:nvSpPr>
        <p:spPr>
          <a:xfrm>
            <a:off x="8348321" y="4645460"/>
            <a:ext cx="515389" cy="465513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9" name="표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8809107"/>
              </p:ext>
            </p:extLst>
          </p:nvPr>
        </p:nvGraphicFramePr>
        <p:xfrm>
          <a:off x="7087254" y="3538759"/>
          <a:ext cx="1342464" cy="2468880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1342464">
                  <a:extLst>
                    <a:ext uri="{9D8B030D-6E8A-4147-A177-3AD203B41FA5}">
                      <a16:colId xmlns:a16="http://schemas.microsoft.com/office/drawing/2014/main" val="4227509602"/>
                    </a:ext>
                  </a:extLst>
                </a:gridCol>
              </a:tblGrid>
              <a:tr h="27424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“x”</a:t>
                      </a:r>
                      <a:endParaRPr lang="ko-KR" altLang="en-US" sz="12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5118822"/>
                  </a:ext>
                </a:extLst>
              </a:tr>
              <a:tr h="27424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“echo”</a:t>
                      </a:r>
                      <a:endParaRPr lang="ko-KR" altLang="en-US" sz="12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0316509"/>
                  </a:ext>
                </a:extLst>
              </a:tr>
              <a:tr h="27424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&lt;word</a:t>
                      </a:r>
                      <a:r>
                        <a:rPr lang="en-US" altLang="ko-KR" sz="1200" b="1" baseline="0" dirty="0"/>
                        <a:t> align</a:t>
                      </a:r>
                      <a:r>
                        <a:rPr lang="en-US" altLang="ko-KR" sz="1200" b="1" dirty="0"/>
                        <a:t>&gt;</a:t>
                      </a:r>
                      <a:endParaRPr lang="ko-KR" altLang="en-US" sz="12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693669"/>
                  </a:ext>
                </a:extLst>
              </a:tr>
              <a:tr h="27424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NULL</a:t>
                      </a:r>
                      <a:endParaRPr lang="ko-KR" altLang="en-US" sz="12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6174726"/>
                  </a:ext>
                </a:extLst>
              </a:tr>
              <a:tr h="27424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&amp;“x”</a:t>
                      </a:r>
                      <a:endParaRPr lang="ko-KR" altLang="en-US" sz="12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6749574"/>
                  </a:ext>
                </a:extLst>
              </a:tr>
              <a:tr h="27424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&amp;“echo”</a:t>
                      </a:r>
                      <a:endParaRPr lang="ko-KR" altLang="en-US" sz="12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0241996"/>
                  </a:ext>
                </a:extLst>
              </a:tr>
              <a:tr h="27424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&amp;</a:t>
                      </a:r>
                      <a:r>
                        <a:rPr lang="en-US" altLang="ko-KR" sz="1200" b="1" dirty="0" err="1"/>
                        <a:t>argv</a:t>
                      </a:r>
                      <a:endParaRPr lang="ko-KR" altLang="en-US" sz="12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674582"/>
                  </a:ext>
                </a:extLst>
              </a:tr>
              <a:tr h="27424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</a:t>
                      </a:r>
                      <a:endParaRPr lang="ko-KR" altLang="en-US" sz="12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7550702"/>
                  </a:ext>
                </a:extLst>
              </a:tr>
              <a:tr h="27424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0</a:t>
                      </a:r>
                      <a:endParaRPr lang="ko-KR" altLang="en-US" sz="12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525647"/>
                  </a:ext>
                </a:extLst>
              </a:tr>
            </a:tbl>
          </a:graphicData>
        </a:graphic>
      </p:graphicFrame>
      <p:graphicFrame>
        <p:nvGraphicFramePr>
          <p:cNvPr id="20" name="표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1524687"/>
              </p:ext>
            </p:extLst>
          </p:nvPr>
        </p:nvGraphicFramePr>
        <p:xfrm>
          <a:off x="9010718" y="3023744"/>
          <a:ext cx="1851327" cy="274320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1851327">
                  <a:extLst>
                    <a:ext uri="{9D8B030D-6E8A-4147-A177-3AD203B41FA5}">
                      <a16:colId xmlns:a16="http://schemas.microsoft.com/office/drawing/2014/main" val="1013775778"/>
                    </a:ext>
                  </a:extLst>
                </a:gridCol>
              </a:tblGrid>
              <a:tr h="2093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“echo” , “x”</a:t>
                      </a:r>
                      <a:endParaRPr lang="ko-KR" altLang="en-US" sz="12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4179000"/>
                  </a:ext>
                </a:extLst>
              </a:tr>
            </a:tbl>
          </a:graphicData>
        </a:graphic>
      </p:graphicFrame>
      <p:cxnSp>
        <p:nvCxnSpPr>
          <p:cNvPr id="11" name="직선 화살표 연결선 10"/>
          <p:cNvCxnSpPr/>
          <p:nvPr/>
        </p:nvCxnSpPr>
        <p:spPr>
          <a:xfrm flipH="1" flipV="1">
            <a:off x="8489079" y="5270269"/>
            <a:ext cx="796238" cy="340823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/>
          <p:cNvCxnSpPr>
            <a:cxnSpLocks/>
          </p:cNvCxnSpPr>
          <p:nvPr/>
        </p:nvCxnSpPr>
        <p:spPr>
          <a:xfrm flipH="1" flipV="1">
            <a:off x="9936381" y="3408219"/>
            <a:ext cx="654679" cy="1237241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D040A74-03C2-CF4C-BB8E-2CC7A0AD915C}"/>
              </a:ext>
            </a:extLst>
          </p:cNvPr>
          <p:cNvSpPr txBox="1"/>
          <p:nvPr/>
        </p:nvSpPr>
        <p:spPr>
          <a:xfrm>
            <a:off x="5299008" y="5976344"/>
            <a:ext cx="59358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Setup user stack based on 80x86 calling convention</a:t>
            </a:r>
          </a:p>
        </p:txBody>
      </p:sp>
      <p:sp>
        <p:nvSpPr>
          <p:cNvPr id="22" name="Slide Number Placeholder 1">
            <a:extLst>
              <a:ext uri="{FF2B5EF4-FFF2-40B4-BE49-F238E27FC236}">
                <a16:creationId xmlns:a16="http://schemas.microsoft.com/office/drawing/2014/main" id="{32640C12-3586-B948-ABC8-4E44CEE3D7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2656" y="5991138"/>
            <a:ext cx="446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A305A6-A07C-784C-BBE4-67C27A551CE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4718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Virtual Memory</a:t>
            </a:r>
            <a:endParaRPr lang="ko-KR" alt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94D83D-2DB6-FF40-9C0C-5496AB0F98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1065E7"/>
                </a:solidFill>
              </a:rPr>
              <a:t>Pintos divides memory into two region, user memory and kernel memory.</a:t>
            </a:r>
          </a:p>
          <a:p>
            <a:r>
              <a:rPr lang="en-US" dirty="0"/>
              <a:t>If we use these memory areas directly, it's </a:t>
            </a:r>
            <a:r>
              <a:rPr lang="en-US" b="1" dirty="0">
                <a:solidFill>
                  <a:srgbClr val="1065E7"/>
                </a:solidFill>
              </a:rPr>
              <a:t>hard to manage memory</a:t>
            </a:r>
            <a:r>
              <a:rPr lang="en-US" dirty="0">
                <a:solidFill>
                  <a:srgbClr val="1065E7"/>
                </a:solidFill>
              </a:rPr>
              <a:t>.</a:t>
            </a:r>
            <a:endParaRPr lang="en-US" b="1" dirty="0">
              <a:solidFill>
                <a:srgbClr val="1065E7"/>
              </a:solidFill>
            </a:endParaRPr>
          </a:p>
          <a:p>
            <a:r>
              <a:rPr lang="en-US" dirty="0"/>
              <a:t>For example, </a:t>
            </a:r>
          </a:p>
          <a:p>
            <a:pPr marL="457200" lvl="1" indent="0">
              <a:buNone/>
            </a:pPr>
            <a:r>
              <a:rPr lang="en-US" altLang="ko-KR" dirty="0"/>
              <a:t>① </a:t>
            </a:r>
            <a:r>
              <a:rPr lang="en-US" altLang="ko-KR" b="1" dirty="0"/>
              <a:t>e</a:t>
            </a:r>
            <a:r>
              <a:rPr lang="en-US" b="1" dirty="0"/>
              <a:t>ach process can damage each other</a:t>
            </a:r>
            <a:r>
              <a:rPr lang="en-US" dirty="0"/>
              <a:t>.</a:t>
            </a:r>
          </a:p>
          <a:p>
            <a:pPr marL="457200" lvl="1" indent="0">
              <a:buNone/>
            </a:pPr>
            <a:r>
              <a:rPr lang="en-US" altLang="ko-KR" dirty="0"/>
              <a:t>②</a:t>
            </a:r>
            <a:r>
              <a:rPr lang="en-US" dirty="0"/>
              <a:t> </a:t>
            </a:r>
            <a:r>
              <a:rPr lang="en-US" b="1" dirty="0"/>
              <a:t>the process can corrupt kernel code </a:t>
            </a:r>
            <a:r>
              <a:rPr lang="en-US" dirty="0"/>
              <a:t>that is critical to running the operating system.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F9B863F-0D62-D444-BCFB-9BD033B19040}"/>
              </a:ext>
            </a:extLst>
          </p:cNvPr>
          <p:cNvSpPr/>
          <p:nvPr/>
        </p:nvSpPr>
        <p:spPr>
          <a:xfrm>
            <a:off x="1349599" y="3378720"/>
            <a:ext cx="1201003" cy="111570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app1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AA76BBB-8B9D-6149-B293-6823807A242B}"/>
              </a:ext>
            </a:extLst>
          </p:cNvPr>
          <p:cNvSpPr/>
          <p:nvPr/>
        </p:nvSpPr>
        <p:spPr>
          <a:xfrm>
            <a:off x="1349599" y="5313291"/>
            <a:ext cx="1201003" cy="7506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kernel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09B6556-7A60-4B48-933B-AD7B6E2D5297}"/>
              </a:ext>
            </a:extLst>
          </p:cNvPr>
          <p:cNvSpPr/>
          <p:nvPr/>
        </p:nvSpPr>
        <p:spPr>
          <a:xfrm>
            <a:off x="1349598" y="4494425"/>
            <a:ext cx="1201003" cy="81886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app2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A4E4163-8DC4-834F-B52E-20477951080B}"/>
              </a:ext>
            </a:extLst>
          </p:cNvPr>
          <p:cNvSpPr/>
          <p:nvPr/>
        </p:nvSpPr>
        <p:spPr>
          <a:xfrm>
            <a:off x="3931301" y="5313290"/>
            <a:ext cx="1201003" cy="7506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kernel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0689E8D-A5D2-FE4E-841E-B2CED435C307}"/>
              </a:ext>
            </a:extLst>
          </p:cNvPr>
          <p:cNvSpPr/>
          <p:nvPr/>
        </p:nvSpPr>
        <p:spPr>
          <a:xfrm>
            <a:off x="3931300" y="4750275"/>
            <a:ext cx="1201003" cy="56301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app2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316FD46-817E-A840-B00F-3C8A2E39BFF0}"/>
              </a:ext>
            </a:extLst>
          </p:cNvPr>
          <p:cNvSpPr/>
          <p:nvPr/>
        </p:nvSpPr>
        <p:spPr>
          <a:xfrm>
            <a:off x="3931301" y="3378718"/>
            <a:ext cx="1201003" cy="137155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app1</a:t>
            </a:r>
          </a:p>
        </p:txBody>
      </p:sp>
      <p:sp>
        <p:nvSpPr>
          <p:cNvPr id="32" name="Right Arrow 31">
            <a:extLst>
              <a:ext uri="{FF2B5EF4-FFF2-40B4-BE49-F238E27FC236}">
                <a16:creationId xmlns:a16="http://schemas.microsoft.com/office/drawing/2014/main" id="{9DE93CD5-6F52-3441-AA6F-F29A722A5FF8}"/>
              </a:ext>
            </a:extLst>
          </p:cNvPr>
          <p:cNvSpPr/>
          <p:nvPr/>
        </p:nvSpPr>
        <p:spPr>
          <a:xfrm>
            <a:off x="2932748" y="4630900"/>
            <a:ext cx="627797" cy="313899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781AC77-33AB-C646-B0D3-B70C9BBBB58B}"/>
              </a:ext>
            </a:extLst>
          </p:cNvPr>
          <p:cNvSpPr/>
          <p:nvPr/>
        </p:nvSpPr>
        <p:spPr>
          <a:xfrm>
            <a:off x="6513001" y="3378718"/>
            <a:ext cx="1201003" cy="111570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app1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E9637BB-5F82-9149-A354-350DA648ACFF}"/>
              </a:ext>
            </a:extLst>
          </p:cNvPr>
          <p:cNvSpPr/>
          <p:nvPr/>
        </p:nvSpPr>
        <p:spPr>
          <a:xfrm>
            <a:off x="6513001" y="5313289"/>
            <a:ext cx="1201003" cy="7506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kernel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907974F-8C69-E444-B82E-19F15B3C9EBF}"/>
              </a:ext>
            </a:extLst>
          </p:cNvPr>
          <p:cNvSpPr/>
          <p:nvPr/>
        </p:nvSpPr>
        <p:spPr>
          <a:xfrm>
            <a:off x="6513000" y="4494423"/>
            <a:ext cx="1201003" cy="81886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app2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C52DE7A-485D-DB4D-876B-60C72E005D9A}"/>
              </a:ext>
            </a:extLst>
          </p:cNvPr>
          <p:cNvSpPr/>
          <p:nvPr/>
        </p:nvSpPr>
        <p:spPr>
          <a:xfrm>
            <a:off x="9094700" y="3378716"/>
            <a:ext cx="1201003" cy="111570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app1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BAB88D8-C8CA-6845-B891-24AAA56CD0C2}"/>
              </a:ext>
            </a:extLst>
          </p:cNvPr>
          <p:cNvSpPr/>
          <p:nvPr/>
        </p:nvSpPr>
        <p:spPr>
          <a:xfrm>
            <a:off x="9094700" y="5586015"/>
            <a:ext cx="1201003" cy="47789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kernel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AB21A83-B5A5-B641-999E-061BC3C7132B}"/>
              </a:ext>
            </a:extLst>
          </p:cNvPr>
          <p:cNvSpPr/>
          <p:nvPr/>
        </p:nvSpPr>
        <p:spPr>
          <a:xfrm>
            <a:off x="9094699" y="4494420"/>
            <a:ext cx="1201003" cy="109159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app2</a:t>
            </a:r>
          </a:p>
        </p:txBody>
      </p:sp>
      <p:sp>
        <p:nvSpPr>
          <p:cNvPr id="39" name="Right Arrow 38">
            <a:extLst>
              <a:ext uri="{FF2B5EF4-FFF2-40B4-BE49-F238E27FC236}">
                <a16:creationId xmlns:a16="http://schemas.microsoft.com/office/drawing/2014/main" id="{BAA34B7A-F029-314B-A4C9-E8605C56DCDC}"/>
              </a:ext>
            </a:extLst>
          </p:cNvPr>
          <p:cNvSpPr/>
          <p:nvPr/>
        </p:nvSpPr>
        <p:spPr>
          <a:xfrm>
            <a:off x="8090452" y="4630900"/>
            <a:ext cx="627797" cy="313899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C2268D4-1E6E-7E47-BA04-0740102958A6}"/>
              </a:ext>
            </a:extLst>
          </p:cNvPr>
          <p:cNvSpPr txBox="1"/>
          <p:nvPr/>
        </p:nvSpPr>
        <p:spPr>
          <a:xfrm>
            <a:off x="3018407" y="4248763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①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7E820E5-5B7A-4B46-B9D2-726ADA7EA920}"/>
              </a:ext>
            </a:extLst>
          </p:cNvPr>
          <p:cNvSpPr/>
          <p:nvPr/>
        </p:nvSpPr>
        <p:spPr>
          <a:xfrm>
            <a:off x="8168857" y="4262411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②</a:t>
            </a:r>
          </a:p>
        </p:txBody>
      </p:sp>
      <p:sp>
        <p:nvSpPr>
          <p:cNvPr id="20" name="Slide Number Placeholder 1">
            <a:extLst>
              <a:ext uri="{FF2B5EF4-FFF2-40B4-BE49-F238E27FC236}">
                <a16:creationId xmlns:a16="http://schemas.microsoft.com/office/drawing/2014/main" id="{8B748204-0A4F-3E46-9940-FF9C37A904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2656" y="5991138"/>
            <a:ext cx="446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A305A6-A07C-784C-BBE4-67C27A551CE4}" type="slidenum">
              <a:rPr lang="en-US" smtClean="0"/>
              <a:t>14</a:t>
            </a:fld>
            <a:endParaRPr lang="en-US"/>
          </a:p>
        </p:txBody>
      </p:sp>
      <p:sp>
        <p:nvSpPr>
          <p:cNvPr id="3" name="Down Arrow 2">
            <a:extLst>
              <a:ext uri="{FF2B5EF4-FFF2-40B4-BE49-F238E27FC236}">
                <a16:creationId xmlns:a16="http://schemas.microsoft.com/office/drawing/2014/main" id="{C65A415B-2ACD-644A-BC7B-07512E73B5F7}"/>
              </a:ext>
            </a:extLst>
          </p:cNvPr>
          <p:cNvSpPr/>
          <p:nvPr/>
        </p:nvSpPr>
        <p:spPr>
          <a:xfrm>
            <a:off x="4379401" y="4284523"/>
            <a:ext cx="304800" cy="368489"/>
          </a:xfrm>
          <a:prstGeom prst="downArrow">
            <a:avLst/>
          </a:prstGeom>
          <a:solidFill>
            <a:srgbClr val="043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Down Arrow 21">
            <a:extLst>
              <a:ext uri="{FF2B5EF4-FFF2-40B4-BE49-F238E27FC236}">
                <a16:creationId xmlns:a16="http://schemas.microsoft.com/office/drawing/2014/main" id="{81CB3A0F-BD6B-1146-89A0-F64C91CE4132}"/>
              </a:ext>
            </a:extLst>
          </p:cNvPr>
          <p:cNvSpPr/>
          <p:nvPr/>
        </p:nvSpPr>
        <p:spPr>
          <a:xfrm>
            <a:off x="9542800" y="5211105"/>
            <a:ext cx="304800" cy="368489"/>
          </a:xfrm>
          <a:prstGeom prst="downArrow">
            <a:avLst/>
          </a:prstGeom>
          <a:solidFill>
            <a:srgbClr val="043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8345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6B76A2-D327-47EA-8A08-F1AA3B119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Virtual Memory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59C3E88-3E17-4E12-AAC8-098502227B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To prevent these problems, operating systems adopt </a:t>
            </a:r>
            <a:r>
              <a:rPr lang="en-US" altLang="ko-KR" b="1" dirty="0"/>
              <a:t>virtual memory system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Because of virtual memory, </a:t>
            </a:r>
            <a:r>
              <a:rPr lang="en-US" altLang="ko-KR" b="1" dirty="0"/>
              <a:t>each process can have its own memory area </a:t>
            </a:r>
            <a:r>
              <a:rPr lang="en-US" altLang="ko-KR" dirty="0"/>
              <a:t>and use it as if the process occupies the whole memory.</a:t>
            </a:r>
          </a:p>
          <a:p>
            <a:pPr>
              <a:lnSpc>
                <a:spcPct val="120000"/>
              </a:lnSpc>
            </a:pPr>
            <a:endParaRPr lang="en-US" altLang="ko-KR" b="1" dirty="0">
              <a:solidFill>
                <a:srgbClr val="1065E7"/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ko-KR" b="1" dirty="0">
                <a:solidFill>
                  <a:srgbClr val="1065E7"/>
                </a:solidFill>
              </a:rPr>
              <a:t>Pintos also manages memory regions by virtual memory</a:t>
            </a:r>
            <a:r>
              <a:rPr lang="en-US" altLang="ko-KR" dirty="0">
                <a:solidFill>
                  <a:srgbClr val="1065E7"/>
                </a:solidFill>
              </a:rPr>
              <a:t>.</a:t>
            </a:r>
            <a:endParaRPr lang="en-US" altLang="ko-KR" b="1" dirty="0">
              <a:solidFill>
                <a:srgbClr val="1065E7"/>
              </a:solidFill>
            </a:endParaRPr>
          </a:p>
          <a:p>
            <a:pPr>
              <a:lnSpc>
                <a:spcPct val="120000"/>
              </a:lnSpc>
            </a:pPr>
            <a:endParaRPr lang="en-US" altLang="ko-KR" dirty="0"/>
          </a:p>
          <a:p>
            <a:pPr>
              <a:lnSpc>
                <a:spcPct val="120000"/>
              </a:lnSpc>
            </a:pPr>
            <a:r>
              <a:rPr lang="en-US" altLang="ko-KR" dirty="0"/>
              <a:t>Virtual memory is also divided into two regions: </a:t>
            </a:r>
            <a:r>
              <a:rPr lang="en-US" altLang="ko-KR" b="1" dirty="0">
                <a:solidFill>
                  <a:srgbClr val="1065E7"/>
                </a:solidFill>
              </a:rPr>
              <a:t>user virtual memory </a:t>
            </a:r>
            <a:r>
              <a:rPr lang="en-US" altLang="ko-KR" dirty="0"/>
              <a:t>and</a:t>
            </a:r>
            <a:r>
              <a:rPr lang="en-US" altLang="ko-KR" b="1" dirty="0">
                <a:solidFill>
                  <a:srgbClr val="0070C0"/>
                </a:solidFill>
              </a:rPr>
              <a:t> </a:t>
            </a:r>
            <a:r>
              <a:rPr lang="en-US" altLang="ko-KR" b="1" dirty="0">
                <a:solidFill>
                  <a:srgbClr val="1065E7"/>
                </a:solidFill>
              </a:rPr>
              <a:t>kernel virtual memory</a:t>
            </a:r>
            <a:r>
              <a:rPr lang="en-US" altLang="ko-KR" dirty="0"/>
              <a:t>.</a:t>
            </a:r>
            <a:endParaRPr lang="en-US" altLang="ko-KR" b="1" dirty="0">
              <a:solidFill>
                <a:srgbClr val="0070C0"/>
              </a:solidFill>
            </a:endParaRPr>
          </a:p>
          <a:p>
            <a:endParaRPr lang="en-US" altLang="ko-KR" b="1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BAF761-674F-484D-8893-66AE7607B2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0A305A6-A07C-784C-BBE4-67C27A551CE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5364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Virtual Memory: Launch Application</a:t>
            </a:r>
            <a:endParaRPr lang="ko-KR" alt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0273AB1-3A99-C042-AAC4-5DD2C14B0E85}"/>
              </a:ext>
            </a:extLst>
          </p:cNvPr>
          <p:cNvSpPr/>
          <p:nvPr/>
        </p:nvSpPr>
        <p:spPr>
          <a:xfrm rot="16200000">
            <a:off x="5930577" y="5609758"/>
            <a:ext cx="171450" cy="781050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D2C18B0-27F2-FD4E-AD31-65FD40139C1B}"/>
              </a:ext>
            </a:extLst>
          </p:cNvPr>
          <p:cNvSpPr/>
          <p:nvPr/>
        </p:nvSpPr>
        <p:spPr>
          <a:xfrm rot="16200000">
            <a:off x="5930577" y="5438308"/>
            <a:ext cx="171450" cy="781050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E559DC4-680B-FD45-8688-BED6E23B9035}"/>
              </a:ext>
            </a:extLst>
          </p:cNvPr>
          <p:cNvSpPr/>
          <p:nvPr/>
        </p:nvSpPr>
        <p:spPr>
          <a:xfrm rot="16200000">
            <a:off x="5930577" y="5266858"/>
            <a:ext cx="171450" cy="781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3D8F3A0-FB3C-3040-B987-9BCC8F3FB019}"/>
              </a:ext>
            </a:extLst>
          </p:cNvPr>
          <p:cNvSpPr/>
          <p:nvPr/>
        </p:nvSpPr>
        <p:spPr>
          <a:xfrm rot="16200000">
            <a:off x="5930577" y="5095408"/>
            <a:ext cx="171450" cy="781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CED39EB-D69D-514F-939C-DE1213F9EAE5}"/>
              </a:ext>
            </a:extLst>
          </p:cNvPr>
          <p:cNvSpPr/>
          <p:nvPr/>
        </p:nvSpPr>
        <p:spPr>
          <a:xfrm rot="16200000">
            <a:off x="5930577" y="4923958"/>
            <a:ext cx="171450" cy="781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0E65F11-C094-794E-BC01-D6939B1E3138}"/>
              </a:ext>
            </a:extLst>
          </p:cNvPr>
          <p:cNvSpPr/>
          <p:nvPr/>
        </p:nvSpPr>
        <p:spPr>
          <a:xfrm rot="16200000">
            <a:off x="5930577" y="4752508"/>
            <a:ext cx="171450" cy="781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DE11BD1-D759-564C-A0B6-713E1350F4E7}"/>
              </a:ext>
            </a:extLst>
          </p:cNvPr>
          <p:cNvSpPr/>
          <p:nvPr/>
        </p:nvSpPr>
        <p:spPr>
          <a:xfrm rot="16200000">
            <a:off x="5930577" y="4581058"/>
            <a:ext cx="171450" cy="781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411CEF7-4ED2-DD4E-A333-4283DCB8D87B}"/>
              </a:ext>
            </a:extLst>
          </p:cNvPr>
          <p:cNvSpPr/>
          <p:nvPr/>
        </p:nvSpPr>
        <p:spPr>
          <a:xfrm rot="16200000">
            <a:off x="5930577" y="4409608"/>
            <a:ext cx="171450" cy="781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FE9EE1C-11B4-8C44-8881-1A79F698B664}"/>
              </a:ext>
            </a:extLst>
          </p:cNvPr>
          <p:cNvSpPr/>
          <p:nvPr/>
        </p:nvSpPr>
        <p:spPr>
          <a:xfrm rot="16200000">
            <a:off x="5930577" y="4238158"/>
            <a:ext cx="171450" cy="781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6873B9B-7F7D-AB40-A3D1-B465CC8AB9BA}"/>
              </a:ext>
            </a:extLst>
          </p:cNvPr>
          <p:cNvSpPr/>
          <p:nvPr/>
        </p:nvSpPr>
        <p:spPr>
          <a:xfrm rot="16200000">
            <a:off x="5930577" y="4066708"/>
            <a:ext cx="171450" cy="781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96E7C80-2E90-E644-9204-B3B1672B448C}"/>
              </a:ext>
            </a:extLst>
          </p:cNvPr>
          <p:cNvSpPr/>
          <p:nvPr/>
        </p:nvSpPr>
        <p:spPr>
          <a:xfrm rot="16200000">
            <a:off x="5930577" y="3895258"/>
            <a:ext cx="171450" cy="781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3D4E120-37C2-DE49-B859-C3C27E43FAA2}"/>
              </a:ext>
            </a:extLst>
          </p:cNvPr>
          <p:cNvSpPr/>
          <p:nvPr/>
        </p:nvSpPr>
        <p:spPr>
          <a:xfrm rot="16200000">
            <a:off x="5930577" y="3723808"/>
            <a:ext cx="171450" cy="781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5D625CF-B065-A841-A968-11E19F941385}"/>
              </a:ext>
            </a:extLst>
          </p:cNvPr>
          <p:cNvSpPr/>
          <p:nvPr/>
        </p:nvSpPr>
        <p:spPr>
          <a:xfrm rot="16200000">
            <a:off x="5930577" y="3552358"/>
            <a:ext cx="171450" cy="781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4F3A6C9-D1A5-BA4F-8B5B-5C359207007E}"/>
              </a:ext>
            </a:extLst>
          </p:cNvPr>
          <p:cNvSpPr/>
          <p:nvPr/>
        </p:nvSpPr>
        <p:spPr>
          <a:xfrm rot="16200000">
            <a:off x="5930577" y="3380908"/>
            <a:ext cx="171450" cy="781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5A81508-FD71-E74D-BD9F-C9BC99B67861}"/>
              </a:ext>
            </a:extLst>
          </p:cNvPr>
          <p:cNvSpPr/>
          <p:nvPr/>
        </p:nvSpPr>
        <p:spPr>
          <a:xfrm rot="16200000">
            <a:off x="5930577" y="3209458"/>
            <a:ext cx="171450" cy="781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AD09C9F-E062-C54E-99BD-D0EDD0EFC5AA}"/>
              </a:ext>
            </a:extLst>
          </p:cNvPr>
          <p:cNvSpPr/>
          <p:nvPr/>
        </p:nvSpPr>
        <p:spPr>
          <a:xfrm rot="16200000">
            <a:off x="5930577" y="3038008"/>
            <a:ext cx="171450" cy="781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24FA2E8-C068-2145-8945-07AC3050D04D}"/>
              </a:ext>
            </a:extLst>
          </p:cNvPr>
          <p:cNvSpPr/>
          <p:nvPr/>
        </p:nvSpPr>
        <p:spPr>
          <a:xfrm rot="16200000">
            <a:off x="5930577" y="2866558"/>
            <a:ext cx="171450" cy="781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A8BC29F-5A9B-6944-91DF-AACBDE6940AA}"/>
              </a:ext>
            </a:extLst>
          </p:cNvPr>
          <p:cNvSpPr/>
          <p:nvPr/>
        </p:nvSpPr>
        <p:spPr>
          <a:xfrm rot="16200000">
            <a:off x="5930577" y="2695108"/>
            <a:ext cx="171450" cy="781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33F66AD-1255-F945-8799-2948E0D6D52F}"/>
              </a:ext>
            </a:extLst>
          </p:cNvPr>
          <p:cNvSpPr/>
          <p:nvPr/>
        </p:nvSpPr>
        <p:spPr>
          <a:xfrm rot="16200000">
            <a:off x="5930577" y="2523658"/>
            <a:ext cx="171450" cy="781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731194D-9EA7-F44A-99FB-94D409B3A005}"/>
              </a:ext>
            </a:extLst>
          </p:cNvPr>
          <p:cNvSpPr/>
          <p:nvPr/>
        </p:nvSpPr>
        <p:spPr>
          <a:xfrm rot="16200000">
            <a:off x="5930577" y="2352208"/>
            <a:ext cx="171450" cy="781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7B7D631-76FC-1B4C-BFC1-8F4A2E38698E}"/>
              </a:ext>
            </a:extLst>
          </p:cNvPr>
          <p:cNvSpPr/>
          <p:nvPr/>
        </p:nvSpPr>
        <p:spPr>
          <a:xfrm rot="16200000">
            <a:off x="5930577" y="2180758"/>
            <a:ext cx="171450" cy="781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4BDC16B-4715-6A46-B974-75BBF4D8D20A}"/>
              </a:ext>
            </a:extLst>
          </p:cNvPr>
          <p:cNvSpPr/>
          <p:nvPr/>
        </p:nvSpPr>
        <p:spPr>
          <a:xfrm rot="16200000">
            <a:off x="5930577" y="2009308"/>
            <a:ext cx="171450" cy="781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4422792-E25C-3C49-A1AD-FF553A023EE6}"/>
              </a:ext>
            </a:extLst>
          </p:cNvPr>
          <p:cNvSpPr/>
          <p:nvPr/>
        </p:nvSpPr>
        <p:spPr>
          <a:xfrm rot="16200000">
            <a:off x="5930577" y="1837858"/>
            <a:ext cx="171450" cy="781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E5095DB-EBC0-CF4E-A40B-2B1120EC521B}"/>
              </a:ext>
            </a:extLst>
          </p:cNvPr>
          <p:cNvSpPr/>
          <p:nvPr/>
        </p:nvSpPr>
        <p:spPr>
          <a:xfrm rot="16200000">
            <a:off x="5930577" y="1666408"/>
            <a:ext cx="171450" cy="781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8FCCAE5-64EA-974C-99A5-A88B643DE508}"/>
              </a:ext>
            </a:extLst>
          </p:cNvPr>
          <p:cNvSpPr/>
          <p:nvPr/>
        </p:nvSpPr>
        <p:spPr>
          <a:xfrm rot="16200000">
            <a:off x="5973438" y="3868049"/>
            <a:ext cx="85725" cy="101888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1587A0E-9E0B-6C43-80C9-CED02AC7C1CE}"/>
              </a:ext>
            </a:extLst>
          </p:cNvPr>
          <p:cNvSpPr txBox="1"/>
          <p:nvPr/>
        </p:nvSpPr>
        <p:spPr>
          <a:xfrm>
            <a:off x="5028131" y="1343928"/>
            <a:ext cx="1976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Physical Memory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7458B783-15A0-B546-89B2-582274C45E4B}"/>
              </a:ext>
            </a:extLst>
          </p:cNvPr>
          <p:cNvSpPr txBox="1"/>
          <p:nvPr/>
        </p:nvSpPr>
        <p:spPr>
          <a:xfrm>
            <a:off x="4876706" y="5869172"/>
            <a:ext cx="6351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0 GB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23DF3443-B289-1341-BA48-95E801DE8E24}"/>
              </a:ext>
            </a:extLst>
          </p:cNvPr>
          <p:cNvSpPr txBox="1"/>
          <p:nvPr/>
        </p:nvSpPr>
        <p:spPr>
          <a:xfrm>
            <a:off x="4876706" y="4186841"/>
            <a:ext cx="6351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 GB</a:t>
            </a:r>
          </a:p>
        </p:txBody>
      </p:sp>
      <p:sp>
        <p:nvSpPr>
          <p:cNvPr id="312" name="TextBox 311">
            <a:extLst>
              <a:ext uri="{FF2B5EF4-FFF2-40B4-BE49-F238E27FC236}">
                <a16:creationId xmlns:a16="http://schemas.microsoft.com/office/drawing/2014/main" id="{431FE6BA-CAF2-B24F-ACD3-E601C4873F6F}"/>
              </a:ext>
            </a:extLst>
          </p:cNvPr>
          <p:cNvSpPr txBox="1"/>
          <p:nvPr/>
        </p:nvSpPr>
        <p:spPr>
          <a:xfrm>
            <a:off x="6406827" y="4381299"/>
            <a:ext cx="10788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/>
              <a:t>↓ Kernel</a:t>
            </a:r>
          </a:p>
        </p:txBody>
      </p:sp>
      <p:sp>
        <p:nvSpPr>
          <p:cNvPr id="313" name="TextBox 312">
            <a:extLst>
              <a:ext uri="{FF2B5EF4-FFF2-40B4-BE49-F238E27FC236}">
                <a16:creationId xmlns:a16="http://schemas.microsoft.com/office/drawing/2014/main" id="{BAA48DC8-5D27-D242-ABED-25EC79EAF205}"/>
              </a:ext>
            </a:extLst>
          </p:cNvPr>
          <p:cNvSpPr txBox="1"/>
          <p:nvPr/>
        </p:nvSpPr>
        <p:spPr>
          <a:xfrm>
            <a:off x="6406827" y="4017564"/>
            <a:ext cx="8996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/>
              <a:t>↑ User</a:t>
            </a:r>
          </a:p>
        </p:txBody>
      </p:sp>
      <p:sp>
        <p:nvSpPr>
          <p:cNvPr id="84" name="Slide Number Placeholder 1">
            <a:extLst>
              <a:ext uri="{FF2B5EF4-FFF2-40B4-BE49-F238E27FC236}">
                <a16:creationId xmlns:a16="http://schemas.microsoft.com/office/drawing/2014/main" id="{30D667F0-CDA7-A247-9B92-956E46FD1F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2656" y="5991138"/>
            <a:ext cx="446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A305A6-A07C-784C-BBE4-67C27A551CE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7733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8" name="Straight Connector 297">
            <a:extLst>
              <a:ext uri="{FF2B5EF4-FFF2-40B4-BE49-F238E27FC236}">
                <a16:creationId xmlns:a16="http://schemas.microsoft.com/office/drawing/2014/main" id="{9A331EA6-D578-2E4E-BFB5-476970FC55AC}"/>
              </a:ext>
            </a:extLst>
          </p:cNvPr>
          <p:cNvCxnSpPr>
            <a:cxnSpLocks/>
          </p:cNvCxnSpPr>
          <p:nvPr/>
        </p:nvCxnSpPr>
        <p:spPr>
          <a:xfrm>
            <a:off x="3657600" y="2667000"/>
            <a:ext cx="522450" cy="120613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0" name="Straight Connector 299">
            <a:extLst>
              <a:ext uri="{FF2B5EF4-FFF2-40B4-BE49-F238E27FC236}">
                <a16:creationId xmlns:a16="http://schemas.microsoft.com/office/drawing/2014/main" id="{C8A7A17C-CF30-9E40-B8CE-18FE5785F17D}"/>
              </a:ext>
            </a:extLst>
          </p:cNvPr>
          <p:cNvCxnSpPr>
            <a:cxnSpLocks/>
          </p:cNvCxnSpPr>
          <p:nvPr/>
        </p:nvCxnSpPr>
        <p:spPr>
          <a:xfrm>
            <a:off x="3657600" y="2485555"/>
            <a:ext cx="1381125" cy="30527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Straight Connector 191">
            <a:extLst>
              <a:ext uri="{FF2B5EF4-FFF2-40B4-BE49-F238E27FC236}">
                <a16:creationId xmlns:a16="http://schemas.microsoft.com/office/drawing/2014/main" id="{3C80C166-734B-8F48-8062-A40AD0149B17}"/>
              </a:ext>
            </a:extLst>
          </p:cNvPr>
          <p:cNvCxnSpPr>
            <a:cxnSpLocks/>
          </p:cNvCxnSpPr>
          <p:nvPr/>
        </p:nvCxnSpPr>
        <p:spPr>
          <a:xfrm flipH="1" flipV="1">
            <a:off x="3669945" y="3716770"/>
            <a:ext cx="1959330" cy="2369705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6A4B8F2E-FFF8-0E42-B342-D2B2ABDECE53}"/>
              </a:ext>
            </a:extLst>
          </p:cNvPr>
          <p:cNvCxnSpPr>
            <a:cxnSpLocks/>
          </p:cNvCxnSpPr>
          <p:nvPr/>
        </p:nvCxnSpPr>
        <p:spPr>
          <a:xfrm flipH="1" flipV="1">
            <a:off x="3669945" y="1992720"/>
            <a:ext cx="1955832" cy="2378786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Virtual Memory: Launch Application</a:t>
            </a:r>
            <a:endParaRPr lang="ko-KR" alt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0273AB1-3A99-C042-AAC4-5DD2C14B0E85}"/>
              </a:ext>
            </a:extLst>
          </p:cNvPr>
          <p:cNvSpPr/>
          <p:nvPr/>
        </p:nvSpPr>
        <p:spPr>
          <a:xfrm rot="16200000">
            <a:off x="5930577" y="5609758"/>
            <a:ext cx="171450" cy="781050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D2C18B0-27F2-FD4E-AD31-65FD40139C1B}"/>
              </a:ext>
            </a:extLst>
          </p:cNvPr>
          <p:cNvSpPr/>
          <p:nvPr/>
        </p:nvSpPr>
        <p:spPr>
          <a:xfrm rot="16200000">
            <a:off x="5930577" y="5438308"/>
            <a:ext cx="171450" cy="781050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E559DC4-680B-FD45-8688-BED6E23B9035}"/>
              </a:ext>
            </a:extLst>
          </p:cNvPr>
          <p:cNvSpPr/>
          <p:nvPr/>
        </p:nvSpPr>
        <p:spPr>
          <a:xfrm rot="16200000">
            <a:off x="5930577" y="5266858"/>
            <a:ext cx="171450" cy="781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3D8F3A0-FB3C-3040-B987-9BCC8F3FB019}"/>
              </a:ext>
            </a:extLst>
          </p:cNvPr>
          <p:cNvSpPr/>
          <p:nvPr/>
        </p:nvSpPr>
        <p:spPr>
          <a:xfrm rot="16200000">
            <a:off x="5930577" y="5095408"/>
            <a:ext cx="171450" cy="781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CED39EB-D69D-514F-939C-DE1213F9EAE5}"/>
              </a:ext>
            </a:extLst>
          </p:cNvPr>
          <p:cNvSpPr/>
          <p:nvPr/>
        </p:nvSpPr>
        <p:spPr>
          <a:xfrm rot="16200000">
            <a:off x="5930577" y="4923958"/>
            <a:ext cx="171450" cy="781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0E65F11-C094-794E-BC01-D6939B1E3138}"/>
              </a:ext>
            </a:extLst>
          </p:cNvPr>
          <p:cNvSpPr/>
          <p:nvPr/>
        </p:nvSpPr>
        <p:spPr>
          <a:xfrm rot="16200000">
            <a:off x="5930577" y="4752508"/>
            <a:ext cx="171450" cy="781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DE11BD1-D759-564C-A0B6-713E1350F4E7}"/>
              </a:ext>
            </a:extLst>
          </p:cNvPr>
          <p:cNvSpPr/>
          <p:nvPr/>
        </p:nvSpPr>
        <p:spPr>
          <a:xfrm rot="16200000">
            <a:off x="5930577" y="4581058"/>
            <a:ext cx="171450" cy="7810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50" dirty="0" err="1"/>
              <a:t>pgd</a:t>
            </a:r>
            <a:endParaRPr lang="en-US" sz="105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411CEF7-4ED2-DD4E-A333-4283DCB8D87B}"/>
              </a:ext>
            </a:extLst>
          </p:cNvPr>
          <p:cNvSpPr/>
          <p:nvPr/>
        </p:nvSpPr>
        <p:spPr>
          <a:xfrm rot="16200000">
            <a:off x="5930577" y="4409608"/>
            <a:ext cx="171450" cy="781050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FE9EE1C-11B4-8C44-8881-1A79F698B664}"/>
              </a:ext>
            </a:extLst>
          </p:cNvPr>
          <p:cNvSpPr/>
          <p:nvPr/>
        </p:nvSpPr>
        <p:spPr>
          <a:xfrm rot="16200000">
            <a:off x="5930577" y="4238158"/>
            <a:ext cx="171450" cy="781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6873B9B-7F7D-AB40-A3D1-B465CC8AB9BA}"/>
              </a:ext>
            </a:extLst>
          </p:cNvPr>
          <p:cNvSpPr/>
          <p:nvPr/>
        </p:nvSpPr>
        <p:spPr>
          <a:xfrm rot="16200000">
            <a:off x="5930577" y="4066708"/>
            <a:ext cx="171450" cy="781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96E7C80-2E90-E644-9204-B3B1672B448C}"/>
              </a:ext>
            </a:extLst>
          </p:cNvPr>
          <p:cNvSpPr/>
          <p:nvPr/>
        </p:nvSpPr>
        <p:spPr>
          <a:xfrm rot="16200000">
            <a:off x="5930577" y="3895258"/>
            <a:ext cx="171450" cy="781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3D4E120-37C2-DE49-B859-C3C27E43FAA2}"/>
              </a:ext>
            </a:extLst>
          </p:cNvPr>
          <p:cNvSpPr/>
          <p:nvPr/>
        </p:nvSpPr>
        <p:spPr>
          <a:xfrm rot="16200000">
            <a:off x="5930577" y="3723808"/>
            <a:ext cx="171450" cy="781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5D625CF-B065-A841-A968-11E19F941385}"/>
              </a:ext>
            </a:extLst>
          </p:cNvPr>
          <p:cNvSpPr/>
          <p:nvPr/>
        </p:nvSpPr>
        <p:spPr>
          <a:xfrm rot="16200000">
            <a:off x="5930577" y="3552358"/>
            <a:ext cx="171450" cy="781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4F3A6C9-D1A5-BA4F-8B5B-5C359207007E}"/>
              </a:ext>
            </a:extLst>
          </p:cNvPr>
          <p:cNvSpPr/>
          <p:nvPr/>
        </p:nvSpPr>
        <p:spPr>
          <a:xfrm rot="16200000">
            <a:off x="5930577" y="3380908"/>
            <a:ext cx="171450" cy="781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5A81508-FD71-E74D-BD9F-C9BC99B67861}"/>
              </a:ext>
            </a:extLst>
          </p:cNvPr>
          <p:cNvSpPr/>
          <p:nvPr/>
        </p:nvSpPr>
        <p:spPr>
          <a:xfrm rot="16200000">
            <a:off x="5930577" y="3209458"/>
            <a:ext cx="171450" cy="781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AD09C9F-E062-C54E-99BD-D0EDD0EFC5AA}"/>
              </a:ext>
            </a:extLst>
          </p:cNvPr>
          <p:cNvSpPr/>
          <p:nvPr/>
        </p:nvSpPr>
        <p:spPr>
          <a:xfrm rot="16200000">
            <a:off x="5930577" y="3038008"/>
            <a:ext cx="171450" cy="781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24FA2E8-C068-2145-8945-07AC3050D04D}"/>
              </a:ext>
            </a:extLst>
          </p:cNvPr>
          <p:cNvSpPr/>
          <p:nvPr/>
        </p:nvSpPr>
        <p:spPr>
          <a:xfrm rot="16200000">
            <a:off x="5930577" y="2866558"/>
            <a:ext cx="171450" cy="781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A8BC29F-5A9B-6944-91DF-AACBDE6940AA}"/>
              </a:ext>
            </a:extLst>
          </p:cNvPr>
          <p:cNvSpPr/>
          <p:nvPr/>
        </p:nvSpPr>
        <p:spPr>
          <a:xfrm rot="16200000">
            <a:off x="5930577" y="2695108"/>
            <a:ext cx="171450" cy="7810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33F66AD-1255-F945-8799-2948E0D6D52F}"/>
              </a:ext>
            </a:extLst>
          </p:cNvPr>
          <p:cNvSpPr/>
          <p:nvPr/>
        </p:nvSpPr>
        <p:spPr>
          <a:xfrm rot="16200000">
            <a:off x="5930577" y="2523658"/>
            <a:ext cx="171450" cy="781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731194D-9EA7-F44A-99FB-94D409B3A005}"/>
              </a:ext>
            </a:extLst>
          </p:cNvPr>
          <p:cNvSpPr/>
          <p:nvPr/>
        </p:nvSpPr>
        <p:spPr>
          <a:xfrm rot="16200000">
            <a:off x="5930577" y="2352208"/>
            <a:ext cx="171450" cy="7810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7B7D631-76FC-1B4C-BFC1-8F4A2E38698E}"/>
              </a:ext>
            </a:extLst>
          </p:cNvPr>
          <p:cNvSpPr/>
          <p:nvPr/>
        </p:nvSpPr>
        <p:spPr>
          <a:xfrm rot="16200000">
            <a:off x="5930577" y="2180758"/>
            <a:ext cx="171450" cy="7810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4BDC16B-4715-6A46-B974-75BBF4D8D20A}"/>
              </a:ext>
            </a:extLst>
          </p:cNvPr>
          <p:cNvSpPr/>
          <p:nvPr/>
        </p:nvSpPr>
        <p:spPr>
          <a:xfrm rot="16200000">
            <a:off x="5930577" y="2009308"/>
            <a:ext cx="171450" cy="781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4422792-E25C-3C49-A1AD-FF553A023EE6}"/>
              </a:ext>
            </a:extLst>
          </p:cNvPr>
          <p:cNvSpPr/>
          <p:nvPr/>
        </p:nvSpPr>
        <p:spPr>
          <a:xfrm rot="16200000">
            <a:off x="5930577" y="1837858"/>
            <a:ext cx="171450" cy="7810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E5095DB-EBC0-CF4E-A40B-2B1120EC521B}"/>
              </a:ext>
            </a:extLst>
          </p:cNvPr>
          <p:cNvSpPr/>
          <p:nvPr/>
        </p:nvSpPr>
        <p:spPr>
          <a:xfrm rot="16200000">
            <a:off x="5930577" y="1666408"/>
            <a:ext cx="171450" cy="7810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8FCCAE5-64EA-974C-99A5-A88B643DE508}"/>
              </a:ext>
            </a:extLst>
          </p:cNvPr>
          <p:cNvSpPr/>
          <p:nvPr/>
        </p:nvSpPr>
        <p:spPr>
          <a:xfrm rot="16200000">
            <a:off x="5973438" y="3868049"/>
            <a:ext cx="85725" cy="101888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1587A0E-9E0B-6C43-80C9-CED02AC7C1CE}"/>
              </a:ext>
            </a:extLst>
          </p:cNvPr>
          <p:cNvSpPr txBox="1"/>
          <p:nvPr/>
        </p:nvSpPr>
        <p:spPr>
          <a:xfrm>
            <a:off x="5028131" y="1343928"/>
            <a:ext cx="1976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Physical Memory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7458B783-15A0-B546-89B2-582274C45E4B}"/>
              </a:ext>
            </a:extLst>
          </p:cNvPr>
          <p:cNvSpPr txBox="1"/>
          <p:nvPr/>
        </p:nvSpPr>
        <p:spPr>
          <a:xfrm>
            <a:off x="4876706" y="5869172"/>
            <a:ext cx="6351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0 GB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23DF3443-B289-1341-BA48-95E801DE8E24}"/>
              </a:ext>
            </a:extLst>
          </p:cNvPr>
          <p:cNvSpPr txBox="1"/>
          <p:nvPr/>
        </p:nvSpPr>
        <p:spPr>
          <a:xfrm>
            <a:off x="4876706" y="4186841"/>
            <a:ext cx="6351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 GB</a:t>
            </a: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44D91ED5-86A1-B847-9FDC-C767455151FF}"/>
              </a:ext>
            </a:extLst>
          </p:cNvPr>
          <p:cNvSpPr/>
          <p:nvPr/>
        </p:nvSpPr>
        <p:spPr>
          <a:xfrm rot="16200000">
            <a:off x="3193695" y="5622262"/>
            <a:ext cx="171450" cy="781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C6F83372-1839-FF46-A386-C1A78C614627}"/>
              </a:ext>
            </a:extLst>
          </p:cNvPr>
          <p:cNvSpPr/>
          <p:nvPr/>
        </p:nvSpPr>
        <p:spPr>
          <a:xfrm rot="16200000">
            <a:off x="3193695" y="5450812"/>
            <a:ext cx="171450" cy="781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04FF29F8-D9D3-9945-8B31-08D5F4BCA05C}"/>
              </a:ext>
            </a:extLst>
          </p:cNvPr>
          <p:cNvSpPr/>
          <p:nvPr/>
        </p:nvSpPr>
        <p:spPr>
          <a:xfrm rot="16200000">
            <a:off x="3193695" y="5279362"/>
            <a:ext cx="171450" cy="781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911032B5-1009-7F49-9D86-1633D76EB414}"/>
              </a:ext>
            </a:extLst>
          </p:cNvPr>
          <p:cNvSpPr/>
          <p:nvPr/>
        </p:nvSpPr>
        <p:spPr>
          <a:xfrm rot="16200000">
            <a:off x="3193695" y="5107912"/>
            <a:ext cx="171450" cy="781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E346CC7B-5D37-DE4F-B4AE-17119FC585F2}"/>
              </a:ext>
            </a:extLst>
          </p:cNvPr>
          <p:cNvSpPr/>
          <p:nvPr/>
        </p:nvSpPr>
        <p:spPr>
          <a:xfrm rot="16200000">
            <a:off x="3193695" y="4936462"/>
            <a:ext cx="171450" cy="781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75F33346-7DA5-034D-83F7-DCD774088899}"/>
              </a:ext>
            </a:extLst>
          </p:cNvPr>
          <p:cNvSpPr/>
          <p:nvPr/>
        </p:nvSpPr>
        <p:spPr>
          <a:xfrm rot="16200000">
            <a:off x="3193695" y="4765012"/>
            <a:ext cx="171450" cy="781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5524D76D-8777-7D40-A0E2-904AB91A42C0}"/>
              </a:ext>
            </a:extLst>
          </p:cNvPr>
          <p:cNvSpPr/>
          <p:nvPr/>
        </p:nvSpPr>
        <p:spPr>
          <a:xfrm rot="16200000">
            <a:off x="3193695" y="4593562"/>
            <a:ext cx="171450" cy="781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1E0D7938-0271-6C42-B392-E6B44211B878}"/>
              </a:ext>
            </a:extLst>
          </p:cNvPr>
          <p:cNvSpPr/>
          <p:nvPr/>
        </p:nvSpPr>
        <p:spPr>
          <a:xfrm rot="16200000">
            <a:off x="3193695" y="4422112"/>
            <a:ext cx="171450" cy="781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4BD7F57D-9A13-924F-8F9D-49F0F3AD8939}"/>
              </a:ext>
            </a:extLst>
          </p:cNvPr>
          <p:cNvSpPr/>
          <p:nvPr/>
        </p:nvSpPr>
        <p:spPr>
          <a:xfrm rot="16200000">
            <a:off x="3193695" y="4250662"/>
            <a:ext cx="171450" cy="7810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4B634C71-602F-CB45-99E5-E3C2781D2601}"/>
              </a:ext>
            </a:extLst>
          </p:cNvPr>
          <p:cNvSpPr/>
          <p:nvPr/>
        </p:nvSpPr>
        <p:spPr>
          <a:xfrm rot="16200000">
            <a:off x="3193695" y="4079212"/>
            <a:ext cx="171450" cy="7810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48C2930E-F767-C54A-A398-252703111F62}"/>
              </a:ext>
            </a:extLst>
          </p:cNvPr>
          <p:cNvSpPr/>
          <p:nvPr/>
        </p:nvSpPr>
        <p:spPr>
          <a:xfrm rot="16200000">
            <a:off x="3193695" y="3907762"/>
            <a:ext cx="171450" cy="781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75D35F13-987A-B942-96C3-F8F3557DCE3C}"/>
              </a:ext>
            </a:extLst>
          </p:cNvPr>
          <p:cNvSpPr/>
          <p:nvPr/>
        </p:nvSpPr>
        <p:spPr>
          <a:xfrm rot="16200000">
            <a:off x="3193695" y="3736312"/>
            <a:ext cx="171450" cy="7810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91E91C3E-690C-EF4B-BA48-79C3E84B1697}"/>
              </a:ext>
            </a:extLst>
          </p:cNvPr>
          <p:cNvSpPr/>
          <p:nvPr/>
        </p:nvSpPr>
        <p:spPr>
          <a:xfrm rot="16200000">
            <a:off x="3193695" y="3564862"/>
            <a:ext cx="171450" cy="7810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495489F7-F8A2-3347-9FC2-693B9CAB84EF}"/>
              </a:ext>
            </a:extLst>
          </p:cNvPr>
          <p:cNvSpPr/>
          <p:nvPr/>
        </p:nvSpPr>
        <p:spPr>
          <a:xfrm rot="16200000">
            <a:off x="3193695" y="3393412"/>
            <a:ext cx="171450" cy="7810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001AEE4E-F25A-3349-9FF5-7AD8E3A703C2}"/>
              </a:ext>
            </a:extLst>
          </p:cNvPr>
          <p:cNvSpPr/>
          <p:nvPr/>
        </p:nvSpPr>
        <p:spPr>
          <a:xfrm rot="16200000">
            <a:off x="3193695" y="3221962"/>
            <a:ext cx="171450" cy="781050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B901AF01-FBCD-B045-9F72-56B771E25C11}"/>
              </a:ext>
            </a:extLst>
          </p:cNvPr>
          <p:cNvSpPr/>
          <p:nvPr/>
        </p:nvSpPr>
        <p:spPr>
          <a:xfrm rot="16200000">
            <a:off x="3193695" y="3050512"/>
            <a:ext cx="171450" cy="781050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E70BAABD-C57D-B348-8EB1-4AF8E22097DA}"/>
              </a:ext>
            </a:extLst>
          </p:cNvPr>
          <p:cNvSpPr/>
          <p:nvPr/>
        </p:nvSpPr>
        <p:spPr>
          <a:xfrm rot="16200000">
            <a:off x="3193695" y="2879062"/>
            <a:ext cx="171450" cy="781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8E1FEB42-FA48-A246-BF55-79A6745948CE}"/>
              </a:ext>
            </a:extLst>
          </p:cNvPr>
          <p:cNvSpPr/>
          <p:nvPr/>
        </p:nvSpPr>
        <p:spPr>
          <a:xfrm rot="16200000">
            <a:off x="3193695" y="2707612"/>
            <a:ext cx="171450" cy="781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64441123-35AF-D743-927F-B3B33B747A74}"/>
              </a:ext>
            </a:extLst>
          </p:cNvPr>
          <p:cNvSpPr/>
          <p:nvPr/>
        </p:nvSpPr>
        <p:spPr>
          <a:xfrm rot="16200000">
            <a:off x="3193695" y="2536162"/>
            <a:ext cx="171450" cy="781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DD467428-B363-574A-88E0-03629B4D4039}"/>
              </a:ext>
            </a:extLst>
          </p:cNvPr>
          <p:cNvSpPr/>
          <p:nvPr/>
        </p:nvSpPr>
        <p:spPr>
          <a:xfrm rot="16200000">
            <a:off x="3193695" y="2364712"/>
            <a:ext cx="171450" cy="781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D03007DB-18B2-CA47-A69F-9D336073048B}"/>
              </a:ext>
            </a:extLst>
          </p:cNvPr>
          <p:cNvSpPr/>
          <p:nvPr/>
        </p:nvSpPr>
        <p:spPr>
          <a:xfrm rot="16200000">
            <a:off x="3193695" y="2193262"/>
            <a:ext cx="171450" cy="7810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50" dirty="0" err="1"/>
              <a:t>pgd</a:t>
            </a:r>
            <a:endParaRPr lang="en-US" sz="1050" dirty="0"/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68E4FAFA-CA21-E54C-AAC5-7E8BB0BBFA6A}"/>
              </a:ext>
            </a:extLst>
          </p:cNvPr>
          <p:cNvSpPr/>
          <p:nvPr/>
        </p:nvSpPr>
        <p:spPr>
          <a:xfrm rot="16200000">
            <a:off x="3193695" y="2021812"/>
            <a:ext cx="171450" cy="781050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AABC1D52-8900-F14D-A724-7D493FE318A8}"/>
              </a:ext>
            </a:extLst>
          </p:cNvPr>
          <p:cNvSpPr/>
          <p:nvPr/>
        </p:nvSpPr>
        <p:spPr>
          <a:xfrm rot="16200000">
            <a:off x="3193695" y="1850362"/>
            <a:ext cx="171450" cy="781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154E799D-1CD2-A54A-BCFE-CBD63C2B3257}"/>
              </a:ext>
            </a:extLst>
          </p:cNvPr>
          <p:cNvSpPr/>
          <p:nvPr/>
        </p:nvSpPr>
        <p:spPr>
          <a:xfrm rot="16200000">
            <a:off x="3193695" y="1678912"/>
            <a:ext cx="171450" cy="781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7D5E543D-D39F-C94E-842B-D04A90F13EF5}"/>
              </a:ext>
            </a:extLst>
          </p:cNvPr>
          <p:cNvSpPr txBox="1"/>
          <p:nvPr/>
        </p:nvSpPr>
        <p:spPr>
          <a:xfrm>
            <a:off x="2351088" y="1236124"/>
            <a:ext cx="18289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Virtual Memory</a:t>
            </a:r>
          </a:p>
          <a:p>
            <a:pPr algn="ctr"/>
            <a:r>
              <a:rPr lang="en-US" dirty="0"/>
              <a:t>App1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99941B55-A83B-CB40-B85B-6DB10122B1B8}"/>
              </a:ext>
            </a:extLst>
          </p:cNvPr>
          <p:cNvSpPr txBox="1"/>
          <p:nvPr/>
        </p:nvSpPr>
        <p:spPr>
          <a:xfrm>
            <a:off x="1817314" y="3513201"/>
            <a:ext cx="6351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3 GB</a:t>
            </a:r>
          </a:p>
        </p:txBody>
      </p:sp>
      <p:cxnSp>
        <p:nvCxnSpPr>
          <p:cNvPr id="246" name="Straight Connector 245">
            <a:extLst>
              <a:ext uri="{FF2B5EF4-FFF2-40B4-BE49-F238E27FC236}">
                <a16:creationId xmlns:a16="http://schemas.microsoft.com/office/drawing/2014/main" id="{3001F005-4282-7443-A4A6-8C266AD542C3}"/>
              </a:ext>
            </a:extLst>
          </p:cNvPr>
          <p:cNvCxnSpPr>
            <a:stCxn id="175" idx="2"/>
            <a:endCxn id="241" idx="1"/>
          </p:cNvCxnSpPr>
          <p:nvPr/>
        </p:nvCxnSpPr>
        <p:spPr>
          <a:xfrm flipV="1">
            <a:off x="3669945" y="3171357"/>
            <a:ext cx="510105" cy="612580"/>
          </a:xfrm>
          <a:prstGeom prst="line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Straight Connector 247">
            <a:extLst>
              <a:ext uri="{FF2B5EF4-FFF2-40B4-BE49-F238E27FC236}">
                <a16:creationId xmlns:a16="http://schemas.microsoft.com/office/drawing/2014/main" id="{7A671E4E-ADE8-D740-83E1-0A214FB2B839}"/>
              </a:ext>
            </a:extLst>
          </p:cNvPr>
          <p:cNvCxnSpPr>
            <a:stCxn id="174" idx="2"/>
            <a:endCxn id="241" idx="1"/>
          </p:cNvCxnSpPr>
          <p:nvPr/>
        </p:nvCxnSpPr>
        <p:spPr>
          <a:xfrm flipV="1">
            <a:off x="3669945" y="3171357"/>
            <a:ext cx="510105" cy="784030"/>
          </a:xfrm>
          <a:prstGeom prst="line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Straight Connector 249">
            <a:extLst>
              <a:ext uri="{FF2B5EF4-FFF2-40B4-BE49-F238E27FC236}">
                <a16:creationId xmlns:a16="http://schemas.microsoft.com/office/drawing/2014/main" id="{438C6E9F-5169-FB40-A677-515B99F59892}"/>
              </a:ext>
            </a:extLst>
          </p:cNvPr>
          <p:cNvCxnSpPr>
            <a:stCxn id="173" idx="2"/>
            <a:endCxn id="241" idx="1"/>
          </p:cNvCxnSpPr>
          <p:nvPr/>
        </p:nvCxnSpPr>
        <p:spPr>
          <a:xfrm flipV="1">
            <a:off x="3669945" y="3171357"/>
            <a:ext cx="510105" cy="955480"/>
          </a:xfrm>
          <a:prstGeom prst="line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Straight Connector 251">
            <a:extLst>
              <a:ext uri="{FF2B5EF4-FFF2-40B4-BE49-F238E27FC236}">
                <a16:creationId xmlns:a16="http://schemas.microsoft.com/office/drawing/2014/main" id="{AE522D2E-0B86-0A41-A071-56DCC7B075D7}"/>
              </a:ext>
            </a:extLst>
          </p:cNvPr>
          <p:cNvCxnSpPr>
            <a:stCxn id="171" idx="2"/>
            <a:endCxn id="241" idx="1"/>
          </p:cNvCxnSpPr>
          <p:nvPr/>
        </p:nvCxnSpPr>
        <p:spPr>
          <a:xfrm flipV="1">
            <a:off x="3669945" y="3171357"/>
            <a:ext cx="510105" cy="1298380"/>
          </a:xfrm>
          <a:prstGeom prst="line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Straight Connector 253">
            <a:extLst>
              <a:ext uri="{FF2B5EF4-FFF2-40B4-BE49-F238E27FC236}">
                <a16:creationId xmlns:a16="http://schemas.microsoft.com/office/drawing/2014/main" id="{0DEC5072-31B0-1348-ABD9-C98F8B6A7112}"/>
              </a:ext>
            </a:extLst>
          </p:cNvPr>
          <p:cNvCxnSpPr>
            <a:stCxn id="170" idx="2"/>
            <a:endCxn id="241" idx="1"/>
          </p:cNvCxnSpPr>
          <p:nvPr/>
        </p:nvCxnSpPr>
        <p:spPr>
          <a:xfrm flipV="1">
            <a:off x="3669945" y="3171357"/>
            <a:ext cx="510105" cy="1469830"/>
          </a:xfrm>
          <a:prstGeom prst="line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Straight Connector 255">
            <a:extLst>
              <a:ext uri="{FF2B5EF4-FFF2-40B4-BE49-F238E27FC236}">
                <a16:creationId xmlns:a16="http://schemas.microsoft.com/office/drawing/2014/main" id="{C680BBF3-2B71-2C44-ACC5-E13EF2B843D8}"/>
              </a:ext>
            </a:extLst>
          </p:cNvPr>
          <p:cNvCxnSpPr>
            <a:stCxn id="241" idx="3"/>
            <a:endCxn id="28" idx="0"/>
          </p:cNvCxnSpPr>
          <p:nvPr/>
        </p:nvCxnSpPr>
        <p:spPr>
          <a:xfrm flipV="1">
            <a:off x="5028131" y="2056933"/>
            <a:ext cx="597646" cy="1114424"/>
          </a:xfrm>
          <a:prstGeom prst="line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Straight Connector 257">
            <a:extLst>
              <a:ext uri="{FF2B5EF4-FFF2-40B4-BE49-F238E27FC236}">
                <a16:creationId xmlns:a16="http://schemas.microsoft.com/office/drawing/2014/main" id="{C16DD788-AA07-0A44-961C-51F875F7FAB7}"/>
              </a:ext>
            </a:extLst>
          </p:cNvPr>
          <p:cNvCxnSpPr>
            <a:stCxn id="241" idx="3"/>
            <a:endCxn id="27" idx="0"/>
          </p:cNvCxnSpPr>
          <p:nvPr/>
        </p:nvCxnSpPr>
        <p:spPr>
          <a:xfrm flipV="1">
            <a:off x="5028131" y="2228383"/>
            <a:ext cx="597646" cy="942974"/>
          </a:xfrm>
          <a:prstGeom prst="line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Straight Connector 259">
            <a:extLst>
              <a:ext uri="{FF2B5EF4-FFF2-40B4-BE49-F238E27FC236}">
                <a16:creationId xmlns:a16="http://schemas.microsoft.com/office/drawing/2014/main" id="{94C99F18-5102-B34C-8CE1-86ABD81647E6}"/>
              </a:ext>
            </a:extLst>
          </p:cNvPr>
          <p:cNvCxnSpPr>
            <a:stCxn id="241" idx="3"/>
            <a:endCxn id="25" idx="0"/>
          </p:cNvCxnSpPr>
          <p:nvPr/>
        </p:nvCxnSpPr>
        <p:spPr>
          <a:xfrm flipV="1">
            <a:off x="5028131" y="2571283"/>
            <a:ext cx="597646" cy="600074"/>
          </a:xfrm>
          <a:prstGeom prst="line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Connector 261">
            <a:extLst>
              <a:ext uri="{FF2B5EF4-FFF2-40B4-BE49-F238E27FC236}">
                <a16:creationId xmlns:a16="http://schemas.microsoft.com/office/drawing/2014/main" id="{EFE77BD1-5483-D44D-91B9-0C4792C04CB8}"/>
              </a:ext>
            </a:extLst>
          </p:cNvPr>
          <p:cNvCxnSpPr>
            <a:stCxn id="241" idx="3"/>
            <a:endCxn id="24" idx="0"/>
          </p:cNvCxnSpPr>
          <p:nvPr/>
        </p:nvCxnSpPr>
        <p:spPr>
          <a:xfrm flipV="1">
            <a:off x="5028131" y="2742733"/>
            <a:ext cx="597646" cy="428624"/>
          </a:xfrm>
          <a:prstGeom prst="line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Straight Connector 263">
            <a:extLst>
              <a:ext uri="{FF2B5EF4-FFF2-40B4-BE49-F238E27FC236}">
                <a16:creationId xmlns:a16="http://schemas.microsoft.com/office/drawing/2014/main" id="{5F741DF1-715B-7B4A-B49D-ECF56B079731}"/>
              </a:ext>
            </a:extLst>
          </p:cNvPr>
          <p:cNvCxnSpPr>
            <a:stCxn id="241" idx="3"/>
            <a:endCxn id="22" idx="0"/>
          </p:cNvCxnSpPr>
          <p:nvPr/>
        </p:nvCxnSpPr>
        <p:spPr>
          <a:xfrm flipV="1">
            <a:off x="5028131" y="3085633"/>
            <a:ext cx="597646" cy="85724"/>
          </a:xfrm>
          <a:prstGeom prst="line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6" name="Rectangle 185">
            <a:extLst>
              <a:ext uri="{FF2B5EF4-FFF2-40B4-BE49-F238E27FC236}">
                <a16:creationId xmlns:a16="http://schemas.microsoft.com/office/drawing/2014/main" id="{3B06147D-C3AE-DC4C-8D95-D62854959154}"/>
              </a:ext>
            </a:extLst>
          </p:cNvPr>
          <p:cNvSpPr/>
          <p:nvPr/>
        </p:nvSpPr>
        <p:spPr>
          <a:xfrm rot="16200000">
            <a:off x="3109821" y="3038801"/>
            <a:ext cx="45719" cy="131236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4" name="Rectangle 313">
            <a:extLst>
              <a:ext uri="{FF2B5EF4-FFF2-40B4-BE49-F238E27FC236}">
                <a16:creationId xmlns:a16="http://schemas.microsoft.com/office/drawing/2014/main" id="{72C4B031-7A89-404E-AA82-D0F2DA566E34}"/>
              </a:ext>
            </a:extLst>
          </p:cNvPr>
          <p:cNvSpPr/>
          <p:nvPr/>
        </p:nvSpPr>
        <p:spPr>
          <a:xfrm>
            <a:off x="940406" y="3543548"/>
            <a:ext cx="97276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>
                <a:solidFill>
                  <a:srgbClr val="C00000"/>
                </a:solidFill>
              </a:rPr>
              <a:t>PHYS_BASE</a:t>
            </a:r>
          </a:p>
        </p:txBody>
      </p:sp>
      <p:sp>
        <p:nvSpPr>
          <p:cNvPr id="315" name="TextBox 314">
            <a:extLst>
              <a:ext uri="{FF2B5EF4-FFF2-40B4-BE49-F238E27FC236}">
                <a16:creationId xmlns:a16="http://schemas.microsoft.com/office/drawing/2014/main" id="{71153C08-B3CF-EC40-8734-2CDBEFE5FA52}"/>
              </a:ext>
            </a:extLst>
          </p:cNvPr>
          <p:cNvSpPr txBox="1"/>
          <p:nvPr/>
        </p:nvSpPr>
        <p:spPr>
          <a:xfrm>
            <a:off x="1798036" y="3200511"/>
            <a:ext cx="10788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/>
              <a:t>Kernel ↑</a:t>
            </a:r>
          </a:p>
        </p:txBody>
      </p:sp>
      <p:sp>
        <p:nvSpPr>
          <p:cNvPr id="316" name="TextBox 315">
            <a:extLst>
              <a:ext uri="{FF2B5EF4-FFF2-40B4-BE49-F238E27FC236}">
                <a16:creationId xmlns:a16="http://schemas.microsoft.com/office/drawing/2014/main" id="{1238BFA6-F157-EB47-A696-130B2822D95E}"/>
              </a:ext>
            </a:extLst>
          </p:cNvPr>
          <p:cNvSpPr txBox="1"/>
          <p:nvPr/>
        </p:nvSpPr>
        <p:spPr>
          <a:xfrm>
            <a:off x="1977252" y="3767172"/>
            <a:ext cx="8996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/>
              <a:t>User ↓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DA2360A-B55A-DE47-9776-E32DC6258EE5}"/>
              </a:ext>
            </a:extLst>
          </p:cNvPr>
          <p:cNvSpPr txBox="1"/>
          <p:nvPr/>
        </p:nvSpPr>
        <p:spPr>
          <a:xfrm>
            <a:off x="9303105" y="2580415"/>
            <a:ext cx="2390775" cy="64633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latinLnBrk="0" hangingPunct="0"/>
            <a:r>
              <a:rPr lang="en-US" dirty="0"/>
              <a:t>Kernel virtual memory is global.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7671FDF9-1AD4-EA4C-A089-BBECE976A7B1}"/>
              </a:ext>
            </a:extLst>
          </p:cNvPr>
          <p:cNvSpPr txBox="1"/>
          <p:nvPr/>
        </p:nvSpPr>
        <p:spPr>
          <a:xfrm>
            <a:off x="2282847" y="1823016"/>
            <a:ext cx="6351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4 GB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C5F6E90C-836C-464F-989D-06E3E593FDE5}"/>
              </a:ext>
            </a:extLst>
          </p:cNvPr>
          <p:cNvSpPr txBox="1"/>
          <p:nvPr/>
        </p:nvSpPr>
        <p:spPr>
          <a:xfrm>
            <a:off x="2282847" y="5869172"/>
            <a:ext cx="6351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0 GB</a:t>
            </a:r>
          </a:p>
        </p:txBody>
      </p:sp>
      <p:sp>
        <p:nvSpPr>
          <p:cNvPr id="84" name="Slide Number Placeholder 1">
            <a:extLst>
              <a:ext uri="{FF2B5EF4-FFF2-40B4-BE49-F238E27FC236}">
                <a16:creationId xmlns:a16="http://schemas.microsoft.com/office/drawing/2014/main" id="{30D667F0-CDA7-A247-9B92-956E46FD1F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2656" y="5991138"/>
            <a:ext cx="446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A305A6-A07C-784C-BBE4-67C27A551CE4}" type="slidenum">
              <a:rPr lang="en-US" smtClean="0"/>
              <a:t>17</a:t>
            </a:fld>
            <a:endParaRPr lang="en-US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D3181F5-AA06-D142-BE2C-0EDB706516AF}"/>
              </a:ext>
            </a:extLst>
          </p:cNvPr>
          <p:cNvSpPr txBox="1"/>
          <p:nvPr/>
        </p:nvSpPr>
        <p:spPr>
          <a:xfrm>
            <a:off x="6406827" y="4381299"/>
            <a:ext cx="10788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/>
              <a:t>↓ Kernel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167DA515-A67F-CE48-83B3-F6E87AF9A70E}"/>
              </a:ext>
            </a:extLst>
          </p:cNvPr>
          <p:cNvSpPr txBox="1"/>
          <p:nvPr/>
        </p:nvSpPr>
        <p:spPr>
          <a:xfrm>
            <a:off x="6406827" y="4017564"/>
            <a:ext cx="8996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/>
              <a:t>↑ User</a:t>
            </a:r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9AEC3A7A-761B-5945-B6BE-D29C0C530466}"/>
              </a:ext>
            </a:extLst>
          </p:cNvPr>
          <p:cNvSpPr/>
          <p:nvPr/>
        </p:nvSpPr>
        <p:spPr>
          <a:xfrm>
            <a:off x="4180050" y="2791881"/>
            <a:ext cx="848081" cy="75895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page</a:t>
            </a:r>
          </a:p>
          <a:p>
            <a:pPr algn="ctr"/>
            <a:r>
              <a:rPr lang="en-US" sz="1200" dirty="0"/>
              <a:t>directory</a:t>
            </a:r>
          </a:p>
          <a:p>
            <a:pPr algn="ctr"/>
            <a:r>
              <a:rPr lang="en-US" sz="1200" dirty="0"/>
              <a:t>for App1</a:t>
            </a:r>
          </a:p>
        </p:txBody>
      </p:sp>
    </p:spTree>
    <p:extLst>
      <p:ext uri="{BB962C8B-B14F-4D97-AF65-F5344CB8AC3E}">
        <p14:creationId xmlns:p14="http://schemas.microsoft.com/office/powerpoint/2010/main" val="21327889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8" name="Straight Connector 297">
            <a:extLst>
              <a:ext uri="{FF2B5EF4-FFF2-40B4-BE49-F238E27FC236}">
                <a16:creationId xmlns:a16="http://schemas.microsoft.com/office/drawing/2014/main" id="{9A331EA6-D578-2E4E-BFB5-476970FC55AC}"/>
              </a:ext>
            </a:extLst>
          </p:cNvPr>
          <p:cNvCxnSpPr>
            <a:cxnSpLocks/>
          </p:cNvCxnSpPr>
          <p:nvPr/>
        </p:nvCxnSpPr>
        <p:spPr>
          <a:xfrm>
            <a:off x="3657600" y="2667000"/>
            <a:ext cx="522450" cy="120613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0" name="Straight Connector 299">
            <a:extLst>
              <a:ext uri="{FF2B5EF4-FFF2-40B4-BE49-F238E27FC236}">
                <a16:creationId xmlns:a16="http://schemas.microsoft.com/office/drawing/2014/main" id="{C8A7A17C-CF30-9E40-B8CE-18FE5785F17D}"/>
              </a:ext>
            </a:extLst>
          </p:cNvPr>
          <p:cNvCxnSpPr>
            <a:cxnSpLocks/>
          </p:cNvCxnSpPr>
          <p:nvPr/>
        </p:nvCxnSpPr>
        <p:spPr>
          <a:xfrm>
            <a:off x="3657600" y="2485555"/>
            <a:ext cx="1381125" cy="30527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3" name="Straight Connector 302">
            <a:extLst>
              <a:ext uri="{FF2B5EF4-FFF2-40B4-BE49-F238E27FC236}">
                <a16:creationId xmlns:a16="http://schemas.microsoft.com/office/drawing/2014/main" id="{CD721D56-CB7F-2340-B865-D7A95A32C894}"/>
              </a:ext>
            </a:extLst>
          </p:cNvPr>
          <p:cNvCxnSpPr>
            <a:cxnSpLocks/>
          </p:cNvCxnSpPr>
          <p:nvPr/>
        </p:nvCxnSpPr>
        <p:spPr>
          <a:xfrm flipV="1">
            <a:off x="6943725" y="2152650"/>
            <a:ext cx="1285875" cy="657225"/>
          </a:xfrm>
          <a:prstGeom prst="line">
            <a:avLst/>
          </a:prstGeom>
          <a:ln>
            <a:solidFill>
              <a:srgbClr val="0432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5" name="Straight Connector 304">
            <a:extLst>
              <a:ext uri="{FF2B5EF4-FFF2-40B4-BE49-F238E27FC236}">
                <a16:creationId xmlns:a16="http://schemas.microsoft.com/office/drawing/2014/main" id="{38B37FA1-8B89-AF4B-953A-8BD2FCAF39D6}"/>
              </a:ext>
            </a:extLst>
          </p:cNvPr>
          <p:cNvCxnSpPr>
            <a:cxnSpLocks/>
          </p:cNvCxnSpPr>
          <p:nvPr/>
        </p:nvCxnSpPr>
        <p:spPr>
          <a:xfrm flipV="1">
            <a:off x="7781925" y="2295525"/>
            <a:ext cx="457200" cy="523875"/>
          </a:xfrm>
          <a:prstGeom prst="line">
            <a:avLst/>
          </a:prstGeom>
          <a:ln>
            <a:solidFill>
              <a:srgbClr val="0432F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E3E082DE-7EB4-864B-B4B7-B3C01381091C}"/>
              </a:ext>
            </a:extLst>
          </p:cNvPr>
          <p:cNvCxnSpPr>
            <a:cxnSpLocks/>
          </p:cNvCxnSpPr>
          <p:nvPr/>
        </p:nvCxnSpPr>
        <p:spPr>
          <a:xfrm flipV="1">
            <a:off x="6410325" y="1981200"/>
            <a:ext cx="1809751" cy="240030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Straight Connector 203">
            <a:extLst>
              <a:ext uri="{FF2B5EF4-FFF2-40B4-BE49-F238E27FC236}">
                <a16:creationId xmlns:a16="http://schemas.microsoft.com/office/drawing/2014/main" id="{959A7325-4818-0F49-9CEC-817005CCD6D7}"/>
              </a:ext>
            </a:extLst>
          </p:cNvPr>
          <p:cNvCxnSpPr>
            <a:cxnSpLocks/>
          </p:cNvCxnSpPr>
          <p:nvPr/>
        </p:nvCxnSpPr>
        <p:spPr>
          <a:xfrm flipV="1">
            <a:off x="6401018" y="3685708"/>
            <a:ext cx="1809751" cy="240030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Straight Connector 191">
            <a:extLst>
              <a:ext uri="{FF2B5EF4-FFF2-40B4-BE49-F238E27FC236}">
                <a16:creationId xmlns:a16="http://schemas.microsoft.com/office/drawing/2014/main" id="{3C80C166-734B-8F48-8062-A40AD0149B17}"/>
              </a:ext>
            </a:extLst>
          </p:cNvPr>
          <p:cNvCxnSpPr>
            <a:cxnSpLocks/>
          </p:cNvCxnSpPr>
          <p:nvPr/>
        </p:nvCxnSpPr>
        <p:spPr>
          <a:xfrm flipH="1" flipV="1">
            <a:off x="3669945" y="3716770"/>
            <a:ext cx="1959330" cy="2369705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6A4B8F2E-FFF8-0E42-B342-D2B2ABDECE53}"/>
              </a:ext>
            </a:extLst>
          </p:cNvPr>
          <p:cNvCxnSpPr>
            <a:cxnSpLocks/>
          </p:cNvCxnSpPr>
          <p:nvPr/>
        </p:nvCxnSpPr>
        <p:spPr>
          <a:xfrm flipH="1" flipV="1">
            <a:off x="3669945" y="1992720"/>
            <a:ext cx="1955832" cy="2378786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Virtual Memory: Launch Application</a:t>
            </a:r>
            <a:endParaRPr lang="ko-KR" alt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0273AB1-3A99-C042-AAC4-5DD2C14B0E85}"/>
              </a:ext>
            </a:extLst>
          </p:cNvPr>
          <p:cNvSpPr/>
          <p:nvPr/>
        </p:nvSpPr>
        <p:spPr>
          <a:xfrm rot="16200000">
            <a:off x="5930577" y="5609758"/>
            <a:ext cx="171450" cy="781050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D2C18B0-27F2-FD4E-AD31-65FD40139C1B}"/>
              </a:ext>
            </a:extLst>
          </p:cNvPr>
          <p:cNvSpPr/>
          <p:nvPr/>
        </p:nvSpPr>
        <p:spPr>
          <a:xfrm rot="16200000">
            <a:off x="5930577" y="5438308"/>
            <a:ext cx="171450" cy="781050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E559DC4-680B-FD45-8688-BED6E23B9035}"/>
              </a:ext>
            </a:extLst>
          </p:cNvPr>
          <p:cNvSpPr/>
          <p:nvPr/>
        </p:nvSpPr>
        <p:spPr>
          <a:xfrm rot="16200000">
            <a:off x="5930577" y="5266858"/>
            <a:ext cx="171450" cy="781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3D8F3A0-FB3C-3040-B987-9BCC8F3FB019}"/>
              </a:ext>
            </a:extLst>
          </p:cNvPr>
          <p:cNvSpPr/>
          <p:nvPr/>
        </p:nvSpPr>
        <p:spPr>
          <a:xfrm rot="16200000">
            <a:off x="5930577" y="5095408"/>
            <a:ext cx="171450" cy="781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CED39EB-D69D-514F-939C-DE1213F9EAE5}"/>
              </a:ext>
            </a:extLst>
          </p:cNvPr>
          <p:cNvSpPr/>
          <p:nvPr/>
        </p:nvSpPr>
        <p:spPr>
          <a:xfrm rot="16200000">
            <a:off x="5930577" y="4923958"/>
            <a:ext cx="171450" cy="781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0E65F11-C094-794E-BC01-D6939B1E3138}"/>
              </a:ext>
            </a:extLst>
          </p:cNvPr>
          <p:cNvSpPr/>
          <p:nvPr/>
        </p:nvSpPr>
        <p:spPr>
          <a:xfrm rot="16200000">
            <a:off x="5930577" y="4752508"/>
            <a:ext cx="171450" cy="781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DE11BD1-D759-564C-A0B6-713E1350F4E7}"/>
              </a:ext>
            </a:extLst>
          </p:cNvPr>
          <p:cNvSpPr/>
          <p:nvPr/>
        </p:nvSpPr>
        <p:spPr>
          <a:xfrm rot="16200000">
            <a:off x="5930577" y="4581058"/>
            <a:ext cx="171450" cy="7810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50" dirty="0" err="1"/>
              <a:t>pgd</a:t>
            </a:r>
            <a:endParaRPr lang="en-US" sz="105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411CEF7-4ED2-DD4E-A333-4283DCB8D87B}"/>
              </a:ext>
            </a:extLst>
          </p:cNvPr>
          <p:cNvSpPr/>
          <p:nvPr/>
        </p:nvSpPr>
        <p:spPr>
          <a:xfrm rot="16200000">
            <a:off x="5930577" y="4409608"/>
            <a:ext cx="171450" cy="781050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FE9EE1C-11B4-8C44-8881-1A79F698B664}"/>
              </a:ext>
            </a:extLst>
          </p:cNvPr>
          <p:cNvSpPr/>
          <p:nvPr/>
        </p:nvSpPr>
        <p:spPr>
          <a:xfrm rot="16200000">
            <a:off x="5930577" y="4238158"/>
            <a:ext cx="171450" cy="781050"/>
          </a:xfrm>
          <a:prstGeom prst="rect">
            <a:avLst/>
          </a:prstGeom>
          <a:solidFill>
            <a:srgbClr val="0432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 anchorCtr="0"/>
          <a:lstStyle/>
          <a:p>
            <a:pPr algn="ctr"/>
            <a:r>
              <a:rPr lang="en-US" sz="1050" dirty="0" err="1"/>
              <a:t>pgd</a:t>
            </a:r>
            <a:endParaRPr lang="en-US" sz="105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6873B9B-7F7D-AB40-A3D1-B465CC8AB9BA}"/>
              </a:ext>
            </a:extLst>
          </p:cNvPr>
          <p:cNvSpPr/>
          <p:nvPr/>
        </p:nvSpPr>
        <p:spPr>
          <a:xfrm rot="16200000">
            <a:off x="5930577" y="4066708"/>
            <a:ext cx="171450" cy="781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96E7C80-2E90-E644-9204-B3B1672B448C}"/>
              </a:ext>
            </a:extLst>
          </p:cNvPr>
          <p:cNvSpPr/>
          <p:nvPr/>
        </p:nvSpPr>
        <p:spPr>
          <a:xfrm rot="16200000">
            <a:off x="5930577" y="3895258"/>
            <a:ext cx="171450" cy="781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3D4E120-37C2-DE49-B859-C3C27E43FAA2}"/>
              </a:ext>
            </a:extLst>
          </p:cNvPr>
          <p:cNvSpPr/>
          <p:nvPr/>
        </p:nvSpPr>
        <p:spPr>
          <a:xfrm rot="16200000">
            <a:off x="5930577" y="3723808"/>
            <a:ext cx="171450" cy="781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5D625CF-B065-A841-A968-11E19F941385}"/>
              </a:ext>
            </a:extLst>
          </p:cNvPr>
          <p:cNvSpPr/>
          <p:nvPr/>
        </p:nvSpPr>
        <p:spPr>
          <a:xfrm rot="16200000">
            <a:off x="5930577" y="3552358"/>
            <a:ext cx="171450" cy="781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4F3A6C9-D1A5-BA4F-8B5B-5C359207007E}"/>
              </a:ext>
            </a:extLst>
          </p:cNvPr>
          <p:cNvSpPr/>
          <p:nvPr/>
        </p:nvSpPr>
        <p:spPr>
          <a:xfrm rot="16200000">
            <a:off x="5930577" y="3380908"/>
            <a:ext cx="171450" cy="781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5A81508-FD71-E74D-BD9F-C9BC99B67861}"/>
              </a:ext>
            </a:extLst>
          </p:cNvPr>
          <p:cNvSpPr/>
          <p:nvPr/>
        </p:nvSpPr>
        <p:spPr>
          <a:xfrm rot="16200000">
            <a:off x="5930577" y="3209458"/>
            <a:ext cx="171450" cy="781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AD09C9F-E062-C54E-99BD-D0EDD0EFC5AA}"/>
              </a:ext>
            </a:extLst>
          </p:cNvPr>
          <p:cNvSpPr/>
          <p:nvPr/>
        </p:nvSpPr>
        <p:spPr>
          <a:xfrm rot="16200000">
            <a:off x="5930577" y="3038008"/>
            <a:ext cx="171450" cy="781050"/>
          </a:xfrm>
          <a:prstGeom prst="rect">
            <a:avLst/>
          </a:prstGeom>
          <a:solidFill>
            <a:srgbClr val="7A81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24FA2E8-C068-2145-8945-07AC3050D04D}"/>
              </a:ext>
            </a:extLst>
          </p:cNvPr>
          <p:cNvSpPr/>
          <p:nvPr/>
        </p:nvSpPr>
        <p:spPr>
          <a:xfrm rot="16200000">
            <a:off x="5930577" y="2866558"/>
            <a:ext cx="171450" cy="781050"/>
          </a:xfrm>
          <a:prstGeom prst="rect">
            <a:avLst/>
          </a:prstGeom>
          <a:solidFill>
            <a:srgbClr val="7A81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A8BC29F-5A9B-6944-91DF-AACBDE6940AA}"/>
              </a:ext>
            </a:extLst>
          </p:cNvPr>
          <p:cNvSpPr/>
          <p:nvPr/>
        </p:nvSpPr>
        <p:spPr>
          <a:xfrm rot="16200000">
            <a:off x="5930577" y="2695108"/>
            <a:ext cx="171450" cy="7810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33F66AD-1255-F945-8799-2948E0D6D52F}"/>
              </a:ext>
            </a:extLst>
          </p:cNvPr>
          <p:cNvSpPr/>
          <p:nvPr/>
        </p:nvSpPr>
        <p:spPr>
          <a:xfrm rot="16200000">
            <a:off x="5930577" y="2523658"/>
            <a:ext cx="171450" cy="781050"/>
          </a:xfrm>
          <a:prstGeom prst="rect">
            <a:avLst/>
          </a:prstGeom>
          <a:solidFill>
            <a:srgbClr val="7A81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731194D-9EA7-F44A-99FB-94D409B3A005}"/>
              </a:ext>
            </a:extLst>
          </p:cNvPr>
          <p:cNvSpPr/>
          <p:nvPr/>
        </p:nvSpPr>
        <p:spPr>
          <a:xfrm rot="16200000">
            <a:off x="5930577" y="2352208"/>
            <a:ext cx="171450" cy="7810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7B7D631-76FC-1B4C-BFC1-8F4A2E38698E}"/>
              </a:ext>
            </a:extLst>
          </p:cNvPr>
          <p:cNvSpPr/>
          <p:nvPr/>
        </p:nvSpPr>
        <p:spPr>
          <a:xfrm rot="16200000">
            <a:off x="5930577" y="2180758"/>
            <a:ext cx="171450" cy="7810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4BDC16B-4715-6A46-B974-75BBF4D8D20A}"/>
              </a:ext>
            </a:extLst>
          </p:cNvPr>
          <p:cNvSpPr/>
          <p:nvPr/>
        </p:nvSpPr>
        <p:spPr>
          <a:xfrm rot="16200000">
            <a:off x="5930577" y="2009308"/>
            <a:ext cx="171450" cy="781050"/>
          </a:xfrm>
          <a:prstGeom prst="rect">
            <a:avLst/>
          </a:prstGeom>
          <a:solidFill>
            <a:srgbClr val="7A81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4422792-E25C-3C49-A1AD-FF553A023EE6}"/>
              </a:ext>
            </a:extLst>
          </p:cNvPr>
          <p:cNvSpPr/>
          <p:nvPr/>
        </p:nvSpPr>
        <p:spPr>
          <a:xfrm rot="16200000">
            <a:off x="5930577" y="1837858"/>
            <a:ext cx="171450" cy="7810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E5095DB-EBC0-CF4E-A40B-2B1120EC521B}"/>
              </a:ext>
            </a:extLst>
          </p:cNvPr>
          <p:cNvSpPr/>
          <p:nvPr/>
        </p:nvSpPr>
        <p:spPr>
          <a:xfrm rot="16200000">
            <a:off x="5930577" y="1666408"/>
            <a:ext cx="171450" cy="7810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8FCCAE5-64EA-974C-99A5-A88B643DE508}"/>
              </a:ext>
            </a:extLst>
          </p:cNvPr>
          <p:cNvSpPr/>
          <p:nvPr/>
        </p:nvSpPr>
        <p:spPr>
          <a:xfrm rot="16200000">
            <a:off x="5973438" y="3868049"/>
            <a:ext cx="85725" cy="101888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1587A0E-9E0B-6C43-80C9-CED02AC7C1CE}"/>
              </a:ext>
            </a:extLst>
          </p:cNvPr>
          <p:cNvSpPr txBox="1"/>
          <p:nvPr/>
        </p:nvSpPr>
        <p:spPr>
          <a:xfrm>
            <a:off x="5028131" y="1343928"/>
            <a:ext cx="1976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Physical Memory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7458B783-15A0-B546-89B2-582274C45E4B}"/>
              </a:ext>
            </a:extLst>
          </p:cNvPr>
          <p:cNvSpPr txBox="1"/>
          <p:nvPr/>
        </p:nvSpPr>
        <p:spPr>
          <a:xfrm>
            <a:off x="4876706" y="5869172"/>
            <a:ext cx="6351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0 GB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23DF3443-B289-1341-BA48-95E801DE8E24}"/>
              </a:ext>
            </a:extLst>
          </p:cNvPr>
          <p:cNvSpPr txBox="1"/>
          <p:nvPr/>
        </p:nvSpPr>
        <p:spPr>
          <a:xfrm>
            <a:off x="4876706" y="4186841"/>
            <a:ext cx="6351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 GB</a:t>
            </a: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2062CB62-32F3-8B40-973D-6943CCA1FA3E}"/>
              </a:ext>
            </a:extLst>
          </p:cNvPr>
          <p:cNvSpPr/>
          <p:nvPr/>
        </p:nvSpPr>
        <p:spPr>
          <a:xfrm rot="16200000">
            <a:off x="8530899" y="5609758"/>
            <a:ext cx="171450" cy="781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102C1CD6-EE12-4F47-B940-559CF6604C95}"/>
              </a:ext>
            </a:extLst>
          </p:cNvPr>
          <p:cNvSpPr/>
          <p:nvPr/>
        </p:nvSpPr>
        <p:spPr>
          <a:xfrm rot="16200000">
            <a:off x="8530899" y="5438308"/>
            <a:ext cx="171450" cy="781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574EF7BB-4BA2-6C45-8F3C-AE5E5660B6A5}"/>
              </a:ext>
            </a:extLst>
          </p:cNvPr>
          <p:cNvSpPr/>
          <p:nvPr/>
        </p:nvSpPr>
        <p:spPr>
          <a:xfrm rot="16200000">
            <a:off x="8530899" y="5266858"/>
            <a:ext cx="171450" cy="781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B61E8E16-FEB6-0A48-AA9F-07E9668558C3}"/>
              </a:ext>
            </a:extLst>
          </p:cNvPr>
          <p:cNvSpPr/>
          <p:nvPr/>
        </p:nvSpPr>
        <p:spPr>
          <a:xfrm rot="16200000">
            <a:off x="8530899" y="5095408"/>
            <a:ext cx="171450" cy="781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2C0E4E8E-9110-E840-9A03-0C916CBCE790}"/>
              </a:ext>
            </a:extLst>
          </p:cNvPr>
          <p:cNvSpPr/>
          <p:nvPr/>
        </p:nvSpPr>
        <p:spPr>
          <a:xfrm rot="16200000">
            <a:off x="8530899" y="4923958"/>
            <a:ext cx="171450" cy="781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24A2B158-B66F-3F48-975E-8F9C6D46E349}"/>
              </a:ext>
            </a:extLst>
          </p:cNvPr>
          <p:cNvSpPr/>
          <p:nvPr/>
        </p:nvSpPr>
        <p:spPr>
          <a:xfrm rot="16200000">
            <a:off x="8530899" y="4752508"/>
            <a:ext cx="171450" cy="781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805BAFB9-D413-8C4D-A3FF-84A2DFFB2829}"/>
              </a:ext>
            </a:extLst>
          </p:cNvPr>
          <p:cNvSpPr/>
          <p:nvPr/>
        </p:nvSpPr>
        <p:spPr>
          <a:xfrm rot="16200000">
            <a:off x="8530899" y="4581058"/>
            <a:ext cx="171450" cy="781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E4090B37-53A4-6A4E-AA30-869C678C3659}"/>
              </a:ext>
            </a:extLst>
          </p:cNvPr>
          <p:cNvSpPr/>
          <p:nvPr/>
        </p:nvSpPr>
        <p:spPr>
          <a:xfrm rot="16200000">
            <a:off x="8530899" y="4409608"/>
            <a:ext cx="171450" cy="781050"/>
          </a:xfrm>
          <a:prstGeom prst="rect">
            <a:avLst/>
          </a:prstGeom>
          <a:solidFill>
            <a:srgbClr val="7A81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53E3E427-207C-CC4C-8DD4-471456A5AD70}"/>
              </a:ext>
            </a:extLst>
          </p:cNvPr>
          <p:cNvSpPr/>
          <p:nvPr/>
        </p:nvSpPr>
        <p:spPr>
          <a:xfrm rot="16200000">
            <a:off x="8530899" y="4238158"/>
            <a:ext cx="171450" cy="781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ED3AC38B-B1B7-9242-B568-89022FA192EB}"/>
              </a:ext>
            </a:extLst>
          </p:cNvPr>
          <p:cNvSpPr/>
          <p:nvPr/>
        </p:nvSpPr>
        <p:spPr>
          <a:xfrm rot="16200000">
            <a:off x="8530899" y="4066708"/>
            <a:ext cx="171450" cy="781050"/>
          </a:xfrm>
          <a:prstGeom prst="rect">
            <a:avLst/>
          </a:prstGeom>
          <a:solidFill>
            <a:srgbClr val="7A81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0E9E2AB9-41DA-FA40-9D27-AE907C3D4F0C}"/>
              </a:ext>
            </a:extLst>
          </p:cNvPr>
          <p:cNvSpPr/>
          <p:nvPr/>
        </p:nvSpPr>
        <p:spPr>
          <a:xfrm rot="16200000">
            <a:off x="8530899" y="3895258"/>
            <a:ext cx="171450" cy="781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2A037049-3C5A-CA45-B573-2F543D177ABE}"/>
              </a:ext>
            </a:extLst>
          </p:cNvPr>
          <p:cNvSpPr/>
          <p:nvPr/>
        </p:nvSpPr>
        <p:spPr>
          <a:xfrm rot="16200000">
            <a:off x="8530899" y="3723808"/>
            <a:ext cx="171450" cy="781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3038DA20-81FD-174B-9837-0F372E5A4021}"/>
              </a:ext>
            </a:extLst>
          </p:cNvPr>
          <p:cNvSpPr/>
          <p:nvPr/>
        </p:nvSpPr>
        <p:spPr>
          <a:xfrm rot="16200000">
            <a:off x="8530899" y="3552358"/>
            <a:ext cx="171450" cy="781050"/>
          </a:xfrm>
          <a:prstGeom prst="rect">
            <a:avLst/>
          </a:prstGeom>
          <a:solidFill>
            <a:srgbClr val="7A81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B1EE49B0-C302-1647-9024-7095472F115C}"/>
              </a:ext>
            </a:extLst>
          </p:cNvPr>
          <p:cNvSpPr/>
          <p:nvPr/>
        </p:nvSpPr>
        <p:spPr>
          <a:xfrm rot="16200000">
            <a:off x="8530899" y="3380908"/>
            <a:ext cx="171450" cy="781050"/>
          </a:xfrm>
          <a:prstGeom prst="rect">
            <a:avLst/>
          </a:prstGeom>
          <a:solidFill>
            <a:srgbClr val="7A81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5ABD774B-D2AF-1E4C-BCA2-122A90553A85}"/>
              </a:ext>
            </a:extLst>
          </p:cNvPr>
          <p:cNvSpPr/>
          <p:nvPr/>
        </p:nvSpPr>
        <p:spPr>
          <a:xfrm rot="16200000">
            <a:off x="8530899" y="3209458"/>
            <a:ext cx="171450" cy="781050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AA451BDD-3B24-0D49-8D12-AD722EB5C7E4}"/>
              </a:ext>
            </a:extLst>
          </p:cNvPr>
          <p:cNvSpPr/>
          <p:nvPr/>
        </p:nvSpPr>
        <p:spPr>
          <a:xfrm rot="16200000">
            <a:off x="8530899" y="3038008"/>
            <a:ext cx="171450" cy="781050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0D9773A1-7A1C-A042-A8D2-08AA76C9DF2F}"/>
              </a:ext>
            </a:extLst>
          </p:cNvPr>
          <p:cNvSpPr/>
          <p:nvPr/>
        </p:nvSpPr>
        <p:spPr>
          <a:xfrm rot="16200000">
            <a:off x="8530899" y="2866558"/>
            <a:ext cx="171450" cy="781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526E3D2B-922B-3F40-82AF-3B74E83A2F79}"/>
              </a:ext>
            </a:extLst>
          </p:cNvPr>
          <p:cNvSpPr/>
          <p:nvPr/>
        </p:nvSpPr>
        <p:spPr>
          <a:xfrm rot="16200000">
            <a:off x="8530899" y="2695108"/>
            <a:ext cx="171450" cy="781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58C9D350-9BC2-3346-95C3-2284F50D2A94}"/>
              </a:ext>
            </a:extLst>
          </p:cNvPr>
          <p:cNvSpPr/>
          <p:nvPr/>
        </p:nvSpPr>
        <p:spPr>
          <a:xfrm rot="16200000">
            <a:off x="8530899" y="2523658"/>
            <a:ext cx="171450" cy="781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7B3259A8-4F50-3C4A-A6ED-62996836BB01}"/>
              </a:ext>
            </a:extLst>
          </p:cNvPr>
          <p:cNvSpPr/>
          <p:nvPr/>
        </p:nvSpPr>
        <p:spPr>
          <a:xfrm rot="16200000">
            <a:off x="8530899" y="2352208"/>
            <a:ext cx="171450" cy="781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83E51828-8378-CB49-8129-6A602644179C}"/>
              </a:ext>
            </a:extLst>
          </p:cNvPr>
          <p:cNvSpPr/>
          <p:nvPr/>
        </p:nvSpPr>
        <p:spPr>
          <a:xfrm rot="16200000">
            <a:off x="8530899" y="2180758"/>
            <a:ext cx="171450" cy="7810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411CBAA1-EB0F-534E-B640-52C334A772F9}"/>
              </a:ext>
            </a:extLst>
          </p:cNvPr>
          <p:cNvSpPr/>
          <p:nvPr/>
        </p:nvSpPr>
        <p:spPr>
          <a:xfrm rot="16200000">
            <a:off x="8530899" y="2009308"/>
            <a:ext cx="171450" cy="781050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49E91FBA-3E1B-EB49-A3BE-FA6224F1E698}"/>
              </a:ext>
            </a:extLst>
          </p:cNvPr>
          <p:cNvSpPr/>
          <p:nvPr/>
        </p:nvSpPr>
        <p:spPr>
          <a:xfrm rot="16200000">
            <a:off x="8530899" y="1837858"/>
            <a:ext cx="171450" cy="781050"/>
          </a:xfrm>
          <a:prstGeom prst="rect">
            <a:avLst/>
          </a:prstGeom>
          <a:solidFill>
            <a:srgbClr val="0432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 anchorCtr="0"/>
          <a:lstStyle/>
          <a:p>
            <a:pPr algn="ctr"/>
            <a:r>
              <a:rPr lang="en-US" sz="1050" dirty="0" err="1"/>
              <a:t>pgd</a:t>
            </a:r>
            <a:endParaRPr lang="en-US" sz="1050" dirty="0"/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17C18FF5-7F53-EF4C-BCC9-A6BC0A5C9940}"/>
              </a:ext>
            </a:extLst>
          </p:cNvPr>
          <p:cNvSpPr/>
          <p:nvPr/>
        </p:nvSpPr>
        <p:spPr>
          <a:xfrm rot="16200000">
            <a:off x="8530899" y="1666408"/>
            <a:ext cx="171450" cy="781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44D91ED5-86A1-B847-9FDC-C767455151FF}"/>
              </a:ext>
            </a:extLst>
          </p:cNvPr>
          <p:cNvSpPr/>
          <p:nvPr/>
        </p:nvSpPr>
        <p:spPr>
          <a:xfrm rot="16200000">
            <a:off x="3193695" y="5622262"/>
            <a:ext cx="171450" cy="781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C6F83372-1839-FF46-A386-C1A78C614627}"/>
              </a:ext>
            </a:extLst>
          </p:cNvPr>
          <p:cNvSpPr/>
          <p:nvPr/>
        </p:nvSpPr>
        <p:spPr>
          <a:xfrm rot="16200000">
            <a:off x="3193695" y="5450812"/>
            <a:ext cx="171450" cy="781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04FF29F8-D9D3-9945-8B31-08D5F4BCA05C}"/>
              </a:ext>
            </a:extLst>
          </p:cNvPr>
          <p:cNvSpPr/>
          <p:nvPr/>
        </p:nvSpPr>
        <p:spPr>
          <a:xfrm rot="16200000">
            <a:off x="3193695" y="5279362"/>
            <a:ext cx="171450" cy="781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911032B5-1009-7F49-9D86-1633D76EB414}"/>
              </a:ext>
            </a:extLst>
          </p:cNvPr>
          <p:cNvSpPr/>
          <p:nvPr/>
        </p:nvSpPr>
        <p:spPr>
          <a:xfrm rot="16200000">
            <a:off x="3193695" y="5107912"/>
            <a:ext cx="171450" cy="781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E346CC7B-5D37-DE4F-B4AE-17119FC585F2}"/>
              </a:ext>
            </a:extLst>
          </p:cNvPr>
          <p:cNvSpPr/>
          <p:nvPr/>
        </p:nvSpPr>
        <p:spPr>
          <a:xfrm rot="16200000">
            <a:off x="3193695" y="4936462"/>
            <a:ext cx="171450" cy="781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75F33346-7DA5-034D-83F7-DCD774088899}"/>
              </a:ext>
            </a:extLst>
          </p:cNvPr>
          <p:cNvSpPr/>
          <p:nvPr/>
        </p:nvSpPr>
        <p:spPr>
          <a:xfrm rot="16200000">
            <a:off x="3193695" y="4765012"/>
            <a:ext cx="171450" cy="781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5524D76D-8777-7D40-A0E2-904AB91A42C0}"/>
              </a:ext>
            </a:extLst>
          </p:cNvPr>
          <p:cNvSpPr/>
          <p:nvPr/>
        </p:nvSpPr>
        <p:spPr>
          <a:xfrm rot="16200000">
            <a:off x="3193695" y="4593562"/>
            <a:ext cx="171450" cy="781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1E0D7938-0271-6C42-B392-E6B44211B878}"/>
              </a:ext>
            </a:extLst>
          </p:cNvPr>
          <p:cNvSpPr/>
          <p:nvPr/>
        </p:nvSpPr>
        <p:spPr>
          <a:xfrm rot="16200000">
            <a:off x="3193695" y="4422112"/>
            <a:ext cx="171450" cy="781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4BD7F57D-9A13-924F-8F9D-49F0F3AD8939}"/>
              </a:ext>
            </a:extLst>
          </p:cNvPr>
          <p:cNvSpPr/>
          <p:nvPr/>
        </p:nvSpPr>
        <p:spPr>
          <a:xfrm rot="16200000">
            <a:off x="3193695" y="4250662"/>
            <a:ext cx="171450" cy="7810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4B634C71-602F-CB45-99E5-E3C2781D2601}"/>
              </a:ext>
            </a:extLst>
          </p:cNvPr>
          <p:cNvSpPr/>
          <p:nvPr/>
        </p:nvSpPr>
        <p:spPr>
          <a:xfrm rot="16200000">
            <a:off x="3193695" y="4079212"/>
            <a:ext cx="171450" cy="7810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48C2930E-F767-C54A-A398-252703111F62}"/>
              </a:ext>
            </a:extLst>
          </p:cNvPr>
          <p:cNvSpPr/>
          <p:nvPr/>
        </p:nvSpPr>
        <p:spPr>
          <a:xfrm rot="16200000">
            <a:off x="3193695" y="3907762"/>
            <a:ext cx="171450" cy="781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75D35F13-987A-B942-96C3-F8F3557DCE3C}"/>
              </a:ext>
            </a:extLst>
          </p:cNvPr>
          <p:cNvSpPr/>
          <p:nvPr/>
        </p:nvSpPr>
        <p:spPr>
          <a:xfrm rot="16200000">
            <a:off x="3193695" y="3736312"/>
            <a:ext cx="171450" cy="7810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91E91C3E-690C-EF4B-BA48-79C3E84B1697}"/>
              </a:ext>
            </a:extLst>
          </p:cNvPr>
          <p:cNvSpPr/>
          <p:nvPr/>
        </p:nvSpPr>
        <p:spPr>
          <a:xfrm rot="16200000">
            <a:off x="3193695" y="3564862"/>
            <a:ext cx="171450" cy="7810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495489F7-F8A2-3347-9FC2-693B9CAB84EF}"/>
              </a:ext>
            </a:extLst>
          </p:cNvPr>
          <p:cNvSpPr/>
          <p:nvPr/>
        </p:nvSpPr>
        <p:spPr>
          <a:xfrm rot="16200000">
            <a:off x="3193695" y="3393412"/>
            <a:ext cx="171450" cy="7810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001AEE4E-F25A-3349-9FF5-7AD8E3A703C2}"/>
              </a:ext>
            </a:extLst>
          </p:cNvPr>
          <p:cNvSpPr/>
          <p:nvPr/>
        </p:nvSpPr>
        <p:spPr>
          <a:xfrm rot="16200000">
            <a:off x="3193695" y="3221962"/>
            <a:ext cx="171450" cy="781050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B901AF01-FBCD-B045-9F72-56B771E25C11}"/>
              </a:ext>
            </a:extLst>
          </p:cNvPr>
          <p:cNvSpPr/>
          <p:nvPr/>
        </p:nvSpPr>
        <p:spPr>
          <a:xfrm rot="16200000">
            <a:off x="3193695" y="3050512"/>
            <a:ext cx="171450" cy="781050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E70BAABD-C57D-B348-8EB1-4AF8E22097DA}"/>
              </a:ext>
            </a:extLst>
          </p:cNvPr>
          <p:cNvSpPr/>
          <p:nvPr/>
        </p:nvSpPr>
        <p:spPr>
          <a:xfrm rot="16200000">
            <a:off x="3193695" y="2879062"/>
            <a:ext cx="171450" cy="781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8E1FEB42-FA48-A246-BF55-79A6745948CE}"/>
              </a:ext>
            </a:extLst>
          </p:cNvPr>
          <p:cNvSpPr/>
          <p:nvPr/>
        </p:nvSpPr>
        <p:spPr>
          <a:xfrm rot="16200000">
            <a:off x="3193695" y="2707612"/>
            <a:ext cx="171450" cy="781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64441123-35AF-D743-927F-B3B33B747A74}"/>
              </a:ext>
            </a:extLst>
          </p:cNvPr>
          <p:cNvSpPr/>
          <p:nvPr/>
        </p:nvSpPr>
        <p:spPr>
          <a:xfrm rot="16200000">
            <a:off x="3193695" y="2536162"/>
            <a:ext cx="171450" cy="781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DD467428-B363-574A-88E0-03629B4D4039}"/>
              </a:ext>
            </a:extLst>
          </p:cNvPr>
          <p:cNvSpPr/>
          <p:nvPr/>
        </p:nvSpPr>
        <p:spPr>
          <a:xfrm rot="16200000">
            <a:off x="3193695" y="2364712"/>
            <a:ext cx="171450" cy="781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D03007DB-18B2-CA47-A69F-9D336073048B}"/>
              </a:ext>
            </a:extLst>
          </p:cNvPr>
          <p:cNvSpPr/>
          <p:nvPr/>
        </p:nvSpPr>
        <p:spPr>
          <a:xfrm rot="16200000">
            <a:off x="3193695" y="2193262"/>
            <a:ext cx="171450" cy="7810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vert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50" dirty="0" err="1"/>
              <a:t>pgd</a:t>
            </a:r>
            <a:endParaRPr lang="en-US" sz="1050" dirty="0"/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68E4FAFA-CA21-E54C-AAC5-7E8BB0BBFA6A}"/>
              </a:ext>
            </a:extLst>
          </p:cNvPr>
          <p:cNvSpPr/>
          <p:nvPr/>
        </p:nvSpPr>
        <p:spPr>
          <a:xfrm rot="16200000">
            <a:off x="3193695" y="2021812"/>
            <a:ext cx="171450" cy="781050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AABC1D52-8900-F14D-A724-7D493FE318A8}"/>
              </a:ext>
            </a:extLst>
          </p:cNvPr>
          <p:cNvSpPr/>
          <p:nvPr/>
        </p:nvSpPr>
        <p:spPr>
          <a:xfrm rot="16200000">
            <a:off x="3193695" y="1850362"/>
            <a:ext cx="171450" cy="781050"/>
          </a:xfrm>
          <a:prstGeom prst="rect">
            <a:avLst/>
          </a:prstGeom>
          <a:solidFill>
            <a:srgbClr val="0432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154E799D-1CD2-A54A-BCFE-CBD63C2B3257}"/>
              </a:ext>
            </a:extLst>
          </p:cNvPr>
          <p:cNvSpPr/>
          <p:nvPr/>
        </p:nvSpPr>
        <p:spPr>
          <a:xfrm rot="16200000">
            <a:off x="3193695" y="1678912"/>
            <a:ext cx="171450" cy="781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D3222D7A-55DE-9A49-907F-1BE6B373F1F1}"/>
              </a:ext>
            </a:extLst>
          </p:cNvPr>
          <p:cNvSpPr txBox="1"/>
          <p:nvPr/>
        </p:nvSpPr>
        <p:spPr>
          <a:xfrm>
            <a:off x="9443620" y="3513201"/>
            <a:ext cx="6351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3 GB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F7209A25-5C74-3E4E-B1F1-E496B3B61116}"/>
              </a:ext>
            </a:extLst>
          </p:cNvPr>
          <p:cNvSpPr txBox="1"/>
          <p:nvPr/>
        </p:nvSpPr>
        <p:spPr>
          <a:xfrm>
            <a:off x="9020658" y="1823016"/>
            <a:ext cx="6351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4 GB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7D5E543D-D39F-C94E-842B-D04A90F13EF5}"/>
              </a:ext>
            </a:extLst>
          </p:cNvPr>
          <p:cNvSpPr txBox="1"/>
          <p:nvPr/>
        </p:nvSpPr>
        <p:spPr>
          <a:xfrm>
            <a:off x="2351088" y="1236124"/>
            <a:ext cx="18289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Virtual Memory</a:t>
            </a:r>
          </a:p>
          <a:p>
            <a:pPr algn="ctr"/>
            <a:r>
              <a:rPr lang="en-US" dirty="0"/>
              <a:t>App1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99941B55-A83B-CB40-B85B-6DB10122B1B8}"/>
              </a:ext>
            </a:extLst>
          </p:cNvPr>
          <p:cNvSpPr txBox="1"/>
          <p:nvPr/>
        </p:nvSpPr>
        <p:spPr>
          <a:xfrm>
            <a:off x="1817314" y="3513201"/>
            <a:ext cx="6351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3 GB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AF5B2D72-0273-D64C-B739-C63B4809BCFE}"/>
              </a:ext>
            </a:extLst>
          </p:cNvPr>
          <p:cNvSpPr txBox="1"/>
          <p:nvPr/>
        </p:nvSpPr>
        <p:spPr>
          <a:xfrm>
            <a:off x="2282847" y="1823016"/>
            <a:ext cx="6351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4 GB</a:t>
            </a: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4AB7F258-043B-0244-AE23-490630342871}"/>
              </a:ext>
            </a:extLst>
          </p:cNvPr>
          <p:cNvSpPr txBox="1"/>
          <p:nvPr/>
        </p:nvSpPr>
        <p:spPr>
          <a:xfrm>
            <a:off x="2282847" y="5869172"/>
            <a:ext cx="6351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0 GB</a:t>
            </a: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21B2AAAD-10D3-D54C-B7FC-7661617A7F17}"/>
              </a:ext>
            </a:extLst>
          </p:cNvPr>
          <p:cNvSpPr txBox="1"/>
          <p:nvPr/>
        </p:nvSpPr>
        <p:spPr>
          <a:xfrm>
            <a:off x="9020658" y="5870944"/>
            <a:ext cx="6351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0 GB</a:t>
            </a:r>
          </a:p>
        </p:txBody>
      </p:sp>
      <p:sp>
        <p:nvSpPr>
          <p:cNvPr id="244" name="TextBox 243">
            <a:extLst>
              <a:ext uri="{FF2B5EF4-FFF2-40B4-BE49-F238E27FC236}">
                <a16:creationId xmlns:a16="http://schemas.microsoft.com/office/drawing/2014/main" id="{01BA9F65-5853-EC47-B4DF-ED93F248D759}"/>
              </a:ext>
            </a:extLst>
          </p:cNvPr>
          <p:cNvSpPr txBox="1"/>
          <p:nvPr/>
        </p:nvSpPr>
        <p:spPr>
          <a:xfrm>
            <a:off x="7614658" y="1236124"/>
            <a:ext cx="18289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Virtual Memory</a:t>
            </a:r>
          </a:p>
          <a:p>
            <a:pPr algn="ctr"/>
            <a:r>
              <a:rPr lang="en-US" dirty="0"/>
              <a:t>App2</a:t>
            </a:r>
          </a:p>
        </p:txBody>
      </p:sp>
      <p:cxnSp>
        <p:nvCxnSpPr>
          <p:cNvPr id="246" name="Straight Connector 245">
            <a:extLst>
              <a:ext uri="{FF2B5EF4-FFF2-40B4-BE49-F238E27FC236}">
                <a16:creationId xmlns:a16="http://schemas.microsoft.com/office/drawing/2014/main" id="{3001F005-4282-7443-A4A6-8C266AD542C3}"/>
              </a:ext>
            </a:extLst>
          </p:cNvPr>
          <p:cNvCxnSpPr>
            <a:stCxn id="175" idx="2"/>
            <a:endCxn id="241" idx="1"/>
          </p:cNvCxnSpPr>
          <p:nvPr/>
        </p:nvCxnSpPr>
        <p:spPr>
          <a:xfrm flipV="1">
            <a:off x="3669945" y="3171357"/>
            <a:ext cx="510105" cy="612580"/>
          </a:xfrm>
          <a:prstGeom prst="line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Straight Connector 247">
            <a:extLst>
              <a:ext uri="{FF2B5EF4-FFF2-40B4-BE49-F238E27FC236}">
                <a16:creationId xmlns:a16="http://schemas.microsoft.com/office/drawing/2014/main" id="{7A671E4E-ADE8-D740-83E1-0A214FB2B839}"/>
              </a:ext>
            </a:extLst>
          </p:cNvPr>
          <p:cNvCxnSpPr>
            <a:stCxn id="174" idx="2"/>
            <a:endCxn id="241" idx="1"/>
          </p:cNvCxnSpPr>
          <p:nvPr/>
        </p:nvCxnSpPr>
        <p:spPr>
          <a:xfrm flipV="1">
            <a:off x="3669945" y="3171357"/>
            <a:ext cx="510105" cy="784030"/>
          </a:xfrm>
          <a:prstGeom prst="line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Straight Connector 249">
            <a:extLst>
              <a:ext uri="{FF2B5EF4-FFF2-40B4-BE49-F238E27FC236}">
                <a16:creationId xmlns:a16="http://schemas.microsoft.com/office/drawing/2014/main" id="{438C6E9F-5169-FB40-A677-515B99F59892}"/>
              </a:ext>
            </a:extLst>
          </p:cNvPr>
          <p:cNvCxnSpPr>
            <a:stCxn id="173" idx="2"/>
            <a:endCxn id="241" idx="1"/>
          </p:cNvCxnSpPr>
          <p:nvPr/>
        </p:nvCxnSpPr>
        <p:spPr>
          <a:xfrm flipV="1">
            <a:off x="3669945" y="3171357"/>
            <a:ext cx="510105" cy="955480"/>
          </a:xfrm>
          <a:prstGeom prst="line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Straight Connector 251">
            <a:extLst>
              <a:ext uri="{FF2B5EF4-FFF2-40B4-BE49-F238E27FC236}">
                <a16:creationId xmlns:a16="http://schemas.microsoft.com/office/drawing/2014/main" id="{AE522D2E-0B86-0A41-A071-56DCC7B075D7}"/>
              </a:ext>
            </a:extLst>
          </p:cNvPr>
          <p:cNvCxnSpPr>
            <a:stCxn id="171" idx="2"/>
            <a:endCxn id="241" idx="1"/>
          </p:cNvCxnSpPr>
          <p:nvPr/>
        </p:nvCxnSpPr>
        <p:spPr>
          <a:xfrm flipV="1">
            <a:off x="3669945" y="3171357"/>
            <a:ext cx="510105" cy="1298380"/>
          </a:xfrm>
          <a:prstGeom prst="line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Straight Connector 253">
            <a:extLst>
              <a:ext uri="{FF2B5EF4-FFF2-40B4-BE49-F238E27FC236}">
                <a16:creationId xmlns:a16="http://schemas.microsoft.com/office/drawing/2014/main" id="{0DEC5072-31B0-1348-ABD9-C98F8B6A7112}"/>
              </a:ext>
            </a:extLst>
          </p:cNvPr>
          <p:cNvCxnSpPr>
            <a:stCxn id="170" idx="2"/>
            <a:endCxn id="241" idx="1"/>
          </p:cNvCxnSpPr>
          <p:nvPr/>
        </p:nvCxnSpPr>
        <p:spPr>
          <a:xfrm flipV="1">
            <a:off x="3669945" y="3171357"/>
            <a:ext cx="510105" cy="1469830"/>
          </a:xfrm>
          <a:prstGeom prst="line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Straight Connector 255">
            <a:extLst>
              <a:ext uri="{FF2B5EF4-FFF2-40B4-BE49-F238E27FC236}">
                <a16:creationId xmlns:a16="http://schemas.microsoft.com/office/drawing/2014/main" id="{C680BBF3-2B71-2C44-ACC5-E13EF2B843D8}"/>
              </a:ext>
            </a:extLst>
          </p:cNvPr>
          <p:cNvCxnSpPr>
            <a:stCxn id="241" idx="3"/>
            <a:endCxn id="28" idx="0"/>
          </p:cNvCxnSpPr>
          <p:nvPr/>
        </p:nvCxnSpPr>
        <p:spPr>
          <a:xfrm flipV="1">
            <a:off x="5028131" y="2056933"/>
            <a:ext cx="597646" cy="1114424"/>
          </a:xfrm>
          <a:prstGeom prst="line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Straight Connector 257">
            <a:extLst>
              <a:ext uri="{FF2B5EF4-FFF2-40B4-BE49-F238E27FC236}">
                <a16:creationId xmlns:a16="http://schemas.microsoft.com/office/drawing/2014/main" id="{C16DD788-AA07-0A44-961C-51F875F7FAB7}"/>
              </a:ext>
            </a:extLst>
          </p:cNvPr>
          <p:cNvCxnSpPr>
            <a:stCxn id="241" idx="3"/>
            <a:endCxn id="27" idx="0"/>
          </p:cNvCxnSpPr>
          <p:nvPr/>
        </p:nvCxnSpPr>
        <p:spPr>
          <a:xfrm flipV="1">
            <a:off x="5028131" y="2228383"/>
            <a:ext cx="597646" cy="942974"/>
          </a:xfrm>
          <a:prstGeom prst="line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Straight Connector 259">
            <a:extLst>
              <a:ext uri="{FF2B5EF4-FFF2-40B4-BE49-F238E27FC236}">
                <a16:creationId xmlns:a16="http://schemas.microsoft.com/office/drawing/2014/main" id="{94C99F18-5102-B34C-8CE1-86ABD81647E6}"/>
              </a:ext>
            </a:extLst>
          </p:cNvPr>
          <p:cNvCxnSpPr>
            <a:stCxn id="241" idx="3"/>
            <a:endCxn id="25" idx="0"/>
          </p:cNvCxnSpPr>
          <p:nvPr/>
        </p:nvCxnSpPr>
        <p:spPr>
          <a:xfrm flipV="1">
            <a:off x="5028131" y="2571283"/>
            <a:ext cx="597646" cy="600074"/>
          </a:xfrm>
          <a:prstGeom prst="line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Connector 261">
            <a:extLst>
              <a:ext uri="{FF2B5EF4-FFF2-40B4-BE49-F238E27FC236}">
                <a16:creationId xmlns:a16="http://schemas.microsoft.com/office/drawing/2014/main" id="{EFE77BD1-5483-D44D-91B9-0C4792C04CB8}"/>
              </a:ext>
            </a:extLst>
          </p:cNvPr>
          <p:cNvCxnSpPr>
            <a:stCxn id="241" idx="3"/>
            <a:endCxn id="24" idx="0"/>
          </p:cNvCxnSpPr>
          <p:nvPr/>
        </p:nvCxnSpPr>
        <p:spPr>
          <a:xfrm flipV="1">
            <a:off x="5028131" y="2742733"/>
            <a:ext cx="597646" cy="428624"/>
          </a:xfrm>
          <a:prstGeom prst="line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Straight Connector 263">
            <a:extLst>
              <a:ext uri="{FF2B5EF4-FFF2-40B4-BE49-F238E27FC236}">
                <a16:creationId xmlns:a16="http://schemas.microsoft.com/office/drawing/2014/main" id="{5F741DF1-715B-7B4A-B49D-ECF56B079731}"/>
              </a:ext>
            </a:extLst>
          </p:cNvPr>
          <p:cNvCxnSpPr>
            <a:stCxn id="241" idx="3"/>
            <a:endCxn id="22" idx="0"/>
          </p:cNvCxnSpPr>
          <p:nvPr/>
        </p:nvCxnSpPr>
        <p:spPr>
          <a:xfrm flipV="1">
            <a:off x="5028131" y="3085633"/>
            <a:ext cx="597646" cy="85724"/>
          </a:xfrm>
          <a:prstGeom prst="line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Straight Connector 265">
            <a:extLst>
              <a:ext uri="{FF2B5EF4-FFF2-40B4-BE49-F238E27FC236}">
                <a16:creationId xmlns:a16="http://schemas.microsoft.com/office/drawing/2014/main" id="{1DF963F4-223F-DA41-A10A-B5B92AD1724C}"/>
              </a:ext>
            </a:extLst>
          </p:cNvPr>
          <p:cNvCxnSpPr>
            <a:stCxn id="26" idx="2"/>
            <a:endCxn id="242" idx="1"/>
          </p:cNvCxnSpPr>
          <p:nvPr/>
        </p:nvCxnSpPr>
        <p:spPr>
          <a:xfrm>
            <a:off x="6406827" y="2399833"/>
            <a:ext cx="534720" cy="775560"/>
          </a:xfrm>
          <a:prstGeom prst="line">
            <a:avLst/>
          </a:prstGeom>
          <a:ln w="1905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Straight Connector 267">
            <a:extLst>
              <a:ext uri="{FF2B5EF4-FFF2-40B4-BE49-F238E27FC236}">
                <a16:creationId xmlns:a16="http://schemas.microsoft.com/office/drawing/2014/main" id="{E31E7EB6-49B6-7A47-BF6D-32AE54207195}"/>
              </a:ext>
            </a:extLst>
          </p:cNvPr>
          <p:cNvCxnSpPr>
            <a:stCxn id="23" idx="2"/>
            <a:endCxn id="242" idx="1"/>
          </p:cNvCxnSpPr>
          <p:nvPr/>
        </p:nvCxnSpPr>
        <p:spPr>
          <a:xfrm>
            <a:off x="6406827" y="2914183"/>
            <a:ext cx="534720" cy="261210"/>
          </a:xfrm>
          <a:prstGeom prst="line">
            <a:avLst/>
          </a:prstGeom>
          <a:ln w="1905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Straight Connector 269">
            <a:extLst>
              <a:ext uri="{FF2B5EF4-FFF2-40B4-BE49-F238E27FC236}">
                <a16:creationId xmlns:a16="http://schemas.microsoft.com/office/drawing/2014/main" id="{67071223-5723-EC4D-85F1-3684E08DC2B6}"/>
              </a:ext>
            </a:extLst>
          </p:cNvPr>
          <p:cNvCxnSpPr>
            <a:stCxn id="21" idx="2"/>
            <a:endCxn id="242" idx="1"/>
          </p:cNvCxnSpPr>
          <p:nvPr/>
        </p:nvCxnSpPr>
        <p:spPr>
          <a:xfrm flipV="1">
            <a:off x="6406827" y="3175393"/>
            <a:ext cx="534720" cy="81690"/>
          </a:xfrm>
          <a:prstGeom prst="line">
            <a:avLst/>
          </a:prstGeom>
          <a:ln w="1905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Straight Connector 271">
            <a:extLst>
              <a:ext uri="{FF2B5EF4-FFF2-40B4-BE49-F238E27FC236}">
                <a16:creationId xmlns:a16="http://schemas.microsoft.com/office/drawing/2014/main" id="{A7C7D688-AB2D-4B43-8296-6D627E702ADB}"/>
              </a:ext>
            </a:extLst>
          </p:cNvPr>
          <p:cNvCxnSpPr>
            <a:stCxn id="20" idx="2"/>
            <a:endCxn id="242" idx="1"/>
          </p:cNvCxnSpPr>
          <p:nvPr/>
        </p:nvCxnSpPr>
        <p:spPr>
          <a:xfrm flipV="1">
            <a:off x="6406827" y="3175393"/>
            <a:ext cx="534720" cy="253140"/>
          </a:xfrm>
          <a:prstGeom prst="line">
            <a:avLst/>
          </a:prstGeom>
          <a:ln w="1905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Straight Connector 273">
            <a:extLst>
              <a:ext uri="{FF2B5EF4-FFF2-40B4-BE49-F238E27FC236}">
                <a16:creationId xmlns:a16="http://schemas.microsoft.com/office/drawing/2014/main" id="{022A1038-2C02-194C-B766-EDBF6EB92941}"/>
              </a:ext>
            </a:extLst>
          </p:cNvPr>
          <p:cNvCxnSpPr>
            <a:stCxn id="242" idx="3"/>
            <a:endCxn id="149" idx="0"/>
          </p:cNvCxnSpPr>
          <p:nvPr/>
        </p:nvCxnSpPr>
        <p:spPr>
          <a:xfrm>
            <a:off x="7789628" y="3175393"/>
            <a:ext cx="436471" cy="596040"/>
          </a:xfrm>
          <a:prstGeom prst="line">
            <a:avLst/>
          </a:prstGeom>
          <a:ln w="1905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Straight Connector 275">
            <a:extLst>
              <a:ext uri="{FF2B5EF4-FFF2-40B4-BE49-F238E27FC236}">
                <a16:creationId xmlns:a16="http://schemas.microsoft.com/office/drawing/2014/main" id="{076EA534-85FB-3C43-B8BA-ABC289EC049A}"/>
              </a:ext>
            </a:extLst>
          </p:cNvPr>
          <p:cNvCxnSpPr>
            <a:stCxn id="242" idx="3"/>
            <a:endCxn id="148" idx="0"/>
          </p:cNvCxnSpPr>
          <p:nvPr/>
        </p:nvCxnSpPr>
        <p:spPr>
          <a:xfrm>
            <a:off x="7789628" y="3175393"/>
            <a:ext cx="436471" cy="767490"/>
          </a:xfrm>
          <a:prstGeom prst="line">
            <a:avLst/>
          </a:prstGeom>
          <a:ln w="1905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Straight Connector 277">
            <a:extLst>
              <a:ext uri="{FF2B5EF4-FFF2-40B4-BE49-F238E27FC236}">
                <a16:creationId xmlns:a16="http://schemas.microsoft.com/office/drawing/2014/main" id="{A82203BB-C56C-2441-8329-000A620F5DDC}"/>
              </a:ext>
            </a:extLst>
          </p:cNvPr>
          <p:cNvCxnSpPr>
            <a:stCxn id="242" idx="3"/>
            <a:endCxn id="145" idx="0"/>
          </p:cNvCxnSpPr>
          <p:nvPr/>
        </p:nvCxnSpPr>
        <p:spPr>
          <a:xfrm>
            <a:off x="7789628" y="3175393"/>
            <a:ext cx="436471" cy="1281840"/>
          </a:xfrm>
          <a:prstGeom prst="line">
            <a:avLst/>
          </a:prstGeom>
          <a:ln w="1905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Straight Connector 279">
            <a:extLst>
              <a:ext uri="{FF2B5EF4-FFF2-40B4-BE49-F238E27FC236}">
                <a16:creationId xmlns:a16="http://schemas.microsoft.com/office/drawing/2014/main" id="{02955331-7098-2F40-9965-ED2F490B07C4}"/>
              </a:ext>
            </a:extLst>
          </p:cNvPr>
          <p:cNvCxnSpPr>
            <a:stCxn id="242" idx="3"/>
            <a:endCxn id="143" idx="0"/>
          </p:cNvCxnSpPr>
          <p:nvPr/>
        </p:nvCxnSpPr>
        <p:spPr>
          <a:xfrm>
            <a:off x="7789628" y="3175393"/>
            <a:ext cx="436471" cy="1624740"/>
          </a:xfrm>
          <a:prstGeom prst="line">
            <a:avLst/>
          </a:prstGeom>
          <a:ln w="19050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Rectangle 159">
            <a:extLst>
              <a:ext uri="{FF2B5EF4-FFF2-40B4-BE49-F238E27FC236}">
                <a16:creationId xmlns:a16="http://schemas.microsoft.com/office/drawing/2014/main" id="{D3671CDD-9DAC-4942-A861-D1101BC50B91}"/>
              </a:ext>
            </a:extLst>
          </p:cNvPr>
          <p:cNvSpPr/>
          <p:nvPr/>
        </p:nvSpPr>
        <p:spPr>
          <a:xfrm rot="16200000">
            <a:off x="8752542" y="3014260"/>
            <a:ext cx="45719" cy="133643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3B06147D-C3AE-DC4C-8D95-D62854959154}"/>
              </a:ext>
            </a:extLst>
          </p:cNvPr>
          <p:cNvSpPr/>
          <p:nvPr/>
        </p:nvSpPr>
        <p:spPr>
          <a:xfrm rot="16200000">
            <a:off x="3109821" y="3038801"/>
            <a:ext cx="45719" cy="131236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9DE90D53-7A0C-E54C-B9CC-B483CEB27FF5}"/>
              </a:ext>
            </a:extLst>
          </p:cNvPr>
          <p:cNvSpPr/>
          <p:nvPr/>
        </p:nvSpPr>
        <p:spPr>
          <a:xfrm>
            <a:off x="940406" y="3543548"/>
            <a:ext cx="97276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>
                <a:solidFill>
                  <a:srgbClr val="C00000"/>
                </a:solidFill>
              </a:rPr>
              <a:t>PHYS_BASE</a:t>
            </a:r>
          </a:p>
        </p:txBody>
      </p:sp>
      <p:sp>
        <p:nvSpPr>
          <p:cNvPr id="125" name="Slide Number Placeholder 1">
            <a:extLst>
              <a:ext uri="{FF2B5EF4-FFF2-40B4-BE49-F238E27FC236}">
                <a16:creationId xmlns:a16="http://schemas.microsoft.com/office/drawing/2014/main" id="{CB879791-0666-584F-AD3E-3FF49D7776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2656" y="5991138"/>
            <a:ext cx="446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A305A6-A07C-784C-BBE4-67C27A551CE4}" type="slidenum">
              <a:rPr lang="en-US" smtClean="0"/>
              <a:t>18</a:t>
            </a:fld>
            <a:endParaRPr lang="en-US"/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B1DC5AE9-AF0D-4D4F-82AF-DD3B7BED8D41}"/>
              </a:ext>
            </a:extLst>
          </p:cNvPr>
          <p:cNvSpPr txBox="1"/>
          <p:nvPr/>
        </p:nvSpPr>
        <p:spPr>
          <a:xfrm>
            <a:off x="6406827" y="4381299"/>
            <a:ext cx="10788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/>
              <a:t>↓ Kernel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7EEA7D9F-4880-4A45-8D62-BFFD8D074A55}"/>
              </a:ext>
            </a:extLst>
          </p:cNvPr>
          <p:cNvSpPr txBox="1"/>
          <p:nvPr/>
        </p:nvSpPr>
        <p:spPr>
          <a:xfrm>
            <a:off x="6406827" y="4017564"/>
            <a:ext cx="8996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/>
              <a:t>↑ User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649F6156-D0C7-5E4A-8EAC-3C3E44119AF2}"/>
              </a:ext>
            </a:extLst>
          </p:cNvPr>
          <p:cNvSpPr txBox="1"/>
          <p:nvPr/>
        </p:nvSpPr>
        <p:spPr>
          <a:xfrm>
            <a:off x="1798036" y="3200511"/>
            <a:ext cx="10788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/>
              <a:t>Kernel ↑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1C152B28-F8DE-1B4C-B8F5-89F8DA15DD39}"/>
              </a:ext>
            </a:extLst>
          </p:cNvPr>
          <p:cNvSpPr txBox="1"/>
          <p:nvPr/>
        </p:nvSpPr>
        <p:spPr>
          <a:xfrm>
            <a:off x="1977252" y="3767172"/>
            <a:ext cx="8996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/>
              <a:t>User ↓</a:t>
            </a:r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9AEC3A7A-761B-5945-B6BE-D29C0C530466}"/>
              </a:ext>
            </a:extLst>
          </p:cNvPr>
          <p:cNvSpPr/>
          <p:nvPr/>
        </p:nvSpPr>
        <p:spPr>
          <a:xfrm>
            <a:off x="4180050" y="2791881"/>
            <a:ext cx="848081" cy="75895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page</a:t>
            </a:r>
          </a:p>
          <a:p>
            <a:pPr algn="ctr"/>
            <a:r>
              <a:rPr lang="en-US" sz="1200" dirty="0"/>
              <a:t>directory</a:t>
            </a:r>
          </a:p>
          <a:p>
            <a:pPr algn="ctr"/>
            <a:r>
              <a:rPr lang="en-US" sz="1200" dirty="0"/>
              <a:t>for App1</a:t>
            </a:r>
          </a:p>
        </p:txBody>
      </p:sp>
      <p:sp>
        <p:nvSpPr>
          <p:cNvPr id="242" name="Rectangle 241">
            <a:extLst>
              <a:ext uri="{FF2B5EF4-FFF2-40B4-BE49-F238E27FC236}">
                <a16:creationId xmlns:a16="http://schemas.microsoft.com/office/drawing/2014/main" id="{E0EAFC67-0CF0-AC4F-920C-4E0BA33383D1}"/>
              </a:ext>
            </a:extLst>
          </p:cNvPr>
          <p:cNvSpPr/>
          <p:nvPr/>
        </p:nvSpPr>
        <p:spPr>
          <a:xfrm>
            <a:off x="6941547" y="2795917"/>
            <a:ext cx="848081" cy="758952"/>
          </a:xfrm>
          <a:prstGeom prst="rect">
            <a:avLst/>
          </a:prstGeom>
          <a:solidFill>
            <a:srgbClr val="0432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page</a:t>
            </a:r>
          </a:p>
          <a:p>
            <a:pPr algn="ctr"/>
            <a:r>
              <a:rPr lang="en-US" sz="1200" dirty="0"/>
              <a:t>directory</a:t>
            </a:r>
          </a:p>
          <a:p>
            <a:pPr algn="ctr"/>
            <a:r>
              <a:rPr lang="en-US" sz="1200" dirty="0"/>
              <a:t>for App2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F5D41F13-1529-0C44-AB7E-B46821997D26}"/>
              </a:ext>
            </a:extLst>
          </p:cNvPr>
          <p:cNvSpPr txBox="1"/>
          <p:nvPr/>
        </p:nvSpPr>
        <p:spPr>
          <a:xfrm>
            <a:off x="9303105" y="2580415"/>
            <a:ext cx="2390775" cy="64633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latinLnBrk="0" hangingPunct="0"/>
            <a:r>
              <a:rPr lang="en-US" dirty="0"/>
              <a:t>Kernel virtual memory is global.</a:t>
            </a:r>
          </a:p>
        </p:txBody>
      </p:sp>
    </p:spTree>
    <p:extLst>
      <p:ext uri="{BB962C8B-B14F-4D97-AF65-F5344CB8AC3E}">
        <p14:creationId xmlns:p14="http://schemas.microsoft.com/office/powerpoint/2010/main" val="16224041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Virtual Memory in Pintos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en-US" altLang="ko-KR" dirty="0"/>
              <a:t>Each process has its own user virtual memory.</a:t>
            </a:r>
            <a:endParaRPr lang="en-US" altLang="ko-KR" sz="1100" dirty="0"/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endParaRPr lang="en-US" altLang="ko-KR" dirty="0"/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en-US" altLang="ko-KR" dirty="0"/>
              <a:t>Pintos allocates 1 GB to kernel as global memory.</a:t>
            </a:r>
            <a:br>
              <a:rPr lang="en-US" altLang="ko-KR" dirty="0"/>
            </a:br>
            <a:r>
              <a:rPr lang="en-US" altLang="ko-KR" dirty="0"/>
              <a:t>(PHYS_BASE (3 GB) ~ 4 GB in virtual memory)</a:t>
            </a:r>
            <a:endParaRPr lang="en-US" altLang="ko-KR" sz="1100" dirty="0"/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endParaRPr lang="en-US" altLang="ko-KR" dirty="0"/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en-US" altLang="ko-KR" dirty="0"/>
              <a:t>Memory unit is a page in Pintos, which is size of 4 KB.</a:t>
            </a:r>
            <a:endParaRPr lang="en-US" altLang="ko-KR" sz="1100" dirty="0"/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endParaRPr lang="en-US" altLang="ko-KR" dirty="0"/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en-US" altLang="ko-KR" dirty="0"/>
              <a:t>User program can access physical memory by translating virtual address via</a:t>
            </a:r>
            <a:br>
              <a:rPr lang="en-US" altLang="ko-KR" dirty="0"/>
            </a:br>
            <a:r>
              <a:rPr lang="en-US" altLang="ko-KR" dirty="0"/>
              <a:t>page directory and page table.</a:t>
            </a:r>
            <a:br>
              <a:rPr lang="en-US" altLang="ko-KR" dirty="0"/>
            </a:br>
            <a:r>
              <a:rPr lang="en-US" altLang="ko-KR" dirty="0"/>
              <a:t>(Refer to A.7 'Page Table')</a:t>
            </a:r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F4BCA48E-B850-B94B-890C-FC60CBACBF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2656" y="5991138"/>
            <a:ext cx="446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A305A6-A07C-784C-BBE4-67C27A551CE4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6048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Virtual Memory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094765"/>
            <a:ext cx="10515600" cy="372085"/>
          </a:xfrm>
        </p:spPr>
        <p:txBody>
          <a:bodyPr/>
          <a:lstStyle/>
          <a:p>
            <a:r>
              <a:rPr lang="en-US" altLang="ko-KR" dirty="0"/>
              <a:t>Functions for page</a:t>
            </a:r>
          </a:p>
          <a:p>
            <a:pPr marL="800100" lvl="1" indent="-342900">
              <a:buFont typeface="+mj-lt"/>
              <a:buAutoNum type="arabicParenR"/>
            </a:pPr>
            <a:r>
              <a:rPr lang="en-US" altLang="ko-KR" dirty="0">
                <a:solidFill>
                  <a:srgbClr val="1065E7"/>
                </a:solidFill>
              </a:rPr>
              <a:t>threads/</a:t>
            </a:r>
            <a:r>
              <a:rPr lang="en-US" altLang="ko-KR" dirty="0" err="1">
                <a:solidFill>
                  <a:srgbClr val="1065E7"/>
                </a:solidFill>
              </a:rPr>
              <a:t>vaddr.h</a:t>
            </a:r>
            <a:endParaRPr lang="en-US" altLang="ko-KR" dirty="0">
              <a:solidFill>
                <a:srgbClr val="1065E7"/>
              </a:solidFill>
            </a:endParaRPr>
          </a:p>
          <a:p>
            <a:pPr lvl="2">
              <a:buFont typeface="Wingdings" pitchFamily="2" charset="2"/>
              <a:buChar char="ü"/>
            </a:pPr>
            <a:r>
              <a:rPr lang="en-US" altLang="ko-KR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is_user_vaddr</a:t>
            </a:r>
            <a:r>
              <a:rPr lang="en-US" altLang="ko-KR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(), </a:t>
            </a:r>
            <a:r>
              <a:rPr lang="en-US" altLang="ko-KR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is_kernel_vaddr</a:t>
            </a:r>
            <a:r>
              <a:rPr lang="en-US" altLang="ko-KR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()</a:t>
            </a:r>
          </a:p>
          <a:p>
            <a:pPr marL="1371600" lvl="3" indent="0">
              <a:buNone/>
            </a:pPr>
            <a:r>
              <a:rPr lang="en-US" altLang="ko-KR" dirty="0"/>
              <a:t>Check that given virtual address is user/kernel virtual address</a:t>
            </a:r>
          </a:p>
          <a:p>
            <a:pPr lvl="2">
              <a:buFont typeface="Wingdings" pitchFamily="2" charset="2"/>
              <a:buChar char="ü"/>
            </a:pPr>
            <a:r>
              <a:rPr lang="en-US" altLang="ko-KR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ptov</a:t>
            </a:r>
            <a:r>
              <a:rPr lang="en-US" altLang="ko-KR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(), </a:t>
            </a:r>
            <a:r>
              <a:rPr lang="en-US" altLang="ko-KR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vtop</a:t>
            </a:r>
            <a:r>
              <a:rPr lang="en-US" altLang="ko-KR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()</a:t>
            </a:r>
          </a:p>
          <a:p>
            <a:pPr marL="1371600" lvl="3" indent="0">
              <a:buNone/>
            </a:pPr>
            <a:r>
              <a:rPr lang="en-US" altLang="ko-KR" dirty="0"/>
              <a:t>Translate physical address to kernel virtual address and vice versa</a:t>
            </a:r>
          </a:p>
          <a:p>
            <a:pPr marL="914400" lvl="2" indent="0">
              <a:buNone/>
            </a:pPr>
            <a:endParaRPr lang="en-US" altLang="ko-KR" dirty="0"/>
          </a:p>
          <a:p>
            <a:pPr marL="800100" lvl="1" indent="-342900">
              <a:buFont typeface="+mj-lt"/>
              <a:buAutoNum type="arabicParenR"/>
            </a:pPr>
            <a:r>
              <a:rPr lang="en-US" altLang="ko-KR" dirty="0">
                <a:solidFill>
                  <a:srgbClr val="1065E7"/>
                </a:solidFill>
              </a:rPr>
              <a:t>threads/</a:t>
            </a:r>
            <a:r>
              <a:rPr lang="en-US" altLang="ko-KR" dirty="0" err="1">
                <a:solidFill>
                  <a:srgbClr val="1065E7"/>
                </a:solidFill>
              </a:rPr>
              <a:t>palloc.c</a:t>
            </a:r>
            <a:endParaRPr lang="en-US" altLang="ko-KR" dirty="0">
              <a:solidFill>
                <a:srgbClr val="1065E7"/>
              </a:solidFill>
            </a:endParaRPr>
          </a:p>
          <a:p>
            <a:pPr lvl="2">
              <a:buFont typeface="Wingdings" pitchFamily="2" charset="2"/>
              <a:buChar char="ü"/>
            </a:pPr>
            <a:r>
              <a:rPr lang="en-US" altLang="ko-KR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palloc_get_page</a:t>
            </a:r>
            <a:r>
              <a:rPr lang="en-US" altLang="ko-KR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()</a:t>
            </a:r>
          </a:p>
          <a:p>
            <a:pPr marL="1371600" lvl="3" indent="0">
              <a:buNone/>
            </a:pPr>
            <a:r>
              <a:rPr lang="en-US" altLang="ko-KR" dirty="0"/>
              <a:t>Get page from user/kernel memory pool</a:t>
            </a:r>
          </a:p>
          <a:p>
            <a:pPr lvl="2">
              <a:buFont typeface="Wingdings" pitchFamily="2" charset="2"/>
              <a:buChar char="ü"/>
            </a:pPr>
            <a:endParaRPr lang="en-US" altLang="ko-KR" dirty="0"/>
          </a:p>
          <a:p>
            <a:pPr marL="800100" lvl="1" indent="-342900">
              <a:buFont typeface="+mj-lt"/>
              <a:buAutoNum type="arabicParenR"/>
            </a:pPr>
            <a:r>
              <a:rPr lang="en-US" altLang="ko-KR" dirty="0" err="1">
                <a:solidFill>
                  <a:srgbClr val="1065E7"/>
                </a:solidFill>
              </a:rPr>
              <a:t>userprog</a:t>
            </a:r>
            <a:r>
              <a:rPr lang="en-US" altLang="ko-KR" dirty="0">
                <a:solidFill>
                  <a:srgbClr val="1065E7"/>
                </a:solidFill>
              </a:rPr>
              <a:t>/</a:t>
            </a:r>
            <a:r>
              <a:rPr lang="en-US" altLang="ko-KR" dirty="0" err="1">
                <a:solidFill>
                  <a:srgbClr val="1065E7"/>
                </a:solidFill>
              </a:rPr>
              <a:t>pagedir.c</a:t>
            </a:r>
            <a:endParaRPr lang="en-US" altLang="ko-KR" dirty="0">
              <a:solidFill>
                <a:srgbClr val="1065E7"/>
              </a:solidFill>
            </a:endParaRPr>
          </a:p>
          <a:p>
            <a:pPr lvl="2">
              <a:buFont typeface="Wingdings" pitchFamily="2" charset="2"/>
              <a:buChar char="ü"/>
            </a:pPr>
            <a:r>
              <a:rPr lang="en-US" altLang="ko-KR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pagedir_create</a:t>
            </a:r>
            <a:r>
              <a:rPr lang="en-US" altLang="ko-KR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()</a:t>
            </a:r>
          </a:p>
          <a:p>
            <a:pPr marL="1371600" lvl="3" indent="0">
              <a:buNone/>
            </a:pPr>
            <a:r>
              <a:rPr lang="en-US" altLang="ko-KR" dirty="0"/>
              <a:t>Create page directory</a:t>
            </a:r>
          </a:p>
          <a:p>
            <a:pPr lvl="2">
              <a:buFont typeface="Wingdings" pitchFamily="2" charset="2"/>
              <a:buChar char="ü"/>
            </a:pPr>
            <a:r>
              <a:rPr lang="en-US" altLang="ko-KR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pagedir_get_page</a:t>
            </a:r>
            <a:r>
              <a:rPr lang="en-US" altLang="ko-KR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()</a:t>
            </a:r>
          </a:p>
          <a:p>
            <a:pPr marL="1371600" lvl="3" indent="0">
              <a:buNone/>
            </a:pPr>
            <a:r>
              <a:rPr lang="en-US" altLang="ko-KR" dirty="0"/>
              <a:t>Look up the physical address that corresponds to user virtual address in	page directory</a:t>
            </a:r>
          </a:p>
          <a:p>
            <a:pPr lvl="2">
              <a:buFont typeface="Wingdings" pitchFamily="2" charset="2"/>
              <a:buChar char="ü"/>
            </a:pPr>
            <a:r>
              <a:rPr lang="en-US" altLang="ko-KR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pagedir_set_page</a:t>
            </a:r>
            <a:r>
              <a:rPr lang="en-US" altLang="ko-KR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()</a:t>
            </a:r>
          </a:p>
          <a:p>
            <a:pPr marL="1371600" lvl="3" indent="0">
              <a:buNone/>
            </a:pPr>
            <a:r>
              <a:rPr lang="en-US" altLang="ko-KR" dirty="0"/>
              <a:t>Add mapping in page directory from user virtual address to the physical page</a:t>
            </a:r>
          </a:p>
          <a:p>
            <a:pPr marL="914400" lvl="2" indent="0">
              <a:buNone/>
            </a:pPr>
            <a:endParaRPr lang="en-US" altLang="ko-KR" dirty="0"/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6B7017E7-8D9B-E043-BB37-D062306634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2656" y="5991138"/>
            <a:ext cx="446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A305A6-A07C-784C-BBE4-67C27A551CE4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3003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DB4280-05B5-4BDC-974C-ED90FBBB6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System Calls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8EA11EA-D822-4108-B5FA-A422414432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As we've seen, Pintos divides memory into user virtual memory and kernel virtual memory to protect each process and kernel code.</a:t>
            </a:r>
          </a:p>
          <a:p>
            <a:endParaRPr lang="en-US" altLang="ko-KR" dirty="0"/>
          </a:p>
          <a:p>
            <a:r>
              <a:rPr lang="en-US" altLang="ko-KR" dirty="0"/>
              <a:t>Along with the concept of virtual memory, OS prevents user program from accessing the kernel memory which contains core functionalities.</a:t>
            </a:r>
          </a:p>
          <a:p>
            <a:endParaRPr lang="en-US" altLang="ko-KR" dirty="0"/>
          </a:p>
          <a:p>
            <a:r>
              <a:rPr lang="en-US" altLang="ko-KR" dirty="0"/>
              <a:t>Then, how user program uses kernel's functionality?</a:t>
            </a:r>
          </a:p>
          <a:p>
            <a:endParaRPr lang="en-US" altLang="ko-KR" dirty="0"/>
          </a:p>
          <a:p>
            <a:r>
              <a:rPr lang="en-US" altLang="ko-KR" dirty="0"/>
              <a:t>OS provides </a:t>
            </a:r>
            <a:r>
              <a:rPr lang="en-US" altLang="ko-KR" b="1" dirty="0">
                <a:solidFill>
                  <a:srgbClr val="0070C0"/>
                </a:solidFill>
              </a:rPr>
              <a:t>system calls </a:t>
            </a:r>
            <a:r>
              <a:rPr lang="en-US" altLang="ko-KR" dirty="0"/>
              <a:t>to solve this problem.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C89B4E3-A24F-4662-A5C9-D08E702938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0A305A6-A07C-784C-BBE4-67C27A551CE4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0711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0875A-0CA8-254B-BB44-E8F43080B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System Calls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BDAF42-64FE-5348-9935-C09E1048BB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safety, operating system provides two types of mode, user and kernel mode.</a:t>
            </a:r>
          </a:p>
          <a:p>
            <a:r>
              <a:rPr lang="en-US" b="1" dirty="0"/>
              <a:t>When user program is run in user mode, it can not access memory or disk</a:t>
            </a:r>
            <a:r>
              <a:rPr lang="en-US" dirty="0"/>
              <a:t>.</a:t>
            </a:r>
            <a:endParaRPr lang="en-US" b="1" dirty="0"/>
          </a:p>
          <a:p>
            <a:r>
              <a:rPr lang="en-US" dirty="0"/>
              <a:t>These operations are performed in </a:t>
            </a:r>
            <a:r>
              <a:rPr lang="en-US" b="1" dirty="0"/>
              <a:t>kernel mode</a:t>
            </a:r>
            <a:r>
              <a:rPr lang="en-US" dirty="0"/>
              <a:t>.</a:t>
            </a:r>
            <a:endParaRPr lang="en-US" b="1" dirty="0"/>
          </a:p>
          <a:p>
            <a:r>
              <a:rPr lang="en-US" dirty="0"/>
              <a:t>OS provides </a:t>
            </a:r>
            <a:r>
              <a:rPr lang="en-US" b="1" dirty="0">
                <a:solidFill>
                  <a:srgbClr val="0070C0"/>
                </a:solidFill>
              </a:rPr>
              <a:t>system calls</a:t>
            </a:r>
            <a:r>
              <a:rPr lang="en-US" dirty="0"/>
              <a:t> to enter kernel mode.</a:t>
            </a:r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5134758B-4BDF-0441-8FA6-B38487F2FD7B}"/>
              </a:ext>
            </a:extLst>
          </p:cNvPr>
          <p:cNvGrpSpPr/>
          <p:nvPr/>
        </p:nvGrpSpPr>
        <p:grpSpPr>
          <a:xfrm>
            <a:off x="2980192" y="3267075"/>
            <a:ext cx="6231615" cy="2796796"/>
            <a:chOff x="3437392" y="3295650"/>
            <a:chExt cx="6231615" cy="2796796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B57DD593-8161-9045-AE62-D4EFE604148D}"/>
                </a:ext>
              </a:extLst>
            </p:cNvPr>
            <p:cNvSpPr/>
            <p:nvPr/>
          </p:nvSpPr>
          <p:spPr>
            <a:xfrm>
              <a:off x="3437392" y="4839883"/>
              <a:ext cx="3876675" cy="1252563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ACD6AEDA-022F-1542-8BD8-910CC0B5A348}"/>
                </a:ext>
              </a:extLst>
            </p:cNvPr>
            <p:cNvSpPr/>
            <p:nvPr/>
          </p:nvSpPr>
          <p:spPr>
            <a:xfrm>
              <a:off x="3437392" y="3295650"/>
              <a:ext cx="3876675" cy="1544233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DF56247E-E1BC-874F-95B5-B2852D98E187}"/>
                </a:ext>
              </a:extLst>
            </p:cNvPr>
            <p:cNvSpPr/>
            <p:nvPr/>
          </p:nvSpPr>
          <p:spPr>
            <a:xfrm>
              <a:off x="7314066" y="3810183"/>
              <a:ext cx="217110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dirty="0"/>
                <a:t>User Memory Area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40FAA3AC-F794-2745-951F-900469149416}"/>
                </a:ext>
              </a:extLst>
            </p:cNvPr>
            <p:cNvSpPr/>
            <p:nvPr/>
          </p:nvSpPr>
          <p:spPr>
            <a:xfrm>
              <a:off x="7314067" y="5412304"/>
              <a:ext cx="235494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dirty="0"/>
                <a:t>Kernel Memory Area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2225A23D-3270-9947-99E3-73616CE9365D}"/>
                </a:ext>
              </a:extLst>
            </p:cNvPr>
            <p:cNvSpPr/>
            <p:nvPr/>
          </p:nvSpPr>
          <p:spPr>
            <a:xfrm>
              <a:off x="6378113" y="5206445"/>
              <a:ext cx="809626" cy="78105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File</a:t>
              </a:r>
            </a:p>
            <a:p>
              <a:pPr algn="ctr"/>
              <a:r>
                <a:rPr lang="en-US" sz="1400" dirty="0"/>
                <a:t>System</a:t>
              </a: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F3C5FDD4-2632-3F44-BD3D-F8421C6A5864}"/>
                </a:ext>
              </a:extLst>
            </p:cNvPr>
            <p:cNvSpPr/>
            <p:nvPr/>
          </p:nvSpPr>
          <p:spPr>
            <a:xfrm>
              <a:off x="4961042" y="5206445"/>
              <a:ext cx="1319213" cy="78105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Memory</a:t>
              </a:r>
            </a:p>
            <a:p>
              <a:pPr algn="ctr"/>
              <a:r>
                <a:rPr lang="en-US" sz="1400" dirty="0"/>
                <a:t>Management</a:t>
              </a: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1939E124-01DB-5046-BD4F-41802F1FB28B}"/>
                </a:ext>
              </a:extLst>
            </p:cNvPr>
            <p:cNvSpPr/>
            <p:nvPr/>
          </p:nvSpPr>
          <p:spPr>
            <a:xfrm>
              <a:off x="3543972" y="5206445"/>
              <a:ext cx="1319213" cy="78105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Process</a:t>
              </a:r>
            </a:p>
            <a:p>
              <a:pPr algn="ctr"/>
              <a:r>
                <a:rPr lang="en-US" sz="1400" dirty="0"/>
                <a:t>Scheduling</a:t>
              </a:r>
            </a:p>
          </p:txBody>
        </p: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D4CA11BC-8790-DF4B-BB26-AECDB98C1A75}"/>
                </a:ext>
              </a:extLst>
            </p:cNvPr>
            <p:cNvGrpSpPr/>
            <p:nvPr/>
          </p:nvGrpSpPr>
          <p:grpSpPr>
            <a:xfrm>
              <a:off x="3585029" y="3505135"/>
              <a:ext cx="3581400" cy="965964"/>
              <a:chOff x="4248822" y="4273969"/>
              <a:chExt cx="3581400" cy="965964"/>
            </a:xfrm>
          </p:grpSpPr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AC1605A3-21E6-DE41-A6FF-843A4EB27B85}"/>
                  </a:ext>
                </a:extLst>
              </p:cNvPr>
              <p:cNvSpPr/>
              <p:nvPr/>
            </p:nvSpPr>
            <p:spPr>
              <a:xfrm>
                <a:off x="4248822" y="4287433"/>
                <a:ext cx="1095375" cy="9525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App1</a:t>
                </a:r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A6D7B778-5BE2-554E-BEC0-4E59ECF43D57}"/>
                  </a:ext>
                </a:extLst>
              </p:cNvPr>
              <p:cNvSpPr/>
              <p:nvPr/>
            </p:nvSpPr>
            <p:spPr>
              <a:xfrm>
                <a:off x="5491835" y="4287433"/>
                <a:ext cx="1095375" cy="9525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App2</a:t>
                </a:r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6731785D-472D-7841-B1A4-E11142B0A973}"/>
                  </a:ext>
                </a:extLst>
              </p:cNvPr>
              <p:cNvSpPr/>
              <p:nvPr/>
            </p:nvSpPr>
            <p:spPr>
              <a:xfrm>
                <a:off x="6734847" y="4273969"/>
                <a:ext cx="1095375" cy="9525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App3</a:t>
                </a:r>
              </a:p>
            </p:txBody>
          </p:sp>
        </p:grpSp>
        <p:sp>
          <p:nvSpPr>
            <p:cNvPr id="52" name="Down Arrow 51">
              <a:extLst>
                <a:ext uri="{FF2B5EF4-FFF2-40B4-BE49-F238E27FC236}">
                  <a16:creationId xmlns:a16="http://schemas.microsoft.com/office/drawing/2014/main" id="{48C16E05-21A2-054D-AE45-63C123AE58F3}"/>
                </a:ext>
              </a:extLst>
            </p:cNvPr>
            <p:cNvSpPr/>
            <p:nvPr/>
          </p:nvSpPr>
          <p:spPr>
            <a:xfrm>
              <a:off x="4046989" y="4471099"/>
              <a:ext cx="134486" cy="696515"/>
            </a:xfrm>
            <a:prstGeom prst="down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Down Arrow 52">
              <a:extLst>
                <a:ext uri="{FF2B5EF4-FFF2-40B4-BE49-F238E27FC236}">
                  <a16:creationId xmlns:a16="http://schemas.microsoft.com/office/drawing/2014/main" id="{4AE6CE4C-B828-8B42-85CF-7ECDF87E07E8}"/>
                </a:ext>
              </a:extLst>
            </p:cNvPr>
            <p:cNvSpPr/>
            <p:nvPr/>
          </p:nvSpPr>
          <p:spPr>
            <a:xfrm>
              <a:off x="5325948" y="4471099"/>
              <a:ext cx="134486" cy="696515"/>
            </a:xfrm>
            <a:prstGeom prst="down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Down Arrow 53">
              <a:extLst>
                <a:ext uri="{FF2B5EF4-FFF2-40B4-BE49-F238E27FC236}">
                  <a16:creationId xmlns:a16="http://schemas.microsoft.com/office/drawing/2014/main" id="{0CFC13BA-4A49-384A-A7C3-727F323C9A88}"/>
                </a:ext>
              </a:extLst>
            </p:cNvPr>
            <p:cNvSpPr/>
            <p:nvPr/>
          </p:nvSpPr>
          <p:spPr>
            <a:xfrm>
              <a:off x="6614533" y="4471426"/>
              <a:ext cx="134486" cy="696515"/>
            </a:xfrm>
            <a:prstGeom prst="down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49EB22A3-36CC-5345-A155-DA8D2BD344F9}"/>
                </a:ext>
              </a:extLst>
            </p:cNvPr>
            <p:cNvSpPr txBox="1"/>
            <p:nvPr/>
          </p:nvSpPr>
          <p:spPr>
            <a:xfrm>
              <a:off x="3914504" y="4606636"/>
              <a:ext cx="2922450" cy="369332"/>
            </a:xfrm>
            <a:prstGeom prst="rect">
              <a:avLst/>
            </a:prstGeom>
            <a:solidFill>
              <a:schemeClr val="bg1">
                <a:alpha val="5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C00000"/>
                  </a:solidFill>
                </a:rPr>
                <a:t>System Calls</a:t>
              </a:r>
            </a:p>
          </p:txBody>
        </p:sp>
      </p:grpSp>
      <p:sp>
        <p:nvSpPr>
          <p:cNvPr id="20" name="Slide Number Placeholder 1">
            <a:extLst>
              <a:ext uri="{FF2B5EF4-FFF2-40B4-BE49-F238E27FC236}">
                <a16:creationId xmlns:a16="http://schemas.microsoft.com/office/drawing/2014/main" id="{4B10D492-590E-F342-A208-14836BA185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2656" y="5991138"/>
            <a:ext cx="446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A305A6-A07C-784C-BBE4-67C27A551CE4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1103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C327A8-119E-463D-AF59-72EFFAE2D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System Calls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D52E27-143B-441E-8573-8DF3F32473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Pintos provides </a:t>
            </a:r>
            <a:r>
              <a:rPr lang="en-US" altLang="ko-KR" b="1" dirty="0"/>
              <a:t>user level interface </a:t>
            </a:r>
            <a:r>
              <a:rPr lang="en-US" altLang="ko-KR" dirty="0"/>
              <a:t>of system calls in 'lib/user/</a:t>
            </a:r>
            <a:r>
              <a:rPr lang="en-US" altLang="ko-KR" dirty="0" err="1"/>
              <a:t>syscall.c</a:t>
            </a:r>
            <a:r>
              <a:rPr lang="en-US" altLang="ko-KR" dirty="0"/>
              <a:t>'</a:t>
            </a:r>
            <a:br>
              <a:rPr lang="en-US" altLang="ko-KR" dirty="0"/>
            </a:br>
            <a:r>
              <a:rPr lang="en-US" altLang="ko-KR" dirty="0"/>
              <a:t>and </a:t>
            </a:r>
            <a:r>
              <a:rPr lang="en-US" altLang="ko-KR" b="1" dirty="0"/>
              <a:t>skeleton of system call handler</a:t>
            </a:r>
            <a:r>
              <a:rPr lang="en-US" altLang="ko-KR" dirty="0"/>
              <a:t> in '</a:t>
            </a:r>
            <a:r>
              <a:rPr lang="en-US" altLang="ko-KR" dirty="0" err="1"/>
              <a:t>userprog</a:t>
            </a:r>
            <a:r>
              <a:rPr lang="en-US" altLang="ko-KR" dirty="0"/>
              <a:t>/</a:t>
            </a:r>
            <a:r>
              <a:rPr lang="en-US" altLang="ko-KR" dirty="0" err="1"/>
              <a:t>syscall.c</a:t>
            </a:r>
            <a:r>
              <a:rPr lang="en-US" altLang="ko-KR" dirty="0"/>
              <a:t>’.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14452B-BF1A-4D45-A2ED-EEF04B874B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0A305A6-A07C-784C-BBE4-67C27A551CE4}" type="slidenum">
              <a:rPr lang="en-US" smtClean="0"/>
              <a:t>23</a:t>
            </a:fld>
            <a:endParaRPr lang="en-US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5F6929C4-01D3-4FD8-9931-941E61ED1581}"/>
              </a:ext>
            </a:extLst>
          </p:cNvPr>
          <p:cNvGrpSpPr/>
          <p:nvPr/>
        </p:nvGrpSpPr>
        <p:grpSpPr>
          <a:xfrm>
            <a:off x="1166359" y="2430780"/>
            <a:ext cx="9682111" cy="3333949"/>
            <a:chOff x="1013959" y="2278380"/>
            <a:chExt cx="9682111" cy="3333949"/>
          </a:xfrm>
        </p:grpSpPr>
        <p:sp>
          <p:nvSpPr>
            <p:cNvPr id="6" name="Rectangle 4">
              <a:extLst>
                <a:ext uri="{FF2B5EF4-FFF2-40B4-BE49-F238E27FC236}">
                  <a16:creationId xmlns:a16="http://schemas.microsoft.com/office/drawing/2014/main" id="{731EAC71-EB59-4B8A-B7D2-03665F6E2687}"/>
                </a:ext>
              </a:extLst>
            </p:cNvPr>
            <p:cNvSpPr/>
            <p:nvPr/>
          </p:nvSpPr>
          <p:spPr>
            <a:xfrm>
              <a:off x="1544194" y="5039908"/>
              <a:ext cx="2895355" cy="572421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H/W</a:t>
              </a:r>
            </a:p>
          </p:txBody>
        </p:sp>
        <p:sp>
          <p:nvSpPr>
            <p:cNvPr id="7" name="Rectangle 5">
              <a:extLst>
                <a:ext uri="{FF2B5EF4-FFF2-40B4-BE49-F238E27FC236}">
                  <a16:creationId xmlns:a16="http://schemas.microsoft.com/office/drawing/2014/main" id="{8D8A2C46-8022-4A7D-BA92-02DC316788A6}"/>
                </a:ext>
              </a:extLst>
            </p:cNvPr>
            <p:cNvSpPr/>
            <p:nvPr/>
          </p:nvSpPr>
          <p:spPr>
            <a:xfrm>
              <a:off x="1544194" y="4467487"/>
              <a:ext cx="2895355" cy="572421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Linux (Ubuntu)</a:t>
              </a:r>
            </a:p>
          </p:txBody>
        </p:sp>
        <p:sp>
          <p:nvSpPr>
            <p:cNvPr id="8" name="Rectangle 6">
              <a:extLst>
                <a:ext uri="{FF2B5EF4-FFF2-40B4-BE49-F238E27FC236}">
                  <a16:creationId xmlns:a16="http://schemas.microsoft.com/office/drawing/2014/main" id="{4FBAD8FB-D709-4865-BCED-B35C162976A9}"/>
                </a:ext>
              </a:extLst>
            </p:cNvPr>
            <p:cNvSpPr/>
            <p:nvPr/>
          </p:nvSpPr>
          <p:spPr>
            <a:xfrm>
              <a:off x="1544192" y="3895066"/>
              <a:ext cx="2895355" cy="572421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QEMU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A355332-7E6E-46AB-AC8F-322615A363DE}"/>
                </a:ext>
              </a:extLst>
            </p:cNvPr>
            <p:cNvSpPr/>
            <p:nvPr/>
          </p:nvSpPr>
          <p:spPr>
            <a:xfrm>
              <a:off x="1544192" y="3322645"/>
              <a:ext cx="2895355" cy="572421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rgbClr val="C00000"/>
                  </a:solidFill>
                </a:rPr>
                <a:t>Pintos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8577EBD-B7F1-472B-86FE-5295018369D4}"/>
                </a:ext>
              </a:extLst>
            </p:cNvPr>
            <p:cNvSpPr/>
            <p:nvPr/>
          </p:nvSpPr>
          <p:spPr>
            <a:xfrm>
              <a:off x="1544191" y="2750224"/>
              <a:ext cx="2895355" cy="572421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Pintos User Programs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9452C1B5-DD08-4EB5-A523-350D59566A59}"/>
                </a:ext>
              </a:extLst>
            </p:cNvPr>
            <p:cNvSpPr/>
            <p:nvPr/>
          </p:nvSpPr>
          <p:spPr>
            <a:xfrm>
              <a:off x="1013959" y="2278380"/>
              <a:ext cx="4095750" cy="3105149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ight Arrow 12">
              <a:extLst>
                <a:ext uri="{FF2B5EF4-FFF2-40B4-BE49-F238E27FC236}">
                  <a16:creationId xmlns:a16="http://schemas.microsoft.com/office/drawing/2014/main" id="{82E8BC4E-A654-4449-B3F0-BCC2B01FCACF}"/>
                </a:ext>
              </a:extLst>
            </p:cNvPr>
            <p:cNvSpPr/>
            <p:nvPr/>
          </p:nvSpPr>
          <p:spPr>
            <a:xfrm>
              <a:off x="5268960" y="3702724"/>
              <a:ext cx="723900" cy="328256"/>
            </a:xfrm>
            <a:prstGeom prst="rightArrow">
              <a:avLst>
                <a:gd name="adj1" fmla="val 50000"/>
                <a:gd name="adj2" fmla="val 87722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3C84BF98-478D-479C-B106-AE7157884F33}"/>
                </a:ext>
              </a:extLst>
            </p:cNvPr>
            <p:cNvGrpSpPr/>
            <p:nvPr/>
          </p:nvGrpSpPr>
          <p:grpSpPr>
            <a:xfrm>
              <a:off x="6390309" y="2618507"/>
              <a:ext cx="4305761" cy="2553118"/>
              <a:chOff x="5696621" y="2348316"/>
              <a:chExt cx="4305761" cy="2553118"/>
            </a:xfrm>
          </p:grpSpPr>
          <p:sp>
            <p:nvSpPr>
              <p:cNvPr id="14" name="Rectangle 16">
                <a:extLst>
                  <a:ext uri="{FF2B5EF4-FFF2-40B4-BE49-F238E27FC236}">
                    <a16:creationId xmlns:a16="http://schemas.microsoft.com/office/drawing/2014/main" id="{EB32E00C-9B15-41D4-AAB0-E3B7C1E8C89D}"/>
                  </a:ext>
                </a:extLst>
              </p:cNvPr>
              <p:cNvSpPr/>
              <p:nvPr/>
            </p:nvSpPr>
            <p:spPr>
              <a:xfrm>
                <a:off x="7647442" y="3046763"/>
                <a:ext cx="217110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dirty="0"/>
                  <a:t>User Memory Area</a:t>
                </a:r>
              </a:p>
            </p:txBody>
          </p:sp>
          <p:sp>
            <p:nvSpPr>
              <p:cNvPr id="15" name="Rectangle 17">
                <a:extLst>
                  <a:ext uri="{FF2B5EF4-FFF2-40B4-BE49-F238E27FC236}">
                    <a16:creationId xmlns:a16="http://schemas.microsoft.com/office/drawing/2014/main" id="{8619C1E4-F399-47DB-9CE9-08E64E08A915}"/>
                  </a:ext>
                </a:extLst>
              </p:cNvPr>
              <p:cNvSpPr/>
              <p:nvPr/>
            </p:nvSpPr>
            <p:spPr>
              <a:xfrm>
                <a:off x="7647442" y="3895066"/>
                <a:ext cx="235494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dirty="0"/>
                  <a:t>Kernel Memory Area</a:t>
                </a:r>
              </a:p>
            </p:txBody>
          </p:sp>
          <p:sp>
            <p:nvSpPr>
              <p:cNvPr id="16" name="Rounded Rectangle 23">
                <a:extLst>
                  <a:ext uri="{FF2B5EF4-FFF2-40B4-BE49-F238E27FC236}">
                    <a16:creationId xmlns:a16="http://schemas.microsoft.com/office/drawing/2014/main" id="{76D979A1-90EA-48A0-87D0-D3B4032A4B10}"/>
                  </a:ext>
                </a:extLst>
              </p:cNvPr>
              <p:cNvSpPr/>
              <p:nvPr/>
            </p:nvSpPr>
            <p:spPr>
              <a:xfrm>
                <a:off x="5696621" y="2348316"/>
                <a:ext cx="1950821" cy="2553118"/>
              </a:xfrm>
              <a:prstGeom prst="round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 24">
                <a:extLst>
                  <a:ext uri="{FF2B5EF4-FFF2-40B4-BE49-F238E27FC236}">
                    <a16:creationId xmlns:a16="http://schemas.microsoft.com/office/drawing/2014/main" id="{8B6999E1-635B-4244-8AA0-3DF616D7866D}"/>
                  </a:ext>
                </a:extLst>
              </p:cNvPr>
              <p:cNvSpPr/>
              <p:nvPr/>
            </p:nvSpPr>
            <p:spPr>
              <a:xfrm>
                <a:off x="5696622" y="2750224"/>
                <a:ext cx="1950820" cy="1717262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Rounded Rectangle 25">
                <a:extLst>
                  <a:ext uri="{FF2B5EF4-FFF2-40B4-BE49-F238E27FC236}">
                    <a16:creationId xmlns:a16="http://schemas.microsoft.com/office/drawing/2014/main" id="{5309007A-81A5-4F51-9A21-3C6B43B5E40B}"/>
                  </a:ext>
                </a:extLst>
              </p:cNvPr>
              <p:cNvSpPr/>
              <p:nvPr/>
            </p:nvSpPr>
            <p:spPr>
              <a:xfrm>
                <a:off x="5838285" y="3702724"/>
                <a:ext cx="1637708" cy="764762"/>
              </a:xfrm>
              <a:prstGeom prst="round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Pintos</a:t>
                </a:r>
              </a:p>
              <a:p>
                <a:pPr algn="ctr"/>
                <a:r>
                  <a:rPr lang="en-US" sz="1400" dirty="0"/>
                  <a:t>Kernel</a:t>
                </a:r>
              </a:p>
            </p:txBody>
          </p:sp>
          <p:sp>
            <p:nvSpPr>
              <p:cNvPr id="19" name="Rounded Rectangle 26">
                <a:extLst>
                  <a:ext uri="{FF2B5EF4-FFF2-40B4-BE49-F238E27FC236}">
                    <a16:creationId xmlns:a16="http://schemas.microsoft.com/office/drawing/2014/main" id="{F9014EFB-C467-47CA-8ADB-BBCA16703C0E}"/>
                  </a:ext>
                </a:extLst>
              </p:cNvPr>
              <p:cNvSpPr/>
              <p:nvPr/>
            </p:nvSpPr>
            <p:spPr>
              <a:xfrm>
                <a:off x="5838285" y="2750223"/>
                <a:ext cx="1637708" cy="954803"/>
              </a:xfrm>
              <a:prstGeom prst="roundRect">
                <a:avLst/>
              </a:prstGeom>
              <a:solidFill>
                <a:srgbClr val="D8BFB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Pintos</a:t>
                </a:r>
              </a:p>
              <a:p>
                <a:pPr algn="ctr"/>
                <a:r>
                  <a:rPr lang="en-US" sz="1400" dirty="0"/>
                  <a:t>User Programs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4E82D45-262A-453E-83CD-69E456840127}"/>
                  </a:ext>
                </a:extLst>
              </p:cNvPr>
              <p:cNvSpPr txBox="1"/>
              <p:nvPr/>
            </p:nvSpPr>
            <p:spPr>
              <a:xfrm>
                <a:off x="6192296" y="4488529"/>
                <a:ext cx="85472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bg1"/>
                    </a:solidFill>
                  </a:rPr>
                  <a:t>QEMU</a:t>
                </a:r>
              </a:p>
            </p:txBody>
          </p:sp>
          <p:grpSp>
            <p:nvGrpSpPr>
              <p:cNvPr id="21" name="Group 31">
                <a:extLst>
                  <a:ext uri="{FF2B5EF4-FFF2-40B4-BE49-F238E27FC236}">
                    <a16:creationId xmlns:a16="http://schemas.microsoft.com/office/drawing/2014/main" id="{5FC310E2-EDD2-4E45-B33C-3B7C65A756B2}"/>
                  </a:ext>
                </a:extLst>
              </p:cNvPr>
              <p:cNvGrpSpPr/>
              <p:nvPr/>
            </p:nvGrpSpPr>
            <p:grpSpPr>
              <a:xfrm>
                <a:off x="6111446" y="3440448"/>
                <a:ext cx="1095172" cy="454618"/>
                <a:chOff x="6111446" y="3440448"/>
                <a:chExt cx="1095172" cy="454618"/>
              </a:xfrm>
            </p:grpSpPr>
            <p:sp>
              <p:nvSpPr>
                <p:cNvPr id="22" name="Down Arrow 29">
                  <a:extLst>
                    <a:ext uri="{FF2B5EF4-FFF2-40B4-BE49-F238E27FC236}">
                      <a16:creationId xmlns:a16="http://schemas.microsoft.com/office/drawing/2014/main" id="{0A7AE011-1D80-4019-AB2A-FD28133C9CA5}"/>
                    </a:ext>
                  </a:extLst>
                </p:cNvPr>
                <p:cNvSpPr/>
                <p:nvPr/>
              </p:nvSpPr>
              <p:spPr>
                <a:xfrm>
                  <a:off x="6570578" y="3440448"/>
                  <a:ext cx="173122" cy="454618"/>
                </a:xfrm>
                <a:prstGeom prst="downArrow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6505484B-E384-4850-9D59-8D00BCD98831}"/>
                    </a:ext>
                  </a:extLst>
                </p:cNvPr>
                <p:cNvSpPr txBox="1"/>
                <p:nvPr/>
              </p:nvSpPr>
              <p:spPr>
                <a:xfrm>
                  <a:off x="6111446" y="3507788"/>
                  <a:ext cx="1095172" cy="276999"/>
                </a:xfrm>
                <a:prstGeom prst="rect">
                  <a:avLst/>
                </a:prstGeom>
                <a:solidFill>
                  <a:schemeClr val="bg1">
                    <a:alpha val="50000"/>
                  </a:schemeClr>
                </a:solidFill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200" b="1" dirty="0">
                      <a:solidFill>
                        <a:srgbClr val="C00000"/>
                      </a:solidFill>
                    </a:rPr>
                    <a:t>System Calls</a:t>
                  </a:r>
                </a:p>
              </p:txBody>
            </p:sp>
          </p:grpSp>
        </p:grpSp>
      </p:grpSp>
      <p:sp>
        <p:nvSpPr>
          <p:cNvPr id="24" name="Slide Number Placeholder 1">
            <a:extLst>
              <a:ext uri="{FF2B5EF4-FFF2-40B4-BE49-F238E27FC236}">
                <a16:creationId xmlns:a16="http://schemas.microsoft.com/office/drawing/2014/main" id="{D8CFA96B-7B92-42B9-A3AE-1397086B6F01}"/>
              </a:ext>
            </a:extLst>
          </p:cNvPr>
          <p:cNvSpPr txBox="1">
            <a:spLocks/>
          </p:cNvSpPr>
          <p:nvPr/>
        </p:nvSpPr>
        <p:spPr>
          <a:xfrm>
            <a:off x="11215056" y="6143538"/>
            <a:ext cx="446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0A305A6-A07C-784C-BBE4-67C27A551CE4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8176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0875A-0CA8-254B-BB44-E8F43080B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System Calls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BDAF42-64FE-5348-9935-C09E1048BB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85020"/>
            <a:ext cx="10515600" cy="4951396"/>
          </a:xfrm>
        </p:spPr>
        <p:txBody>
          <a:bodyPr/>
          <a:lstStyle/>
          <a:p>
            <a:pPr latinLnBrk="0" hangingPunct="0">
              <a:lnSpc>
                <a:spcPct val="100000"/>
              </a:lnSpc>
            </a:pPr>
            <a:r>
              <a:rPr lang="en-US" dirty="0"/>
              <a:t>Procedure of system call in Pintos</a:t>
            </a:r>
          </a:p>
          <a:p>
            <a:pPr lvl="1">
              <a:lnSpc>
                <a:spcPct val="100000"/>
              </a:lnSpc>
              <a:buFont typeface="Wingdings" pitchFamily="2" charset="2"/>
              <a:buChar char="Ø"/>
            </a:pPr>
            <a:r>
              <a:rPr lang="en-US" dirty="0"/>
              <a:t>User programs call system call function.</a:t>
            </a:r>
          </a:p>
          <a:p>
            <a:pPr marL="457200" lvl="1" indent="0">
              <a:lnSpc>
                <a:spcPct val="100000"/>
              </a:lnSpc>
              <a:buNone/>
            </a:pPr>
            <a:endParaRPr lang="en-US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47816DE-7B89-E44A-9F6B-027C611207A7}"/>
              </a:ext>
            </a:extLst>
          </p:cNvPr>
          <p:cNvGrpSpPr/>
          <p:nvPr/>
        </p:nvGrpSpPr>
        <p:grpSpPr>
          <a:xfrm>
            <a:off x="1587600" y="1965505"/>
            <a:ext cx="6960673" cy="3589475"/>
            <a:chOff x="1825625" y="2156005"/>
            <a:chExt cx="6960673" cy="3589475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F1959B75-3D8D-0A40-AD20-60FA4D4EB0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25625" y="2156005"/>
              <a:ext cx="4565650" cy="3589475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A29A16A-90CA-6F45-8E9B-4A0E084645D1}"/>
                </a:ext>
              </a:extLst>
            </p:cNvPr>
            <p:cNvSpPr/>
            <p:nvPr/>
          </p:nvSpPr>
          <p:spPr>
            <a:xfrm>
              <a:off x="3067050" y="4591050"/>
              <a:ext cx="1162050" cy="200025"/>
            </a:xfrm>
            <a:prstGeom prst="rect">
              <a:avLst/>
            </a:prstGeom>
            <a:noFill/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F1CDD42-4470-2046-A676-EBBC8341D3B7}"/>
                </a:ext>
              </a:extLst>
            </p:cNvPr>
            <p:cNvSpPr txBox="1"/>
            <p:nvPr/>
          </p:nvSpPr>
          <p:spPr>
            <a:xfrm>
              <a:off x="6705600" y="4506396"/>
              <a:ext cx="20806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open() system call</a:t>
              </a: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5ADDABB4-DBBE-7945-A673-42EFB9F383D7}"/>
                </a:ext>
              </a:extLst>
            </p:cNvPr>
            <p:cNvCxnSpPr>
              <a:stCxn id="15" idx="1"/>
              <a:endCxn id="14" idx="3"/>
            </p:cNvCxnSpPr>
            <p:nvPr/>
          </p:nvCxnSpPr>
          <p:spPr>
            <a:xfrm flipH="1">
              <a:off x="4229100" y="4691062"/>
              <a:ext cx="2476500" cy="1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86910D27-7400-044D-8628-6C7F22758A1D}"/>
              </a:ext>
            </a:extLst>
          </p:cNvPr>
          <p:cNvSpPr txBox="1"/>
          <p:nvPr/>
        </p:nvSpPr>
        <p:spPr>
          <a:xfrm>
            <a:off x="536517" y="6328371"/>
            <a:ext cx="26122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* source code: examples/</a:t>
            </a:r>
            <a:r>
              <a:rPr lang="en-US" sz="1400" dirty="0" err="1"/>
              <a:t>cat.c</a:t>
            </a:r>
            <a:endParaRPr lang="en-US" sz="1400" dirty="0"/>
          </a:p>
        </p:txBody>
      </p: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52211B79-E0E2-4B4B-BE02-0624510386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2656" y="5991138"/>
            <a:ext cx="446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A305A6-A07C-784C-BBE4-67C27A551CE4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7878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0875A-0CA8-254B-BB44-E8F43080B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System Calls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BDAF42-64FE-5348-9935-C09E1048BB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85020"/>
            <a:ext cx="10515600" cy="4951396"/>
          </a:xfrm>
        </p:spPr>
        <p:txBody>
          <a:bodyPr/>
          <a:lstStyle/>
          <a:p>
            <a:pPr latinLnBrk="0" hangingPunct="0">
              <a:lnSpc>
                <a:spcPct val="100000"/>
              </a:lnSpc>
            </a:pPr>
            <a:r>
              <a:rPr lang="en-US" dirty="0"/>
              <a:t>Procedure of system call in Pintos</a:t>
            </a:r>
          </a:p>
          <a:p>
            <a:pPr lvl="1">
              <a:lnSpc>
                <a:spcPct val="100000"/>
              </a:lnSpc>
              <a:buFont typeface="Wingdings" pitchFamily="2" charset="2"/>
              <a:buChar char="Ø"/>
            </a:pPr>
            <a:r>
              <a:rPr lang="en-US" b="1" dirty="0"/>
              <a:t>System call number </a:t>
            </a:r>
            <a:r>
              <a:rPr lang="en-US" dirty="0"/>
              <a:t>and additional </a:t>
            </a:r>
            <a:r>
              <a:rPr lang="en-US" b="1" dirty="0"/>
              <a:t>arguments</a:t>
            </a:r>
            <a:r>
              <a:rPr lang="en-US" dirty="0"/>
              <a:t> are pushed on caller's stack.</a:t>
            </a:r>
          </a:p>
          <a:p>
            <a:pPr lvl="1">
              <a:lnSpc>
                <a:spcPct val="100000"/>
              </a:lnSpc>
              <a:buFont typeface="Wingdings" pitchFamily="2" charset="2"/>
              <a:buChar char="Ø"/>
            </a:pPr>
            <a:r>
              <a:rPr lang="en-US" dirty="0"/>
              <a:t>Invoke interrupt for system call by using </a:t>
            </a:r>
            <a:r>
              <a:rPr lang="en-US" b="1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'int $0x30'</a:t>
            </a:r>
            <a:r>
              <a:rPr lang="en-US" dirty="0"/>
              <a:t> instruction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2AF7221-3C4A-9B4F-A6D6-26D467C2BDE0}"/>
              </a:ext>
            </a:extLst>
          </p:cNvPr>
          <p:cNvSpPr/>
          <p:nvPr/>
        </p:nvSpPr>
        <p:spPr>
          <a:xfrm>
            <a:off x="8836055" y="4097655"/>
            <a:ext cx="1352550" cy="17907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7FA551-73CA-E14C-83B4-A745E33B9C5D}"/>
              </a:ext>
            </a:extLst>
          </p:cNvPr>
          <p:cNvSpPr txBox="1"/>
          <p:nvPr/>
        </p:nvSpPr>
        <p:spPr>
          <a:xfrm>
            <a:off x="8912294" y="3728323"/>
            <a:ext cx="12763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User Stack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A306F3C-E8AD-F749-850F-967BF2ED835A}"/>
              </a:ext>
            </a:extLst>
          </p:cNvPr>
          <p:cNvSpPr/>
          <p:nvPr/>
        </p:nvSpPr>
        <p:spPr>
          <a:xfrm>
            <a:off x="8836055" y="4097655"/>
            <a:ext cx="1352550" cy="55245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Arguments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A749E2C-2632-FB4F-9B0A-AFB90FBAC5DE}"/>
              </a:ext>
            </a:extLst>
          </p:cNvPr>
          <p:cNvSpPr/>
          <p:nvPr/>
        </p:nvSpPr>
        <p:spPr>
          <a:xfrm>
            <a:off x="8836055" y="4650104"/>
            <a:ext cx="1352550" cy="55244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System Call</a:t>
            </a:r>
          </a:p>
          <a:p>
            <a:pPr algn="ctr"/>
            <a:r>
              <a:rPr lang="en-US" sz="1400" dirty="0"/>
              <a:t>Number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9B024DF-A9B2-CF46-8F0E-4E2A11F72E6E}"/>
              </a:ext>
            </a:extLst>
          </p:cNvPr>
          <p:cNvSpPr txBox="1"/>
          <p:nvPr/>
        </p:nvSpPr>
        <p:spPr>
          <a:xfrm>
            <a:off x="536517" y="6328371"/>
            <a:ext cx="27372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* source code: </a:t>
            </a:r>
            <a:r>
              <a:rPr lang="en-US" altLang="ko-KR" sz="1400" dirty="0"/>
              <a:t>lib/user/</a:t>
            </a:r>
            <a:r>
              <a:rPr lang="en-US" altLang="ko-KR" sz="1400" dirty="0" err="1"/>
              <a:t>syscall.c</a:t>
            </a:r>
            <a:endParaRPr lang="en-US" sz="14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002F65C-590B-2D46-BEEF-B1C00AEF48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2425" y="2247138"/>
            <a:ext cx="3511550" cy="104786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A773E49-232F-8040-A87D-3C123DCFEA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2425" y="3464748"/>
            <a:ext cx="5797550" cy="2357759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7FA6CBCF-6E19-E442-88F3-8CFF1039B414}"/>
              </a:ext>
            </a:extLst>
          </p:cNvPr>
          <p:cNvSpPr/>
          <p:nvPr/>
        </p:nvSpPr>
        <p:spPr>
          <a:xfrm>
            <a:off x="2741075" y="2870849"/>
            <a:ext cx="2392899" cy="212799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7907C1F-7F8C-9940-9D1D-F0D409C7ACA7}"/>
              </a:ext>
            </a:extLst>
          </p:cNvPr>
          <p:cNvSpPr/>
          <p:nvPr/>
        </p:nvSpPr>
        <p:spPr>
          <a:xfrm>
            <a:off x="2836325" y="4481738"/>
            <a:ext cx="2392899" cy="212799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9A3D0C9-EDAB-3B4F-9B43-323077FFC340}"/>
              </a:ext>
            </a:extLst>
          </p:cNvPr>
          <p:cNvSpPr/>
          <p:nvPr/>
        </p:nvSpPr>
        <p:spPr>
          <a:xfrm>
            <a:off x="5286375" y="4481196"/>
            <a:ext cx="762000" cy="212177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AE32347-F8F3-B04C-882C-034F31F043F0}"/>
              </a:ext>
            </a:extLst>
          </p:cNvPr>
          <p:cNvSpPr/>
          <p:nvPr/>
        </p:nvSpPr>
        <p:spPr>
          <a:xfrm>
            <a:off x="6095999" y="4481196"/>
            <a:ext cx="1133475" cy="212177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A6246F90-4E7A-3643-9181-13A240A52620}"/>
              </a:ext>
            </a:extLst>
          </p:cNvPr>
          <p:cNvGrpSpPr/>
          <p:nvPr/>
        </p:nvGrpSpPr>
        <p:grpSpPr>
          <a:xfrm>
            <a:off x="10188605" y="5017887"/>
            <a:ext cx="1234287" cy="369332"/>
            <a:chOff x="10188605" y="5017887"/>
            <a:chExt cx="1234287" cy="369332"/>
          </a:xfrm>
        </p:grpSpPr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47B5E2B7-B553-ED49-B4BA-D9FC3D58A88F}"/>
                </a:ext>
              </a:extLst>
            </p:cNvPr>
            <p:cNvCxnSpPr/>
            <p:nvPr/>
          </p:nvCxnSpPr>
          <p:spPr>
            <a:xfrm flipH="1">
              <a:off x="10188605" y="5202553"/>
              <a:ext cx="68894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74E34431-09F5-5F4B-B231-DAA1D68DFF42}"/>
                </a:ext>
              </a:extLst>
            </p:cNvPr>
            <p:cNvSpPr txBox="1"/>
            <p:nvPr/>
          </p:nvSpPr>
          <p:spPr>
            <a:xfrm>
              <a:off x="10877550" y="5017887"/>
              <a:ext cx="5453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esp</a:t>
              </a:r>
              <a:endParaRPr lang="en-US" dirty="0"/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1D9775A8-1039-3249-B1EE-CD054A3EE4F4}"/>
              </a:ext>
            </a:extLst>
          </p:cNvPr>
          <p:cNvSpPr txBox="1"/>
          <p:nvPr/>
        </p:nvSpPr>
        <p:spPr>
          <a:xfrm>
            <a:off x="7536264" y="2628900"/>
            <a:ext cx="44374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After returning from system call handler,</a:t>
            </a:r>
          </a:p>
          <a:p>
            <a:r>
              <a:rPr lang="en-US" dirty="0"/>
              <a:t>restore stack pointer.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3E2A239A-8EF3-034C-AE95-140D294D2F96}"/>
              </a:ext>
            </a:extLst>
          </p:cNvPr>
          <p:cNvGrpSpPr/>
          <p:nvPr/>
        </p:nvGrpSpPr>
        <p:grpSpPr>
          <a:xfrm>
            <a:off x="10188605" y="3912989"/>
            <a:ext cx="1234287" cy="369332"/>
            <a:chOff x="10188605" y="5017887"/>
            <a:chExt cx="1234287" cy="369332"/>
          </a:xfrm>
        </p:grpSpPr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1F7F874B-1F23-1D47-9111-58A0FE29266E}"/>
                </a:ext>
              </a:extLst>
            </p:cNvPr>
            <p:cNvCxnSpPr/>
            <p:nvPr/>
          </p:nvCxnSpPr>
          <p:spPr>
            <a:xfrm flipH="1">
              <a:off x="10188605" y="5202553"/>
              <a:ext cx="68894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C03A4970-D3B6-4140-973A-0C8C025119B5}"/>
                </a:ext>
              </a:extLst>
            </p:cNvPr>
            <p:cNvSpPr txBox="1"/>
            <p:nvPr/>
          </p:nvSpPr>
          <p:spPr>
            <a:xfrm>
              <a:off x="10877550" y="5017887"/>
              <a:ext cx="5453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esp</a:t>
              </a:r>
              <a:endParaRPr lang="en-US" dirty="0"/>
            </a:p>
          </p:txBody>
        </p:sp>
      </p:grp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0023D4F6-EFB4-3740-B3BA-6BAE87ED24D8}"/>
              </a:ext>
            </a:extLst>
          </p:cNvPr>
          <p:cNvCxnSpPr>
            <a:cxnSpLocks/>
            <a:stCxn id="27" idx="0"/>
            <a:endCxn id="35" idx="1"/>
          </p:cNvCxnSpPr>
          <p:nvPr/>
        </p:nvCxnSpPr>
        <p:spPr>
          <a:xfrm flipV="1">
            <a:off x="6662737" y="2952066"/>
            <a:ext cx="873527" cy="1529130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Slide Number Placeholder 1">
            <a:extLst>
              <a:ext uri="{FF2B5EF4-FFF2-40B4-BE49-F238E27FC236}">
                <a16:creationId xmlns:a16="http://schemas.microsoft.com/office/drawing/2014/main" id="{5396041E-1B7D-4844-98C8-EAF87BD28F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2656" y="5991138"/>
            <a:ext cx="446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A305A6-A07C-784C-BBE4-67C27A551CE4}" type="slidenum">
              <a:rPr lang="en-US" smtClean="0"/>
              <a:t>25</a:t>
            </a:fld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AAC3CE4-C7D1-6041-8FC1-C192462294B4}"/>
              </a:ext>
            </a:extLst>
          </p:cNvPr>
          <p:cNvGrpSpPr/>
          <p:nvPr/>
        </p:nvGrpSpPr>
        <p:grpSpPr>
          <a:xfrm>
            <a:off x="10188605" y="4482582"/>
            <a:ext cx="1234287" cy="369332"/>
            <a:chOff x="10188605" y="5017887"/>
            <a:chExt cx="1234287" cy="369332"/>
          </a:xfrm>
        </p:grpSpPr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B39F8FD5-9707-4649-A914-897B6CABF5DA}"/>
                </a:ext>
              </a:extLst>
            </p:cNvPr>
            <p:cNvCxnSpPr/>
            <p:nvPr/>
          </p:nvCxnSpPr>
          <p:spPr>
            <a:xfrm flipH="1">
              <a:off x="10188605" y="5202553"/>
              <a:ext cx="68894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B0E7994A-3F20-4E47-BAA0-001743AD9ADD}"/>
                </a:ext>
              </a:extLst>
            </p:cNvPr>
            <p:cNvSpPr txBox="1"/>
            <p:nvPr/>
          </p:nvSpPr>
          <p:spPr>
            <a:xfrm>
              <a:off x="10877550" y="5017887"/>
              <a:ext cx="5453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esp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951371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1" presetClass="exit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9" grpId="0" animBg="1"/>
      <p:bldP spid="9" grpId="1" animBg="1"/>
      <p:bldP spid="10" grpId="0" animBg="1"/>
      <p:bldP spid="10" grpId="1" animBg="1"/>
      <p:bldP spid="24" grpId="0" animBg="1"/>
      <p:bldP spid="25" grpId="0" animBg="1"/>
      <p:bldP spid="27" grpId="0" animBg="1"/>
      <p:bldP spid="3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0875A-0CA8-254B-BB44-E8F43080B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System Calls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BDAF42-64FE-5348-9935-C09E1048BB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85020"/>
            <a:ext cx="10515600" cy="4951396"/>
          </a:xfrm>
        </p:spPr>
        <p:txBody>
          <a:bodyPr/>
          <a:lstStyle/>
          <a:p>
            <a:pPr latinLnBrk="0" hangingPunct="0">
              <a:lnSpc>
                <a:spcPct val="100000"/>
              </a:lnSpc>
            </a:pPr>
            <a:r>
              <a:rPr lang="en-US" dirty="0"/>
              <a:t>Procedure of system call in Pintos</a:t>
            </a:r>
          </a:p>
          <a:p>
            <a:pPr lvl="1">
              <a:lnSpc>
                <a:spcPct val="100000"/>
              </a:lnSpc>
              <a:buFont typeface="Wingdings" pitchFamily="2" charset="2"/>
              <a:buChar char="Ø"/>
            </a:pPr>
            <a:r>
              <a:rPr lang="en-US" dirty="0"/>
              <a:t>Set the stack for interrupt and call interrupt handler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5B923E-199B-174E-BF5D-2E3EED67B16F}"/>
              </a:ext>
            </a:extLst>
          </p:cNvPr>
          <p:cNvSpPr txBox="1"/>
          <p:nvPr/>
        </p:nvSpPr>
        <p:spPr>
          <a:xfrm>
            <a:off x="536517" y="6328371"/>
            <a:ext cx="29982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* source code: threads/</a:t>
            </a:r>
            <a:r>
              <a:rPr lang="en-US" sz="1400" dirty="0" err="1"/>
              <a:t>intr-stubs.S</a:t>
            </a:r>
            <a:endParaRPr lang="en-US" sz="140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5C3F7BA-5AE8-6240-9745-0D8092799EE7}"/>
              </a:ext>
            </a:extLst>
          </p:cNvPr>
          <p:cNvGrpSpPr/>
          <p:nvPr/>
        </p:nvGrpSpPr>
        <p:grpSpPr>
          <a:xfrm>
            <a:off x="1611960" y="1936307"/>
            <a:ext cx="8246415" cy="3657600"/>
            <a:chOff x="1726260" y="1945832"/>
            <a:chExt cx="8246415" cy="365760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44B3EBB-174B-BB48-89AC-333CD2BD6F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26260" y="1945832"/>
              <a:ext cx="4925216" cy="3657600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15594D5-7125-F648-86B4-C65532E8E6C0}"/>
                </a:ext>
              </a:extLst>
            </p:cNvPr>
            <p:cNvSpPr/>
            <p:nvPr/>
          </p:nvSpPr>
          <p:spPr>
            <a:xfrm>
              <a:off x="2295525" y="5086350"/>
              <a:ext cx="1333500" cy="209550"/>
            </a:xfrm>
            <a:prstGeom prst="rect">
              <a:avLst/>
            </a:prstGeom>
            <a:noFill/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5238E60-5530-9B4E-9F83-7208444DBB8A}"/>
                </a:ext>
              </a:extLst>
            </p:cNvPr>
            <p:cNvSpPr txBox="1"/>
            <p:nvPr/>
          </p:nvSpPr>
          <p:spPr>
            <a:xfrm>
              <a:off x="7220741" y="5006459"/>
              <a:ext cx="27519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Call interrupt handler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8AC0976B-39E2-D745-9DBA-61B22850F346}"/>
                </a:ext>
              </a:extLst>
            </p:cNvPr>
            <p:cNvCxnSpPr>
              <a:cxnSpLocks/>
              <a:stCxn id="8" idx="1"/>
              <a:endCxn id="7" idx="3"/>
            </p:cNvCxnSpPr>
            <p:nvPr/>
          </p:nvCxnSpPr>
          <p:spPr>
            <a:xfrm flipH="1">
              <a:off x="3629025" y="5191125"/>
              <a:ext cx="3591716" cy="0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7434F87B-2C81-5845-84DD-EDE718202D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2656" y="5991138"/>
            <a:ext cx="446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A305A6-A07C-784C-BBE4-67C27A551CE4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6754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0875A-0CA8-254B-BB44-E8F43080B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System Calls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BDAF42-64FE-5348-9935-C09E1048BB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85020"/>
            <a:ext cx="10515600" cy="4951396"/>
          </a:xfrm>
        </p:spPr>
        <p:txBody>
          <a:bodyPr/>
          <a:lstStyle/>
          <a:p>
            <a:pPr latinLnBrk="0" hangingPunct="0">
              <a:lnSpc>
                <a:spcPct val="100000"/>
              </a:lnSpc>
            </a:pPr>
            <a:r>
              <a:rPr lang="en-US" dirty="0"/>
              <a:t>Procedure of system call in Pintos</a:t>
            </a:r>
          </a:p>
          <a:p>
            <a:pPr lvl="1">
              <a:lnSpc>
                <a:spcPct val="100000"/>
              </a:lnSpc>
              <a:buFont typeface="Wingdings" pitchFamily="2" charset="2"/>
              <a:buChar char="Ø"/>
            </a:pPr>
            <a:r>
              <a:rPr lang="en-US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intr_handler</a:t>
            </a:r>
            <a:r>
              <a:rPr lang="en-US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() </a:t>
            </a:r>
            <a:r>
              <a:rPr lang="en-US" dirty="0"/>
              <a:t>calls system call hander.</a:t>
            </a:r>
            <a:endParaRPr lang="en-US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5B923E-199B-174E-BF5D-2E3EED67B16F}"/>
              </a:ext>
            </a:extLst>
          </p:cNvPr>
          <p:cNvSpPr txBox="1"/>
          <p:nvPr/>
        </p:nvSpPr>
        <p:spPr>
          <a:xfrm>
            <a:off x="536517" y="6328371"/>
            <a:ext cx="29256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* source code: threads/</a:t>
            </a:r>
            <a:r>
              <a:rPr lang="en-US" sz="1400" dirty="0" err="1"/>
              <a:t>interrupt.c</a:t>
            </a:r>
            <a:endParaRPr lang="en-US" sz="1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A90015F-EE0A-9A47-8A0D-261E503C55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3279" y="1952624"/>
            <a:ext cx="4956286" cy="410527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FECBDDD-538B-2447-B9D4-FBCADA04D3A5}"/>
              </a:ext>
            </a:extLst>
          </p:cNvPr>
          <p:cNvSpPr/>
          <p:nvPr/>
        </p:nvSpPr>
        <p:spPr>
          <a:xfrm>
            <a:off x="2008845" y="5517707"/>
            <a:ext cx="3010829" cy="378268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774524-D0AA-4D41-8EAE-BD84BDF6D6D5}"/>
              </a:ext>
            </a:extLst>
          </p:cNvPr>
          <p:cNvSpPr txBox="1"/>
          <p:nvPr/>
        </p:nvSpPr>
        <p:spPr>
          <a:xfrm>
            <a:off x="7373138" y="2146785"/>
            <a:ext cx="413583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 hangingPunct="0"/>
            <a:r>
              <a:rPr lang="en-US" dirty="0"/>
              <a:t>Interrupt handler for </a:t>
            </a:r>
            <a:r>
              <a:rPr lang="en-US" b="1" dirty="0">
                <a:solidFill>
                  <a:srgbClr val="0070C0"/>
                </a:solidFill>
              </a:rPr>
              <a:t>system call handler </a:t>
            </a:r>
            <a:r>
              <a:rPr lang="en-US" dirty="0"/>
              <a:t>has already been registered while Pintos was booting.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47AF9AA-C7DC-A344-9CA1-D54F17C88649}"/>
              </a:ext>
            </a:extLst>
          </p:cNvPr>
          <p:cNvCxnSpPr>
            <a:cxnSpLocks/>
            <a:stCxn id="8" idx="1"/>
            <a:endCxn id="7" idx="3"/>
          </p:cNvCxnSpPr>
          <p:nvPr/>
        </p:nvCxnSpPr>
        <p:spPr>
          <a:xfrm flipH="1">
            <a:off x="5019674" y="2608450"/>
            <a:ext cx="2353464" cy="3098391"/>
          </a:xfrm>
          <a:prstGeom prst="straightConnector1">
            <a:avLst/>
          </a:prstGeom>
          <a:ln w="19050">
            <a:solidFill>
              <a:srgbClr val="C0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27021DEF-1473-D749-B7B5-6A8B94DDBDF4}"/>
              </a:ext>
            </a:extLst>
          </p:cNvPr>
          <p:cNvSpPr/>
          <p:nvPr/>
        </p:nvSpPr>
        <p:spPr>
          <a:xfrm>
            <a:off x="6773779" y="5109624"/>
            <a:ext cx="5209673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0" hangingPunct="0"/>
            <a:r>
              <a:rPr lang="en-US" sz="1400" dirty="0"/>
              <a:t>※ Refer to the following function calls:</a:t>
            </a:r>
          </a:p>
          <a:p>
            <a:pPr latinLnBrk="0" hangingPunct="0"/>
            <a:r>
              <a:rPr lang="en-US" sz="1400" dirty="0"/>
              <a:t>1) </a:t>
            </a:r>
            <a:r>
              <a:rPr lang="en-US" sz="1400" b="1" dirty="0">
                <a:solidFill>
                  <a:srgbClr val="0070C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main()</a:t>
            </a:r>
            <a:r>
              <a:rPr lang="en-US" sz="1400" b="1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dirty="0"/>
              <a:t>in 'threads/</a:t>
            </a:r>
            <a:r>
              <a:rPr lang="en-US" sz="1400" dirty="0" err="1"/>
              <a:t>init.c</a:t>
            </a:r>
            <a:r>
              <a:rPr lang="en-US" sz="1400" dirty="0"/>
              <a:t>' calls </a:t>
            </a:r>
            <a:r>
              <a:rPr lang="en-US" sz="1400" b="1" dirty="0" err="1">
                <a:solidFill>
                  <a:srgbClr val="0070C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syscall_init</a:t>
            </a:r>
            <a:r>
              <a:rPr lang="en-US" sz="1400" b="1" dirty="0">
                <a:solidFill>
                  <a:srgbClr val="0070C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()</a:t>
            </a:r>
            <a:r>
              <a:rPr lang="en-US" sz="140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dirty="0"/>
              <a:t>which is in '</a:t>
            </a:r>
            <a:r>
              <a:rPr lang="en-US" sz="1400" dirty="0" err="1"/>
              <a:t>userprog</a:t>
            </a:r>
            <a:r>
              <a:rPr lang="en-US" sz="1400" dirty="0"/>
              <a:t>/</a:t>
            </a:r>
            <a:r>
              <a:rPr lang="en-US" sz="1400" dirty="0" err="1"/>
              <a:t>syscall.c</a:t>
            </a:r>
            <a:r>
              <a:rPr lang="en-US" sz="1400" dirty="0"/>
              <a:t>'</a:t>
            </a:r>
          </a:p>
          <a:p>
            <a:pPr latinLnBrk="0" hangingPunct="0"/>
            <a:r>
              <a:rPr lang="en-US" sz="1400" dirty="0"/>
              <a:t>2) </a:t>
            </a:r>
            <a:r>
              <a:rPr lang="en-US" sz="1400" b="1" dirty="0" err="1">
                <a:solidFill>
                  <a:srgbClr val="0070C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syscall_init</a:t>
            </a:r>
            <a:r>
              <a:rPr lang="en-US" sz="1400" b="1" dirty="0">
                <a:solidFill>
                  <a:srgbClr val="0070C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() </a:t>
            </a:r>
            <a:r>
              <a:rPr lang="en-US" sz="1400" dirty="0"/>
              <a:t>calls </a:t>
            </a:r>
            <a:r>
              <a:rPr lang="en-US" sz="1400" b="1" dirty="0" err="1">
                <a:solidFill>
                  <a:srgbClr val="0070C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intr_register_int</a:t>
            </a:r>
            <a:r>
              <a:rPr lang="en-US" sz="1400" b="1" dirty="0">
                <a:solidFill>
                  <a:srgbClr val="0070C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() </a:t>
            </a:r>
            <a:r>
              <a:rPr lang="en-US" sz="1400" dirty="0"/>
              <a:t>in 'threads/</a:t>
            </a:r>
            <a:r>
              <a:rPr lang="en-US" sz="1400" dirty="0" err="1"/>
              <a:t>interrupt.c</a:t>
            </a:r>
            <a:r>
              <a:rPr lang="en-US" sz="1400" dirty="0"/>
              <a:t>'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CC433F7-06A0-504A-A160-8B60AB920CD0}"/>
              </a:ext>
            </a:extLst>
          </p:cNvPr>
          <p:cNvSpPr/>
          <p:nvPr/>
        </p:nvSpPr>
        <p:spPr>
          <a:xfrm>
            <a:off x="10014955" y="2739328"/>
            <a:ext cx="36901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/>
              <a:t>※</a:t>
            </a:r>
          </a:p>
        </p:txBody>
      </p:sp>
      <p:sp>
        <p:nvSpPr>
          <p:cNvPr id="11" name="Slide Number Placeholder 1">
            <a:extLst>
              <a:ext uri="{FF2B5EF4-FFF2-40B4-BE49-F238E27FC236}">
                <a16:creationId xmlns:a16="http://schemas.microsoft.com/office/drawing/2014/main" id="{B572B9FF-9066-FC4B-B59E-427BB9848A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2656" y="5991138"/>
            <a:ext cx="446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A305A6-A07C-784C-BBE4-67C27A551CE4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5705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0875A-0CA8-254B-BB44-E8F43080B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System Calls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BDAF42-64FE-5348-9935-C09E1048BB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85020"/>
            <a:ext cx="10515600" cy="4951396"/>
          </a:xfrm>
        </p:spPr>
        <p:txBody>
          <a:bodyPr/>
          <a:lstStyle/>
          <a:p>
            <a:pPr latinLnBrk="0" hangingPunct="0">
              <a:lnSpc>
                <a:spcPct val="100000"/>
              </a:lnSpc>
            </a:pPr>
            <a:r>
              <a:rPr lang="en-US" dirty="0"/>
              <a:t>Procedure of system call in Pintos</a:t>
            </a:r>
          </a:p>
          <a:p>
            <a:pPr lvl="1">
              <a:lnSpc>
                <a:spcPct val="100000"/>
              </a:lnSpc>
              <a:buFont typeface="Wingdings" pitchFamily="2" charset="2"/>
              <a:buChar char="Ø"/>
            </a:pPr>
            <a:r>
              <a:rPr lang="en-US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syscall_handler</a:t>
            </a:r>
            <a:r>
              <a:rPr lang="en-US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() </a:t>
            </a:r>
            <a:r>
              <a:rPr lang="en-US" dirty="0"/>
              <a:t>gets control, and it can access the stack via </a:t>
            </a:r>
            <a:r>
              <a:rPr lang="en-US" b="1" dirty="0">
                <a:solidFill>
                  <a:srgbClr val="0070C0"/>
                </a:solidFill>
              </a:rPr>
              <a:t>'</a:t>
            </a:r>
            <a:r>
              <a:rPr lang="en-US" b="1" dirty="0" err="1">
                <a:solidFill>
                  <a:srgbClr val="0070C0"/>
                </a:solidFill>
              </a:rPr>
              <a:t>esp</a:t>
            </a:r>
            <a:r>
              <a:rPr lang="en-US" b="1" dirty="0">
                <a:solidFill>
                  <a:srgbClr val="0070C0"/>
                </a:solidFill>
              </a:rPr>
              <a:t>'</a:t>
            </a:r>
            <a:r>
              <a:rPr lang="en-US" dirty="0"/>
              <a:t> member of the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>
                <a:solidFill>
                  <a:srgbClr val="0070C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struct </a:t>
            </a:r>
            <a:r>
              <a:rPr lang="en-US" dirty="0" err="1">
                <a:solidFill>
                  <a:srgbClr val="0070C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intr_frame</a:t>
            </a:r>
            <a:r>
              <a:rPr lang="en-US" dirty="0">
                <a:solidFill>
                  <a:srgbClr val="0070C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dirty="0"/>
              <a:t>(in threads/</a:t>
            </a:r>
            <a:r>
              <a:rPr lang="en-US" dirty="0" err="1"/>
              <a:t>interrupt.h</a:t>
            </a:r>
            <a:r>
              <a:rPr lang="en-US" dirty="0"/>
              <a:t>).</a:t>
            </a:r>
          </a:p>
          <a:p>
            <a:pPr lvl="1">
              <a:lnSpc>
                <a:spcPct val="100000"/>
              </a:lnSpc>
              <a:buFont typeface="Wingdings" pitchFamily="2" charset="2"/>
              <a:buChar char="Ø"/>
            </a:pPr>
            <a:r>
              <a:rPr lang="en-US" dirty="0"/>
              <a:t>80x86 convention stores return value of system call in EAX register so that we can store the return value in </a:t>
            </a:r>
            <a:r>
              <a:rPr lang="en-US" b="1" dirty="0">
                <a:solidFill>
                  <a:srgbClr val="0070C0"/>
                </a:solidFill>
              </a:rPr>
              <a:t>'</a:t>
            </a:r>
            <a:r>
              <a:rPr lang="en-US" b="1" dirty="0" err="1">
                <a:solidFill>
                  <a:srgbClr val="0070C0"/>
                </a:solidFill>
              </a:rPr>
              <a:t>eax</a:t>
            </a:r>
            <a:r>
              <a:rPr lang="en-US" b="1" dirty="0">
                <a:solidFill>
                  <a:srgbClr val="0070C0"/>
                </a:solidFill>
              </a:rPr>
              <a:t>'</a:t>
            </a:r>
            <a:r>
              <a:rPr lang="en-US" dirty="0"/>
              <a:t> member of the </a:t>
            </a:r>
            <a:r>
              <a:rPr lang="en-US" dirty="0">
                <a:solidFill>
                  <a:srgbClr val="0070C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struct </a:t>
            </a:r>
            <a:r>
              <a:rPr lang="en-US" dirty="0" err="1">
                <a:solidFill>
                  <a:srgbClr val="0070C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intr_frame</a:t>
            </a:r>
            <a:r>
              <a:rPr lang="en-US" dirty="0"/>
              <a:t>.</a:t>
            </a:r>
            <a:endParaRPr lang="en-US" dirty="0">
              <a:solidFill>
                <a:srgbClr val="0070C0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5B923E-199B-174E-BF5D-2E3EED67B16F}"/>
              </a:ext>
            </a:extLst>
          </p:cNvPr>
          <p:cNvSpPr txBox="1"/>
          <p:nvPr/>
        </p:nvSpPr>
        <p:spPr>
          <a:xfrm>
            <a:off x="536517" y="6328371"/>
            <a:ext cx="28533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* source code: </a:t>
            </a:r>
            <a:r>
              <a:rPr lang="en-US" sz="1400" dirty="0" err="1"/>
              <a:t>userprog</a:t>
            </a:r>
            <a:r>
              <a:rPr lang="en-US" sz="1400" dirty="0"/>
              <a:t>/</a:t>
            </a:r>
            <a:r>
              <a:rPr lang="en-US" sz="1400" dirty="0" err="1"/>
              <a:t>syscall.c</a:t>
            </a:r>
            <a:endParaRPr lang="en-US" sz="1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6E85B2-EDD7-8446-8CFD-B9E9B7FFC3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9725" y="2918755"/>
            <a:ext cx="3971925" cy="114842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61C1C81-5B34-9040-A563-E037A5CCDD49}"/>
              </a:ext>
            </a:extLst>
          </p:cNvPr>
          <p:cNvSpPr txBox="1"/>
          <p:nvPr/>
        </p:nvSpPr>
        <p:spPr>
          <a:xfrm>
            <a:off x="5581650" y="2905780"/>
            <a:ext cx="42355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※ Pintos provides skeleton of system call handler.</a:t>
            </a:r>
          </a:p>
          <a:p>
            <a:r>
              <a:rPr lang="en-US" sz="1400" dirty="0">
                <a:solidFill>
                  <a:srgbClr val="FF0000"/>
                </a:solidFill>
              </a:rPr>
              <a:t>   We will develop this in this project!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3B3565F-6D0A-E642-9A83-BFB947B4417D}"/>
              </a:ext>
            </a:extLst>
          </p:cNvPr>
          <p:cNvGrpSpPr/>
          <p:nvPr/>
        </p:nvGrpSpPr>
        <p:grpSpPr>
          <a:xfrm>
            <a:off x="6064101" y="4172069"/>
            <a:ext cx="5768134" cy="2037706"/>
            <a:chOff x="6064101" y="4172069"/>
            <a:chExt cx="5768134" cy="2037706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4D87FC57-7A27-D64E-86B9-389C2F9C0B77}"/>
                </a:ext>
              </a:extLst>
            </p:cNvPr>
            <p:cNvGrpSpPr/>
            <p:nvPr/>
          </p:nvGrpSpPr>
          <p:grpSpPr>
            <a:xfrm>
              <a:off x="6064101" y="4172069"/>
              <a:ext cx="5768134" cy="2037706"/>
              <a:chOff x="5911702" y="4087008"/>
              <a:chExt cx="5768134" cy="2037706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90D056C5-F277-9C4F-BD73-5DBD2A5906C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88992"/>
              <a:stretch/>
            </p:blipFill>
            <p:spPr>
              <a:xfrm>
                <a:off x="5911702" y="4087008"/>
                <a:ext cx="5768134" cy="754912"/>
              </a:xfrm>
              <a:prstGeom prst="rect">
                <a:avLst/>
              </a:prstGeom>
            </p:spPr>
          </p:pic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FBED43BD-2E72-5E4F-97CC-504224189EB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1860" b="67597"/>
              <a:stretch/>
            </p:blipFill>
            <p:spPr>
              <a:xfrm>
                <a:off x="5911702" y="4841920"/>
                <a:ext cx="5768134" cy="723014"/>
              </a:xfrm>
              <a:prstGeom prst="rect">
                <a:avLst/>
              </a:prstGeom>
            </p:spPr>
          </p:pic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97C4C09D-AE7E-0240-BE6B-55339427F6E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92276" b="-473"/>
              <a:stretch/>
            </p:blipFill>
            <p:spPr>
              <a:xfrm>
                <a:off x="5911702" y="5562694"/>
                <a:ext cx="5768134" cy="562020"/>
              </a:xfrm>
              <a:prstGeom prst="rect">
                <a:avLst/>
              </a:prstGeom>
            </p:spPr>
          </p:pic>
        </p:grp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A93CBD3-CF1A-C542-97AE-C7031FD13E8F}"/>
                </a:ext>
              </a:extLst>
            </p:cNvPr>
            <p:cNvSpPr/>
            <p:nvPr/>
          </p:nvSpPr>
          <p:spPr>
            <a:xfrm>
              <a:off x="6096000" y="5443870"/>
              <a:ext cx="5257800" cy="404037"/>
            </a:xfrm>
            <a:prstGeom prst="rect">
              <a:avLst/>
            </a:prstGeom>
            <a:noFill/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Slide Number Placeholder 1">
            <a:extLst>
              <a:ext uri="{FF2B5EF4-FFF2-40B4-BE49-F238E27FC236}">
                <a16:creationId xmlns:a16="http://schemas.microsoft.com/office/drawing/2014/main" id="{392D14E6-CE03-3443-9F08-94DF6A0DCC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06961" y="6482259"/>
            <a:ext cx="446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A305A6-A07C-784C-BBE4-67C27A551CE4}" type="slidenum">
              <a:rPr lang="en-US" smtClean="0"/>
              <a:t>28</a:t>
            </a:fld>
            <a:endParaRPr lang="en-US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55E5626-4B67-274F-92BA-349700025A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3554" y="4215958"/>
            <a:ext cx="2003513" cy="1666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79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719" y="1118194"/>
            <a:ext cx="7123809" cy="238095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192357" y="2395663"/>
            <a:ext cx="10990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>
                    <a:lumMod val="75000"/>
                  </a:schemeClr>
                </a:solidFill>
              </a:rPr>
              <a:t>010101011101001010010</a:t>
            </a:r>
            <a:endParaRPr lang="ko-KR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What is File system?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6550AAA-8F92-814C-869C-8228B27748CA}" type="slidenum">
              <a:rPr lang="en-US" smtClean="0"/>
              <a:t>29</a:t>
            </a:fld>
            <a:endParaRPr lang="en-US"/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5689" y="3832642"/>
            <a:ext cx="5058481" cy="2086266"/>
          </a:xfrm>
          <a:prstGeom prst="rect">
            <a:avLst/>
          </a:prstGeom>
        </p:spPr>
      </p:pic>
      <p:cxnSp>
        <p:nvCxnSpPr>
          <p:cNvPr id="14" name="직선 화살표 연결선 13"/>
          <p:cNvCxnSpPr/>
          <p:nvPr/>
        </p:nvCxnSpPr>
        <p:spPr>
          <a:xfrm flipV="1">
            <a:off x="5196253" y="3165650"/>
            <a:ext cx="1582616" cy="176603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순서도: 자기 디스크 15"/>
          <p:cNvSpPr/>
          <p:nvPr/>
        </p:nvSpPr>
        <p:spPr>
          <a:xfrm>
            <a:off x="9038493" y="1921119"/>
            <a:ext cx="1406769" cy="1397977"/>
          </a:xfrm>
          <a:prstGeom prst="flowChartMagneticDisk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HDD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cxnSp>
        <p:nvCxnSpPr>
          <p:cNvPr id="18" name="직선 화살표 연결선 17"/>
          <p:cNvCxnSpPr/>
          <p:nvPr/>
        </p:nvCxnSpPr>
        <p:spPr>
          <a:xfrm>
            <a:off x="7891460" y="2620107"/>
            <a:ext cx="1103070" cy="0"/>
          </a:xfrm>
          <a:prstGeom prst="straightConnector1">
            <a:avLst/>
          </a:prstGeom>
          <a:ln w="57150"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776161" y="4110211"/>
            <a:ext cx="14906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solidFill>
                  <a:srgbClr val="FF0000"/>
                </a:solidFill>
              </a:rPr>
              <a:t>Access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987561" y="1157832"/>
            <a:ext cx="11781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chemeClr val="bg1"/>
                </a:solidFill>
              </a:rPr>
              <a:t>ext4</a:t>
            </a:r>
            <a:endParaRPr lang="ko-KR" altLang="en-US" sz="2400" b="1" dirty="0">
              <a:solidFill>
                <a:schemeClr val="bg1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317390" y="1127055"/>
            <a:ext cx="12885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 dirty="0"/>
              <a:t>User</a:t>
            </a:r>
            <a:endParaRPr lang="ko-KR" altLang="en-US" sz="2800" b="1" dirty="0"/>
          </a:p>
        </p:txBody>
      </p:sp>
      <p:cxnSp>
        <p:nvCxnSpPr>
          <p:cNvPr id="25" name="직선 화살표 연결선 24"/>
          <p:cNvCxnSpPr/>
          <p:nvPr/>
        </p:nvCxnSpPr>
        <p:spPr>
          <a:xfrm flipH="1">
            <a:off x="7684478" y="1379232"/>
            <a:ext cx="1793630" cy="657677"/>
          </a:xfrm>
          <a:prstGeom prst="straightConnector1">
            <a:avLst/>
          </a:prstGeom>
          <a:ln w="7620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2">
            <a:extLst>
              <a:ext uri="{FF2B5EF4-FFF2-40B4-BE49-F238E27FC236}">
                <a16:creationId xmlns:a16="http://schemas.microsoft.com/office/drawing/2014/main" id="{B3C1B090-E405-8130-4576-52B6F6F7622A}"/>
              </a:ext>
            </a:extLst>
          </p:cNvPr>
          <p:cNvSpPr txBox="1"/>
          <p:nvPr/>
        </p:nvSpPr>
        <p:spPr>
          <a:xfrm>
            <a:off x="0" y="0"/>
            <a:ext cx="845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ko-KR" b="1" dirty="0"/>
              <a:t>Prj1-2</a:t>
            </a:r>
            <a:endParaRPr kumimoji="1"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6048703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E1D795A-D9EC-FD40-8569-510E8D30B30D}"/>
              </a:ext>
            </a:extLst>
          </p:cNvPr>
          <p:cNvSpPr txBox="1"/>
          <p:nvPr/>
        </p:nvSpPr>
        <p:spPr>
          <a:xfrm>
            <a:off x="4575231" y="3105835"/>
            <a:ext cx="30415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Requirements</a:t>
            </a:r>
          </a:p>
        </p:txBody>
      </p:sp>
    </p:spTree>
    <p:extLst>
      <p:ext uri="{BB962C8B-B14F-4D97-AF65-F5344CB8AC3E}">
        <p14:creationId xmlns:p14="http://schemas.microsoft.com/office/powerpoint/2010/main" val="52607273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Process Termination Messages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When user program is terminated, kernel prints termination messages.</a:t>
            </a:r>
            <a:br>
              <a:rPr lang="en-US" altLang="ko-KR" dirty="0"/>
            </a:br>
            <a:r>
              <a:rPr lang="en-US" altLang="ko-KR" dirty="0"/>
              <a:t>Output form is as follows: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marL="457200" indent="-457200">
              <a:buFont typeface="+mj-lt"/>
              <a:buAutoNum type="arabicPeriod"/>
            </a:pPr>
            <a:endParaRPr lang="en-US" altLang="ko-KR" dirty="0"/>
          </a:p>
          <a:p>
            <a:pPr marL="457200" indent="-457200">
              <a:buFont typeface="+mj-lt"/>
              <a:buAutoNum type="arabicPeriod"/>
            </a:pPr>
            <a:endParaRPr lang="en-US" altLang="ko-KR" dirty="0"/>
          </a:p>
          <a:p>
            <a:pPr marL="457200" indent="-457200">
              <a:buFont typeface="+mj-lt"/>
              <a:buAutoNum type="arabicPeriod"/>
            </a:pPr>
            <a:endParaRPr lang="en-US" altLang="ko-KR" dirty="0"/>
          </a:p>
          <a:p>
            <a:pPr marL="457200" indent="-457200">
              <a:buFont typeface="+mj-lt"/>
              <a:buAutoNum type="arabicPeriod"/>
            </a:pPr>
            <a:endParaRPr lang="en-US" altLang="ko-KR" dirty="0"/>
          </a:p>
          <a:p>
            <a:pPr marL="457200" indent="-457200">
              <a:buFont typeface="+mj-lt"/>
              <a:buAutoNum type="arabicPeriod"/>
            </a:pPr>
            <a:endParaRPr lang="en-US" altLang="ko-KR" dirty="0"/>
          </a:p>
          <a:p>
            <a:pPr marL="457200" indent="-457200">
              <a:buFont typeface="+mj-lt"/>
              <a:buAutoNum type="arabicPeriod"/>
            </a:pP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Refer to Pintos manual 3.3.2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1024" y="2397802"/>
            <a:ext cx="3400425" cy="2305050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2028305" y="4228418"/>
            <a:ext cx="2385753" cy="282633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2028304" y="3817630"/>
            <a:ext cx="2385753" cy="282633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7626738F-6D90-2141-B073-D98B564734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6835032"/>
              </p:ext>
            </p:extLst>
          </p:nvPr>
        </p:nvGraphicFramePr>
        <p:xfrm>
          <a:off x="6862440" y="2397803"/>
          <a:ext cx="3999606" cy="1007050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3999606">
                  <a:extLst>
                    <a:ext uri="{9D8B030D-6E8A-4147-A177-3AD203B41FA5}">
                      <a16:colId xmlns:a16="http://schemas.microsoft.com/office/drawing/2014/main" val="1013775778"/>
                    </a:ext>
                  </a:extLst>
                </a:gridCol>
              </a:tblGrid>
              <a:tr h="10070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>
                          <a:solidFill>
                            <a:schemeClr val="accent2"/>
                          </a:solidFill>
                        </a:rPr>
                        <a:t>Refer to the following functions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/>
                        <a:t>threads/</a:t>
                      </a:r>
                      <a:r>
                        <a:rPr lang="en-US" altLang="ko-KR" sz="1400" b="0" dirty="0" err="1"/>
                        <a:t>thread.c</a:t>
                      </a:r>
                      <a:r>
                        <a:rPr lang="en-US" altLang="ko-KR" sz="1400" b="0" dirty="0"/>
                        <a:t>: </a:t>
                      </a:r>
                      <a:r>
                        <a:rPr lang="en-US" altLang="ko-KR" sz="1400" b="0" dirty="0" err="1"/>
                        <a:t>thread_exit</a:t>
                      </a:r>
                      <a:r>
                        <a:rPr lang="en-US" altLang="ko-KR" sz="1400" b="0" dirty="0"/>
                        <a:t>()</a:t>
                      </a:r>
                    </a:p>
                    <a:p>
                      <a:pPr marL="0" indent="0" algn="ctr" latinLnBrk="1">
                        <a:buFontTx/>
                        <a:buNone/>
                      </a:pPr>
                      <a:r>
                        <a:rPr lang="en-US" altLang="ko-KR" sz="1400" b="0" dirty="0" err="1"/>
                        <a:t>userprog</a:t>
                      </a:r>
                      <a:r>
                        <a:rPr lang="en-US" altLang="ko-KR" sz="1400" b="0" dirty="0"/>
                        <a:t>/</a:t>
                      </a:r>
                      <a:r>
                        <a:rPr lang="en-US" altLang="ko-KR" sz="1400" b="0" dirty="0" err="1"/>
                        <a:t>process.c</a:t>
                      </a:r>
                      <a:r>
                        <a:rPr lang="en-US" altLang="ko-KR" sz="1400" b="0" dirty="0"/>
                        <a:t>: </a:t>
                      </a:r>
                      <a:r>
                        <a:rPr lang="en-US" altLang="ko-KR" sz="1400" b="0" dirty="0" err="1"/>
                        <a:t>process_exit</a:t>
                      </a:r>
                      <a:r>
                        <a:rPr lang="en-US" altLang="ko-KR" sz="1400" b="0" dirty="0"/>
                        <a:t>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4179000"/>
                  </a:ext>
                </a:extLst>
              </a:tr>
            </a:tbl>
          </a:graphicData>
        </a:graphic>
      </p:graphicFrame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4C597A64-031E-474C-BAB0-8D4837B22E97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4414057" y="2901328"/>
            <a:ext cx="2448383" cy="1057619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41DEFAB3-0BE3-524E-85C7-5F8E7CD04B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2656" y="5991138"/>
            <a:ext cx="446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A305A6-A07C-784C-BBE4-67C27A551CE4}" type="slidenum">
              <a:rPr lang="en-US" smtClean="0"/>
              <a:t>31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B76E2C1-A361-0241-986A-104343651CC8}"/>
              </a:ext>
            </a:extLst>
          </p:cNvPr>
          <p:cNvSpPr txBox="1"/>
          <p:nvPr/>
        </p:nvSpPr>
        <p:spPr>
          <a:xfrm>
            <a:off x="1591406" y="4690583"/>
            <a:ext cx="343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&lt;tests/</a:t>
            </a:r>
            <a:r>
              <a:rPr lang="en-US" dirty="0" err="1"/>
              <a:t>userprog</a:t>
            </a:r>
            <a:r>
              <a:rPr lang="en-US" dirty="0"/>
              <a:t>/exec-</a:t>
            </a:r>
            <a:r>
              <a:rPr lang="en-US" dirty="0" err="1"/>
              <a:t>once.ck</a:t>
            </a:r>
            <a:r>
              <a:rPr lang="en-US" dirty="0"/>
              <a:t>&gt;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420E11D-8C40-48D5-B66F-F62236A5C3C9}"/>
              </a:ext>
            </a:extLst>
          </p:cNvPr>
          <p:cNvSpPr txBox="1"/>
          <p:nvPr/>
        </p:nvSpPr>
        <p:spPr>
          <a:xfrm>
            <a:off x="1963449" y="170906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0">
              <a:buNone/>
            </a:pPr>
            <a:r>
              <a:rPr lang="en-US" altLang="ko-KR" sz="2400" b="1" dirty="0">
                <a:solidFill>
                  <a:srgbClr val="0070C0"/>
                </a:solidFill>
              </a:rPr>
              <a:t>Process Name: exit(exit status)\n</a:t>
            </a:r>
          </a:p>
        </p:txBody>
      </p:sp>
    </p:spTree>
    <p:extLst>
      <p:ext uri="{BB962C8B-B14F-4D97-AF65-F5344CB8AC3E}">
        <p14:creationId xmlns:p14="http://schemas.microsoft.com/office/powerpoint/2010/main" val="206580218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Process Termination Messages</a:t>
            </a:r>
            <a:endParaRPr lang="ko-KR" altLang="en-US" dirty="0"/>
          </a:p>
        </p:txBody>
      </p: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41DEFAB3-0BE3-524E-85C7-5F8E7CD04B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2656" y="5991138"/>
            <a:ext cx="446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A305A6-A07C-784C-BBE4-67C27A551CE4}" type="slidenum">
              <a:rPr lang="en-US" smtClean="0"/>
              <a:t>32</a:t>
            </a:fld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8A7583A-FD2B-5546-9D9E-9C94B29ED1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7520"/>
            <a:ext cx="10515600" cy="4951396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dirty="0"/>
              <a:t>How can we get a process name?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Refer to </a:t>
            </a:r>
            <a:r>
              <a:rPr lang="en-US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struct thread</a:t>
            </a:r>
          </a:p>
          <a:p>
            <a:pPr>
              <a:lnSpc>
                <a:spcPct val="120000"/>
              </a:lnSpc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03CE0F9-A266-AA47-AE50-4218873939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8380" y="1984494"/>
            <a:ext cx="4365533" cy="1826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4642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Process Termination Messages</a:t>
            </a:r>
            <a:endParaRPr lang="ko-KR" altLang="en-US" dirty="0"/>
          </a:p>
        </p:txBody>
      </p: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41DEFAB3-0BE3-524E-85C7-5F8E7CD04B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2656" y="5991138"/>
            <a:ext cx="446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A305A6-A07C-784C-BBE4-67C27A551CE4}" type="slidenum">
              <a:rPr lang="en-US" smtClean="0"/>
              <a:t>33</a:t>
            </a:fld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8A7583A-FD2B-5546-9D9E-9C94B29ED1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7520"/>
            <a:ext cx="10515600" cy="4951396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dirty="0"/>
              <a:t>How is user program terminated? 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When ELF user program runs, </a:t>
            </a:r>
            <a:r>
              <a:rPr lang="en-US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_start()</a:t>
            </a:r>
            <a:r>
              <a:rPr lang="en-US" dirty="0"/>
              <a:t> in lib/user/</a:t>
            </a:r>
            <a:r>
              <a:rPr lang="en-US" dirty="0" err="1"/>
              <a:t>entry.c</a:t>
            </a:r>
            <a:r>
              <a:rPr lang="en-US" dirty="0"/>
              <a:t> is called at first.</a:t>
            </a:r>
          </a:p>
          <a:p>
            <a:pPr lvl="1">
              <a:lnSpc>
                <a:spcPct val="120000"/>
              </a:lnSpc>
            </a:pPr>
            <a:endParaRPr lang="en-US" dirty="0"/>
          </a:p>
          <a:p>
            <a:pPr lvl="1">
              <a:lnSpc>
                <a:spcPct val="120000"/>
              </a:lnSpc>
            </a:pPr>
            <a:endParaRPr lang="en-US" dirty="0"/>
          </a:p>
          <a:p>
            <a:pPr lvl="1">
              <a:lnSpc>
                <a:spcPct val="120000"/>
              </a:lnSpc>
            </a:pPr>
            <a:endParaRPr lang="en-US" dirty="0"/>
          </a:p>
          <a:p>
            <a:pPr lvl="1">
              <a:lnSpc>
                <a:spcPct val="120000"/>
              </a:lnSpc>
            </a:pPr>
            <a:endParaRPr lang="en-US" dirty="0"/>
          </a:p>
          <a:p>
            <a:pPr lvl="1">
              <a:lnSpc>
                <a:spcPct val="120000"/>
              </a:lnSpc>
            </a:pPr>
            <a:endParaRPr lang="en-US" dirty="0"/>
          </a:p>
          <a:p>
            <a:pPr lvl="1">
              <a:lnSpc>
                <a:spcPct val="120000"/>
              </a:lnSpc>
            </a:pPr>
            <a:r>
              <a:rPr lang="en-US" dirty="0"/>
              <a:t>After executing the program, </a:t>
            </a:r>
            <a:r>
              <a:rPr lang="en-US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exit() </a:t>
            </a:r>
            <a:r>
              <a:rPr lang="en-US" dirty="0"/>
              <a:t>system call is called.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Pintos only provides exit() system call API, but the </a:t>
            </a:r>
            <a:r>
              <a:rPr lang="en-US" altLang="ko-KR" dirty="0"/>
              <a:t>exit() system call API</a:t>
            </a:r>
            <a:r>
              <a:rPr lang="en-US" dirty="0"/>
              <a:t> has not yet been  implemented.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6914766-89F4-8447-B03A-44CF09C5E9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7314" y="1917748"/>
            <a:ext cx="4722235" cy="1778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8931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Process Termination Messages</a:t>
            </a:r>
            <a:endParaRPr lang="ko-KR" altLang="en-US" dirty="0"/>
          </a:p>
        </p:txBody>
      </p: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41DEFAB3-0BE3-524E-85C7-5F8E7CD04B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2656" y="5991138"/>
            <a:ext cx="446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A305A6-A07C-784C-BBE4-67C27A551CE4}" type="slidenum">
              <a:rPr lang="en-US" smtClean="0"/>
              <a:t>34</a:t>
            </a:fld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8A7583A-FD2B-5546-9D9E-9C94B29ED1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7520"/>
            <a:ext cx="10515600" cy="3789489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dirty="0"/>
              <a:t>How is the user program terminated? 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Flow of function calls</a:t>
            </a:r>
            <a:br>
              <a:rPr lang="en-US" dirty="0"/>
            </a:br>
            <a:r>
              <a:rPr lang="en-US" dirty="0"/>
              <a:t>exit() in lib/user/</a:t>
            </a:r>
            <a:r>
              <a:rPr lang="en-US" dirty="0" err="1"/>
              <a:t>syscall.c</a:t>
            </a:r>
            <a:br>
              <a:rPr lang="en-US" dirty="0"/>
            </a:br>
            <a:r>
              <a:rPr lang="en-US" dirty="0"/>
              <a:t>-&gt; syscall1 (SYS_EXIT, status) in lib/user/</a:t>
            </a:r>
            <a:r>
              <a:rPr lang="en-US" dirty="0" err="1"/>
              <a:t>syscall.c</a:t>
            </a:r>
            <a:br>
              <a:rPr lang="en-US" dirty="0"/>
            </a:br>
            <a:r>
              <a:rPr lang="en-US" dirty="0"/>
              <a:t>-&gt; </a:t>
            </a:r>
            <a:r>
              <a:rPr lang="en-US" dirty="0" err="1"/>
              <a:t>syscall_handler</a:t>
            </a:r>
            <a:r>
              <a:rPr lang="en-US" dirty="0"/>
              <a:t>() in </a:t>
            </a:r>
            <a:r>
              <a:rPr lang="en-US" dirty="0" err="1"/>
              <a:t>userprog</a:t>
            </a:r>
            <a:r>
              <a:rPr lang="en-US" dirty="0"/>
              <a:t>/</a:t>
            </a:r>
            <a:r>
              <a:rPr lang="en-US" dirty="0" err="1"/>
              <a:t>syscall.c</a:t>
            </a:r>
            <a:br>
              <a:rPr lang="en-US" dirty="0"/>
            </a:br>
            <a:r>
              <a:rPr lang="en-US" dirty="0"/>
              <a:t>-&gt; </a:t>
            </a:r>
            <a:r>
              <a:rPr lang="en-US" dirty="0" err="1"/>
              <a:t>thread_exit</a:t>
            </a:r>
            <a:r>
              <a:rPr lang="en-US" dirty="0"/>
              <a:t>() in threads/</a:t>
            </a:r>
            <a:r>
              <a:rPr lang="en-US" dirty="0" err="1"/>
              <a:t>thread.c</a:t>
            </a:r>
            <a:br>
              <a:rPr lang="en-US" dirty="0"/>
            </a:br>
            <a:r>
              <a:rPr lang="en-US" dirty="0"/>
              <a:t>-&gt; </a:t>
            </a:r>
            <a:r>
              <a:rPr lang="en-US" dirty="0" err="1"/>
              <a:t>process_exit</a:t>
            </a:r>
            <a:r>
              <a:rPr lang="en-US" dirty="0"/>
              <a:t>() in </a:t>
            </a:r>
            <a:r>
              <a:rPr lang="en-US" dirty="0" err="1"/>
              <a:t>userprog</a:t>
            </a:r>
            <a:r>
              <a:rPr lang="en-US" dirty="0"/>
              <a:t>/</a:t>
            </a:r>
            <a:r>
              <a:rPr lang="en-US" dirty="0" err="1"/>
              <a:t>process.c</a:t>
            </a:r>
            <a:br>
              <a:rPr lang="en-US" dirty="0"/>
            </a:br>
            <a:r>
              <a:rPr lang="en-US" sz="2400" b="1" dirty="0"/>
              <a:t>Refer to slide pg. 25-29</a:t>
            </a:r>
          </a:p>
          <a:p>
            <a:pPr lvl="1">
              <a:lnSpc>
                <a:spcPct val="120000"/>
              </a:lnSpc>
            </a:pPr>
            <a:endParaRPr lang="en-US" dirty="0"/>
          </a:p>
          <a:p>
            <a:pPr lvl="1">
              <a:lnSpc>
                <a:spcPct val="12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501896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6340" y="1472762"/>
            <a:ext cx="3436678" cy="4008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Argument Passing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112520"/>
            <a:ext cx="6429375" cy="306705"/>
          </a:xfrm>
        </p:spPr>
        <p:txBody>
          <a:bodyPr/>
          <a:lstStyle/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en-US" altLang="ko-KR" dirty="0"/>
              <a:t>User program can have multiple arguments.</a:t>
            </a:r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endParaRPr lang="en-US" altLang="ko-KR" dirty="0"/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endParaRPr lang="en-US" altLang="ko-KR" dirty="0"/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en-US" altLang="ko-KR" b="1" dirty="0">
                <a:solidFill>
                  <a:srgbClr val="0070C0"/>
                </a:solidFill>
              </a:rPr>
              <a:t>Parse the arguments and allocate it to memory according to 80x86 calling convention</a:t>
            </a:r>
          </a:p>
          <a:p>
            <a:pPr lvl="1">
              <a:lnSpc>
                <a:spcPct val="120000"/>
              </a:lnSpc>
            </a:pPr>
            <a:r>
              <a:rPr lang="en-US" altLang="ko-KR" dirty="0"/>
              <a:t>Refer to the next slides and Pintos manual 3.5</a:t>
            </a:r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en-US" altLang="ko-KR" dirty="0"/>
              <a:t>Assume that the length of arguments is less than 4 KB</a:t>
            </a:r>
          </a:p>
          <a:p>
            <a:pPr lvl="1">
              <a:lnSpc>
                <a:spcPct val="120000"/>
              </a:lnSpc>
            </a:pPr>
            <a:r>
              <a:rPr lang="en-US" altLang="ko-KR" dirty="0"/>
              <a:t>Test programs use less than 128 Bytes as arguments.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9060873" y="1621767"/>
            <a:ext cx="1354975" cy="822176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91F91BF-BC25-1645-B388-BA1D40ECAB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5250" y="1703681"/>
            <a:ext cx="4273550" cy="724645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094914A5-1BED-C44B-ADC1-DA7396CCCE67}"/>
              </a:ext>
            </a:extLst>
          </p:cNvPr>
          <p:cNvSpPr/>
          <p:nvPr/>
        </p:nvSpPr>
        <p:spPr>
          <a:xfrm>
            <a:off x="4171950" y="1722731"/>
            <a:ext cx="342900" cy="287044"/>
          </a:xfrm>
          <a:prstGeom prst="ellipse">
            <a:avLst/>
          </a:prstGeom>
          <a:noFill/>
          <a:ln w="158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FDFD1ED-84B2-E94F-90B5-0463B84165D7}"/>
              </a:ext>
            </a:extLst>
          </p:cNvPr>
          <p:cNvSpPr/>
          <p:nvPr/>
        </p:nvSpPr>
        <p:spPr>
          <a:xfrm>
            <a:off x="4552950" y="1722731"/>
            <a:ext cx="342900" cy="287044"/>
          </a:xfrm>
          <a:prstGeom prst="ellipse">
            <a:avLst/>
          </a:prstGeom>
          <a:noFill/>
          <a:ln w="158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1D0E191-21A6-E249-AA51-D7E3971678EC}"/>
              </a:ext>
            </a:extLst>
          </p:cNvPr>
          <p:cNvSpPr/>
          <p:nvPr/>
        </p:nvSpPr>
        <p:spPr>
          <a:xfrm>
            <a:off x="4943475" y="1722731"/>
            <a:ext cx="342900" cy="287044"/>
          </a:xfrm>
          <a:prstGeom prst="ellipse">
            <a:avLst/>
          </a:prstGeom>
          <a:noFill/>
          <a:ln w="158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F8288E6A-825E-0444-81C0-811B1B6719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2656" y="5991138"/>
            <a:ext cx="446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A305A6-A07C-784C-BBE4-67C27A551CE4}" type="slidenum">
              <a:rPr lang="en-US" smtClean="0"/>
              <a:t>35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A3E590B-113E-1542-ADC0-C977FB2B9E7D}"/>
              </a:ext>
            </a:extLst>
          </p:cNvPr>
          <p:cNvSpPr txBox="1"/>
          <p:nvPr/>
        </p:nvSpPr>
        <p:spPr>
          <a:xfrm>
            <a:off x="7726340" y="5480882"/>
            <a:ext cx="3648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&lt;User virtual memory in Pintos&gt;</a:t>
            </a:r>
          </a:p>
        </p:txBody>
      </p:sp>
    </p:spTree>
    <p:extLst>
      <p:ext uri="{BB962C8B-B14F-4D97-AF65-F5344CB8AC3E}">
        <p14:creationId xmlns:p14="http://schemas.microsoft.com/office/powerpoint/2010/main" val="382848006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Argument Passing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112519"/>
            <a:ext cx="10515600" cy="482773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altLang="ko-KR" dirty="0"/>
              <a:t>“/bin/ls -l foo bar” will be parsed into “/bin/ls”, “-l”, “foo”, “bar”</a:t>
            </a:r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E4001AC6-13CC-AD43-9A05-D6C6D578A7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2656" y="5991138"/>
            <a:ext cx="446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A305A6-A07C-784C-BBE4-67C27A551CE4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06853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Argument Passing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112519"/>
            <a:ext cx="10515600" cy="482773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altLang="ko-KR" dirty="0"/>
              <a:t>“/bin/ls -l foo bar” will be parsed into “/bin/ls”, “-l”, “foo”, “bar”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0" indent="0">
              <a:lnSpc>
                <a:spcPct val="120000"/>
              </a:lnSpc>
              <a:buNone/>
            </a:pPr>
            <a:endParaRPr lang="en-US" altLang="ko-KR" dirty="0"/>
          </a:p>
          <a:p>
            <a:pPr>
              <a:lnSpc>
                <a:spcPct val="120000"/>
              </a:lnSpc>
            </a:pPr>
            <a:r>
              <a:rPr lang="en-US" altLang="ko-KR" dirty="0"/>
              <a:t>You can start implementation of argument passing after the following function.</a:t>
            </a:r>
          </a:p>
          <a:p>
            <a:pPr lvl="1">
              <a:lnSpc>
                <a:spcPct val="120000"/>
              </a:lnSpc>
              <a:buFont typeface="Wingdings" pitchFamily="2" charset="2"/>
              <a:buChar char="ü"/>
            </a:pPr>
            <a:r>
              <a:rPr lang="en-US" altLang="ko-KR" dirty="0" err="1"/>
              <a:t>userprog</a:t>
            </a:r>
            <a:r>
              <a:rPr lang="en-US" altLang="ko-KR" dirty="0"/>
              <a:t>/</a:t>
            </a:r>
            <a:r>
              <a:rPr lang="en-US" altLang="ko-KR" dirty="0" err="1"/>
              <a:t>process.c</a:t>
            </a:r>
            <a:r>
              <a:rPr lang="en-US" altLang="ko-KR" dirty="0"/>
              <a:t> : static bool </a:t>
            </a:r>
            <a:r>
              <a:rPr lang="en-US" altLang="ko-KR" b="1" dirty="0" err="1">
                <a:solidFill>
                  <a:schemeClr val="accent2"/>
                </a:solidFill>
              </a:rPr>
              <a:t>setup_stack</a:t>
            </a:r>
            <a:r>
              <a:rPr lang="en-US" altLang="ko-KR" dirty="0"/>
              <a:t>(void **</a:t>
            </a:r>
            <a:r>
              <a:rPr lang="en-US" altLang="ko-KR" dirty="0" err="1"/>
              <a:t>esp</a:t>
            </a:r>
            <a:r>
              <a:rPr lang="en-US" altLang="ko-KR" dirty="0"/>
              <a:t>)</a:t>
            </a:r>
          </a:p>
          <a:p>
            <a:pPr lvl="1">
              <a:lnSpc>
                <a:spcPct val="120000"/>
              </a:lnSpc>
              <a:buFont typeface="Wingdings" pitchFamily="2" charset="2"/>
              <a:buChar char="ü"/>
            </a:pPr>
            <a:r>
              <a:rPr lang="en-US" altLang="ko-KR" dirty="0"/>
              <a:t>Refer to </a:t>
            </a:r>
            <a:r>
              <a:rPr lang="en-US" altLang="ko-KR" dirty="0">
                <a:hlinkClick r:id="rId2" action="ppaction://hlinksldjump"/>
              </a:rPr>
              <a:t>'Code Level Flow'</a:t>
            </a:r>
            <a:r>
              <a:rPr lang="en-US" altLang="ko-KR" dirty="0"/>
              <a:t> in the previous chapter</a:t>
            </a:r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057218" y="1664324"/>
            <a:ext cx="5319772" cy="31903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428625" y="1784812"/>
            <a:ext cx="2895599" cy="1077218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chemeClr val="bg1"/>
                </a:solidFill>
                <a:latin typeface="Consolas" panose="020B0609020204030204" pitchFamily="49" charset="0"/>
                <a:ea typeface="Hack" panose="020B0609030202020204" pitchFamily="49" charset="0"/>
                <a:cs typeface="Consolas" panose="020B0609020204030204" pitchFamily="49" charset="0"/>
              </a:rPr>
              <a:t>  0xC0000000 (PHYS_BASE)</a:t>
            </a:r>
          </a:p>
          <a:p>
            <a:r>
              <a:rPr lang="en-US" altLang="ko-KR" sz="1600" dirty="0">
                <a:solidFill>
                  <a:schemeClr val="bg1"/>
                </a:solidFill>
                <a:latin typeface="Consolas" panose="020B0609020204030204" pitchFamily="49" charset="0"/>
                <a:ea typeface="Hack" panose="020B0609030202020204" pitchFamily="49" charset="0"/>
                <a:cs typeface="Consolas" panose="020B0609020204030204" pitchFamily="49" charset="0"/>
              </a:rPr>
              <a:t>- 0x00000004</a:t>
            </a:r>
          </a:p>
          <a:p>
            <a:r>
              <a:rPr lang="en-US" altLang="ko-KR" sz="1600" dirty="0">
                <a:solidFill>
                  <a:schemeClr val="bg1"/>
                </a:solidFill>
                <a:latin typeface="Consolas" panose="020B0609020204030204" pitchFamily="49" charset="0"/>
                <a:ea typeface="Hack" panose="020B0609030202020204" pitchFamily="49" charset="0"/>
                <a:cs typeface="Consolas" panose="020B0609020204030204" pitchFamily="49" charset="0"/>
              </a:rPr>
              <a:t>-------------</a:t>
            </a:r>
          </a:p>
          <a:p>
            <a:r>
              <a:rPr lang="en-US" altLang="ko-KR" sz="1600" dirty="0">
                <a:solidFill>
                  <a:schemeClr val="bg1"/>
                </a:solidFill>
                <a:latin typeface="Consolas" panose="020B0609020204030204" pitchFamily="49" charset="0"/>
                <a:ea typeface="Hack" panose="020B0609030202020204" pitchFamily="49" charset="0"/>
                <a:cs typeface="Consolas" panose="020B0609020204030204" pitchFamily="49" charset="0"/>
              </a:rPr>
              <a:t>  0xBFFFFFFC</a:t>
            </a:r>
            <a:endParaRPr lang="ko-KR" altLang="en-US" sz="160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10" name="직선 화살표 연결선 9"/>
          <p:cNvCxnSpPr>
            <a:cxnSpLocks/>
            <a:stCxn id="5" idx="3"/>
          </p:cNvCxnSpPr>
          <p:nvPr/>
        </p:nvCxnSpPr>
        <p:spPr>
          <a:xfrm flipV="1">
            <a:off x="3324224" y="2019300"/>
            <a:ext cx="732994" cy="304121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636630E1-B438-CE49-945F-41BB87EB5C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2656" y="5991138"/>
            <a:ext cx="446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A305A6-A07C-784C-BBE4-67C27A551CE4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19217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Argument Passing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112519"/>
            <a:ext cx="10515600" cy="373381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altLang="ko-KR" dirty="0"/>
              <a:t>“/bin/ls -l foo bar” will be parsed into “/bin/ls”, “-l”, “foo”, “bar”</a:t>
            </a:r>
          </a:p>
          <a:p>
            <a:pPr lvl="1">
              <a:lnSpc>
                <a:spcPct val="120000"/>
              </a:lnSpc>
              <a:buFont typeface="Wingdings" pitchFamily="2" charset="2"/>
              <a:buChar char="ü"/>
            </a:pPr>
            <a:r>
              <a:rPr lang="en-US" altLang="ko-KR" dirty="0"/>
              <a:t>Push arguments at the top of the stack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6EB890E-FD72-674F-9484-A98E16C861F3}"/>
              </a:ext>
            </a:extLst>
          </p:cNvPr>
          <p:cNvGrpSpPr/>
          <p:nvPr/>
        </p:nvGrpSpPr>
        <p:grpSpPr>
          <a:xfrm>
            <a:off x="4057218" y="2008779"/>
            <a:ext cx="5319772" cy="3190309"/>
            <a:chOff x="4057218" y="1770654"/>
            <a:chExt cx="5319772" cy="3190309"/>
          </a:xfrm>
        </p:grpSpPr>
        <p:pic>
          <p:nvPicPr>
            <p:cNvPr id="15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4057218" y="1770654"/>
              <a:ext cx="5319772" cy="31903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7" name="직사각형 16"/>
            <p:cNvSpPr/>
            <p:nvPr/>
          </p:nvSpPr>
          <p:spPr>
            <a:xfrm>
              <a:off x="6891887" y="1986865"/>
              <a:ext cx="1163175" cy="115794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668FFA2F-D8CB-2A40-BCC8-BC6EBB52D7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2656" y="5991138"/>
            <a:ext cx="446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A305A6-A07C-784C-BBE4-67C27A551CE4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43091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Argument Passing</a:t>
            </a:r>
            <a:endParaRPr lang="ko-KR" alt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94211AC-80E5-FD44-9BE5-4E7415E78E38}"/>
              </a:ext>
            </a:extLst>
          </p:cNvPr>
          <p:cNvGrpSpPr/>
          <p:nvPr/>
        </p:nvGrpSpPr>
        <p:grpSpPr>
          <a:xfrm>
            <a:off x="4046162" y="2008779"/>
            <a:ext cx="5330828" cy="3190309"/>
            <a:chOff x="4046162" y="1664324"/>
            <a:chExt cx="5330828" cy="3190309"/>
          </a:xfrm>
        </p:grpSpPr>
        <p:pic>
          <p:nvPicPr>
            <p:cNvPr id="15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4057218" y="1664324"/>
              <a:ext cx="5319772" cy="31903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" name="직사각형 4"/>
            <p:cNvSpPr/>
            <p:nvPr/>
          </p:nvSpPr>
          <p:spPr>
            <a:xfrm>
              <a:off x="4046163" y="1880536"/>
              <a:ext cx="1163175" cy="263508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0" name="직선 연결선 9"/>
            <p:cNvCxnSpPr>
              <a:endCxn id="17" idx="1"/>
            </p:cNvCxnSpPr>
            <p:nvPr/>
          </p:nvCxnSpPr>
          <p:spPr>
            <a:xfrm>
              <a:off x="5220393" y="2012290"/>
              <a:ext cx="1671494" cy="1346301"/>
            </a:xfrm>
            <a:prstGeom prst="line">
              <a:avLst/>
            </a:prstGeom>
            <a:ln w="381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/>
            <p:cNvCxnSpPr>
              <a:stCxn id="16" idx="3"/>
              <a:endCxn id="18" idx="1"/>
            </p:cNvCxnSpPr>
            <p:nvPr/>
          </p:nvCxnSpPr>
          <p:spPr>
            <a:xfrm>
              <a:off x="5209337" y="4030424"/>
              <a:ext cx="1682550" cy="223527"/>
            </a:xfrm>
            <a:prstGeom prst="line">
              <a:avLst/>
            </a:prstGeom>
            <a:ln w="381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직사각형 15"/>
            <p:cNvSpPr/>
            <p:nvPr/>
          </p:nvSpPr>
          <p:spPr>
            <a:xfrm>
              <a:off x="4046162" y="3898670"/>
              <a:ext cx="1163175" cy="263508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직사각형 16"/>
            <p:cNvSpPr/>
            <p:nvPr/>
          </p:nvSpPr>
          <p:spPr>
            <a:xfrm>
              <a:off x="6891887" y="3226837"/>
              <a:ext cx="1163175" cy="263508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6891887" y="4122197"/>
              <a:ext cx="1163175" cy="263508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BA7285-B4B2-1B4F-B63E-D2299177C0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en-US" altLang="ko-KR" dirty="0"/>
              <a:t>“/bin/ls -l foo bar” will be parsed into “/bin/ls”, “-l”, “foo”, “bar”</a:t>
            </a:r>
          </a:p>
          <a:p>
            <a:pPr lvl="1">
              <a:lnSpc>
                <a:spcPct val="120000"/>
              </a:lnSpc>
              <a:buFont typeface="Wingdings" pitchFamily="2" charset="2"/>
              <a:buChar char="ü"/>
            </a:pPr>
            <a:r>
              <a:rPr lang="en-US" altLang="ko-KR" dirty="0"/>
              <a:t>Push address of each argument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605437A-5AB9-1F44-9EDF-07A7BC432A3C}"/>
              </a:ext>
            </a:extLst>
          </p:cNvPr>
          <p:cNvCxnSpPr>
            <a:cxnSpLocks/>
            <a:stCxn id="20" idx="1"/>
            <a:endCxn id="8" idx="6"/>
          </p:cNvCxnSpPr>
          <p:nvPr/>
        </p:nvCxnSpPr>
        <p:spPr>
          <a:xfrm flipH="1">
            <a:off x="6267450" y="3005476"/>
            <a:ext cx="2897274" cy="483805"/>
          </a:xfrm>
          <a:prstGeom prst="straightConnector1">
            <a:avLst/>
          </a:prstGeom>
          <a:ln w="34925">
            <a:solidFill>
              <a:schemeClr val="accent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355523C2-1B8C-374A-A382-F083623BF3B2}"/>
              </a:ext>
            </a:extLst>
          </p:cNvPr>
          <p:cNvSpPr txBox="1"/>
          <p:nvPr/>
        </p:nvSpPr>
        <p:spPr>
          <a:xfrm>
            <a:off x="9164724" y="2682310"/>
            <a:ext cx="27508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NULL pointer sentinel</a:t>
            </a:r>
          </a:p>
          <a:p>
            <a:r>
              <a:rPr lang="en-US" dirty="0"/>
              <a:t>(required by C standard)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886D1B9-83CC-4A49-B93C-2D46D4558133}"/>
              </a:ext>
            </a:extLst>
          </p:cNvPr>
          <p:cNvSpPr/>
          <p:nvPr/>
        </p:nvSpPr>
        <p:spPr>
          <a:xfrm>
            <a:off x="5353050" y="3328641"/>
            <a:ext cx="914400" cy="321279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Slide Number Placeholder 1">
            <a:extLst>
              <a:ext uri="{FF2B5EF4-FFF2-40B4-BE49-F238E27FC236}">
                <a16:creationId xmlns:a16="http://schemas.microsoft.com/office/drawing/2014/main" id="{E1B3688B-BBE8-B04C-8712-7FF1EC8943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2656" y="5991138"/>
            <a:ext cx="446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A305A6-A07C-784C-BBE4-67C27A551CE4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33668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Argument Passing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112519"/>
            <a:ext cx="10515600" cy="354331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altLang="ko-KR" dirty="0"/>
              <a:t>“/bin/ls -l foo bar” will be parsed into “/bin/ls”, “-l”, “foo”, “bar”</a:t>
            </a:r>
          </a:p>
          <a:p>
            <a:pPr lvl="1">
              <a:lnSpc>
                <a:spcPct val="120000"/>
              </a:lnSpc>
              <a:buFont typeface="Wingdings" pitchFamily="2" charset="2"/>
              <a:buChar char="ü"/>
            </a:pPr>
            <a:r>
              <a:rPr lang="en-US" altLang="ko-KR" dirty="0"/>
              <a:t>result of </a:t>
            </a:r>
            <a:r>
              <a:rPr lang="en-US" altLang="ko-KR" b="1" dirty="0" err="1"/>
              <a:t>hex_dump</a:t>
            </a:r>
            <a:r>
              <a:rPr lang="en-US" altLang="ko-KR" b="1" dirty="0"/>
              <a:t>() </a:t>
            </a:r>
            <a:r>
              <a:rPr lang="en-US" altLang="ko-KR" dirty="0"/>
              <a:t>: This function is very useful for debug (in </a:t>
            </a:r>
            <a:r>
              <a:rPr lang="en-US" altLang="ko-KR" dirty="0" err="1"/>
              <a:t>src</a:t>
            </a:r>
            <a:r>
              <a:rPr lang="en-US" altLang="ko-KR" dirty="0"/>
              <a:t>/lib/</a:t>
            </a:r>
            <a:r>
              <a:rPr lang="en-US" altLang="ko-KR" dirty="0" err="1"/>
              <a:t>stdio.c</a:t>
            </a:r>
            <a:r>
              <a:rPr lang="en-US" altLang="ko-KR" dirty="0"/>
              <a:t>). </a:t>
            </a:r>
          </a:p>
        </p:txBody>
      </p:sp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20627" y="2024907"/>
            <a:ext cx="9107987" cy="11387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0B2BB68-FC3D-4D48-A036-9D2E3F1A9FC7}"/>
              </a:ext>
            </a:extLst>
          </p:cNvPr>
          <p:cNvSpPr txBox="1"/>
          <p:nvPr/>
        </p:nvSpPr>
        <p:spPr>
          <a:xfrm>
            <a:off x="7112182" y="3536885"/>
            <a:ext cx="18728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Top of the stack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3F2CA7E-79BC-164E-BC18-EBF17B8AD501}"/>
              </a:ext>
            </a:extLst>
          </p:cNvPr>
          <p:cNvSpPr/>
          <p:nvPr/>
        </p:nvSpPr>
        <p:spPr>
          <a:xfrm>
            <a:off x="5438774" y="2812984"/>
            <a:ext cx="1323976" cy="238125"/>
          </a:xfrm>
          <a:prstGeom prst="rect">
            <a:avLst/>
          </a:prstGeom>
          <a:noFill/>
          <a:ln w="2222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F26D618-1CD0-3944-BED9-4A442B6DCC7D}"/>
              </a:ext>
            </a:extLst>
          </p:cNvPr>
          <p:cNvSpPr/>
          <p:nvPr/>
        </p:nvSpPr>
        <p:spPr>
          <a:xfrm>
            <a:off x="6848474" y="2812984"/>
            <a:ext cx="1323976" cy="238125"/>
          </a:xfrm>
          <a:prstGeom prst="rect">
            <a:avLst/>
          </a:prstGeom>
          <a:noFill/>
          <a:ln w="222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AC58A0B-AB08-534D-B149-1F56FB5C91CD}"/>
              </a:ext>
            </a:extLst>
          </p:cNvPr>
          <p:cNvCxnSpPr/>
          <p:nvPr/>
        </p:nvCxnSpPr>
        <p:spPr>
          <a:xfrm flipV="1">
            <a:off x="8048625" y="3022535"/>
            <a:ext cx="0" cy="523875"/>
          </a:xfrm>
          <a:prstGeom prst="straightConnector1">
            <a:avLst/>
          </a:prstGeom>
          <a:ln w="25400">
            <a:solidFill>
              <a:schemeClr val="accent2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EE237DE-838D-2244-9DFC-F51CFF6709AA}"/>
              </a:ext>
            </a:extLst>
          </p:cNvPr>
          <p:cNvSpPr txBox="1"/>
          <p:nvPr/>
        </p:nvSpPr>
        <p:spPr>
          <a:xfrm>
            <a:off x="5668637" y="3033142"/>
            <a:ext cx="8370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foo\0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557D23B-B54A-C846-B4A6-8CA0034E2528}"/>
              </a:ext>
            </a:extLst>
          </p:cNvPr>
          <p:cNvSpPr txBox="1"/>
          <p:nvPr/>
        </p:nvSpPr>
        <p:spPr>
          <a:xfrm>
            <a:off x="7112182" y="3033142"/>
            <a:ext cx="8242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bar\0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6A20DF-1714-EF49-80C8-3A8C6281F3B6}"/>
              </a:ext>
            </a:extLst>
          </p:cNvPr>
          <p:cNvSpPr/>
          <p:nvPr/>
        </p:nvSpPr>
        <p:spPr>
          <a:xfrm>
            <a:off x="4019551" y="2584767"/>
            <a:ext cx="1323976" cy="238125"/>
          </a:xfrm>
          <a:prstGeom prst="rect">
            <a:avLst/>
          </a:prstGeom>
          <a:noFill/>
          <a:ln w="2222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8A2AC1E-46CE-D54F-A12D-4F6423EF1A71}"/>
              </a:ext>
            </a:extLst>
          </p:cNvPr>
          <p:cNvSpPr txBox="1"/>
          <p:nvPr/>
        </p:nvSpPr>
        <p:spPr>
          <a:xfrm>
            <a:off x="3960376" y="3241637"/>
            <a:ext cx="1451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0xbffffffc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0543A97-3478-7346-8639-971FCE2CE6EA}"/>
              </a:ext>
            </a:extLst>
          </p:cNvPr>
          <p:cNvSpPr txBox="1"/>
          <p:nvPr/>
        </p:nvSpPr>
        <p:spPr>
          <a:xfrm>
            <a:off x="2549133" y="3241637"/>
            <a:ext cx="1451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0xbffffff8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3696511-779C-A94F-9F94-CF5F9AD71693}"/>
              </a:ext>
            </a:extLst>
          </p:cNvPr>
          <p:cNvSpPr/>
          <p:nvPr/>
        </p:nvSpPr>
        <p:spPr>
          <a:xfrm>
            <a:off x="2609851" y="2571358"/>
            <a:ext cx="1323976" cy="238125"/>
          </a:xfrm>
          <a:prstGeom prst="rect">
            <a:avLst/>
          </a:prstGeom>
          <a:noFill/>
          <a:ln w="2222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761D3E7-874C-854C-B0C3-8B42B594944C}"/>
              </a:ext>
            </a:extLst>
          </p:cNvPr>
          <p:cNvCxnSpPr>
            <a:stCxn id="16" idx="2"/>
            <a:endCxn id="15" idx="0"/>
          </p:cNvCxnSpPr>
          <p:nvPr/>
        </p:nvCxnSpPr>
        <p:spPr>
          <a:xfrm>
            <a:off x="3271839" y="2809483"/>
            <a:ext cx="2813" cy="432154"/>
          </a:xfrm>
          <a:prstGeom prst="straightConnector1">
            <a:avLst/>
          </a:prstGeom>
          <a:ln w="25400">
            <a:solidFill>
              <a:srgbClr val="7030A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DF9546C-08AC-7249-A0A9-3C19863489F4}"/>
              </a:ext>
            </a:extLst>
          </p:cNvPr>
          <p:cNvCxnSpPr>
            <a:stCxn id="13" idx="2"/>
            <a:endCxn id="14" idx="0"/>
          </p:cNvCxnSpPr>
          <p:nvPr/>
        </p:nvCxnSpPr>
        <p:spPr>
          <a:xfrm>
            <a:off x="4681539" y="2822892"/>
            <a:ext cx="4356" cy="418745"/>
          </a:xfrm>
          <a:prstGeom prst="straightConnector1">
            <a:avLst/>
          </a:prstGeom>
          <a:ln w="25400">
            <a:solidFill>
              <a:srgbClr val="FFC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4">
            <a:extLst>
              <a:ext uri="{FF2B5EF4-FFF2-40B4-BE49-F238E27FC236}">
                <a16:creationId xmlns:a16="http://schemas.microsoft.com/office/drawing/2014/main" id="{93A2447A-C3B1-0842-95D9-024273AB43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49133" y="3951755"/>
            <a:ext cx="3394003" cy="20354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FC5D7BA3-8F59-2E46-9560-01F2136DD2D1}"/>
              </a:ext>
            </a:extLst>
          </p:cNvPr>
          <p:cNvSpPr/>
          <p:nvPr/>
        </p:nvSpPr>
        <p:spPr>
          <a:xfrm>
            <a:off x="4380614" y="4965404"/>
            <a:ext cx="749878" cy="138223"/>
          </a:xfrm>
          <a:prstGeom prst="rect">
            <a:avLst/>
          </a:prstGeom>
          <a:noFill/>
          <a:ln w="2222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C2BFC1A-E129-CD4C-A712-DB53617552CD}"/>
              </a:ext>
            </a:extLst>
          </p:cNvPr>
          <p:cNvSpPr/>
          <p:nvPr/>
        </p:nvSpPr>
        <p:spPr>
          <a:xfrm>
            <a:off x="4380614" y="5107170"/>
            <a:ext cx="749878" cy="138223"/>
          </a:xfrm>
          <a:prstGeom prst="rect">
            <a:avLst/>
          </a:prstGeom>
          <a:noFill/>
          <a:ln w="2222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A017D5B-98E4-D04B-94A2-00941E3808BC}"/>
              </a:ext>
            </a:extLst>
          </p:cNvPr>
          <p:cNvSpPr/>
          <p:nvPr/>
        </p:nvSpPr>
        <p:spPr>
          <a:xfrm>
            <a:off x="4375580" y="4097790"/>
            <a:ext cx="749878" cy="138223"/>
          </a:xfrm>
          <a:prstGeom prst="rect">
            <a:avLst/>
          </a:prstGeom>
          <a:noFill/>
          <a:ln w="222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79DDA6B-49CE-7D47-B7D2-D0C4E864F9F0}"/>
              </a:ext>
            </a:extLst>
          </p:cNvPr>
          <p:cNvSpPr/>
          <p:nvPr/>
        </p:nvSpPr>
        <p:spPr>
          <a:xfrm>
            <a:off x="4375580" y="4239556"/>
            <a:ext cx="749878" cy="138223"/>
          </a:xfrm>
          <a:prstGeom prst="rect">
            <a:avLst/>
          </a:prstGeom>
          <a:noFill/>
          <a:ln w="2222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Slide Number Placeholder 1">
            <a:extLst>
              <a:ext uri="{FF2B5EF4-FFF2-40B4-BE49-F238E27FC236}">
                <a16:creationId xmlns:a16="http://schemas.microsoft.com/office/drawing/2014/main" id="{CADF881C-7D19-BE4F-80A6-6C9B8236CE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2656" y="5991138"/>
            <a:ext cx="446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A305A6-A07C-784C-BBE4-67C27A551CE4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2847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AA906-70FB-1747-B6EC-E96347CA2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Argument Passing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364420-F592-7345-99AE-B03ECD099C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en-US" dirty="0"/>
              <a:t>In </a:t>
            </a:r>
            <a:r>
              <a:rPr lang="en-US" b="1" dirty="0" err="1">
                <a:solidFill>
                  <a:srgbClr val="0070C0"/>
                </a:solidFill>
              </a:rPr>
              <a:t>userprog</a:t>
            </a:r>
            <a:r>
              <a:rPr lang="en-US" b="1" dirty="0">
                <a:solidFill>
                  <a:srgbClr val="0070C0"/>
                </a:solidFill>
              </a:rPr>
              <a:t>/</a:t>
            </a:r>
            <a:r>
              <a:rPr lang="en-US" b="1" dirty="0" err="1">
                <a:solidFill>
                  <a:srgbClr val="0070C0"/>
                </a:solidFill>
              </a:rPr>
              <a:t>process.c</a:t>
            </a:r>
            <a:r>
              <a:rPr lang="en-US" dirty="0"/>
              <a:t>, there is </a:t>
            </a:r>
            <a:r>
              <a:rPr lang="en-US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setup_stack</a:t>
            </a:r>
            <a:r>
              <a:rPr lang="en-US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()</a:t>
            </a:r>
            <a:r>
              <a:rPr lang="en-US" dirty="0"/>
              <a:t> which allocates a minimal stack page (4KB).</a:t>
            </a:r>
          </a:p>
          <a:p>
            <a:pPr>
              <a:lnSpc>
                <a:spcPct val="120000"/>
              </a:lnSpc>
            </a:pPr>
            <a:r>
              <a:rPr lang="en-US" dirty="0"/>
              <a:t>Since the given code only allocates stack page, we need to make up the stack after </a:t>
            </a:r>
            <a:r>
              <a:rPr lang="en-US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setup_stack</a:t>
            </a:r>
            <a:r>
              <a:rPr lang="en-US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().</a:t>
            </a:r>
          </a:p>
          <a:p>
            <a:pPr>
              <a:lnSpc>
                <a:spcPct val="120000"/>
              </a:lnSpc>
            </a:pPr>
            <a:r>
              <a:rPr lang="en-US" dirty="0"/>
              <a:t>Make up the stack referring to </a:t>
            </a:r>
            <a:r>
              <a:rPr lang="en-US" b="1" dirty="0"/>
              <a:t>"3.5 80x86 Calling Convention"</a:t>
            </a:r>
            <a:r>
              <a:rPr lang="en-US" dirty="0"/>
              <a:t> in Pintos manual</a:t>
            </a:r>
            <a:endParaRPr lang="en-US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>
              <a:lnSpc>
                <a:spcPct val="120000"/>
              </a:lnSpc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2BA481-03A5-744E-A0DF-2D0DFDF2DF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CA56A43-8FC2-9842-BDDC-5AE4529FF897}" type="slidenum">
              <a:rPr lang="en-US" smtClean="0"/>
              <a:t>41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7B3B8DA-30CC-6D44-B023-D487B9A7BC72}"/>
              </a:ext>
            </a:extLst>
          </p:cNvPr>
          <p:cNvGrpSpPr/>
          <p:nvPr/>
        </p:nvGrpSpPr>
        <p:grpSpPr>
          <a:xfrm>
            <a:off x="2852328" y="4050101"/>
            <a:ext cx="6809257" cy="1810677"/>
            <a:chOff x="2852328" y="3429000"/>
            <a:chExt cx="6809257" cy="1810677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B57CF72-BA4E-F849-90C6-FD3A05C6C4D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52328" y="3429000"/>
              <a:ext cx="5922077" cy="1810677"/>
            </a:xfrm>
            <a:prstGeom prst="rect">
              <a:avLst/>
            </a:prstGeom>
          </p:spPr>
        </p:pic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0106794D-EC42-CD43-A39E-4D9FC9FCEB7E}"/>
                </a:ext>
              </a:extLst>
            </p:cNvPr>
            <p:cNvCxnSpPr/>
            <p:nvPr/>
          </p:nvCxnSpPr>
          <p:spPr>
            <a:xfrm flipH="1">
              <a:off x="4848045" y="4460432"/>
              <a:ext cx="4813540" cy="0"/>
            </a:xfrm>
            <a:prstGeom prst="straightConnector1">
              <a:avLst/>
            </a:prstGeom>
            <a:ln w="25400"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A9F9ECE3-9039-2F49-97C3-5B7A12A04249}"/>
              </a:ext>
            </a:extLst>
          </p:cNvPr>
          <p:cNvSpPr txBox="1"/>
          <p:nvPr/>
        </p:nvSpPr>
        <p:spPr>
          <a:xfrm>
            <a:off x="9699059" y="4914120"/>
            <a:ext cx="21421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Write codes here!</a:t>
            </a:r>
          </a:p>
        </p:txBody>
      </p:sp>
    </p:spTree>
    <p:extLst>
      <p:ext uri="{BB962C8B-B14F-4D97-AF65-F5344CB8AC3E}">
        <p14:creationId xmlns:p14="http://schemas.microsoft.com/office/powerpoint/2010/main" val="139228965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83AF7-064E-779E-8B8F-8344225D4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3642B8-2AAD-CD6D-F93F-E6897EC0C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System Calls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F5B05F-7BE1-F82A-B1F9-FCACA1B3F7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en-US" altLang="ko-KR" dirty="0"/>
              <a:t>Students will have to implement the following system calls 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en-US" altLang="ko-KR" b="1" dirty="0"/>
              <a:t>Requirements</a:t>
            </a:r>
            <a:r>
              <a:rPr lang="en-US" altLang="ko-KR" dirty="0"/>
              <a:t> of each system call are described in</a:t>
            </a:r>
            <a:r>
              <a:rPr lang="ko-KR" altLang="en-US" dirty="0"/>
              <a:t> </a:t>
            </a:r>
            <a:r>
              <a:rPr lang="en-US" altLang="ko-KR" b="1" dirty="0"/>
              <a:t>Pintos manual 3.3.4</a:t>
            </a:r>
            <a:r>
              <a:rPr lang="en-US" altLang="ko-KR" dirty="0"/>
              <a:t>.)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altLang="ko-KR" b="1" dirty="0">
                <a:solidFill>
                  <a:srgbClr val="FF00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[Prj1-1]</a:t>
            </a:r>
          </a:p>
          <a:p>
            <a:pPr lvl="1">
              <a:lnSpc>
                <a:spcPct val="120000"/>
              </a:lnSpc>
            </a:pPr>
            <a:r>
              <a:rPr lang="en-US" altLang="ko-KR" b="1" dirty="0">
                <a:solidFill>
                  <a:schemeClr val="accent2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halt, exit, exec, wait, </a:t>
            </a:r>
            <a:r>
              <a:rPr lang="en-US" altLang="ko-KR" b="1" dirty="0">
                <a:solidFill>
                  <a:srgbClr val="0432FF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read, write</a:t>
            </a:r>
            <a:br>
              <a:rPr lang="en-US" altLang="ko-KR" dirty="0"/>
            </a:br>
            <a:r>
              <a:rPr lang="en-US" altLang="ko-KR" dirty="0"/>
              <a:t>(※ Pintos exec is different from UNIX exec)</a:t>
            </a:r>
          </a:p>
          <a:p>
            <a:pPr lvl="1">
              <a:lnSpc>
                <a:spcPct val="120000"/>
              </a:lnSpc>
            </a:pPr>
            <a:r>
              <a:rPr lang="en-US" altLang="ko-KR" dirty="0"/>
              <a:t>Two new system calls (</a:t>
            </a:r>
            <a:r>
              <a:rPr lang="en-US" altLang="ko-KR" b="1" dirty="0" err="1">
                <a:solidFill>
                  <a:schemeClr val="accent2"/>
                </a:solidFill>
              </a:rPr>
              <a:t>fibonacci</a:t>
            </a:r>
            <a:r>
              <a:rPr lang="en-US" altLang="ko-KR" b="1" dirty="0">
                <a:solidFill>
                  <a:schemeClr val="accent2"/>
                </a:solidFill>
              </a:rPr>
              <a:t>, </a:t>
            </a:r>
            <a:r>
              <a:rPr lang="en-US" altLang="ko-KR" b="1" dirty="0" err="1">
                <a:solidFill>
                  <a:schemeClr val="accent2"/>
                </a:solidFill>
              </a:rPr>
              <a:t>max_of_four_int</a:t>
            </a:r>
            <a:r>
              <a:rPr lang="en-US" altLang="ko-KR" dirty="0"/>
              <a:t>) 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altLang="ko-KR" b="1" dirty="0">
                <a:solidFill>
                  <a:srgbClr val="FF00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[Prj1-2]</a:t>
            </a:r>
          </a:p>
          <a:p>
            <a:pPr lvl="1">
              <a:lnSpc>
                <a:spcPct val="120000"/>
              </a:lnSpc>
            </a:pPr>
            <a:r>
              <a:rPr lang="en-US" altLang="ko-KR" b="1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create, remove, open, close, </a:t>
            </a:r>
            <a:r>
              <a:rPr lang="en-US" altLang="ko-KR" b="1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filesize</a:t>
            </a:r>
            <a:r>
              <a:rPr lang="en-US" altLang="ko-KR" b="1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 seek, tell, </a:t>
            </a:r>
            <a:r>
              <a:rPr lang="en-US" altLang="ko-KR" b="1" dirty="0">
                <a:solidFill>
                  <a:srgbClr val="0432FF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read, write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altLang="ko-KR" dirty="0">
                <a:ea typeface="Hack" panose="020B0609030202020204" pitchFamily="49" charset="0"/>
                <a:cs typeface="Hack" panose="020B0609030202020204" pitchFamily="49" charset="0"/>
              </a:rPr>
              <a:t>   (full implementation)</a:t>
            </a:r>
          </a:p>
          <a:p>
            <a:pPr marL="457200" indent="-457200">
              <a:lnSpc>
                <a:spcPct val="120000"/>
              </a:lnSpc>
              <a:buClr>
                <a:schemeClr val="tx1"/>
              </a:buClr>
              <a:buFont typeface="+mj-lt"/>
              <a:buAutoNum type="arabicPeriod"/>
            </a:pPr>
            <a:r>
              <a:rPr lang="en-US" altLang="ko-KR" b="1" dirty="0">
                <a:solidFill>
                  <a:srgbClr val="0432FF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read / write </a:t>
            </a:r>
            <a:r>
              <a:rPr lang="en-US" altLang="ko-KR" b="1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are implemented in two stages</a:t>
            </a:r>
          </a:p>
          <a:p>
            <a:pPr lvl="1">
              <a:lnSpc>
                <a:spcPct val="120000"/>
              </a:lnSpc>
            </a:pPr>
            <a:r>
              <a:rPr lang="en-US" altLang="ko-KR" dirty="0">
                <a:ea typeface="Hack" panose="020B0609030202020204" pitchFamily="49" charset="0"/>
                <a:cs typeface="Hack" panose="020B0609030202020204" pitchFamily="49" charset="0"/>
              </a:rPr>
              <a:t>Prj1-1: standard input/output only (STDIN=0, STDOUT=1)</a:t>
            </a:r>
          </a:p>
          <a:p>
            <a:pPr lvl="1">
              <a:lnSpc>
                <a:spcPct val="120000"/>
              </a:lnSpc>
            </a:pPr>
            <a:r>
              <a:rPr lang="en-US" altLang="ko-KR" dirty="0">
                <a:ea typeface="Hack" panose="020B0609030202020204" pitchFamily="49" charset="0"/>
                <a:cs typeface="Hack" panose="020B0609030202020204" pitchFamily="49" charset="0"/>
              </a:rPr>
              <a:t>Prj1-2: extend to files using file descriptor</a:t>
            </a:r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400BB10C-68E1-CEFD-D8FB-1B06ED51B1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2656" y="5991138"/>
            <a:ext cx="446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A305A6-A07C-784C-BBE4-67C27A551CE4}" type="slidenum">
              <a:rPr lang="en-US" smtClean="0"/>
              <a:t>42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D11CB1-7069-B561-0594-897C6EF48AA6}"/>
              </a:ext>
            </a:extLst>
          </p:cNvPr>
          <p:cNvSpPr txBox="1"/>
          <p:nvPr/>
        </p:nvSpPr>
        <p:spPr>
          <a:xfrm>
            <a:off x="11797259" y="446706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5836203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System Calls: General System Calls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en-US" altLang="ko-KR" dirty="0"/>
              <a:t>halt()</a:t>
            </a:r>
          </a:p>
          <a:p>
            <a:pPr marL="800100" lvl="1" indent="-342900">
              <a:lnSpc>
                <a:spcPct val="120000"/>
              </a:lnSpc>
              <a:buFont typeface="+mj-lt"/>
              <a:buAutoNum type="arabicParenR"/>
            </a:pPr>
            <a:r>
              <a:rPr lang="en-US" altLang="ko-KR" dirty="0"/>
              <a:t>Terminate Pintos by calling </a:t>
            </a:r>
            <a:r>
              <a:rPr lang="en-US" altLang="ko-KR" b="1" dirty="0" err="1">
                <a:solidFill>
                  <a:srgbClr val="1065E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shutdown_power_off</a:t>
            </a:r>
            <a:r>
              <a:rPr lang="en-US" altLang="ko-KR" b="1" dirty="0">
                <a:solidFill>
                  <a:srgbClr val="1065E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()</a:t>
            </a:r>
          </a:p>
          <a:p>
            <a:pPr marL="457200" lvl="1" indent="0">
              <a:lnSpc>
                <a:spcPct val="120000"/>
              </a:lnSpc>
              <a:buNone/>
            </a:pPr>
            <a:endParaRPr lang="en-US" altLang="ko-KR" b="1" dirty="0">
              <a:solidFill>
                <a:srgbClr val="1065E7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>
              <a:lnSpc>
                <a:spcPct val="120000"/>
              </a:lnSpc>
            </a:pPr>
            <a:r>
              <a:rPr lang="en-US" altLang="ko-KR" dirty="0"/>
              <a:t>exit()</a:t>
            </a:r>
          </a:p>
          <a:p>
            <a:pPr marL="800100" lvl="1" indent="-342900">
              <a:lnSpc>
                <a:spcPct val="120000"/>
              </a:lnSpc>
              <a:buFont typeface="+mj-lt"/>
              <a:buAutoNum type="arabicParenR"/>
            </a:pPr>
            <a:r>
              <a:rPr lang="en-US" altLang="ko-KR" dirty="0"/>
              <a:t>Terminate the current user program, returning status to the kernel</a:t>
            </a: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C52511EA-CA10-564B-B1D8-4B576E3021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2656" y="5991138"/>
            <a:ext cx="446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A305A6-A07C-784C-BBE4-67C27A551CE4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13149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System Calls: General System Calls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en-US" altLang="ko-KR" dirty="0"/>
              <a:t>exec()</a:t>
            </a:r>
          </a:p>
          <a:p>
            <a:pPr marL="800100" lvl="1" indent="-342900">
              <a:lnSpc>
                <a:spcPct val="120000"/>
              </a:lnSpc>
              <a:buFont typeface="+mj-lt"/>
              <a:buAutoNum type="arabicParenR"/>
            </a:pPr>
            <a:r>
              <a:rPr lang="en-US" altLang="ko-KR" dirty="0"/>
              <a:t>Create child process</a:t>
            </a:r>
          </a:p>
          <a:p>
            <a:pPr marL="800100" lvl="1" indent="-342900">
              <a:lnSpc>
                <a:spcPct val="120000"/>
              </a:lnSpc>
              <a:buFont typeface="+mj-lt"/>
              <a:buAutoNum type="arabicParenR"/>
            </a:pPr>
            <a:r>
              <a:rPr lang="en-US" altLang="ko-KR" dirty="0"/>
              <a:t>Refer to </a:t>
            </a:r>
            <a:r>
              <a:rPr lang="en-US" altLang="ko-KR" b="1" dirty="0" err="1">
                <a:solidFill>
                  <a:srgbClr val="1065E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process_execute</a:t>
            </a:r>
            <a:r>
              <a:rPr lang="en-US" altLang="ko-KR" b="1" dirty="0">
                <a:solidFill>
                  <a:srgbClr val="1065E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()</a:t>
            </a:r>
            <a:r>
              <a:rPr lang="en-US" altLang="ko-KR" b="1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altLang="ko-KR" dirty="0"/>
              <a:t>in </a:t>
            </a:r>
            <a:r>
              <a:rPr lang="en-US" altLang="ko-KR" dirty="0" err="1"/>
              <a:t>userprog</a:t>
            </a:r>
            <a:r>
              <a:rPr lang="en-US" altLang="ko-KR" dirty="0"/>
              <a:t>/</a:t>
            </a:r>
            <a:r>
              <a:rPr lang="en-US" altLang="ko-KR" dirty="0" err="1"/>
              <a:t>process.c</a:t>
            </a:r>
            <a:endParaRPr lang="en-US" altLang="ko-KR" dirty="0"/>
          </a:p>
          <a:p>
            <a:pPr marL="800100" lvl="1" indent="-342900">
              <a:lnSpc>
                <a:spcPct val="120000"/>
              </a:lnSpc>
              <a:buFont typeface="+mj-lt"/>
              <a:buAutoNum type="arabicParenR"/>
            </a:pPr>
            <a:endParaRPr lang="en-US" altLang="ko-KR" dirty="0"/>
          </a:p>
          <a:p>
            <a:pPr>
              <a:lnSpc>
                <a:spcPct val="120000"/>
              </a:lnSpc>
            </a:pPr>
            <a:r>
              <a:rPr lang="en-US" altLang="ko-KR" dirty="0"/>
              <a:t>wait()</a:t>
            </a:r>
          </a:p>
          <a:p>
            <a:pPr marL="800100" lvl="1" indent="-342900">
              <a:lnSpc>
                <a:spcPct val="120000"/>
              </a:lnSpc>
              <a:buFont typeface="+mj-lt"/>
              <a:buAutoNum type="arabicParenR"/>
            </a:pPr>
            <a:r>
              <a:rPr lang="en-US" altLang="ko-KR" dirty="0"/>
              <a:t>What wait() system call should do is </a:t>
            </a:r>
            <a:r>
              <a:rPr lang="en-US" altLang="ko-KR" b="1" dirty="0"/>
              <a:t>wait child process until it finishes its work</a:t>
            </a:r>
            <a:r>
              <a:rPr lang="en-US" altLang="ko-KR" dirty="0"/>
              <a:t>.</a:t>
            </a:r>
            <a:endParaRPr lang="en-US" altLang="ko-KR" b="1" dirty="0"/>
          </a:p>
          <a:p>
            <a:pPr marL="800100" lvl="1" indent="-342900">
              <a:lnSpc>
                <a:spcPct val="120000"/>
              </a:lnSpc>
              <a:buFont typeface="+mj-lt"/>
              <a:buAutoNum type="arabicParenR"/>
            </a:pPr>
            <a:r>
              <a:rPr lang="en-US" altLang="ko-KR" dirty="0"/>
              <a:t>Check that child thread ID is valid</a:t>
            </a:r>
          </a:p>
          <a:p>
            <a:pPr marL="800100" lvl="1" indent="-342900">
              <a:lnSpc>
                <a:spcPct val="120000"/>
              </a:lnSpc>
              <a:buFont typeface="+mj-lt"/>
              <a:buAutoNum type="arabicParenR"/>
            </a:pPr>
            <a:r>
              <a:rPr lang="en-US" altLang="ko-KR" dirty="0"/>
              <a:t>Get the exit status from child thread when the child thread is dead</a:t>
            </a:r>
          </a:p>
          <a:p>
            <a:pPr marL="800100" lvl="1" indent="-342900">
              <a:lnSpc>
                <a:spcPct val="120000"/>
              </a:lnSpc>
              <a:buFont typeface="+mj-lt"/>
              <a:buAutoNum type="arabicParenR"/>
            </a:pPr>
            <a:r>
              <a:rPr lang="en-US" altLang="ko-KR" dirty="0">
                <a:solidFill>
                  <a:srgbClr val="FF0000"/>
                </a:solidFill>
              </a:rPr>
              <a:t>To prevent termination of process before return from wait(), </a:t>
            </a:r>
            <a:r>
              <a:rPr lang="en-US" altLang="ko-KR" dirty="0"/>
              <a:t>you can use </a:t>
            </a:r>
            <a:r>
              <a:rPr lang="en-US" altLang="ko-KR" b="1" dirty="0"/>
              <a:t>busy waiting technique</a:t>
            </a:r>
            <a:r>
              <a:rPr lang="en-US" altLang="ko-KR" dirty="0"/>
              <a:t>* or </a:t>
            </a:r>
            <a:r>
              <a:rPr lang="en-US" altLang="ko-KR" b="1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thread_yield</a:t>
            </a:r>
            <a:r>
              <a:rPr lang="en-US" altLang="ko-KR" b="1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()</a:t>
            </a:r>
            <a:r>
              <a:rPr lang="en-US" altLang="ko-KR" b="1" dirty="0"/>
              <a:t> </a:t>
            </a:r>
            <a:r>
              <a:rPr lang="en-US" altLang="ko-KR" dirty="0"/>
              <a:t>in threads/</a:t>
            </a:r>
            <a:r>
              <a:rPr lang="en-US" altLang="ko-KR" dirty="0" err="1"/>
              <a:t>thread.c</a:t>
            </a:r>
            <a:r>
              <a:rPr lang="en-US" altLang="ko-KR" dirty="0"/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959D26-52AB-1844-94D3-A5CAA76CD821}"/>
              </a:ext>
            </a:extLst>
          </p:cNvPr>
          <p:cNvSpPr txBox="1"/>
          <p:nvPr/>
        </p:nvSpPr>
        <p:spPr>
          <a:xfrm>
            <a:off x="571500" y="6372225"/>
            <a:ext cx="77623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* Busy waiting means the codes </a:t>
            </a:r>
            <a:r>
              <a:rPr lang="en-US" sz="1400" b="1" dirty="0"/>
              <a:t>do nothing </a:t>
            </a:r>
            <a:r>
              <a:rPr lang="en-US" sz="1400" dirty="0"/>
              <a:t>and just keep checking condition over and over</a:t>
            </a: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C52511EA-CA10-564B-B1D8-4B576E3021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2656" y="5991138"/>
            <a:ext cx="446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A305A6-A07C-784C-BBE4-67C27A551CE4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37070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System Calls: General System Calls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en-US" altLang="ko-KR" dirty="0"/>
              <a:t>write() and read()</a:t>
            </a:r>
          </a:p>
          <a:p>
            <a:pPr lvl="1">
              <a:lnSpc>
                <a:spcPct val="120000"/>
              </a:lnSpc>
            </a:pPr>
            <a:r>
              <a:rPr lang="en-US" altLang="ko-KR" dirty="0"/>
              <a:t>Not full implementation, but at least read from STDIN, write to STDOUT. </a:t>
            </a:r>
          </a:p>
          <a:p>
            <a:pPr lvl="1">
              <a:lnSpc>
                <a:spcPct val="120000"/>
              </a:lnSpc>
            </a:pPr>
            <a:endParaRPr lang="en-US" altLang="ko-KR" dirty="0"/>
          </a:p>
          <a:p>
            <a:pPr marL="800100" lvl="1" indent="-342900">
              <a:lnSpc>
                <a:spcPct val="120000"/>
              </a:lnSpc>
              <a:buFont typeface="+mj-lt"/>
              <a:buAutoNum type="arabicParenR"/>
            </a:pPr>
            <a:r>
              <a:rPr lang="en-US" altLang="ko-KR" dirty="0"/>
              <a:t>File Descriptor of STDIN, STDOUT</a:t>
            </a:r>
          </a:p>
          <a:p>
            <a:pPr lvl="2">
              <a:lnSpc>
                <a:spcPct val="120000"/>
              </a:lnSpc>
              <a:buFont typeface="Wingdings" pitchFamily="2" charset="2"/>
              <a:buChar char="ü"/>
            </a:pPr>
            <a:r>
              <a:rPr lang="en-US" altLang="ko-KR" dirty="0"/>
              <a:t>STDIN = 0, STDOUT = 1</a:t>
            </a:r>
          </a:p>
          <a:p>
            <a:pPr marL="800100" lvl="1" indent="-342900">
              <a:lnSpc>
                <a:spcPct val="120000"/>
              </a:lnSpc>
              <a:buFont typeface="+mj-lt"/>
              <a:buAutoNum type="arabicParenR"/>
            </a:pPr>
            <a:r>
              <a:rPr lang="en-US" altLang="ko-KR" dirty="0"/>
              <a:t>Use the following function to implement read(0)</a:t>
            </a:r>
          </a:p>
          <a:p>
            <a:pPr lvl="2">
              <a:lnSpc>
                <a:spcPct val="120000"/>
              </a:lnSpc>
              <a:buFont typeface="Wingdings" pitchFamily="2" charset="2"/>
              <a:buChar char="ü"/>
            </a:pPr>
            <a:r>
              <a:rPr lang="en-US" altLang="ko-KR" dirty="0"/>
              <a:t>pintos/</a:t>
            </a:r>
            <a:r>
              <a:rPr lang="en-US" altLang="ko-KR" dirty="0" err="1"/>
              <a:t>src</a:t>
            </a:r>
            <a:r>
              <a:rPr lang="en-US" altLang="ko-KR" dirty="0"/>
              <a:t>/devices/</a:t>
            </a:r>
            <a:r>
              <a:rPr lang="en-US" altLang="ko-KR" dirty="0" err="1"/>
              <a:t>input.c</a:t>
            </a:r>
            <a:r>
              <a:rPr lang="en-US" altLang="ko-KR" dirty="0"/>
              <a:t>: uint8_t </a:t>
            </a:r>
            <a:r>
              <a:rPr lang="en-US" altLang="ko-KR" b="1" dirty="0" err="1">
                <a:solidFill>
                  <a:schemeClr val="accent2"/>
                </a:solidFill>
              </a:rPr>
              <a:t>input_getc</a:t>
            </a:r>
            <a:r>
              <a:rPr lang="en-US" altLang="ko-KR" dirty="0"/>
              <a:t>(void)</a:t>
            </a:r>
          </a:p>
          <a:p>
            <a:pPr marL="800100" lvl="1" indent="-342900">
              <a:lnSpc>
                <a:spcPct val="120000"/>
              </a:lnSpc>
              <a:buFont typeface="+mj-lt"/>
              <a:buAutoNum type="arabicParenR"/>
            </a:pPr>
            <a:r>
              <a:rPr lang="en-US" altLang="ko-KR" dirty="0"/>
              <a:t>Use the following function to implement write(1)</a:t>
            </a:r>
          </a:p>
          <a:p>
            <a:pPr lvl="2">
              <a:lnSpc>
                <a:spcPct val="120000"/>
              </a:lnSpc>
              <a:buFont typeface="Wingdings" pitchFamily="2" charset="2"/>
              <a:buChar char="ü"/>
            </a:pPr>
            <a:r>
              <a:rPr lang="en-US" altLang="ko-KR" dirty="0"/>
              <a:t>pintos/</a:t>
            </a:r>
            <a:r>
              <a:rPr lang="en-US" altLang="ko-KR" dirty="0" err="1"/>
              <a:t>src</a:t>
            </a:r>
            <a:r>
              <a:rPr lang="en-US" altLang="ko-KR" dirty="0"/>
              <a:t>/lib/kernel/</a:t>
            </a:r>
            <a:r>
              <a:rPr lang="en-US" altLang="ko-KR" dirty="0" err="1"/>
              <a:t>console.c</a:t>
            </a:r>
            <a:r>
              <a:rPr lang="en-US" altLang="ko-KR" dirty="0"/>
              <a:t>: void </a:t>
            </a:r>
            <a:r>
              <a:rPr lang="en-US" altLang="ko-KR" b="1" dirty="0" err="1">
                <a:solidFill>
                  <a:schemeClr val="accent2"/>
                </a:solidFill>
              </a:rPr>
              <a:t>putbuf</a:t>
            </a:r>
            <a:r>
              <a:rPr lang="en-US" altLang="ko-KR" dirty="0"/>
              <a:t>(…)</a:t>
            </a: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C52511EA-CA10-564B-B1D8-4B576E3021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2656" y="5991138"/>
            <a:ext cx="446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A305A6-A07C-784C-BBE4-67C27A551CE4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20853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System Calls: Code Level Flow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en-US" altLang="ko-KR" dirty="0"/>
              <a:t>Start from </a:t>
            </a:r>
            <a:r>
              <a:rPr lang="en-US" altLang="ko-KR" b="1" dirty="0">
                <a:solidFill>
                  <a:srgbClr val="1065E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main() </a:t>
            </a:r>
            <a:r>
              <a:rPr lang="en-US" altLang="ko-KR" dirty="0"/>
              <a:t>in threads/</a:t>
            </a:r>
            <a:r>
              <a:rPr lang="en-US" altLang="ko-KR" dirty="0" err="1"/>
              <a:t>init.c</a:t>
            </a:r>
            <a:endParaRPr lang="en-US" altLang="ko-KR" dirty="0"/>
          </a:p>
          <a:p>
            <a:pPr>
              <a:lnSpc>
                <a:spcPct val="120000"/>
              </a:lnSpc>
            </a:pPr>
            <a:r>
              <a:rPr lang="en-US" altLang="ko-KR" b="1" dirty="0" err="1">
                <a:solidFill>
                  <a:srgbClr val="1065E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run_actions</a:t>
            </a:r>
            <a:r>
              <a:rPr lang="en-US" altLang="ko-KR" b="1" dirty="0">
                <a:solidFill>
                  <a:srgbClr val="1065E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(</a:t>
            </a:r>
            <a:r>
              <a:rPr lang="en-US" altLang="ko-KR" b="1" dirty="0" err="1">
                <a:solidFill>
                  <a:srgbClr val="1065E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argv</a:t>
            </a:r>
            <a:r>
              <a:rPr lang="en-US" altLang="ko-KR" b="1" dirty="0">
                <a:solidFill>
                  <a:srgbClr val="1065E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); </a:t>
            </a:r>
            <a:r>
              <a:rPr lang="en-US" altLang="ko-KR" dirty="0"/>
              <a:t>will be invoked.</a:t>
            </a: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C52511EA-CA10-564B-B1D8-4B576E3021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2656" y="5991138"/>
            <a:ext cx="446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A305A6-A07C-784C-BBE4-67C27A551CE4}" type="slidenum">
              <a:rPr lang="en-US" smtClean="0"/>
              <a:t>46</a:t>
            </a:fld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BD63446-8D80-1C4B-B9E0-B061F6E8D288}"/>
              </a:ext>
            </a:extLst>
          </p:cNvPr>
          <p:cNvGrpSpPr/>
          <p:nvPr/>
        </p:nvGrpSpPr>
        <p:grpSpPr>
          <a:xfrm>
            <a:off x="2021536" y="2251365"/>
            <a:ext cx="2119143" cy="1318398"/>
            <a:chOff x="3729566" y="2109234"/>
            <a:chExt cx="3327400" cy="2070100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B418CE18-0923-E34B-BBC5-D361CA75FD6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729566" y="2109234"/>
              <a:ext cx="3327400" cy="2070100"/>
            </a:xfrm>
            <a:prstGeom prst="rect">
              <a:avLst/>
            </a:prstGeom>
          </p:spPr>
        </p:pic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25FFE244-464D-1A4B-B469-EF67B70CCCE4}"/>
                </a:ext>
              </a:extLst>
            </p:cNvPr>
            <p:cNvCxnSpPr>
              <a:cxnSpLocks/>
            </p:cNvCxnSpPr>
            <p:nvPr/>
          </p:nvCxnSpPr>
          <p:spPr>
            <a:xfrm>
              <a:off x="3917948" y="2895599"/>
              <a:ext cx="2950635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D49B20F0-235C-EB4C-A63A-7AD1FE891530}"/>
              </a:ext>
            </a:extLst>
          </p:cNvPr>
          <p:cNvSpPr txBox="1"/>
          <p:nvPr/>
        </p:nvSpPr>
        <p:spPr>
          <a:xfrm>
            <a:off x="571500" y="6372225"/>
            <a:ext cx="13795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* threads/</a:t>
            </a:r>
            <a:r>
              <a:rPr lang="en-US" sz="1400" dirty="0" err="1"/>
              <a:t>init.c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523051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System Calls: Code Level Flow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en-US" altLang="ko-KR" dirty="0"/>
              <a:t>Focus on {"run", 2, </a:t>
            </a:r>
            <a:r>
              <a:rPr lang="en-US" altLang="ko-KR" dirty="0" err="1"/>
              <a:t>run_task</a:t>
            </a:r>
            <a:r>
              <a:rPr lang="en-US" altLang="ko-KR" dirty="0"/>
              <a:t>}</a:t>
            </a:r>
          </a:p>
          <a:p>
            <a:pPr>
              <a:lnSpc>
                <a:spcPct val="120000"/>
              </a:lnSpc>
            </a:pPr>
            <a:r>
              <a:rPr lang="en-US" altLang="ko-KR" b="1" dirty="0">
                <a:solidFill>
                  <a:srgbClr val="1065E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a-&gt;function (</a:t>
            </a:r>
            <a:r>
              <a:rPr lang="en-US" altLang="ko-KR" b="1" dirty="0" err="1">
                <a:solidFill>
                  <a:srgbClr val="1065E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argv</a:t>
            </a:r>
            <a:r>
              <a:rPr lang="en-US" altLang="ko-KR" b="1" dirty="0">
                <a:solidFill>
                  <a:srgbClr val="1065E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); </a:t>
            </a:r>
            <a:r>
              <a:rPr lang="en-US" altLang="ko-KR" dirty="0"/>
              <a:t>invokes </a:t>
            </a:r>
            <a:r>
              <a:rPr lang="en-US" altLang="ko-KR" b="1" dirty="0" err="1">
                <a:solidFill>
                  <a:srgbClr val="1065E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run_task</a:t>
            </a:r>
            <a:r>
              <a:rPr lang="en-US" altLang="ko-KR" b="1" dirty="0">
                <a:solidFill>
                  <a:srgbClr val="1065E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()</a:t>
            </a:r>
            <a:r>
              <a:rPr lang="en-US" altLang="ko-KR" dirty="0"/>
              <a:t>.</a:t>
            </a:r>
            <a:endParaRPr lang="en-US" altLang="ko-KR" b="1" dirty="0">
              <a:solidFill>
                <a:srgbClr val="1065E7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C52511EA-CA10-564B-B1D8-4B576E3021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2656" y="5991138"/>
            <a:ext cx="446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A305A6-A07C-784C-BBE4-67C27A551CE4}" type="slidenum">
              <a:rPr lang="en-US" smtClean="0"/>
              <a:t>47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0FC4DBE-960D-AD47-BAD4-09854F6DD8D0}"/>
              </a:ext>
            </a:extLst>
          </p:cNvPr>
          <p:cNvGrpSpPr/>
          <p:nvPr/>
        </p:nvGrpSpPr>
        <p:grpSpPr>
          <a:xfrm>
            <a:off x="6366934" y="2008100"/>
            <a:ext cx="3711847" cy="4165600"/>
            <a:chOff x="6366934" y="2008100"/>
            <a:chExt cx="3711847" cy="4165600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DCA9C78-38D5-0947-87A8-3DE5289761A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366934" y="2008100"/>
              <a:ext cx="3711847" cy="4165600"/>
            </a:xfrm>
            <a:prstGeom prst="rect">
              <a:avLst/>
            </a:prstGeom>
          </p:spPr>
        </p:pic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4EB0244-E388-2B4F-9046-BD3B71016A66}"/>
                </a:ext>
              </a:extLst>
            </p:cNvPr>
            <p:cNvCxnSpPr>
              <a:cxnSpLocks/>
            </p:cNvCxnSpPr>
            <p:nvPr/>
          </p:nvCxnSpPr>
          <p:spPr>
            <a:xfrm>
              <a:off x="6796616" y="5745480"/>
              <a:ext cx="1720852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710AB6BB-36F9-3445-9111-1418CC6A56A1}"/>
              </a:ext>
            </a:extLst>
          </p:cNvPr>
          <p:cNvGrpSpPr/>
          <p:nvPr/>
        </p:nvGrpSpPr>
        <p:grpSpPr>
          <a:xfrm>
            <a:off x="1421033" y="2208530"/>
            <a:ext cx="3962026" cy="3536950"/>
            <a:chOff x="1421033" y="2208530"/>
            <a:chExt cx="3962026" cy="353695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07192CFE-7641-7C4A-8913-2E9292EE9C1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21033" y="2208530"/>
              <a:ext cx="3962026" cy="3536950"/>
            </a:xfrm>
            <a:prstGeom prst="rect">
              <a:avLst/>
            </a:prstGeom>
          </p:spPr>
        </p:pic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E5088AC6-C53B-6F4D-8F62-C44CC629A844}"/>
                </a:ext>
              </a:extLst>
            </p:cNvPr>
            <p:cNvCxnSpPr>
              <a:cxnSpLocks/>
            </p:cNvCxnSpPr>
            <p:nvPr/>
          </p:nvCxnSpPr>
          <p:spPr>
            <a:xfrm>
              <a:off x="2072215" y="5312866"/>
              <a:ext cx="2194985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1924A3C-8934-E74F-858A-8D34ECC05BC8}"/>
                </a:ext>
              </a:extLst>
            </p:cNvPr>
            <p:cNvCxnSpPr>
              <a:cxnSpLocks/>
            </p:cNvCxnSpPr>
            <p:nvPr/>
          </p:nvCxnSpPr>
          <p:spPr>
            <a:xfrm>
              <a:off x="1421033" y="2601297"/>
              <a:ext cx="1218650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EE9D9EED-1387-0D41-A09F-958FFE44F37F}"/>
              </a:ext>
            </a:extLst>
          </p:cNvPr>
          <p:cNvSpPr txBox="1"/>
          <p:nvPr/>
        </p:nvSpPr>
        <p:spPr>
          <a:xfrm>
            <a:off x="571500" y="6372225"/>
            <a:ext cx="13795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* threads/</a:t>
            </a:r>
            <a:r>
              <a:rPr lang="en-US" sz="1400" dirty="0" err="1"/>
              <a:t>init.c</a:t>
            </a:r>
            <a:endParaRPr lang="en-US" sz="1400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7DA9974-BD79-9046-882F-979C34585C5C}"/>
              </a:ext>
            </a:extLst>
          </p:cNvPr>
          <p:cNvSpPr/>
          <p:nvPr/>
        </p:nvSpPr>
        <p:spPr>
          <a:xfrm>
            <a:off x="3048000" y="5080000"/>
            <a:ext cx="924560" cy="314960"/>
          </a:xfrm>
          <a:prstGeom prst="ellipse">
            <a:avLst/>
          </a:prstGeom>
          <a:noFill/>
          <a:ln w="38100">
            <a:solidFill>
              <a:srgbClr val="1065E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5ADB2A2-3BC0-FE48-AB83-A53826C8C103}"/>
              </a:ext>
            </a:extLst>
          </p:cNvPr>
          <p:cNvSpPr/>
          <p:nvPr/>
        </p:nvSpPr>
        <p:spPr>
          <a:xfrm>
            <a:off x="6959600" y="5471160"/>
            <a:ext cx="924560" cy="314960"/>
          </a:xfrm>
          <a:prstGeom prst="ellipse">
            <a:avLst/>
          </a:prstGeom>
          <a:noFill/>
          <a:ln w="38100">
            <a:solidFill>
              <a:srgbClr val="1065E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C4688E6-0F29-BC48-876A-BE255F3FE4A5}"/>
              </a:ext>
            </a:extLst>
          </p:cNvPr>
          <p:cNvSpPr/>
          <p:nvPr/>
        </p:nvSpPr>
        <p:spPr>
          <a:xfrm>
            <a:off x="2449110" y="3803066"/>
            <a:ext cx="1218650" cy="332053"/>
          </a:xfrm>
          <a:prstGeom prst="ellipse">
            <a:avLst/>
          </a:prstGeom>
          <a:noFill/>
          <a:ln w="38100">
            <a:solidFill>
              <a:srgbClr val="1065E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18294737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System Calls: Code Level Flow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112520"/>
            <a:ext cx="10515600" cy="365125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altLang="ko-KR" b="1" dirty="0" err="1">
                <a:solidFill>
                  <a:srgbClr val="1065E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run_task</a:t>
            </a:r>
            <a:r>
              <a:rPr lang="en-US" altLang="ko-KR" b="1" dirty="0">
                <a:solidFill>
                  <a:srgbClr val="1065E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() </a:t>
            </a:r>
            <a:r>
              <a:rPr lang="en-US" altLang="ko-KR" dirty="0"/>
              <a:t>invokes </a:t>
            </a:r>
            <a:r>
              <a:rPr lang="en-US" altLang="ko-KR" b="1" dirty="0" err="1">
                <a:solidFill>
                  <a:srgbClr val="1065E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process_execute</a:t>
            </a:r>
            <a:r>
              <a:rPr lang="en-US" altLang="ko-KR" b="1" dirty="0">
                <a:solidFill>
                  <a:srgbClr val="1065E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()</a:t>
            </a:r>
            <a:r>
              <a:rPr lang="en-US" altLang="ko-KR" dirty="0"/>
              <a:t>.</a:t>
            </a:r>
            <a:endParaRPr lang="en-US" altLang="ko-KR" b="1" dirty="0">
              <a:solidFill>
                <a:srgbClr val="1065E7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C52511EA-CA10-564B-B1D8-4B576E3021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A305A6-A07C-784C-BBE4-67C27A551CE4}" type="slidenum">
              <a:rPr lang="en-US" smtClean="0"/>
              <a:pPr/>
              <a:t>48</a:t>
            </a:fld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4D1AD6A-FC91-6B44-8A4E-1673D815430D}"/>
              </a:ext>
            </a:extLst>
          </p:cNvPr>
          <p:cNvGrpSpPr/>
          <p:nvPr/>
        </p:nvGrpSpPr>
        <p:grpSpPr>
          <a:xfrm>
            <a:off x="1465264" y="2265878"/>
            <a:ext cx="5625201" cy="3479602"/>
            <a:chOff x="3000766" y="2265878"/>
            <a:chExt cx="5625201" cy="3479602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775B3014-DF7C-0149-BE1A-4E4CD185C41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00766" y="2265878"/>
              <a:ext cx="5625201" cy="3479602"/>
            </a:xfrm>
            <a:prstGeom prst="rect">
              <a:avLst/>
            </a:prstGeom>
          </p:spPr>
        </p:pic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25FFE244-464D-1A4B-B469-EF67B70CCCE4}"/>
                </a:ext>
              </a:extLst>
            </p:cNvPr>
            <p:cNvCxnSpPr/>
            <p:nvPr/>
          </p:nvCxnSpPr>
          <p:spPr>
            <a:xfrm>
              <a:off x="3200400" y="4470399"/>
              <a:ext cx="4385733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95D3A991-E9D7-2E47-A626-8D318E00EDE8}"/>
                </a:ext>
              </a:extLst>
            </p:cNvPr>
            <p:cNvCxnSpPr>
              <a:cxnSpLocks/>
            </p:cNvCxnSpPr>
            <p:nvPr/>
          </p:nvCxnSpPr>
          <p:spPr>
            <a:xfrm>
              <a:off x="3000766" y="2998112"/>
              <a:ext cx="984638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5E147942-1E28-8446-977E-4BA06AE4B6F2}"/>
              </a:ext>
            </a:extLst>
          </p:cNvPr>
          <p:cNvSpPr txBox="1"/>
          <p:nvPr/>
        </p:nvSpPr>
        <p:spPr>
          <a:xfrm>
            <a:off x="7290099" y="4005679"/>
            <a:ext cx="410567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does 'task' contain?</a:t>
            </a:r>
          </a:p>
          <a:p>
            <a:r>
              <a:rPr lang="en-US" dirty="0"/>
              <a:t>Does it contain only file name?</a:t>
            </a:r>
          </a:p>
          <a:p>
            <a:r>
              <a:rPr lang="en-US" dirty="0"/>
              <a:t>Refer to </a:t>
            </a:r>
            <a:r>
              <a:rPr lang="en-US" dirty="0" err="1"/>
              <a:t>printf</a:t>
            </a:r>
            <a:r>
              <a:rPr lang="en-US" dirty="0"/>
              <a:t> statement</a:t>
            </a:r>
          </a:p>
          <a:p>
            <a:r>
              <a:rPr lang="en-US" b="1" dirty="0" err="1">
                <a:solidFill>
                  <a:srgbClr val="1065E7"/>
                </a:solidFill>
              </a:rPr>
              <a:t>strtok_r</a:t>
            </a:r>
            <a:r>
              <a:rPr lang="en-US" b="1" dirty="0">
                <a:solidFill>
                  <a:srgbClr val="1065E7"/>
                </a:solidFill>
              </a:rPr>
              <a:t>() </a:t>
            </a:r>
            <a:r>
              <a:rPr lang="en-US" dirty="0"/>
              <a:t>in lib/</a:t>
            </a:r>
            <a:r>
              <a:rPr lang="en-US" dirty="0" err="1"/>
              <a:t>string.c</a:t>
            </a:r>
            <a:r>
              <a:rPr lang="en-US" dirty="0"/>
              <a:t> will help you.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0C49B5-1CFE-9349-9FA4-E00FCCBAE4E0}"/>
              </a:ext>
            </a:extLst>
          </p:cNvPr>
          <p:cNvSpPr txBox="1"/>
          <p:nvPr/>
        </p:nvSpPr>
        <p:spPr>
          <a:xfrm>
            <a:off x="571500" y="6372225"/>
            <a:ext cx="13795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* threads/</a:t>
            </a:r>
            <a:r>
              <a:rPr lang="en-US" sz="1400" dirty="0" err="1"/>
              <a:t>init.c</a:t>
            </a:r>
            <a:endParaRPr lang="en-US" sz="1400" dirty="0"/>
          </a:p>
        </p:txBody>
      </p: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75953C7E-EB04-014B-95A2-0557268901C0}"/>
              </a:ext>
            </a:extLst>
          </p:cNvPr>
          <p:cNvCxnSpPr/>
          <p:nvPr/>
        </p:nvCxnSpPr>
        <p:spPr>
          <a:xfrm>
            <a:off x="5689600" y="3870960"/>
            <a:ext cx="1656080" cy="873760"/>
          </a:xfrm>
          <a:prstGeom prst="bentConnector3">
            <a:avLst/>
          </a:prstGeom>
          <a:ln w="28575">
            <a:headEnd type="triangl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610029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System Calls: Code Level Flow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112520"/>
            <a:ext cx="10515600" cy="306705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altLang="ko-KR" b="1" dirty="0" err="1">
                <a:solidFill>
                  <a:srgbClr val="1065E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thread_create</a:t>
            </a:r>
            <a:r>
              <a:rPr lang="en-US" altLang="ko-KR" b="1" dirty="0">
                <a:solidFill>
                  <a:srgbClr val="1065E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() </a:t>
            </a:r>
            <a:r>
              <a:rPr lang="en-US" altLang="ko-KR" dirty="0"/>
              <a:t>will enroll user program name.</a:t>
            </a:r>
          </a:p>
          <a:p>
            <a:pPr>
              <a:lnSpc>
                <a:spcPct val="120000"/>
              </a:lnSpc>
            </a:pPr>
            <a:r>
              <a:rPr lang="en-US" altLang="ko-KR" dirty="0"/>
              <a:t>And, it also enrolls function, </a:t>
            </a:r>
            <a:r>
              <a:rPr lang="en-US" altLang="ko-KR" b="1" dirty="0" err="1">
                <a:solidFill>
                  <a:srgbClr val="1065E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start_process</a:t>
            </a:r>
            <a:r>
              <a:rPr lang="en-US" altLang="ko-KR" b="1" dirty="0">
                <a:solidFill>
                  <a:srgbClr val="1065E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()</a:t>
            </a:r>
            <a:r>
              <a:rPr lang="en-US" altLang="ko-KR" dirty="0"/>
              <a:t>, which will launch user program.</a:t>
            </a: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C52511EA-CA10-564B-B1D8-4B576E3021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2656" y="5991138"/>
            <a:ext cx="446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A305A6-A07C-784C-BBE4-67C27A551CE4}" type="slidenum">
              <a:rPr lang="en-US" smtClean="0"/>
              <a:t>49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A5B0CEC-F8BD-3C46-BC08-099CEDB98BFE}"/>
              </a:ext>
            </a:extLst>
          </p:cNvPr>
          <p:cNvGrpSpPr/>
          <p:nvPr/>
        </p:nvGrpSpPr>
        <p:grpSpPr>
          <a:xfrm>
            <a:off x="2279822" y="2043052"/>
            <a:ext cx="7067089" cy="4130648"/>
            <a:chOff x="2279822" y="2043052"/>
            <a:chExt cx="7067089" cy="4130648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C259467D-3875-8D40-8D71-8BC4E27877B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79822" y="2043052"/>
              <a:ext cx="7067089" cy="4130648"/>
            </a:xfrm>
            <a:prstGeom prst="rect">
              <a:avLst/>
            </a:prstGeom>
          </p:spPr>
        </p:pic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AF31900-A074-0249-B137-6B55D868964D}"/>
                </a:ext>
              </a:extLst>
            </p:cNvPr>
            <p:cNvCxnSpPr>
              <a:cxnSpLocks/>
            </p:cNvCxnSpPr>
            <p:nvPr/>
          </p:nvCxnSpPr>
          <p:spPr>
            <a:xfrm>
              <a:off x="3061675" y="5251330"/>
              <a:ext cx="6285236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2061407-AB23-8E49-B7CB-A61A8D3FA3B1}"/>
                </a:ext>
              </a:extLst>
            </p:cNvPr>
            <p:cNvCxnSpPr>
              <a:cxnSpLocks/>
            </p:cNvCxnSpPr>
            <p:nvPr/>
          </p:nvCxnSpPr>
          <p:spPr>
            <a:xfrm>
              <a:off x="2279822" y="2480527"/>
              <a:ext cx="1602065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35808182-DA3F-C446-88EF-05E72465B2B0}"/>
              </a:ext>
            </a:extLst>
          </p:cNvPr>
          <p:cNvSpPr txBox="1"/>
          <p:nvPr/>
        </p:nvSpPr>
        <p:spPr>
          <a:xfrm>
            <a:off x="571500" y="6372225"/>
            <a:ext cx="18610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* </a:t>
            </a:r>
            <a:r>
              <a:rPr lang="en-US" sz="1400" dirty="0" err="1"/>
              <a:t>userprog</a:t>
            </a:r>
            <a:r>
              <a:rPr lang="en-US" sz="1400" dirty="0"/>
              <a:t>/</a:t>
            </a:r>
            <a:r>
              <a:rPr lang="en-US" sz="1400" dirty="0" err="1"/>
              <a:t>process.c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1668692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System Calls: Code Level Flow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en-US" altLang="ko-KR" dirty="0"/>
              <a:t>When process scheduling is invoked, the child process (user program) will be executed by wrapper function of </a:t>
            </a:r>
            <a:r>
              <a:rPr lang="en-US" altLang="ko-KR" b="1" dirty="0">
                <a:solidFill>
                  <a:srgbClr val="1065E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_start() </a:t>
            </a:r>
            <a:r>
              <a:rPr lang="en-US" altLang="ko-KR" dirty="0"/>
              <a:t>in lib/user/</a:t>
            </a:r>
            <a:r>
              <a:rPr lang="en-US" altLang="ko-KR" dirty="0" err="1"/>
              <a:t>entry.c</a:t>
            </a:r>
            <a:r>
              <a:rPr lang="en-US" altLang="ko-KR" dirty="0"/>
              <a:t>.</a:t>
            </a: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C52511EA-CA10-564B-B1D8-4B576E3021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2656" y="5991138"/>
            <a:ext cx="446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A305A6-A07C-784C-BBE4-67C27A551CE4}" type="slidenum">
              <a:rPr lang="en-US" smtClean="0"/>
              <a:t>50</a:t>
            </a:fld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FA86BDC-EE84-3647-817E-AFE2DE7DF85F}"/>
              </a:ext>
            </a:extLst>
          </p:cNvPr>
          <p:cNvGrpSpPr/>
          <p:nvPr/>
        </p:nvGrpSpPr>
        <p:grpSpPr>
          <a:xfrm>
            <a:off x="3609774" y="2315477"/>
            <a:ext cx="4344819" cy="1598353"/>
            <a:chOff x="3362267" y="2152433"/>
            <a:chExt cx="4902200" cy="1803400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C37E6A55-1A24-4941-AFF9-475AA85306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62267" y="2152433"/>
              <a:ext cx="4902200" cy="1803400"/>
            </a:xfrm>
            <a:prstGeom prst="rect">
              <a:avLst/>
            </a:prstGeom>
          </p:spPr>
        </p:pic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1BAC15EC-D5FA-C749-8E00-0278DEFEBEA3}"/>
                </a:ext>
              </a:extLst>
            </p:cNvPr>
            <p:cNvCxnSpPr>
              <a:cxnSpLocks/>
            </p:cNvCxnSpPr>
            <p:nvPr/>
          </p:nvCxnSpPr>
          <p:spPr>
            <a:xfrm>
              <a:off x="3362267" y="2825584"/>
              <a:ext cx="1054458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D5C56ADC-699E-DC4E-B35D-D3170CCCF3E3}"/>
              </a:ext>
            </a:extLst>
          </p:cNvPr>
          <p:cNvSpPr txBox="1"/>
          <p:nvPr/>
        </p:nvSpPr>
        <p:spPr>
          <a:xfrm>
            <a:off x="571500" y="6372225"/>
            <a:ext cx="15414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* lib/user/</a:t>
            </a:r>
            <a:r>
              <a:rPr lang="en-US" sz="1400" dirty="0" err="1"/>
              <a:t>entry.c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9419025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System Calls: Code Level Flow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112520"/>
            <a:ext cx="10515600" cy="482773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altLang="ko-KR" dirty="0"/>
              <a:t>When ELF executable (user program) is finished, </a:t>
            </a:r>
            <a:r>
              <a:rPr lang="en-US" altLang="ko-KR" b="1" dirty="0">
                <a:solidFill>
                  <a:srgbClr val="1065E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exit() </a:t>
            </a:r>
            <a:r>
              <a:rPr lang="en-US" altLang="ko-KR" dirty="0"/>
              <a:t>system call is called.</a:t>
            </a:r>
          </a:p>
          <a:p>
            <a:pPr>
              <a:lnSpc>
                <a:spcPct val="120000"/>
              </a:lnSpc>
            </a:pPr>
            <a:r>
              <a:rPr lang="en-US" altLang="ko-KR" dirty="0"/>
              <a:t>After </a:t>
            </a:r>
            <a:r>
              <a:rPr lang="en-US" altLang="ko-KR" b="1" dirty="0">
                <a:solidFill>
                  <a:srgbClr val="1065E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exit() </a:t>
            </a:r>
            <a:r>
              <a:rPr lang="en-US" altLang="ko-KR" dirty="0"/>
              <a:t>system call, it returns to </a:t>
            </a:r>
            <a:r>
              <a:rPr lang="en-US" altLang="ko-KR" b="1" dirty="0" err="1">
                <a:solidFill>
                  <a:srgbClr val="1065E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process_wait</a:t>
            </a:r>
            <a:r>
              <a:rPr lang="en-US" altLang="ko-KR" b="1" dirty="0">
                <a:solidFill>
                  <a:srgbClr val="1065E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()</a:t>
            </a:r>
            <a:r>
              <a:rPr lang="en-US" altLang="ko-KR" dirty="0"/>
              <a:t>.</a:t>
            </a:r>
            <a:endParaRPr lang="en-US" altLang="ko-KR" b="1" dirty="0">
              <a:solidFill>
                <a:srgbClr val="1065E7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C52511EA-CA10-564B-B1D8-4B576E3021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2656" y="5991138"/>
            <a:ext cx="446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A305A6-A07C-784C-BBE4-67C27A551CE4}" type="slidenum">
              <a:rPr lang="en-US" smtClean="0"/>
              <a:t>51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C613530-59F1-4844-B6A7-EAC194C9294A}"/>
              </a:ext>
            </a:extLst>
          </p:cNvPr>
          <p:cNvSpPr txBox="1"/>
          <p:nvPr/>
        </p:nvSpPr>
        <p:spPr>
          <a:xfrm>
            <a:off x="571500" y="6372225"/>
            <a:ext cx="15414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* lib/user/</a:t>
            </a:r>
            <a:r>
              <a:rPr lang="en-US" sz="1400" dirty="0" err="1"/>
              <a:t>entry.c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47584660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System Calls: Code Level Flow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112520"/>
            <a:ext cx="10515600" cy="365125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altLang="ko-KR" dirty="0"/>
              <a:t>Parent process which ran </a:t>
            </a:r>
            <a:r>
              <a:rPr lang="en-US" altLang="ko-KR" b="1" dirty="0" err="1">
                <a:solidFill>
                  <a:srgbClr val="1065E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process_execute</a:t>
            </a:r>
            <a:r>
              <a:rPr lang="en-US" altLang="ko-KR" b="1" dirty="0">
                <a:solidFill>
                  <a:srgbClr val="1065E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() </a:t>
            </a:r>
            <a:r>
              <a:rPr lang="en-US" altLang="ko-KR" dirty="0"/>
              <a:t>should be waiting in </a:t>
            </a:r>
            <a:r>
              <a:rPr lang="en-US" altLang="ko-KR" b="1" dirty="0" err="1">
                <a:solidFill>
                  <a:srgbClr val="1065E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process_wait</a:t>
            </a:r>
            <a:r>
              <a:rPr lang="en-US" altLang="ko-KR" b="1" dirty="0">
                <a:solidFill>
                  <a:srgbClr val="1065E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()</a:t>
            </a:r>
            <a:r>
              <a:rPr lang="en-US" altLang="ko-KR" dirty="0"/>
              <a:t> until the child process is finished.</a:t>
            </a:r>
            <a:endParaRPr lang="en-US" altLang="ko-KR" b="1" dirty="0">
              <a:solidFill>
                <a:srgbClr val="1065E7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C52511EA-CA10-564B-B1D8-4B576E3021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A305A6-A07C-784C-BBE4-67C27A551CE4}" type="slidenum">
              <a:rPr lang="en-US" smtClean="0"/>
              <a:pPr/>
              <a:t>52</a:t>
            </a:fld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A3717BE-63F2-C647-8829-01DAA3E42E4A}"/>
              </a:ext>
            </a:extLst>
          </p:cNvPr>
          <p:cNvGrpSpPr/>
          <p:nvPr/>
        </p:nvGrpSpPr>
        <p:grpSpPr>
          <a:xfrm>
            <a:off x="3000766" y="2265878"/>
            <a:ext cx="5625201" cy="3479602"/>
            <a:chOff x="3000766" y="2265878"/>
            <a:chExt cx="5625201" cy="3479602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775B3014-DF7C-0149-BE1A-4E4CD185C41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00766" y="2265878"/>
              <a:ext cx="5625201" cy="3479602"/>
            </a:xfrm>
            <a:prstGeom prst="rect">
              <a:avLst/>
            </a:prstGeom>
          </p:spPr>
        </p:pic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25FFE244-464D-1A4B-B469-EF67B70CCCE4}"/>
                </a:ext>
              </a:extLst>
            </p:cNvPr>
            <p:cNvCxnSpPr/>
            <p:nvPr/>
          </p:nvCxnSpPr>
          <p:spPr>
            <a:xfrm>
              <a:off x="3200400" y="4470399"/>
              <a:ext cx="4385733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99DCD59-8AD0-024F-BC94-A03901C3867C}"/>
                </a:ext>
              </a:extLst>
            </p:cNvPr>
            <p:cNvCxnSpPr>
              <a:cxnSpLocks/>
            </p:cNvCxnSpPr>
            <p:nvPr/>
          </p:nvCxnSpPr>
          <p:spPr>
            <a:xfrm>
              <a:off x="3000766" y="2998112"/>
              <a:ext cx="984638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DC2047E9-78A4-B246-91DA-EAF6E7CF5105}"/>
              </a:ext>
            </a:extLst>
          </p:cNvPr>
          <p:cNvSpPr txBox="1"/>
          <p:nvPr/>
        </p:nvSpPr>
        <p:spPr>
          <a:xfrm>
            <a:off x="571500" y="6372225"/>
            <a:ext cx="13795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* threads/</a:t>
            </a:r>
            <a:r>
              <a:rPr lang="en-US" sz="1400" dirty="0" err="1"/>
              <a:t>init.c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08863048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System Calls: Source Codes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112520"/>
            <a:ext cx="10670770" cy="482773"/>
          </a:xfrm>
        </p:spPr>
        <p:txBody>
          <a:bodyPr/>
          <a:lstStyle/>
          <a:p>
            <a:pPr marL="457200" indent="-457200">
              <a:lnSpc>
                <a:spcPct val="110000"/>
              </a:lnSpc>
              <a:buFont typeface="+mj-lt"/>
              <a:buAutoNum type="arabicPeriod"/>
            </a:pPr>
            <a:r>
              <a:rPr lang="en-US" dirty="0"/>
              <a:t>lib/user/</a:t>
            </a:r>
            <a:r>
              <a:rPr lang="en-US" dirty="0" err="1"/>
              <a:t>syscall.h</a:t>
            </a:r>
            <a:r>
              <a:rPr lang="en-US" dirty="0"/>
              <a:t> and lib/user/</a:t>
            </a:r>
            <a:r>
              <a:rPr lang="en-US" dirty="0" err="1"/>
              <a:t>syscall.c</a:t>
            </a:r>
            <a:endParaRPr lang="en-US" dirty="0"/>
          </a:p>
          <a:p>
            <a:pPr lvl="1">
              <a:lnSpc>
                <a:spcPct val="110000"/>
              </a:lnSpc>
            </a:pPr>
            <a:r>
              <a:rPr lang="en-US" u="sng" dirty="0"/>
              <a:t>APIs</a:t>
            </a:r>
            <a:r>
              <a:rPr lang="en-US" dirty="0"/>
              <a:t> for system calls are already given in Pintos code.</a:t>
            </a:r>
          </a:p>
          <a:p>
            <a:pPr lvl="1">
              <a:lnSpc>
                <a:spcPct val="110000"/>
              </a:lnSpc>
            </a:pPr>
            <a:r>
              <a:rPr lang="en-US" b="1" dirty="0">
                <a:solidFill>
                  <a:srgbClr val="1065E7"/>
                </a:solidFill>
              </a:rPr>
              <a:t>You don't have to add something for system call </a:t>
            </a:r>
            <a:r>
              <a:rPr lang="en-US" b="1" u="sng" dirty="0">
                <a:solidFill>
                  <a:srgbClr val="1065E7"/>
                </a:solidFill>
              </a:rPr>
              <a:t>APIs</a:t>
            </a:r>
            <a:r>
              <a:rPr lang="en-US" dirty="0"/>
              <a:t>.</a:t>
            </a:r>
            <a:endParaRPr lang="en-US" b="1" dirty="0">
              <a:solidFill>
                <a:srgbClr val="1065E7"/>
              </a:solidFill>
            </a:endParaRPr>
          </a:p>
          <a:p>
            <a:pPr marL="457200" indent="-457200">
              <a:lnSpc>
                <a:spcPct val="110000"/>
              </a:lnSpc>
              <a:buFont typeface="+mj-lt"/>
              <a:buAutoNum type="arabicPeriod"/>
            </a:pPr>
            <a:r>
              <a:rPr lang="en-US" dirty="0" err="1"/>
              <a:t>userprog</a:t>
            </a:r>
            <a:r>
              <a:rPr lang="en-US" dirty="0"/>
              <a:t>/</a:t>
            </a:r>
            <a:r>
              <a:rPr lang="en-US" dirty="0" err="1"/>
              <a:t>syscall.h</a:t>
            </a:r>
            <a:endParaRPr lang="en-US" dirty="0"/>
          </a:p>
          <a:p>
            <a:pPr lvl="1">
              <a:lnSpc>
                <a:spcPct val="110000"/>
              </a:lnSpc>
            </a:pPr>
            <a:r>
              <a:rPr lang="en-US" dirty="0"/>
              <a:t>There is only one prototype </a:t>
            </a:r>
            <a:r>
              <a:rPr lang="en-US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syscall_init</a:t>
            </a:r>
            <a:r>
              <a:rPr lang="en-US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() </a:t>
            </a:r>
            <a:r>
              <a:rPr lang="en-US" dirty="0"/>
              <a:t>which registers system call interrupts when Pintos was booted.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You can write prototype of system calls in this file.</a:t>
            </a:r>
          </a:p>
          <a:p>
            <a:pPr marL="457200" indent="-457200">
              <a:lnSpc>
                <a:spcPct val="110000"/>
              </a:lnSpc>
              <a:buFont typeface="+mj-lt"/>
              <a:buAutoNum type="arabicPeriod"/>
            </a:pPr>
            <a:r>
              <a:rPr lang="en-US" dirty="0" err="1"/>
              <a:t>userprog</a:t>
            </a:r>
            <a:r>
              <a:rPr lang="en-US" dirty="0"/>
              <a:t>/</a:t>
            </a:r>
            <a:r>
              <a:rPr lang="en-US" dirty="0" err="1"/>
              <a:t>syscall.c</a:t>
            </a:r>
            <a:endParaRPr lang="en-US" dirty="0"/>
          </a:p>
          <a:p>
            <a:pPr lvl="1">
              <a:lnSpc>
                <a:spcPct val="110000"/>
              </a:lnSpc>
            </a:pPr>
            <a:r>
              <a:rPr lang="en-US" dirty="0"/>
              <a:t>You must make </a:t>
            </a:r>
            <a:r>
              <a:rPr lang="en-US" b="1" dirty="0" err="1">
                <a:solidFill>
                  <a:srgbClr val="1065E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syscall_handler</a:t>
            </a:r>
            <a:r>
              <a:rPr lang="en-US" b="1" dirty="0">
                <a:solidFill>
                  <a:srgbClr val="1065E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() </a:t>
            </a:r>
            <a:r>
              <a:rPr lang="en-US" dirty="0"/>
              <a:t>handle system calls.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If you have done argument passing, you can get system call number from </a:t>
            </a:r>
            <a:r>
              <a:rPr lang="en-US" b="1" dirty="0" err="1">
                <a:solidFill>
                  <a:srgbClr val="1065E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intr_frame</a:t>
            </a:r>
            <a:r>
              <a:rPr lang="en-US" b="1" dirty="0">
                <a:solidFill>
                  <a:srgbClr val="1065E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*f</a:t>
            </a:r>
            <a:r>
              <a:rPr lang="en-US" dirty="0"/>
              <a:t>.</a:t>
            </a:r>
            <a:endParaRPr lang="en-US" b="1" dirty="0">
              <a:solidFill>
                <a:srgbClr val="1065E7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lvl="1">
              <a:lnSpc>
                <a:spcPct val="110000"/>
              </a:lnSpc>
            </a:pPr>
            <a:r>
              <a:rPr lang="en-US" b="1" dirty="0" err="1">
                <a:solidFill>
                  <a:srgbClr val="1065E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esp</a:t>
            </a:r>
            <a:r>
              <a:rPr lang="en-US" dirty="0"/>
              <a:t> member of </a:t>
            </a:r>
            <a:r>
              <a:rPr lang="en-US" b="1" dirty="0" err="1">
                <a:solidFill>
                  <a:srgbClr val="1065E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intr_frame</a:t>
            </a:r>
            <a:r>
              <a:rPr lang="en-US" b="1" dirty="0">
                <a:solidFill>
                  <a:srgbClr val="1065E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*f</a:t>
            </a:r>
            <a:r>
              <a:rPr lang="en-US" dirty="0"/>
              <a:t> points to system call number.</a:t>
            </a:r>
            <a:br>
              <a:rPr lang="en-US" dirty="0"/>
            </a:br>
            <a:r>
              <a:rPr lang="en-US" dirty="0"/>
              <a:t>(You can refer to </a:t>
            </a:r>
            <a:r>
              <a:rPr lang="en-US" b="1" dirty="0"/>
              <a:t>lib/</a:t>
            </a:r>
            <a:r>
              <a:rPr lang="en-US" b="1" dirty="0" err="1"/>
              <a:t>syscall-nr.h</a:t>
            </a:r>
            <a:r>
              <a:rPr lang="en-US" b="1" dirty="0"/>
              <a:t> </a:t>
            </a:r>
            <a:r>
              <a:rPr lang="en-US" dirty="0"/>
              <a:t>to check each system call number)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And then you can use </a:t>
            </a:r>
            <a:r>
              <a:rPr lang="en-US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switch</a:t>
            </a:r>
            <a:r>
              <a:rPr lang="en-US" dirty="0"/>
              <a:t> statement to classify system calls.</a:t>
            </a:r>
            <a:br>
              <a:rPr lang="en-US" dirty="0"/>
            </a:br>
            <a:r>
              <a:rPr lang="en-US" dirty="0"/>
              <a:t>(What really these system calls do would be written here.)</a:t>
            </a:r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8365285E-AE7B-7E43-A17E-F092975195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2656" y="5991138"/>
            <a:ext cx="446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A305A6-A07C-784C-BBE4-67C27A551CE4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91658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Additional System Calls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en-US" altLang="ko-KR" b="1" dirty="0">
                <a:solidFill>
                  <a:srgbClr val="1065E7"/>
                </a:solidFill>
              </a:rPr>
              <a:t>Implement new system calls into Pintos</a:t>
            </a:r>
          </a:p>
          <a:p>
            <a:pPr marL="914400" lvl="1" indent="-457200">
              <a:lnSpc>
                <a:spcPct val="120000"/>
              </a:lnSpc>
              <a:buFont typeface="+mj-lt"/>
              <a:buAutoNum type="arabicPeriod"/>
            </a:pPr>
            <a:r>
              <a:rPr lang="en-US" altLang="ko-KR" b="1" dirty="0"/>
              <a:t>int </a:t>
            </a:r>
            <a:r>
              <a:rPr lang="en-US" altLang="ko-KR" b="1" dirty="0" err="1"/>
              <a:t>fibonacci</a:t>
            </a:r>
            <a:r>
              <a:rPr lang="en-US" altLang="ko-KR" b="1" dirty="0"/>
              <a:t>(int n)</a:t>
            </a:r>
          </a:p>
          <a:p>
            <a:pPr lvl="2">
              <a:lnSpc>
                <a:spcPct val="120000"/>
              </a:lnSpc>
              <a:buFont typeface="Wingdings" pitchFamily="2" charset="2"/>
              <a:buChar char="ü"/>
            </a:pPr>
            <a:r>
              <a:rPr lang="en-US" altLang="ko-KR" dirty="0"/>
              <a:t>Return N </a:t>
            </a:r>
            <a:r>
              <a:rPr lang="en-US" altLang="ko-KR" dirty="0" err="1"/>
              <a:t>th</a:t>
            </a:r>
            <a:r>
              <a:rPr lang="en-US" altLang="ko-KR" dirty="0"/>
              <a:t> value of Fibonacci sequence</a:t>
            </a:r>
          </a:p>
          <a:p>
            <a:pPr lvl="2">
              <a:lnSpc>
                <a:spcPct val="120000"/>
              </a:lnSpc>
              <a:buFont typeface="Wingdings" pitchFamily="2" charset="2"/>
              <a:buChar char="ü"/>
            </a:pPr>
            <a:endParaRPr lang="en-US" altLang="ko-KR" dirty="0"/>
          </a:p>
          <a:p>
            <a:pPr marL="914400" lvl="1" indent="-457200">
              <a:lnSpc>
                <a:spcPct val="120000"/>
              </a:lnSpc>
              <a:buFont typeface="+mj-lt"/>
              <a:buAutoNum type="arabicPeriod"/>
            </a:pPr>
            <a:r>
              <a:rPr lang="en-US" altLang="ko-KR" b="1" dirty="0"/>
              <a:t>int </a:t>
            </a:r>
            <a:r>
              <a:rPr lang="en-US" altLang="ko-KR" b="1" dirty="0" err="1"/>
              <a:t>max_of_four_int</a:t>
            </a:r>
            <a:r>
              <a:rPr lang="en-US" altLang="ko-KR" b="1" dirty="0"/>
              <a:t>(int a, int b, int c, int d)</a:t>
            </a:r>
          </a:p>
          <a:p>
            <a:pPr lvl="2">
              <a:lnSpc>
                <a:spcPct val="120000"/>
              </a:lnSpc>
              <a:buFont typeface="Wingdings" pitchFamily="2" charset="2"/>
              <a:buChar char="ü"/>
            </a:pPr>
            <a:r>
              <a:rPr lang="en-US" altLang="ko-KR" dirty="0"/>
              <a:t>Return the maximum of a, b, c and d</a:t>
            </a:r>
          </a:p>
          <a:p>
            <a:pPr marL="914400" lvl="2" indent="0">
              <a:lnSpc>
                <a:spcPct val="120000"/>
              </a:lnSpc>
              <a:buNone/>
            </a:pPr>
            <a:endParaRPr lang="en-US" altLang="ko-KR" dirty="0"/>
          </a:p>
          <a:p>
            <a:pPr marL="457200" lvl="1" indent="0">
              <a:lnSpc>
                <a:spcPct val="120000"/>
              </a:lnSpc>
              <a:buNone/>
            </a:pPr>
            <a:r>
              <a:rPr lang="en-US" altLang="ko-KR" b="1" dirty="0">
                <a:solidFill>
                  <a:srgbClr val="C00000"/>
                </a:solidFill>
              </a:rPr>
              <a:t>※ Use '</a:t>
            </a:r>
            <a:r>
              <a:rPr lang="en-US" altLang="ko-KR" b="1" dirty="0" err="1">
                <a:solidFill>
                  <a:srgbClr val="C00000"/>
                </a:solidFill>
              </a:rPr>
              <a:t>fibonacci</a:t>
            </a:r>
            <a:r>
              <a:rPr lang="en-US" altLang="ko-KR" b="1" dirty="0">
                <a:solidFill>
                  <a:srgbClr val="C00000"/>
                </a:solidFill>
              </a:rPr>
              <a:t>' and '</a:t>
            </a:r>
            <a:r>
              <a:rPr lang="en-US" altLang="ko-KR" b="1" dirty="0" err="1">
                <a:solidFill>
                  <a:srgbClr val="C00000"/>
                </a:solidFill>
              </a:rPr>
              <a:t>max_of_four_int</a:t>
            </a:r>
            <a:r>
              <a:rPr lang="en-US" altLang="ko-KR" b="1" dirty="0">
                <a:solidFill>
                  <a:srgbClr val="C00000"/>
                </a:solidFill>
              </a:rPr>
              <a:t>' as the name of new system calls.</a:t>
            </a:r>
          </a:p>
          <a:p>
            <a:pPr marL="457200" lvl="1" indent="0">
              <a:lnSpc>
                <a:spcPct val="120000"/>
              </a:lnSpc>
              <a:buNone/>
            </a:pPr>
            <a:br>
              <a:rPr lang="en-US" altLang="ko-KR" b="1" dirty="0">
                <a:solidFill>
                  <a:srgbClr val="C00000"/>
                </a:solidFill>
              </a:rPr>
            </a:br>
            <a:r>
              <a:rPr lang="en-US" altLang="ko-KR" b="1" dirty="0">
                <a:solidFill>
                  <a:srgbClr val="C00000"/>
                </a:solidFill>
              </a:rPr>
              <a:t>   Don't use other name to implement new system calls above.</a:t>
            </a:r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9FE4EEB0-D198-9D46-A3A7-0CF7B0AA26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2656" y="5991138"/>
            <a:ext cx="446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A305A6-A07C-784C-BBE4-67C27A551CE4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85888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Additional System Calls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198" y="1112520"/>
            <a:ext cx="11353801" cy="482773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altLang="ko-KR" b="1" dirty="0">
                <a:solidFill>
                  <a:srgbClr val="1065E7"/>
                </a:solidFill>
              </a:rPr>
              <a:t>Write user level program which uses new system calls</a:t>
            </a:r>
          </a:p>
          <a:p>
            <a:pPr marL="914400" lvl="1" indent="-457200">
              <a:lnSpc>
                <a:spcPct val="120000"/>
              </a:lnSpc>
              <a:buFont typeface="+mj-lt"/>
              <a:buAutoNum type="arabicPeriod"/>
            </a:pPr>
            <a:r>
              <a:rPr lang="en-US" altLang="ko-KR" dirty="0"/>
              <a:t>Make </a:t>
            </a:r>
            <a:r>
              <a:rPr lang="en-US" altLang="ko-KR" dirty="0" err="1"/>
              <a:t>additional.c</a:t>
            </a:r>
            <a:r>
              <a:rPr lang="en-US" altLang="ko-KR" dirty="0"/>
              <a:t> in pintos/</a:t>
            </a:r>
            <a:r>
              <a:rPr lang="en-US" altLang="ko-KR" dirty="0" err="1"/>
              <a:t>src</a:t>
            </a:r>
            <a:r>
              <a:rPr lang="en-US" altLang="ko-KR" dirty="0"/>
              <a:t>/examples</a:t>
            </a:r>
          </a:p>
          <a:p>
            <a:pPr marL="914400" lvl="1" indent="-457200">
              <a:lnSpc>
                <a:spcPct val="120000"/>
              </a:lnSpc>
              <a:buFont typeface="+mj-lt"/>
              <a:buAutoNum type="arabicPeriod"/>
            </a:pPr>
            <a:r>
              <a:rPr lang="en-US" altLang="ko-KR" dirty="0"/>
              <a:t>Write simple example by using new system calls</a:t>
            </a:r>
          </a:p>
          <a:p>
            <a:pPr marL="914400" lvl="1" indent="-457200">
              <a:lnSpc>
                <a:spcPct val="120000"/>
              </a:lnSpc>
              <a:buFont typeface="+mj-lt"/>
              <a:buAutoNum type="arabicPeriod"/>
            </a:pPr>
            <a:r>
              <a:rPr lang="en-US" altLang="ko-KR" b="1" dirty="0">
                <a:solidFill>
                  <a:srgbClr val="C00000"/>
                </a:solidFill>
              </a:rPr>
              <a:t>Name of execution file should be 'additional'</a:t>
            </a:r>
          </a:p>
          <a:p>
            <a:pPr marL="914400" lvl="1" indent="-457200">
              <a:lnSpc>
                <a:spcPct val="120000"/>
              </a:lnSpc>
              <a:buFont typeface="+mj-lt"/>
              <a:buAutoNum type="arabicPeriod"/>
            </a:pPr>
            <a:r>
              <a:rPr lang="en-US" altLang="ko-KR" dirty="0"/>
              <a:t>Usage    : ./additional [num 1] [num 2] [num 3] [num 4]</a:t>
            </a:r>
            <a:br>
              <a:rPr lang="en-US" altLang="ko-KR" dirty="0"/>
            </a:br>
            <a:r>
              <a:rPr lang="en-US" altLang="ko-KR" dirty="0"/>
              <a:t>Function : Print the result of '</a:t>
            </a:r>
            <a:r>
              <a:rPr lang="en-US" altLang="ko-KR" dirty="0" err="1"/>
              <a:t>fibonacci</a:t>
            </a:r>
            <a:r>
              <a:rPr lang="en-US" altLang="ko-KR" dirty="0"/>
              <a:t>' system call using [num 1] as parameter </a:t>
            </a:r>
            <a:br>
              <a:rPr lang="en-US" altLang="ko-KR" dirty="0"/>
            </a:br>
            <a:r>
              <a:rPr lang="en-US" altLang="ko-KR" dirty="0"/>
              <a:t>       </a:t>
            </a:r>
            <a:r>
              <a:rPr lang="en-US" altLang="ko-KR" sz="1700" dirty="0"/>
              <a:t>      </a:t>
            </a:r>
            <a:r>
              <a:rPr lang="en-US" altLang="ko-KR" dirty="0"/>
              <a:t> Print the result of '</a:t>
            </a:r>
            <a:r>
              <a:rPr lang="en-US" altLang="ko-KR" dirty="0" err="1"/>
              <a:t>max_of_four_int</a:t>
            </a:r>
            <a:r>
              <a:rPr lang="en-US" altLang="ko-KR" dirty="0"/>
              <a:t>'</a:t>
            </a:r>
            <a:r>
              <a:rPr lang="ko-KR" altLang="en-US" dirty="0"/>
              <a:t> </a:t>
            </a:r>
            <a:r>
              <a:rPr lang="en-US" altLang="ko-KR" dirty="0"/>
              <a:t>system call using [num 1, 2, 3, 4] as</a:t>
            </a:r>
            <a:r>
              <a:rPr lang="ko-KR" altLang="en-US" dirty="0"/>
              <a:t> </a:t>
            </a:r>
            <a:r>
              <a:rPr lang="en-US" altLang="ko-KR" dirty="0"/>
              <a:t>parameter</a:t>
            </a:r>
            <a:br>
              <a:rPr lang="en-US" altLang="ko-KR" dirty="0"/>
            </a:br>
            <a:r>
              <a:rPr lang="en-US" altLang="ko-KR" dirty="0"/>
              <a:t>Example :</a:t>
            </a:r>
          </a:p>
          <a:p>
            <a:pPr marL="457200" lvl="1" indent="0">
              <a:lnSpc>
                <a:spcPct val="120000"/>
              </a:lnSpc>
              <a:buNone/>
            </a:pPr>
            <a:endParaRPr lang="en-US" altLang="ko-KR" dirty="0"/>
          </a:p>
          <a:p>
            <a:pPr marL="914400" lvl="1" indent="-457200">
              <a:lnSpc>
                <a:spcPct val="120000"/>
              </a:lnSpc>
              <a:buFont typeface="+mj-lt"/>
              <a:buAutoNum type="arabicPeriod" startAt="5"/>
            </a:pPr>
            <a:r>
              <a:rPr lang="en-US" altLang="ko-KR" dirty="0"/>
              <a:t>Run the following command to check your program works properly.</a:t>
            </a:r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endParaRPr lang="en-US" altLang="ko-KR" dirty="0"/>
          </a:p>
        </p:txBody>
      </p:sp>
      <p:sp>
        <p:nvSpPr>
          <p:cNvPr id="4" name="TextBox 3"/>
          <p:cNvSpPr txBox="1"/>
          <p:nvPr/>
        </p:nvSpPr>
        <p:spPr>
          <a:xfrm>
            <a:off x="2984268" y="3844098"/>
            <a:ext cx="3351218" cy="64633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$ ./additional 10 20 62 40</a:t>
            </a:r>
          </a:p>
          <a:p>
            <a:r>
              <a:rPr lang="en-US" altLang="ko-KR" dirty="0"/>
              <a:t>55 62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658677" y="4951974"/>
            <a:ext cx="9572916" cy="60016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650" b="1" dirty="0">
                <a:solidFill>
                  <a:srgbClr val="0070C0"/>
                </a:solidFill>
              </a:rPr>
              <a:t>pintos/</a:t>
            </a:r>
            <a:r>
              <a:rPr lang="en-US" altLang="ko-KR" sz="1650" b="1" dirty="0" err="1">
                <a:solidFill>
                  <a:srgbClr val="0070C0"/>
                </a:solidFill>
              </a:rPr>
              <a:t>src</a:t>
            </a:r>
            <a:r>
              <a:rPr lang="en-US" altLang="ko-KR" sz="1650" b="1" dirty="0">
                <a:solidFill>
                  <a:srgbClr val="0070C0"/>
                </a:solidFill>
              </a:rPr>
              <a:t>/</a:t>
            </a:r>
            <a:r>
              <a:rPr lang="en-US" altLang="ko-KR" sz="1650" b="1" dirty="0" err="1">
                <a:solidFill>
                  <a:srgbClr val="0070C0"/>
                </a:solidFill>
              </a:rPr>
              <a:t>userprog</a:t>
            </a:r>
            <a:r>
              <a:rPr lang="en-US" altLang="ko-KR" sz="1650" b="1" dirty="0">
                <a:solidFill>
                  <a:srgbClr val="0070C0"/>
                </a:solidFill>
              </a:rPr>
              <a:t>$</a:t>
            </a:r>
            <a:r>
              <a:rPr lang="en-US" altLang="ko-KR" sz="1650" b="1" dirty="0"/>
              <a:t> </a:t>
            </a:r>
            <a:r>
              <a:rPr lang="en-US" altLang="ko-KR" sz="1650" dirty="0"/>
              <a:t>pintos --</a:t>
            </a:r>
            <a:r>
              <a:rPr lang="en-US" altLang="ko-KR" sz="1650" dirty="0" err="1"/>
              <a:t>filesys</a:t>
            </a:r>
            <a:r>
              <a:rPr lang="en-US" altLang="ko-KR" sz="1650" dirty="0"/>
              <a:t>-size=2 -p ../examples/additional -a additional -- -f -q run 'additional 10 20 62 40'</a:t>
            </a:r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FBC29B91-62DE-0240-A0B0-08485C78E5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2656" y="5991138"/>
            <a:ext cx="446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A305A6-A07C-784C-BBE4-67C27A551CE4}" type="slidenum">
              <a:rPr lang="en-US" smtClean="0"/>
              <a:t>55</a:t>
            </a:fld>
            <a:endParaRPr 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3C041BD-3CCE-4F59-B612-37776BBE4C39}"/>
              </a:ext>
            </a:extLst>
          </p:cNvPr>
          <p:cNvSpPr/>
          <p:nvPr/>
        </p:nvSpPr>
        <p:spPr>
          <a:xfrm>
            <a:off x="2789464" y="5701564"/>
            <a:ext cx="6613072" cy="47213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</a:rPr>
              <a:t>'additional' should be run on Pintos, not </a:t>
            </a:r>
            <a:r>
              <a:rPr lang="en-US" altLang="ko-KR" b="1" dirty="0" err="1">
                <a:solidFill>
                  <a:schemeClr val="bg1"/>
                </a:solidFill>
              </a:rPr>
              <a:t>CSPRO</a:t>
            </a:r>
            <a:r>
              <a:rPr lang="en-US" altLang="ko-KR" b="1" dirty="0">
                <a:solidFill>
                  <a:schemeClr val="bg1"/>
                </a:solidFill>
              </a:rPr>
              <a:t> server.</a:t>
            </a:r>
            <a:endParaRPr lang="ko-KR" alt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631347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Additional System Calls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en-US" altLang="ko-KR" dirty="0"/>
              <a:t>How to identify system call number?</a:t>
            </a:r>
          </a:p>
          <a:p>
            <a:pPr lvl="1">
              <a:lnSpc>
                <a:spcPct val="120000"/>
              </a:lnSpc>
              <a:buFont typeface="Wingdings" pitchFamily="2" charset="2"/>
              <a:buChar char="ü"/>
            </a:pPr>
            <a:r>
              <a:rPr lang="en-US" altLang="ko-KR" dirty="0"/>
              <a:t>Refer to 'lib/</a:t>
            </a:r>
            <a:r>
              <a:rPr lang="en-US" altLang="ko-KR" dirty="0" err="1"/>
              <a:t>syscall-nr.h</a:t>
            </a:r>
            <a:r>
              <a:rPr lang="en-US" altLang="ko-KR" dirty="0"/>
              <a:t>’</a:t>
            </a:r>
          </a:p>
          <a:p>
            <a:pPr lvl="1">
              <a:lnSpc>
                <a:spcPct val="120000"/>
              </a:lnSpc>
              <a:buFont typeface="Wingdings" pitchFamily="2" charset="2"/>
              <a:buChar char="ü"/>
            </a:pPr>
            <a:endParaRPr lang="en-US" altLang="ko-KR" dirty="0"/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en-US" altLang="ko-KR" dirty="0"/>
              <a:t>How to return system call's result?</a:t>
            </a:r>
          </a:p>
          <a:p>
            <a:pPr lvl="1">
              <a:lnSpc>
                <a:spcPct val="120000"/>
              </a:lnSpc>
              <a:buFont typeface="Wingdings" pitchFamily="2" charset="2"/>
              <a:buChar char="ü"/>
            </a:pPr>
            <a:r>
              <a:rPr lang="en-US" altLang="ko-KR" dirty="0"/>
              <a:t>Check argument </a:t>
            </a:r>
            <a:r>
              <a:rPr lang="en-US" altLang="ko-KR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'struct </a:t>
            </a:r>
            <a:r>
              <a:rPr lang="en-US" altLang="ko-KR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intr_frame'</a:t>
            </a:r>
            <a:r>
              <a:rPr lang="en-US" altLang="ko-KR" dirty="0" err="1"/>
              <a:t>of</a:t>
            </a:r>
            <a:r>
              <a:rPr lang="en-US" altLang="ko-KR" dirty="0"/>
              <a:t> </a:t>
            </a:r>
            <a:r>
              <a:rPr lang="en-US" altLang="ko-KR" b="1" dirty="0" err="1">
                <a:solidFill>
                  <a:schemeClr val="accent2"/>
                </a:solidFill>
              </a:rPr>
              <a:t>syscall_handler</a:t>
            </a:r>
            <a:r>
              <a:rPr lang="en-US" altLang="ko-KR" b="1" dirty="0">
                <a:solidFill>
                  <a:schemeClr val="accent2"/>
                </a:solidFill>
              </a:rPr>
              <a:t>()</a:t>
            </a:r>
            <a:r>
              <a:rPr lang="en-US" altLang="ko-KR" dirty="0"/>
              <a:t> in </a:t>
            </a:r>
            <a:r>
              <a:rPr lang="en-US" altLang="ko-KR" dirty="0" err="1"/>
              <a:t>syscall.c</a:t>
            </a:r>
            <a:endParaRPr lang="en-US" altLang="ko-KR" dirty="0"/>
          </a:p>
          <a:p>
            <a:pPr lvl="1">
              <a:lnSpc>
                <a:spcPct val="120000"/>
              </a:lnSpc>
              <a:buFont typeface="Wingdings" pitchFamily="2" charset="2"/>
              <a:buChar char="ü"/>
            </a:pPr>
            <a:r>
              <a:rPr lang="en-US" altLang="ko-KR" dirty="0"/>
              <a:t>Refer to </a:t>
            </a:r>
            <a:r>
              <a:rPr lang="en-US" altLang="ko-KR" dirty="0">
                <a:hlinkClick r:id="rId2" action="ppaction://hlinksldjump"/>
              </a:rPr>
              <a:t>'System Calls'</a:t>
            </a:r>
            <a:r>
              <a:rPr lang="en-US" altLang="ko-KR" dirty="0"/>
              <a:t> in Prerequisites</a:t>
            </a:r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B4C1180E-4DFD-7947-8AA6-CBA145DA44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2656" y="5991138"/>
            <a:ext cx="446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A305A6-A07C-784C-BBE4-67C27A551CE4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24081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B3642-9288-0A49-B850-5D7368D0C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Additional System Calls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EC7D26-7D7D-0045-B804-CEC2F7A366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en-US" dirty="0"/>
              <a:t>To compile newly added user program, "additional", you need to modify </a:t>
            </a:r>
            <a:r>
              <a:rPr lang="en-US" b="1" dirty="0" err="1">
                <a:solidFill>
                  <a:srgbClr val="1065E7"/>
                </a:solidFill>
              </a:rPr>
              <a:t>Makefile</a:t>
            </a:r>
            <a:r>
              <a:rPr lang="en-US" dirty="0"/>
              <a:t> in</a:t>
            </a:r>
            <a:r>
              <a:rPr lang="en-US" b="1" dirty="0">
                <a:solidFill>
                  <a:srgbClr val="1065E7"/>
                </a:solidFill>
              </a:rPr>
              <a:t> </a:t>
            </a:r>
            <a:r>
              <a:rPr lang="en-US" b="1" dirty="0" err="1">
                <a:solidFill>
                  <a:srgbClr val="1065E7"/>
                </a:solidFill>
              </a:rPr>
              <a:t>src</a:t>
            </a:r>
            <a:r>
              <a:rPr lang="en-US" b="1" dirty="0">
                <a:solidFill>
                  <a:srgbClr val="1065E7"/>
                </a:solidFill>
              </a:rPr>
              <a:t>/examples</a:t>
            </a:r>
            <a:r>
              <a:rPr lang="en-US" dirty="0"/>
              <a:t>.</a:t>
            </a:r>
          </a:p>
          <a:p>
            <a:pPr>
              <a:lnSpc>
                <a:spcPct val="120000"/>
              </a:lnSpc>
            </a:pPr>
            <a:endParaRPr lang="en-US" b="1" dirty="0">
              <a:solidFill>
                <a:srgbClr val="1065E7"/>
              </a:solidFill>
            </a:endParaRPr>
          </a:p>
          <a:p>
            <a:pPr>
              <a:lnSpc>
                <a:spcPct val="120000"/>
              </a:lnSpc>
            </a:pPr>
            <a:r>
              <a:rPr lang="en-US" dirty="0"/>
              <a:t>Refer to how other user programs are written in </a:t>
            </a:r>
            <a:r>
              <a:rPr lang="en-US" b="1" dirty="0" err="1"/>
              <a:t>Makefile</a:t>
            </a:r>
            <a:endParaRPr lang="en-U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E48746-4B94-9946-8A80-06E3354CAF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CA56A43-8FC2-9842-BDDC-5AE4529FF897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7460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Additional System Calls: Source Codes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en-US" dirty="0"/>
              <a:t>lib/user/</a:t>
            </a:r>
            <a:r>
              <a:rPr lang="en-US" dirty="0" err="1"/>
              <a:t>syscall.h</a:t>
            </a:r>
            <a:endParaRPr lang="en-US" dirty="0"/>
          </a:p>
          <a:p>
            <a:pPr lvl="1">
              <a:lnSpc>
                <a:spcPct val="120000"/>
              </a:lnSpc>
            </a:pPr>
            <a:r>
              <a:rPr lang="en-US" dirty="0"/>
              <a:t>Write prototype of 2 new system call APIs</a:t>
            </a:r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en-US" dirty="0"/>
              <a:t>lib/user/</a:t>
            </a:r>
            <a:r>
              <a:rPr lang="en-US" dirty="0" err="1"/>
              <a:t>syscall.c</a:t>
            </a:r>
            <a:endParaRPr lang="en-US" dirty="0"/>
          </a:p>
          <a:p>
            <a:pPr lvl="1">
              <a:lnSpc>
                <a:spcPct val="120000"/>
              </a:lnSpc>
            </a:pPr>
            <a:r>
              <a:rPr lang="en-US" dirty="0"/>
              <a:t>Define new </a:t>
            </a:r>
            <a:r>
              <a:rPr lang="en-US" b="1" dirty="0">
                <a:solidFill>
                  <a:srgbClr val="1065E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syscall4() </a:t>
            </a:r>
            <a:r>
              <a:rPr lang="en-US" dirty="0"/>
              <a:t>function for </a:t>
            </a:r>
            <a:r>
              <a:rPr lang="en-US" b="1" err="1">
                <a:solidFill>
                  <a:srgbClr val="1065E7"/>
                </a:solidFill>
                <a:latin typeface="Hack" panose="020B0609030202020204" pitchFamily="49" charset="0"/>
                <a:cs typeface="Hack" panose="020B0609030202020204" pitchFamily="49" charset="0"/>
              </a:rPr>
              <a:t>max</a:t>
            </a:r>
            <a:r>
              <a:rPr lang="en-US" b="1" err="1">
                <a:solidFill>
                  <a:srgbClr val="1065E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_of_four_int</a:t>
            </a:r>
            <a:r>
              <a:rPr lang="en-US" b="1">
                <a:solidFill>
                  <a:srgbClr val="1065E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()</a:t>
            </a:r>
            <a:r>
              <a:rPr lang="en-US" b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(lib/user/syscall.c)</a:t>
            </a:r>
            <a:endParaRPr lang="en-US" dirty="0"/>
          </a:p>
          <a:p>
            <a:pPr lvl="1">
              <a:lnSpc>
                <a:spcPct val="120000"/>
              </a:lnSpc>
            </a:pPr>
            <a:r>
              <a:rPr lang="en-US" dirty="0"/>
              <a:t>Define </a:t>
            </a:r>
            <a:r>
              <a:rPr lang="en-US" b="1" dirty="0" err="1">
                <a:solidFill>
                  <a:srgbClr val="1065E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fibonacci</a:t>
            </a:r>
            <a:r>
              <a:rPr lang="en-US" b="1" dirty="0">
                <a:solidFill>
                  <a:srgbClr val="1065E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() </a:t>
            </a:r>
            <a:r>
              <a:rPr lang="en-US" dirty="0"/>
              <a:t>and </a:t>
            </a:r>
            <a:r>
              <a:rPr lang="en-US" altLang="ko-KR" b="1" dirty="0" err="1">
                <a:solidFill>
                  <a:srgbClr val="1065E7"/>
                </a:solidFill>
                <a:latin typeface="Hack" panose="020B0609030202020204" pitchFamily="49" charset="0"/>
                <a:cs typeface="Hack" panose="020B0609030202020204" pitchFamily="49" charset="0"/>
              </a:rPr>
              <a:t>max</a:t>
            </a:r>
            <a:r>
              <a:rPr lang="en-US" b="1" dirty="0" err="1">
                <a:solidFill>
                  <a:srgbClr val="1065E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_of_four_int</a:t>
            </a:r>
            <a:r>
              <a:rPr lang="en-US" b="1" dirty="0">
                <a:solidFill>
                  <a:srgbClr val="1065E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() </a:t>
            </a:r>
            <a:r>
              <a:rPr lang="en-US" dirty="0"/>
              <a:t>system calls </a:t>
            </a:r>
            <a:r>
              <a:rPr lang="en-US" u="sng" dirty="0"/>
              <a:t>APIs</a:t>
            </a:r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en-US" dirty="0"/>
              <a:t>lib/</a:t>
            </a:r>
            <a:r>
              <a:rPr lang="en-US" dirty="0" err="1"/>
              <a:t>syscall-nr.h</a:t>
            </a:r>
            <a:endParaRPr lang="en-US" dirty="0"/>
          </a:p>
          <a:p>
            <a:pPr lvl="1">
              <a:lnSpc>
                <a:spcPct val="120000"/>
              </a:lnSpc>
            </a:pPr>
            <a:r>
              <a:rPr lang="en-US" dirty="0"/>
              <a:t>Add system call numbers for 2 new system calls</a:t>
            </a:r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en-US" dirty="0" err="1"/>
              <a:t>userprog</a:t>
            </a:r>
            <a:r>
              <a:rPr lang="en-US" dirty="0"/>
              <a:t>/</a:t>
            </a:r>
            <a:r>
              <a:rPr lang="en-US" dirty="0" err="1"/>
              <a:t>syscall.h</a:t>
            </a:r>
            <a:endParaRPr lang="en-US" dirty="0"/>
          </a:p>
          <a:p>
            <a:pPr lvl="1">
              <a:lnSpc>
                <a:spcPct val="120000"/>
              </a:lnSpc>
            </a:pPr>
            <a:r>
              <a:rPr lang="en-US" dirty="0"/>
              <a:t>Write prototype of 2 new system calls</a:t>
            </a:r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en-US" dirty="0" err="1"/>
              <a:t>userprog</a:t>
            </a:r>
            <a:r>
              <a:rPr lang="en-US" dirty="0"/>
              <a:t>/</a:t>
            </a:r>
            <a:r>
              <a:rPr lang="en-US" dirty="0" err="1"/>
              <a:t>syscall.c</a:t>
            </a:r>
            <a:endParaRPr lang="en-US" dirty="0"/>
          </a:p>
          <a:p>
            <a:pPr lvl="1">
              <a:lnSpc>
                <a:spcPct val="120000"/>
              </a:lnSpc>
            </a:pPr>
            <a:r>
              <a:rPr lang="en-US" dirty="0"/>
              <a:t>Define </a:t>
            </a:r>
            <a:r>
              <a:rPr lang="en-US" b="1" dirty="0" err="1">
                <a:solidFill>
                  <a:srgbClr val="1065E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fibonacci</a:t>
            </a:r>
            <a:r>
              <a:rPr lang="en-US" b="1" dirty="0">
                <a:solidFill>
                  <a:srgbClr val="1065E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() </a:t>
            </a:r>
            <a:r>
              <a:rPr lang="en-US" dirty="0"/>
              <a:t>and </a:t>
            </a:r>
            <a:r>
              <a:rPr lang="en-US" b="1" dirty="0" err="1">
                <a:solidFill>
                  <a:srgbClr val="1065E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max_of_four_int</a:t>
            </a:r>
            <a:r>
              <a:rPr lang="en-US" b="1" dirty="0">
                <a:solidFill>
                  <a:srgbClr val="1065E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() </a:t>
            </a:r>
            <a:r>
              <a:rPr lang="en-US" dirty="0"/>
              <a:t>system calls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What really these system calls do would be written here.</a:t>
            </a:r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8365285E-AE7B-7E43-A17E-F092975195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2656" y="5991138"/>
            <a:ext cx="446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A305A6-A07C-784C-BBE4-67C27A551CE4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90022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Accessing User Memory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en-US" altLang="ko-KR" dirty="0"/>
              <a:t>User program can pass an invalid pointer.</a:t>
            </a:r>
          </a:p>
          <a:p>
            <a:pPr lvl="1">
              <a:lnSpc>
                <a:spcPct val="120000"/>
              </a:lnSpc>
            </a:pPr>
            <a:r>
              <a:rPr lang="en-US" altLang="ko-KR" b="1" dirty="0">
                <a:solidFill>
                  <a:srgbClr val="1065E7"/>
                </a:solidFill>
              </a:rPr>
              <a:t>NULL</a:t>
            </a:r>
            <a:r>
              <a:rPr lang="en-US" altLang="ko-KR" dirty="0"/>
              <a:t> pointer such as </a:t>
            </a:r>
            <a:r>
              <a:rPr lang="en-US" altLang="ko-KR" b="1" dirty="0">
                <a:solidFill>
                  <a:srgbClr val="1065E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open (NULL); </a:t>
            </a:r>
            <a:r>
              <a:rPr lang="en-US" altLang="ko-KR" dirty="0"/>
              <a:t>in tests/</a:t>
            </a:r>
            <a:r>
              <a:rPr lang="en-US" altLang="ko-KR" dirty="0" err="1"/>
              <a:t>userprog</a:t>
            </a:r>
            <a:r>
              <a:rPr lang="en-US" altLang="ko-KR" dirty="0"/>
              <a:t>/open-</a:t>
            </a:r>
            <a:r>
              <a:rPr lang="en-US" altLang="ko-KR" dirty="0" err="1"/>
              <a:t>null.c</a:t>
            </a:r>
            <a:endParaRPr lang="en-US" altLang="ko-KR" dirty="0"/>
          </a:p>
          <a:p>
            <a:pPr lvl="1">
              <a:lnSpc>
                <a:spcPct val="120000"/>
              </a:lnSpc>
            </a:pPr>
            <a:r>
              <a:rPr lang="en-US" altLang="ko-KR" b="1" dirty="0">
                <a:solidFill>
                  <a:srgbClr val="1065E7"/>
                </a:solidFill>
              </a:rPr>
              <a:t>Unmapped</a:t>
            </a:r>
            <a:r>
              <a:rPr lang="en-US" altLang="ko-KR" dirty="0"/>
              <a:t> virtual memory</a:t>
            </a:r>
          </a:p>
          <a:p>
            <a:pPr lvl="1">
              <a:lnSpc>
                <a:spcPct val="120000"/>
              </a:lnSpc>
            </a:pPr>
            <a:r>
              <a:rPr lang="en-US" altLang="ko-KR" dirty="0"/>
              <a:t>Pointer to </a:t>
            </a:r>
            <a:r>
              <a:rPr lang="en-US" altLang="ko-KR" b="1" dirty="0">
                <a:solidFill>
                  <a:srgbClr val="1065E7"/>
                </a:solidFill>
              </a:rPr>
              <a:t>kernel</a:t>
            </a:r>
            <a:r>
              <a:rPr lang="en-US" altLang="ko-KR" dirty="0"/>
              <a:t> address space</a:t>
            </a:r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en-US" altLang="ko-KR" b="1" dirty="0">
                <a:solidFill>
                  <a:srgbClr val="C00000"/>
                </a:solidFill>
              </a:rPr>
              <a:t>Invalid pointers must be rejected </a:t>
            </a:r>
            <a:r>
              <a:rPr lang="en-US" altLang="ko-KR" dirty="0"/>
              <a:t>without harm to kernel or other running process.</a:t>
            </a:r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en-US" altLang="ko-KR" dirty="0"/>
              <a:t>It can be implemented in 2 ways:</a:t>
            </a:r>
          </a:p>
          <a:p>
            <a:pPr marL="800100" lvl="1" indent="-342900">
              <a:lnSpc>
                <a:spcPct val="120000"/>
              </a:lnSpc>
              <a:buFont typeface="+mj-lt"/>
              <a:buAutoNum type="arabicParenR"/>
            </a:pPr>
            <a:r>
              <a:rPr lang="en-US" altLang="ko-KR" dirty="0"/>
              <a:t>Verify the </a:t>
            </a:r>
            <a:r>
              <a:rPr lang="en-US" altLang="ko-KR" b="1" dirty="0">
                <a:solidFill>
                  <a:srgbClr val="0070C0"/>
                </a:solidFill>
              </a:rPr>
              <a:t>validity of a user-provided pointer</a:t>
            </a:r>
            <a:r>
              <a:rPr lang="en-US" altLang="ko-KR" dirty="0"/>
              <a:t>, then dereference it.</a:t>
            </a:r>
          </a:p>
          <a:p>
            <a:pPr marL="800100" lvl="1" indent="-342900">
              <a:lnSpc>
                <a:spcPct val="120000"/>
              </a:lnSpc>
              <a:buFont typeface="+mj-lt"/>
              <a:buAutoNum type="arabicParenR"/>
            </a:pPr>
            <a:r>
              <a:rPr lang="en-US" altLang="ko-KR" dirty="0"/>
              <a:t>Check only that a user pointer points below PHYS_BASE, then dereference it. </a:t>
            </a:r>
            <a:br>
              <a:rPr lang="en-US" altLang="ko-KR" dirty="0"/>
            </a:br>
            <a:r>
              <a:rPr lang="en-US" altLang="ko-KR" dirty="0"/>
              <a:t>If the pointer is invalid, it will cause a “page fault”. You can handle it by modifying the code </a:t>
            </a:r>
            <a:r>
              <a:rPr lang="en-US" altLang="ko-KR" b="1" dirty="0" err="1">
                <a:solidFill>
                  <a:srgbClr val="0070C0"/>
                </a:solidFill>
              </a:rPr>
              <a:t>page_fault</a:t>
            </a:r>
            <a:r>
              <a:rPr lang="en-US" altLang="ko-KR" b="1" dirty="0">
                <a:solidFill>
                  <a:srgbClr val="0070C0"/>
                </a:solidFill>
              </a:rPr>
              <a:t>()</a:t>
            </a:r>
            <a:r>
              <a:rPr lang="en-US" altLang="ko-KR" dirty="0"/>
              <a:t> in ‘</a:t>
            </a:r>
            <a:r>
              <a:rPr lang="en-US" altLang="ko-KR" dirty="0" err="1"/>
              <a:t>userprog</a:t>
            </a:r>
            <a:r>
              <a:rPr lang="en-US" altLang="ko-KR" dirty="0"/>
              <a:t>/</a:t>
            </a:r>
            <a:r>
              <a:rPr lang="en-US" altLang="ko-KR" dirty="0" err="1"/>
              <a:t>exception.c</a:t>
            </a:r>
            <a:r>
              <a:rPr lang="en-US" altLang="ko-KR" dirty="0"/>
              <a:t>’ </a:t>
            </a:r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en-US" altLang="ko-KR" dirty="0"/>
              <a:t>Refer to Pintos manual 3.1.5</a:t>
            </a:r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endParaRPr lang="en-US" altLang="ko-KR" dirty="0"/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E23B8BF5-3629-E14A-BDEF-D8492FAC26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2656" y="5991138"/>
            <a:ext cx="446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A305A6-A07C-784C-BBE4-67C27A551CE4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76245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Accessing User Memory</a:t>
            </a:r>
            <a:endParaRPr lang="ko-KR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2E304D-CE94-1A41-83F8-A37CB97825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6044" y="1142998"/>
            <a:ext cx="3933418" cy="5001677"/>
          </a:xfrm>
          <a:prstGeom prst="rect">
            <a:avLst/>
          </a:prstGeom>
        </p:spPr>
      </p:pic>
      <p:sp>
        <p:nvSpPr>
          <p:cNvPr id="6" name="Right Brace 5">
            <a:extLst>
              <a:ext uri="{FF2B5EF4-FFF2-40B4-BE49-F238E27FC236}">
                <a16:creationId xmlns:a16="http://schemas.microsoft.com/office/drawing/2014/main" id="{F1A54043-E8EA-224B-9B30-C87F34637D35}"/>
              </a:ext>
            </a:extLst>
          </p:cNvPr>
          <p:cNvSpPr/>
          <p:nvPr/>
        </p:nvSpPr>
        <p:spPr>
          <a:xfrm>
            <a:off x="5813367" y="1238081"/>
            <a:ext cx="368948" cy="3706153"/>
          </a:xfrm>
          <a:prstGeom prst="rightBrace">
            <a:avLst/>
          </a:prstGeom>
          <a:ln w="158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9CC2EE-9C96-5440-9892-8841B6FB89E0}"/>
              </a:ext>
            </a:extLst>
          </p:cNvPr>
          <p:cNvSpPr txBox="1"/>
          <p:nvPr/>
        </p:nvSpPr>
        <p:spPr>
          <a:xfrm>
            <a:off x="736376" y="1123460"/>
            <a:ext cx="137730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0xc0000000 (3 GB)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B8244C-A167-384A-902C-4A02BE8D7700}"/>
              </a:ext>
            </a:extLst>
          </p:cNvPr>
          <p:cNvSpPr txBox="1"/>
          <p:nvPr/>
        </p:nvSpPr>
        <p:spPr>
          <a:xfrm>
            <a:off x="6295604" y="2906491"/>
            <a:ext cx="3497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Mapped User Virtual Memory</a:t>
            </a:r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FDB162E4-40B3-7340-8401-ECFF59FDE964}"/>
              </a:ext>
            </a:extLst>
          </p:cNvPr>
          <p:cNvSpPr/>
          <p:nvPr/>
        </p:nvSpPr>
        <p:spPr>
          <a:xfrm>
            <a:off x="5821415" y="4944234"/>
            <a:ext cx="368948" cy="1130641"/>
          </a:xfrm>
          <a:prstGeom prst="rightBrace">
            <a:avLst/>
          </a:prstGeom>
          <a:ln w="158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FD586F-F217-0949-8EFA-C79071B86F1B}"/>
              </a:ext>
            </a:extLst>
          </p:cNvPr>
          <p:cNvSpPr txBox="1"/>
          <p:nvPr/>
        </p:nvSpPr>
        <p:spPr>
          <a:xfrm>
            <a:off x="6295603" y="5324888"/>
            <a:ext cx="379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Unmapped User Virtual Memory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4477456-3E21-5442-A322-23C965105A54}"/>
              </a:ext>
            </a:extLst>
          </p:cNvPr>
          <p:cNvSpPr/>
          <p:nvPr/>
        </p:nvSpPr>
        <p:spPr>
          <a:xfrm>
            <a:off x="8307504" y="1630634"/>
            <a:ext cx="3149004" cy="391967"/>
          </a:xfrm>
          <a:prstGeom prst="rect">
            <a:avLst/>
          </a:prstGeom>
          <a:ln w="28575">
            <a:solidFill>
              <a:srgbClr val="C00000"/>
            </a:solidFill>
          </a:ln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dirty="0"/>
              <a:t>Refer to Pintos manual 3.1.4</a:t>
            </a:r>
          </a:p>
        </p:txBody>
      </p:sp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9F4B65B6-CFE5-4140-AB96-2389BD5F90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2656" y="5991138"/>
            <a:ext cx="446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A305A6-A07C-784C-BBE4-67C27A551CE4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95336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B3642-9288-0A49-B850-5D7368D0C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Accessing User Memory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EC7D26-7D7D-0045-B804-CEC2F7A366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en-US" dirty="0"/>
              <a:t>To verify the validity of a user-provided pointer, you can use functions in </a:t>
            </a:r>
            <a:r>
              <a:rPr lang="en-US" b="1" dirty="0" err="1">
                <a:solidFill>
                  <a:srgbClr val="0070C0"/>
                </a:solidFill>
              </a:rPr>
              <a:t>userprog</a:t>
            </a:r>
            <a:r>
              <a:rPr lang="en-US" b="1" dirty="0">
                <a:solidFill>
                  <a:srgbClr val="0070C0"/>
                </a:solidFill>
              </a:rPr>
              <a:t>/</a:t>
            </a:r>
            <a:r>
              <a:rPr lang="en-US" b="1" dirty="0" err="1">
                <a:solidFill>
                  <a:srgbClr val="0070C0"/>
                </a:solidFill>
              </a:rPr>
              <a:t>pagedir.c</a:t>
            </a:r>
            <a:r>
              <a:rPr lang="en-US" dirty="0"/>
              <a:t> and </a:t>
            </a:r>
            <a:r>
              <a:rPr lang="en-US" b="1" dirty="0">
                <a:solidFill>
                  <a:srgbClr val="0070C0"/>
                </a:solidFill>
              </a:rPr>
              <a:t>threads/</a:t>
            </a:r>
            <a:r>
              <a:rPr lang="en-US" b="1" dirty="0" err="1">
                <a:solidFill>
                  <a:srgbClr val="0070C0"/>
                </a:solidFill>
              </a:rPr>
              <a:t>vaddr.h</a:t>
            </a:r>
            <a:r>
              <a:rPr lang="en-US" dirty="0">
                <a:solidFill>
                  <a:srgbClr val="0070C0"/>
                </a:solidFill>
              </a:rPr>
              <a:t>.</a:t>
            </a:r>
          </a:p>
          <a:p>
            <a:pPr>
              <a:lnSpc>
                <a:spcPct val="120000"/>
              </a:lnSpc>
            </a:pPr>
            <a:endParaRPr lang="en-US" dirty="0">
              <a:solidFill>
                <a:srgbClr val="0070C0"/>
              </a:solidFill>
            </a:endParaRPr>
          </a:p>
          <a:p>
            <a:pPr>
              <a:lnSpc>
                <a:spcPct val="120000"/>
              </a:lnSpc>
            </a:pPr>
            <a:r>
              <a:rPr lang="en-US" dirty="0"/>
              <a:t>Check </a:t>
            </a:r>
            <a:r>
              <a:rPr lang="en-US" altLang="ko-KR" b="1" dirty="0">
                <a:solidFill>
                  <a:srgbClr val="1065E7"/>
                </a:solidFill>
              </a:rPr>
              <a:t>Unmapped</a:t>
            </a:r>
            <a:r>
              <a:rPr lang="en-US" altLang="ko-KR" dirty="0"/>
              <a:t> virtual memory using </a:t>
            </a:r>
            <a:r>
              <a:rPr lang="en-US" altLang="ko-KR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pagedir_get_page</a:t>
            </a:r>
            <a:r>
              <a:rPr lang="en-US" altLang="ko-KR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() </a:t>
            </a:r>
          </a:p>
          <a:p>
            <a:pPr>
              <a:lnSpc>
                <a:spcPct val="120000"/>
              </a:lnSpc>
            </a:pPr>
            <a:endParaRPr lang="en-US" altLang="ko-KR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>
              <a:lnSpc>
                <a:spcPct val="120000"/>
              </a:lnSpc>
            </a:pPr>
            <a:r>
              <a:rPr lang="en-US" altLang="ko-KR" dirty="0"/>
              <a:t>Check pointer to </a:t>
            </a:r>
            <a:r>
              <a:rPr lang="en-US" altLang="ko-KR" b="1" dirty="0">
                <a:solidFill>
                  <a:srgbClr val="1065E7"/>
                </a:solidFill>
              </a:rPr>
              <a:t>kernel</a:t>
            </a:r>
            <a:r>
              <a:rPr lang="en-US" altLang="ko-KR" dirty="0"/>
              <a:t> address space using </a:t>
            </a:r>
            <a:r>
              <a:rPr lang="en-US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is_user_vaddr</a:t>
            </a:r>
            <a:r>
              <a:rPr lang="en-US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() </a:t>
            </a:r>
            <a:r>
              <a:rPr lang="en-US" dirty="0"/>
              <a:t>and </a:t>
            </a:r>
            <a:r>
              <a:rPr lang="en-US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is_kernel_vaddr</a:t>
            </a:r>
            <a:r>
              <a:rPr lang="en-US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()</a:t>
            </a:r>
          </a:p>
          <a:p>
            <a:pPr>
              <a:lnSpc>
                <a:spcPct val="120000"/>
              </a:lnSpc>
            </a:pPr>
            <a:endParaRPr lang="en-US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>
              <a:lnSpc>
                <a:spcPct val="120000"/>
              </a:lnSpc>
            </a:pPr>
            <a:r>
              <a:rPr lang="en-US" dirty="0"/>
              <a:t>Use these functions to verify the validity of given pointer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E48746-4B94-9946-8A80-06E3354CAF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CA56A43-8FC2-9842-BDDC-5AE4529FF897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35552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838200" y="2771970"/>
            <a:ext cx="10515600" cy="1325563"/>
          </a:xfrm>
        </p:spPr>
        <p:txBody>
          <a:bodyPr/>
          <a:lstStyle/>
          <a:p>
            <a:r>
              <a:rPr lang="en-US" altLang="ko-KR" dirty="0"/>
              <a:t>Base File System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876E6F5-C56C-A813-C414-768234D3477A}"/>
              </a:ext>
            </a:extLst>
          </p:cNvPr>
          <p:cNvSpPr txBox="1"/>
          <p:nvPr/>
        </p:nvSpPr>
        <p:spPr>
          <a:xfrm>
            <a:off x="0" y="0"/>
            <a:ext cx="845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/>
              <a:t>Prj1-2</a:t>
            </a:r>
            <a:endParaRPr kumimoji="1"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44177313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Base File System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112520"/>
            <a:ext cx="10515600" cy="5092337"/>
          </a:xfrm>
        </p:spPr>
        <p:txBody>
          <a:bodyPr/>
          <a:lstStyle/>
          <a:p>
            <a:r>
              <a:rPr lang="en-US" altLang="ko-KR" sz="2400" b="1" dirty="0"/>
              <a:t>To implement system call about file system,</a:t>
            </a:r>
            <a:br>
              <a:rPr lang="en-US" altLang="ko-KR" sz="2400" b="1" dirty="0"/>
            </a:br>
            <a:r>
              <a:rPr lang="en-US" altLang="ko-KR" sz="2400" b="1" dirty="0"/>
              <a:t>we need to understand base file system of Pintos</a:t>
            </a:r>
          </a:p>
          <a:p>
            <a:pPr lvl="1"/>
            <a:r>
              <a:rPr lang="en-US" altLang="ko-KR" sz="2000" dirty="0"/>
              <a:t>We need to interface to the file system code. So, we need to know </a:t>
            </a:r>
            <a:r>
              <a:rPr lang="en-US" altLang="ko-KR" sz="2000" dirty="0">
                <a:solidFill>
                  <a:srgbClr val="FF0000"/>
                </a:solidFill>
              </a:rPr>
              <a:t>API usage</a:t>
            </a:r>
            <a:r>
              <a:rPr lang="en-US" altLang="ko-KR" sz="2000" dirty="0"/>
              <a:t>.</a:t>
            </a:r>
          </a:p>
          <a:p>
            <a:pPr lvl="1"/>
            <a:endParaRPr lang="en-US" altLang="ko-KR" sz="2000" dirty="0"/>
          </a:p>
          <a:p>
            <a:pPr lvl="1"/>
            <a:r>
              <a:rPr lang="en-US" altLang="ko-KR" sz="2000" dirty="0"/>
              <a:t>Pintos provides simple but complete file system. </a:t>
            </a:r>
            <a:br>
              <a:rPr lang="en-US" altLang="ko-KR" sz="2000" dirty="0"/>
            </a:br>
            <a:r>
              <a:rPr lang="en-US" altLang="ko-KR" sz="2000" dirty="0"/>
              <a:t>(Look </a:t>
            </a:r>
            <a:r>
              <a:rPr lang="en-US" altLang="ko-KR" sz="2000" dirty="0" err="1">
                <a:latin typeface="Consolas" panose="020B0609020204030204" pitchFamily="49" charset="0"/>
              </a:rPr>
              <a:t>filesys.h</a:t>
            </a:r>
            <a:r>
              <a:rPr lang="en-US" altLang="ko-KR" sz="2000" dirty="0">
                <a:latin typeface="Consolas" panose="020B0609020204030204" pitchFamily="49" charset="0"/>
              </a:rPr>
              <a:t> </a:t>
            </a:r>
            <a:r>
              <a:rPr lang="en-US" altLang="ko-KR" sz="2000" dirty="0"/>
              <a:t>and </a:t>
            </a:r>
            <a:r>
              <a:rPr lang="en-US" altLang="ko-KR" sz="2000" dirty="0" err="1">
                <a:latin typeface="Consolas" panose="020B0609020204030204" pitchFamily="49" charset="0"/>
              </a:rPr>
              <a:t>file.h</a:t>
            </a:r>
            <a:r>
              <a:rPr lang="en-US" altLang="ko-KR" sz="2000" dirty="0"/>
              <a:t> at </a:t>
            </a:r>
            <a:r>
              <a:rPr lang="en-US" altLang="ko-KR" sz="2000" dirty="0" err="1">
                <a:latin typeface="Consolas" panose="020B0609020204030204" pitchFamily="49" charset="0"/>
              </a:rPr>
              <a:t>filesys</a:t>
            </a:r>
            <a:r>
              <a:rPr lang="en-US" altLang="ko-KR" sz="2000" dirty="0">
                <a:latin typeface="Consolas" panose="020B0609020204030204" pitchFamily="49" charset="0"/>
              </a:rPr>
              <a:t>/</a:t>
            </a:r>
            <a:r>
              <a:rPr lang="en-US" altLang="ko-KR" sz="2000" dirty="0"/>
              <a:t>)</a:t>
            </a:r>
          </a:p>
          <a:p>
            <a:pPr lvl="1"/>
            <a:endParaRPr lang="en-US" altLang="ko-KR" sz="2000" dirty="0"/>
          </a:p>
          <a:p>
            <a:pPr lvl="1"/>
            <a:r>
              <a:rPr lang="en-US" altLang="ko-KR" sz="2000" dirty="0"/>
              <a:t>Don’t need to understand whole structure of file system.</a:t>
            </a:r>
          </a:p>
          <a:p>
            <a:pPr lvl="1"/>
            <a:endParaRPr lang="en-US" altLang="ko-KR" sz="2000" dirty="0"/>
          </a:p>
          <a:p>
            <a:pPr lvl="1"/>
            <a:r>
              <a:rPr lang="en-US" altLang="ko-KR" sz="2000" dirty="0"/>
              <a:t>No need to modify the file system code for this project.</a:t>
            </a:r>
            <a:endParaRPr lang="ko-KR" altLang="en-US" sz="2000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6550AAA-8F92-814C-869C-8228B27748CA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25454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Base File System</a:t>
            </a:r>
            <a:endParaRPr lang="ko-KR" altLang="en-US" dirty="0"/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>
          <a:xfrm>
            <a:off x="838200" y="1112520"/>
            <a:ext cx="10515600" cy="4915056"/>
          </a:xfrm>
        </p:spPr>
        <p:txBody>
          <a:bodyPr/>
          <a:lstStyle/>
          <a:p>
            <a:r>
              <a:rPr lang="en-US" altLang="ko-KR" sz="2400" b="1" dirty="0"/>
              <a:t>Limitation of Base File System (See also p.23-24):</a:t>
            </a:r>
            <a:endParaRPr lang="en-US" altLang="ko-KR" b="1" dirty="0"/>
          </a:p>
          <a:p>
            <a:pPr lvl="1"/>
            <a:r>
              <a:rPr lang="en-US" altLang="ko-KR" dirty="0"/>
              <a:t>No internal synchronization</a:t>
            </a:r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File size is fixed at creation time</a:t>
            </a:r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File data is allocated as a contiguous range of sectors on disks</a:t>
            </a:r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No subdirectories</a:t>
            </a:r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File name length limitation (up to 14 characters)</a:t>
            </a:r>
            <a:endParaRPr lang="ko-KR" altLang="en-US" dirty="0"/>
          </a:p>
        </p:txBody>
      </p:sp>
      <p:sp>
        <p:nvSpPr>
          <p:cNvPr id="10" name="슬라이드 번호 개체 틀 9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6550AAA-8F92-814C-869C-8228B27748CA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65547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Base File System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noFill/>
        </p:spPr>
        <p:txBody>
          <a:bodyPr/>
          <a:lstStyle/>
          <a:p>
            <a:r>
              <a:rPr lang="en-US" altLang="ko-KR" dirty="0"/>
              <a:t>Usage about file system on project 1 </a:t>
            </a:r>
          </a:p>
          <a:p>
            <a:pPr lvl="1"/>
            <a:r>
              <a:rPr lang="en-US" altLang="ko-KR" dirty="0"/>
              <a:t>There is no sub-directories.</a:t>
            </a:r>
          </a:p>
          <a:p>
            <a:pPr lvl="1"/>
            <a:r>
              <a:rPr lang="en-US" altLang="ko-KR" dirty="0"/>
              <a:t>We assume that we work on root directory ( / ) of file system.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File access at Kernel</a:t>
            </a:r>
          </a:p>
          <a:p>
            <a:pPr lvl="1"/>
            <a:r>
              <a:rPr lang="en-US" altLang="ko-KR" dirty="0"/>
              <a:t>Can access through </a:t>
            </a:r>
            <a:r>
              <a:rPr lang="en-US" altLang="ko-KR" dirty="0" err="1">
                <a:latin typeface="Consolas" panose="020B0609020204030204" pitchFamily="49" charset="0"/>
              </a:rPr>
              <a:t>struct</a:t>
            </a:r>
            <a:r>
              <a:rPr lang="en-US" altLang="ko-KR" dirty="0">
                <a:latin typeface="Consolas" panose="020B0609020204030204" pitchFamily="49" charset="0"/>
              </a:rPr>
              <a:t> file </a:t>
            </a:r>
            <a:r>
              <a:rPr lang="en-US" altLang="ko-KR" dirty="0">
                <a:latin typeface="+mj-lt"/>
              </a:rPr>
              <a:t>(See </a:t>
            </a:r>
            <a:r>
              <a:rPr lang="en-US" altLang="ko-KR" dirty="0" err="1">
                <a:latin typeface="Consolas" panose="020B0609020204030204" pitchFamily="49" charset="0"/>
              </a:rPr>
              <a:t>filesys</a:t>
            </a:r>
            <a:r>
              <a:rPr lang="en-US" altLang="ko-KR" dirty="0">
                <a:latin typeface="Consolas" panose="020B0609020204030204" pitchFamily="49" charset="0"/>
              </a:rPr>
              <a:t>/</a:t>
            </a:r>
            <a:r>
              <a:rPr lang="en-US" altLang="ko-KR" dirty="0" err="1">
                <a:latin typeface="Consolas" panose="020B0609020204030204" pitchFamily="49" charset="0"/>
              </a:rPr>
              <a:t>file.c</a:t>
            </a:r>
            <a:r>
              <a:rPr lang="en-US" altLang="ko-KR" dirty="0">
                <a:latin typeface="+mj-lt"/>
              </a:rPr>
              <a:t>)</a:t>
            </a:r>
          </a:p>
          <a:p>
            <a:pPr lvl="1"/>
            <a:r>
              <a:rPr lang="en-US" altLang="ko-KR" dirty="0">
                <a:latin typeface="+mj-lt"/>
              </a:rPr>
              <a:t>(At this project, it doesn’t need to access on </a:t>
            </a:r>
            <a:r>
              <a:rPr lang="en-US" altLang="ko-KR" dirty="0" err="1">
                <a:latin typeface="+mj-lt"/>
              </a:rPr>
              <a:t>inode</a:t>
            </a:r>
            <a:r>
              <a:rPr lang="en-US" altLang="ko-KR" dirty="0">
                <a:latin typeface="+mj-lt"/>
              </a:rPr>
              <a:t> level)</a:t>
            </a:r>
            <a:endParaRPr lang="ko-KR" altLang="en-US" dirty="0">
              <a:latin typeface="+mj-lt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6550AAA-8F92-814C-869C-8228B27748CA}" type="slidenum">
              <a:rPr lang="en-US" smtClean="0"/>
              <a:t>65</a:t>
            </a:fld>
            <a:endParaRPr lang="en-US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7284" y="4370024"/>
            <a:ext cx="8297433" cy="1705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03273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File System Call Implementation</a:t>
            </a:r>
            <a:endParaRPr lang="ko-KR" altLang="en-US" dirty="0"/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09666FFC-4041-A6A9-7C1E-64ECE55C2085}"/>
              </a:ext>
            </a:extLst>
          </p:cNvPr>
          <p:cNvSpPr txBox="1"/>
          <p:nvPr/>
        </p:nvSpPr>
        <p:spPr>
          <a:xfrm>
            <a:off x="0" y="0"/>
            <a:ext cx="845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ko-KR" b="1" dirty="0"/>
              <a:t>Prj1-2</a:t>
            </a:r>
            <a:endParaRPr kumimoji="1"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36354610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File System Call Implementation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Basic file system usage interfaces: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6550AAA-8F92-814C-869C-8228B27748CA}" type="slidenum">
              <a:rPr lang="en-US" smtClean="0"/>
              <a:t>67</a:t>
            </a:fld>
            <a:endParaRPr lang="en-US"/>
          </a:p>
        </p:txBody>
      </p:sp>
      <p:sp>
        <p:nvSpPr>
          <p:cNvPr id="5" name="직사각형 4"/>
          <p:cNvSpPr/>
          <p:nvPr/>
        </p:nvSpPr>
        <p:spPr>
          <a:xfrm>
            <a:off x="2839915" y="1776046"/>
            <a:ext cx="2497015" cy="6242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  <a:latin typeface="Consolas" panose="020B0609020204030204" pitchFamily="49" charset="0"/>
              </a:rPr>
              <a:t>fopen</a:t>
            </a:r>
            <a:r>
              <a:rPr lang="en-US" altLang="ko-KR" dirty="0">
                <a:solidFill>
                  <a:schemeClr val="tx1"/>
                </a:solidFill>
                <a:latin typeface="Consolas" panose="020B0609020204030204" pitchFamily="49" charset="0"/>
              </a:rPr>
              <a:t>(…) / open(…)</a:t>
            </a:r>
            <a:endParaRPr lang="ko-KR" alt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2839915" y="3063825"/>
            <a:ext cx="2497015" cy="6242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+mj-lt"/>
              </a:rPr>
              <a:t>Interrupt &amp; </a:t>
            </a:r>
            <a:br>
              <a:rPr lang="en-US" altLang="ko-KR" dirty="0">
                <a:solidFill>
                  <a:schemeClr val="tx1"/>
                </a:solidFill>
                <a:latin typeface="+mj-lt"/>
              </a:rPr>
            </a:br>
            <a:r>
              <a:rPr lang="en-US" altLang="ko-KR" dirty="0">
                <a:solidFill>
                  <a:schemeClr val="tx1"/>
                </a:solidFill>
                <a:latin typeface="+mj-lt"/>
              </a:rPr>
              <a:t>System call handling</a:t>
            </a:r>
            <a:endParaRPr lang="ko-KR" altLang="en-US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2839915" y="4351604"/>
            <a:ext cx="2497015" cy="6242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Consolas" panose="020B0609020204030204" pitchFamily="49" charset="0"/>
              </a:rPr>
              <a:t>open(…)</a:t>
            </a:r>
            <a:endParaRPr lang="ko-KR" alt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아래쪽 화살표 7"/>
          <p:cNvSpPr/>
          <p:nvPr/>
        </p:nvSpPr>
        <p:spPr>
          <a:xfrm>
            <a:off x="3817513" y="2480961"/>
            <a:ext cx="580292" cy="509954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아래쪽 화살표 8"/>
          <p:cNvSpPr/>
          <p:nvPr/>
        </p:nvSpPr>
        <p:spPr>
          <a:xfrm>
            <a:off x="3817513" y="3768740"/>
            <a:ext cx="580292" cy="509954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6321669" y="1776046"/>
            <a:ext cx="448407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Call </a:t>
            </a:r>
            <a:r>
              <a:rPr lang="en-US" altLang="ko-KR" dirty="0" err="1">
                <a:latin typeface="Consolas" panose="020B0609020204030204" pitchFamily="49" charset="0"/>
              </a:rPr>
              <a:t>fopen</a:t>
            </a:r>
            <a:r>
              <a:rPr lang="en-US" altLang="ko-KR" dirty="0">
                <a:latin typeface="Consolas" panose="020B0609020204030204" pitchFamily="49" charset="0"/>
              </a:rPr>
              <a:t>(or open)</a:t>
            </a:r>
            <a:r>
              <a:rPr lang="en-US" altLang="ko-KR" dirty="0"/>
              <a:t> at user program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Interrupt 0x30 and</a:t>
            </a:r>
            <a:br>
              <a:rPr lang="en-US" altLang="ko-KR" dirty="0"/>
            </a:br>
            <a:r>
              <a:rPr lang="en-US" altLang="ko-KR" dirty="0"/>
              <a:t>call system call handler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Call </a:t>
            </a:r>
            <a:r>
              <a:rPr lang="en-US" altLang="ko-KR" dirty="0">
                <a:latin typeface="Consolas" panose="020B0609020204030204" pitchFamily="49" charset="0"/>
              </a:rPr>
              <a:t>open</a:t>
            </a:r>
            <a:r>
              <a:rPr lang="en-US" altLang="ko-KR" dirty="0"/>
              <a:t> system call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At internal implementation of </a:t>
            </a:r>
            <a:r>
              <a:rPr lang="en-US" altLang="ko-KR" dirty="0">
                <a:latin typeface="Consolas" panose="020B0609020204030204" pitchFamily="49" charset="0"/>
              </a:rPr>
              <a:t>open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en-US" altLang="ko-KR" dirty="0"/>
              <a:t>it calls </a:t>
            </a:r>
            <a:r>
              <a:rPr lang="en-US" altLang="ko-KR" dirty="0" err="1">
                <a:latin typeface="Consolas" panose="020B0609020204030204" pitchFamily="49" charset="0"/>
              </a:rPr>
              <a:t>filesys_open</a:t>
            </a:r>
            <a:r>
              <a:rPr lang="en-US" altLang="ko-KR" dirty="0"/>
              <a:t> function and open that file</a:t>
            </a:r>
          </a:p>
        </p:txBody>
      </p:sp>
      <p:cxnSp>
        <p:nvCxnSpPr>
          <p:cNvPr id="12" name="직선 연결선 11"/>
          <p:cNvCxnSpPr/>
          <p:nvPr/>
        </p:nvCxnSpPr>
        <p:spPr>
          <a:xfrm>
            <a:off x="1371600" y="2453057"/>
            <a:ext cx="4950069" cy="0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292469" y="2012082"/>
            <a:ext cx="14155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User</a:t>
            </a:r>
            <a:endParaRPr lang="ko-KR" alt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1292469" y="2502131"/>
            <a:ext cx="14155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Kernel</a:t>
            </a:r>
            <a:endParaRPr lang="ko-KR" altLang="en-US" dirty="0"/>
          </a:p>
        </p:txBody>
      </p:sp>
      <p:sp>
        <p:nvSpPr>
          <p:cNvPr id="15" name="직사각형 14"/>
          <p:cNvSpPr/>
          <p:nvPr/>
        </p:nvSpPr>
        <p:spPr>
          <a:xfrm>
            <a:off x="2839915" y="5631631"/>
            <a:ext cx="2497015" cy="6242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  <a:latin typeface="Consolas" panose="020B0609020204030204" pitchFamily="49" charset="0"/>
              </a:rPr>
              <a:t>filesys_open</a:t>
            </a:r>
            <a:r>
              <a:rPr lang="en-US" altLang="ko-KR" dirty="0">
                <a:solidFill>
                  <a:schemeClr val="tx1"/>
                </a:solidFill>
                <a:latin typeface="Consolas" panose="020B0609020204030204" pitchFamily="49" charset="0"/>
              </a:rPr>
              <a:t>(…)</a:t>
            </a:r>
            <a:endParaRPr lang="ko-KR" alt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아래쪽 화살표 15"/>
          <p:cNvSpPr/>
          <p:nvPr/>
        </p:nvSpPr>
        <p:spPr>
          <a:xfrm>
            <a:off x="3817513" y="5048767"/>
            <a:ext cx="580292" cy="509954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/>
          <p:cNvSpPr/>
          <p:nvPr/>
        </p:nvSpPr>
        <p:spPr>
          <a:xfrm>
            <a:off x="6664569" y="4206240"/>
            <a:ext cx="3807069" cy="45749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" name="직선 화살표 연결선 18"/>
          <p:cNvCxnSpPr/>
          <p:nvPr/>
        </p:nvCxnSpPr>
        <p:spPr>
          <a:xfrm flipH="1">
            <a:off x="9680332" y="3226550"/>
            <a:ext cx="668216" cy="952729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425354" y="2857218"/>
            <a:ext cx="2778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We need to implement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99072647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File System Call Implementation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Example in Pintos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6550AAA-8F92-814C-869C-8228B27748CA}" type="slidenum">
              <a:rPr lang="en-US" smtClean="0"/>
              <a:t>68</a:t>
            </a:fld>
            <a:endParaRPr 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300982"/>
            <a:ext cx="3364523" cy="2171772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7314" y="2491166"/>
            <a:ext cx="3168838" cy="1522688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0743" y="2343698"/>
            <a:ext cx="3045377" cy="1817623"/>
          </a:xfrm>
          <a:prstGeom prst="rect">
            <a:avLst/>
          </a:prstGeom>
        </p:spPr>
      </p:pic>
      <p:sp>
        <p:nvSpPr>
          <p:cNvPr id="9" name="직사각형 8"/>
          <p:cNvSpPr/>
          <p:nvPr/>
        </p:nvSpPr>
        <p:spPr>
          <a:xfrm>
            <a:off x="2079812" y="3797384"/>
            <a:ext cx="1703294" cy="17398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6285393" y="3310043"/>
            <a:ext cx="1492868" cy="19785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5" name="구부러진 연결선 24"/>
          <p:cNvCxnSpPr>
            <a:stCxn id="9" idx="3"/>
          </p:cNvCxnSpPr>
          <p:nvPr/>
        </p:nvCxnSpPr>
        <p:spPr>
          <a:xfrm flipV="1">
            <a:off x="3783106" y="2735712"/>
            <a:ext cx="854208" cy="1148663"/>
          </a:xfrm>
          <a:prstGeom prst="curved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구부러진 연결선 33"/>
          <p:cNvCxnSpPr>
            <a:stCxn id="11" idx="3"/>
          </p:cNvCxnSpPr>
          <p:nvPr/>
        </p:nvCxnSpPr>
        <p:spPr>
          <a:xfrm flipV="1">
            <a:off x="7778261" y="2572360"/>
            <a:ext cx="462482" cy="836612"/>
          </a:xfrm>
          <a:prstGeom prst="curvedConnector3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470439" y="5181890"/>
            <a:ext cx="950258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 dirty="0"/>
              <a:t>System call acts like interfaces for calling </a:t>
            </a:r>
            <a:r>
              <a:rPr lang="en-US" altLang="ko-KR" sz="2800" b="1" dirty="0" err="1">
                <a:latin typeface="Consolas" panose="020B0609020204030204" pitchFamily="49" charset="0"/>
              </a:rPr>
              <a:t>file_xxx</a:t>
            </a:r>
            <a:endParaRPr lang="ko-KR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43337868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File System Call Implementation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latin typeface="+mj-lt"/>
              </a:rPr>
              <a:t>File Descriptor (Similar to </a:t>
            </a:r>
            <a:r>
              <a:rPr lang="en-US" altLang="ko-KR" dirty="0">
                <a:latin typeface="Consolas" panose="020B0609020204030204" pitchFamily="49" charset="0"/>
              </a:rPr>
              <a:t>FILE *</a:t>
            </a:r>
            <a:r>
              <a:rPr lang="en-US" altLang="ko-KR" dirty="0">
                <a:latin typeface="+mj-lt"/>
              </a:rPr>
              <a:t> of standard C)</a:t>
            </a:r>
          </a:p>
          <a:p>
            <a:pPr lvl="1"/>
            <a:r>
              <a:rPr lang="en-US" altLang="ko-KR" dirty="0">
                <a:latin typeface="+mj-lt"/>
              </a:rPr>
              <a:t>Return value of </a:t>
            </a:r>
            <a:r>
              <a:rPr lang="en-US" altLang="ko-KR" dirty="0">
                <a:latin typeface="Consolas" panose="020B0609020204030204" pitchFamily="49" charset="0"/>
              </a:rPr>
              <a:t>open</a:t>
            </a:r>
            <a:r>
              <a:rPr lang="en-US" altLang="ko-KR" dirty="0">
                <a:latin typeface="+mj-lt"/>
              </a:rPr>
              <a:t>, </a:t>
            </a:r>
            <a:r>
              <a:rPr lang="en-US" altLang="ko-KR" dirty="0">
                <a:latin typeface="Consolas" panose="020B0609020204030204" pitchFamily="49" charset="0"/>
              </a:rPr>
              <a:t>create</a:t>
            </a:r>
          </a:p>
          <a:p>
            <a:pPr lvl="1"/>
            <a:endParaRPr lang="en-US" altLang="ko-KR" dirty="0">
              <a:latin typeface="+mj-lt"/>
            </a:endParaRPr>
          </a:p>
          <a:p>
            <a:pPr lvl="1"/>
            <a:r>
              <a:rPr lang="en-US" altLang="ko-KR" dirty="0">
                <a:latin typeface="+mj-lt"/>
              </a:rPr>
              <a:t>At Pintos, each thread get and manage independent file descriptor.</a:t>
            </a:r>
          </a:p>
          <a:p>
            <a:pPr lvl="1"/>
            <a:endParaRPr lang="en-US" altLang="ko-KR" dirty="0">
              <a:latin typeface="+mj-lt"/>
            </a:endParaRPr>
          </a:p>
          <a:p>
            <a:pPr lvl="1"/>
            <a:r>
              <a:rPr lang="en-US" altLang="ko-KR" dirty="0">
                <a:latin typeface="+mj-lt"/>
              </a:rPr>
              <a:t>File descriptor of STDIN, STDOUT, STDERR</a:t>
            </a:r>
          </a:p>
          <a:p>
            <a:pPr lvl="2"/>
            <a:r>
              <a:rPr lang="en-US" altLang="ko-KR" dirty="0">
                <a:latin typeface="+mj-lt"/>
              </a:rPr>
              <a:t>STDIN = 0</a:t>
            </a:r>
          </a:p>
          <a:p>
            <a:pPr lvl="2"/>
            <a:r>
              <a:rPr lang="en-US" altLang="ko-KR" dirty="0">
                <a:latin typeface="+mj-lt"/>
              </a:rPr>
              <a:t>STDOUT = 1</a:t>
            </a:r>
            <a:endParaRPr lang="en-US" altLang="ko-KR" dirty="0"/>
          </a:p>
          <a:p>
            <a:pPr lvl="2"/>
            <a:r>
              <a:rPr lang="en-US" altLang="ko-KR" dirty="0">
                <a:latin typeface="+mj-lt"/>
              </a:rPr>
              <a:t>(At Linux or other OSes, STDERR = 2)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6550AAA-8F92-814C-869C-8228B27748CA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88814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File System Call Implementation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latin typeface="Consolas" panose="020B0609020204030204" pitchFamily="49" charset="0"/>
              </a:rPr>
              <a:t>read</a:t>
            </a:r>
            <a:r>
              <a:rPr lang="en-US" altLang="ko-KR" dirty="0"/>
              <a:t> and </a:t>
            </a:r>
            <a:r>
              <a:rPr lang="en-US" altLang="ko-KR" dirty="0">
                <a:latin typeface="Consolas" panose="020B0609020204030204" pitchFamily="49" charset="0"/>
              </a:rPr>
              <a:t>write </a:t>
            </a:r>
            <a:r>
              <a:rPr lang="en-US" altLang="ko-KR" dirty="0"/>
              <a:t>with</a:t>
            </a:r>
            <a:r>
              <a:rPr lang="en-US" altLang="ko-KR" dirty="0">
                <a:latin typeface="Consolas" panose="020B0609020204030204" pitchFamily="49" charset="0"/>
              </a:rPr>
              <a:t> </a:t>
            </a:r>
            <a:r>
              <a:rPr lang="en-US" altLang="ko-KR" dirty="0" err="1">
                <a:latin typeface="Consolas" panose="020B0609020204030204" pitchFamily="49" charset="0"/>
              </a:rPr>
              <a:t>stdin</a:t>
            </a:r>
            <a:r>
              <a:rPr lang="en-US" altLang="ko-KR" dirty="0">
                <a:latin typeface="Consolas" panose="020B0609020204030204" pitchFamily="49" charset="0"/>
              </a:rPr>
              <a:t>/</a:t>
            </a:r>
            <a:r>
              <a:rPr lang="en-US" altLang="ko-KR" dirty="0" err="1">
                <a:latin typeface="Consolas" panose="020B0609020204030204" pitchFamily="49" charset="0"/>
              </a:rPr>
              <a:t>stdout</a:t>
            </a:r>
            <a:endParaRPr lang="en-US" altLang="ko-KR" dirty="0">
              <a:latin typeface="Consolas" panose="020B0609020204030204" pitchFamily="49" charset="0"/>
            </a:endParaRPr>
          </a:p>
          <a:p>
            <a:pPr lvl="1"/>
            <a:r>
              <a:rPr lang="en-US" altLang="ko-KR" dirty="0"/>
              <a:t>Read from </a:t>
            </a:r>
            <a:r>
              <a:rPr lang="en-US" altLang="ko-KR" dirty="0" err="1"/>
              <a:t>stdin</a:t>
            </a:r>
            <a:r>
              <a:rPr lang="en-US" altLang="ko-KR" dirty="0"/>
              <a:t> – read(0)</a:t>
            </a:r>
          </a:p>
          <a:p>
            <a:pPr lvl="2"/>
            <a:r>
              <a:rPr lang="en-US" altLang="ko-KR" dirty="0"/>
              <a:t>Use </a:t>
            </a:r>
            <a:r>
              <a:rPr lang="en-US" altLang="ko-KR" dirty="0">
                <a:solidFill>
                  <a:srgbClr val="0070C0"/>
                </a:solidFill>
                <a:latin typeface="Consolas" panose="020B0609020204030204" pitchFamily="49" charset="0"/>
              </a:rPr>
              <a:t>uint8_t</a:t>
            </a:r>
            <a:r>
              <a:rPr lang="en-US" altLang="ko-KR" dirty="0">
                <a:latin typeface="Consolas" panose="020B0609020204030204" pitchFamily="49" charset="0"/>
              </a:rPr>
              <a:t> </a:t>
            </a:r>
            <a:r>
              <a:rPr lang="en-US" altLang="ko-KR" dirty="0" err="1">
                <a:latin typeface="Consolas" panose="020B0609020204030204" pitchFamily="49" charset="0"/>
              </a:rPr>
              <a:t>input_getc</a:t>
            </a:r>
            <a:r>
              <a:rPr lang="en-US" altLang="ko-KR" dirty="0">
                <a:latin typeface="Consolas" panose="020B0609020204030204" pitchFamily="49" charset="0"/>
              </a:rPr>
              <a:t>(void)</a:t>
            </a:r>
            <a:r>
              <a:rPr lang="en-US" altLang="ko-KR" dirty="0"/>
              <a:t> (</a:t>
            </a:r>
            <a:r>
              <a:rPr lang="en-US" altLang="ko-KR" dirty="0">
                <a:latin typeface="Consolas" panose="020B0609020204030204" pitchFamily="49" charset="0"/>
              </a:rPr>
              <a:t>devices/</a:t>
            </a:r>
            <a:r>
              <a:rPr lang="en-US" altLang="ko-KR" dirty="0" err="1">
                <a:latin typeface="Consolas" panose="020B0609020204030204" pitchFamily="49" charset="0"/>
              </a:rPr>
              <a:t>input.c</a:t>
            </a:r>
            <a:r>
              <a:rPr lang="en-US" altLang="ko-KR" dirty="0"/>
              <a:t>)</a:t>
            </a:r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Write to </a:t>
            </a:r>
            <a:r>
              <a:rPr lang="en-US" altLang="ko-KR" dirty="0" err="1"/>
              <a:t>stdout</a:t>
            </a:r>
            <a:r>
              <a:rPr lang="en-US" altLang="ko-KR" dirty="0"/>
              <a:t> – write(1)</a:t>
            </a:r>
          </a:p>
          <a:p>
            <a:pPr lvl="2"/>
            <a:r>
              <a:rPr lang="en-US" altLang="ko-KR" dirty="0"/>
              <a:t>Use </a:t>
            </a:r>
            <a:r>
              <a:rPr lang="en-US" altLang="ko-KR" dirty="0">
                <a:solidFill>
                  <a:srgbClr val="0070C0"/>
                </a:solidFill>
                <a:latin typeface="Consolas" panose="020B0609020204030204" pitchFamily="49" charset="0"/>
              </a:rPr>
              <a:t>void</a:t>
            </a:r>
            <a:r>
              <a:rPr lang="en-US" altLang="ko-KR" dirty="0">
                <a:latin typeface="Consolas" panose="020B0609020204030204" pitchFamily="49" charset="0"/>
              </a:rPr>
              <a:t> </a:t>
            </a:r>
            <a:r>
              <a:rPr lang="en-US" altLang="ko-KR" dirty="0" err="1">
                <a:latin typeface="Consolas" panose="020B0609020204030204" pitchFamily="49" charset="0"/>
              </a:rPr>
              <a:t>putbuf</a:t>
            </a:r>
            <a:r>
              <a:rPr lang="en-US" altLang="ko-KR" dirty="0">
                <a:latin typeface="Consolas" panose="020B0609020204030204" pitchFamily="49" charset="0"/>
              </a:rPr>
              <a:t>(…) </a:t>
            </a:r>
            <a:r>
              <a:rPr lang="en-US" altLang="ko-KR" dirty="0"/>
              <a:t>(</a:t>
            </a:r>
            <a:r>
              <a:rPr lang="en-US" altLang="ko-KR" dirty="0">
                <a:latin typeface="Consolas" panose="020B0609020204030204" pitchFamily="49" charset="0"/>
              </a:rPr>
              <a:t>lib/kernel/</a:t>
            </a:r>
            <a:r>
              <a:rPr lang="en-US" altLang="ko-KR" dirty="0" err="1">
                <a:latin typeface="Consolas" panose="020B0609020204030204" pitchFamily="49" charset="0"/>
              </a:rPr>
              <a:t>console.c</a:t>
            </a:r>
            <a:r>
              <a:rPr lang="en-US" altLang="ko-KR" dirty="0"/>
              <a:t>)</a:t>
            </a:r>
          </a:p>
          <a:p>
            <a:pPr lvl="2"/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6550AAA-8F92-814C-869C-8228B27748CA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4803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Useful APIs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>
                <a:latin typeface="+mj-lt"/>
              </a:rPr>
              <a:t>filesys</a:t>
            </a:r>
            <a:r>
              <a:rPr lang="en-US" altLang="ko-KR" dirty="0">
                <a:latin typeface="+mj-lt"/>
              </a:rPr>
              <a:t>/</a:t>
            </a:r>
            <a:r>
              <a:rPr lang="en-US" altLang="ko-KR" dirty="0" err="1">
                <a:latin typeface="+mj-lt"/>
              </a:rPr>
              <a:t>filesys.h</a:t>
            </a:r>
            <a:endParaRPr lang="en-US" altLang="ko-KR" dirty="0">
              <a:latin typeface="+mj-lt"/>
            </a:endParaRPr>
          </a:p>
          <a:p>
            <a:endParaRPr lang="en-US" altLang="ko-KR" dirty="0">
              <a:latin typeface="+mj-lt"/>
            </a:endParaRPr>
          </a:p>
          <a:p>
            <a:endParaRPr lang="en-US" altLang="ko-KR" dirty="0">
              <a:latin typeface="+mj-lt"/>
            </a:endParaRPr>
          </a:p>
          <a:p>
            <a:r>
              <a:rPr lang="en-US" altLang="ko-KR" dirty="0" err="1">
                <a:latin typeface="+mj-lt"/>
              </a:rPr>
              <a:t>filesys</a:t>
            </a:r>
            <a:r>
              <a:rPr lang="en-US" altLang="ko-KR" dirty="0">
                <a:latin typeface="+mj-lt"/>
              </a:rPr>
              <a:t>/</a:t>
            </a:r>
            <a:r>
              <a:rPr lang="en-US" altLang="ko-KR" dirty="0" err="1">
                <a:latin typeface="+mj-lt"/>
              </a:rPr>
              <a:t>file.h</a:t>
            </a:r>
            <a:endParaRPr lang="en-US" altLang="ko-KR" dirty="0">
              <a:latin typeface="+mj-lt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6550AAA-8F92-814C-869C-8228B27748CA}" type="slidenum">
              <a:rPr lang="en-US" smtClean="0"/>
              <a:t>71</a:t>
            </a:fld>
            <a:endParaRPr 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7353" y="1714112"/>
            <a:ext cx="4897295" cy="493845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6551" y="3303394"/>
            <a:ext cx="4478899" cy="2661276"/>
          </a:xfrm>
          <a:prstGeom prst="rect">
            <a:avLst/>
          </a:prstGeom>
        </p:spPr>
      </p:pic>
      <p:sp>
        <p:nvSpPr>
          <p:cNvPr id="7" name="오른쪽 중괄호 6"/>
          <p:cNvSpPr/>
          <p:nvPr/>
        </p:nvSpPr>
        <p:spPr>
          <a:xfrm>
            <a:off x="8642838" y="1934308"/>
            <a:ext cx="738554" cy="3789484"/>
          </a:xfrm>
          <a:prstGeom prst="rightBrace">
            <a:avLst>
              <a:gd name="adj1" fmla="val 76190"/>
              <a:gd name="adj2" fmla="val 50000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9586365" y="3644384"/>
            <a:ext cx="22041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/>
              <a:t>Kernel Functions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16730529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Denying Writes to Executable files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112520"/>
            <a:ext cx="10670770" cy="4779240"/>
          </a:xfrm>
        </p:spPr>
        <p:txBody>
          <a:bodyPr/>
          <a:lstStyle/>
          <a:p>
            <a:r>
              <a:rPr lang="en-US" altLang="ko-KR" dirty="0"/>
              <a:t>Process is executed after load to memory.</a:t>
            </a:r>
          </a:p>
          <a:p>
            <a:pPr lvl="1"/>
            <a:r>
              <a:rPr lang="en-US" altLang="ko-KR" dirty="0"/>
              <a:t>So, removing executable file may not be a problem after executed.</a:t>
            </a:r>
          </a:p>
          <a:p>
            <a:endParaRPr lang="en-US" altLang="ko-KR" dirty="0"/>
          </a:p>
          <a:p>
            <a:r>
              <a:rPr lang="en-US" altLang="ko-KR" dirty="0"/>
              <a:t>But Pintos doesn’t want to delete executable file of running program.</a:t>
            </a:r>
          </a:p>
          <a:p>
            <a:endParaRPr lang="en-US" altLang="ko-KR" dirty="0"/>
          </a:p>
          <a:p>
            <a:r>
              <a:rPr lang="en-US" altLang="ko-KR" dirty="0"/>
              <a:t>These file system function may be useful for this problem:</a:t>
            </a:r>
          </a:p>
          <a:p>
            <a:pPr lvl="1"/>
            <a:r>
              <a:rPr lang="en-US" altLang="ko-KR" dirty="0">
                <a:solidFill>
                  <a:srgbClr val="0070C0"/>
                </a:solidFill>
                <a:latin typeface="Consolas" panose="020B0609020204030204" pitchFamily="49" charset="0"/>
              </a:rPr>
              <a:t>void</a:t>
            </a:r>
            <a:r>
              <a:rPr lang="en-US" altLang="ko-KR" dirty="0">
                <a:latin typeface="Consolas" panose="020B0609020204030204" pitchFamily="49" charset="0"/>
              </a:rPr>
              <a:t> </a:t>
            </a:r>
            <a:r>
              <a:rPr lang="en-US" altLang="ko-KR" dirty="0" err="1">
                <a:latin typeface="Consolas" panose="020B0609020204030204" pitchFamily="49" charset="0"/>
              </a:rPr>
              <a:t>file_deny_write</a:t>
            </a:r>
            <a:r>
              <a:rPr lang="en-US" altLang="ko-KR" dirty="0">
                <a:latin typeface="Consolas" panose="020B0609020204030204" pitchFamily="49" charset="0"/>
              </a:rPr>
              <a:t>(</a:t>
            </a:r>
            <a:r>
              <a:rPr lang="en-US" altLang="ko-KR" dirty="0" err="1">
                <a:solidFill>
                  <a:srgbClr val="0070C0"/>
                </a:solidFill>
                <a:latin typeface="Consolas" panose="020B0609020204030204" pitchFamily="49" charset="0"/>
              </a:rPr>
              <a:t>struct</a:t>
            </a:r>
            <a:r>
              <a:rPr lang="en-US" altLang="ko-KR" dirty="0">
                <a:latin typeface="Consolas" panose="020B0609020204030204" pitchFamily="49" charset="0"/>
              </a:rPr>
              <a:t> file *)</a:t>
            </a:r>
            <a:r>
              <a:rPr lang="en-US" altLang="ko-KR" dirty="0"/>
              <a:t> (</a:t>
            </a:r>
            <a:r>
              <a:rPr lang="en-US" altLang="ko-KR" dirty="0" err="1"/>
              <a:t>filesys</a:t>
            </a:r>
            <a:r>
              <a:rPr lang="en-US" altLang="ko-KR" dirty="0"/>
              <a:t>/</a:t>
            </a:r>
            <a:r>
              <a:rPr lang="en-US" altLang="ko-KR" dirty="0" err="1"/>
              <a:t>file.c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>
                <a:solidFill>
                  <a:srgbClr val="0070C0"/>
                </a:solidFill>
                <a:latin typeface="Consolas" panose="020B0609020204030204" pitchFamily="49" charset="0"/>
              </a:rPr>
              <a:t>void</a:t>
            </a:r>
            <a:r>
              <a:rPr lang="en-US" altLang="ko-KR" dirty="0">
                <a:latin typeface="Consolas" panose="020B0609020204030204" pitchFamily="49" charset="0"/>
              </a:rPr>
              <a:t> </a:t>
            </a:r>
            <a:r>
              <a:rPr lang="en-US" altLang="ko-KR" dirty="0" err="1">
                <a:latin typeface="Consolas" panose="020B0609020204030204" pitchFamily="49" charset="0"/>
              </a:rPr>
              <a:t>file_allow_write</a:t>
            </a:r>
            <a:r>
              <a:rPr lang="en-US" altLang="ko-KR" dirty="0">
                <a:latin typeface="Consolas" panose="020B0609020204030204" pitchFamily="49" charset="0"/>
              </a:rPr>
              <a:t>(</a:t>
            </a:r>
            <a:r>
              <a:rPr lang="en-US" altLang="ko-KR" dirty="0" err="1">
                <a:solidFill>
                  <a:srgbClr val="0070C0"/>
                </a:solidFill>
                <a:latin typeface="Consolas" panose="020B0609020204030204" pitchFamily="49" charset="0"/>
              </a:rPr>
              <a:t>struct</a:t>
            </a:r>
            <a:r>
              <a:rPr lang="en-US" altLang="ko-KR" dirty="0">
                <a:latin typeface="Consolas" panose="020B0609020204030204" pitchFamily="49" charset="0"/>
              </a:rPr>
              <a:t> file *)</a:t>
            </a:r>
            <a:r>
              <a:rPr lang="en-US" altLang="ko-KR" dirty="0"/>
              <a:t> (</a:t>
            </a:r>
            <a:r>
              <a:rPr lang="en-US" altLang="ko-KR" dirty="0" err="1"/>
              <a:t>filesys</a:t>
            </a:r>
            <a:r>
              <a:rPr lang="en-US" altLang="ko-KR" dirty="0"/>
              <a:t>/</a:t>
            </a:r>
            <a:r>
              <a:rPr lang="en-US" altLang="ko-KR" dirty="0" err="1"/>
              <a:t>file.c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6550AAA-8F92-814C-869C-8228B27748CA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10493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Protect Critical Section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112519"/>
            <a:ext cx="10515600" cy="5117951"/>
          </a:xfrm>
        </p:spPr>
        <p:txBody>
          <a:bodyPr/>
          <a:lstStyle/>
          <a:p>
            <a:r>
              <a:rPr lang="en-US" altLang="ko-KR" dirty="0"/>
              <a:t>Critical Section</a:t>
            </a:r>
          </a:p>
          <a:p>
            <a:pPr lvl="1"/>
            <a:r>
              <a:rPr lang="en-US" altLang="ko-KR" dirty="0"/>
              <a:t>N Processes all competing to use some shared data</a:t>
            </a:r>
          </a:p>
          <a:p>
            <a:pPr lvl="1"/>
            <a:r>
              <a:rPr lang="en-US" altLang="ko-KR" dirty="0"/>
              <a:t>Each Process has a code segment, called </a:t>
            </a:r>
            <a:r>
              <a:rPr lang="en-US" altLang="ko-KR" dirty="0">
                <a:solidFill>
                  <a:srgbClr val="FF0000"/>
                </a:solidFill>
              </a:rPr>
              <a:t>critical section</a:t>
            </a:r>
            <a:r>
              <a:rPr lang="en-US" altLang="ko-KR" dirty="0"/>
              <a:t>, in which the </a:t>
            </a:r>
            <a:r>
              <a:rPr lang="en-US" altLang="ko-KR" dirty="0">
                <a:solidFill>
                  <a:srgbClr val="FF0000"/>
                </a:solidFill>
              </a:rPr>
              <a:t>shared data is accessed</a:t>
            </a:r>
          </a:p>
          <a:p>
            <a:pPr lvl="1"/>
            <a:r>
              <a:rPr lang="en-US" altLang="ko-KR" dirty="0"/>
              <a:t>Problem: Ensure that when one process is executing in its critical section, </a:t>
            </a:r>
            <a:br>
              <a:rPr lang="en-US" altLang="ko-KR" dirty="0"/>
            </a:br>
            <a:r>
              <a:rPr lang="en-US" altLang="ko-KR" dirty="0">
                <a:solidFill>
                  <a:srgbClr val="FF0000"/>
                </a:solidFill>
              </a:rPr>
              <a:t>no other process can execute</a:t>
            </a:r>
            <a:r>
              <a:rPr lang="en-US" altLang="ko-KR" dirty="0"/>
              <a:t> in its critical section</a:t>
            </a:r>
          </a:p>
          <a:p>
            <a:endParaRPr lang="en-US" altLang="ko-KR" dirty="0"/>
          </a:p>
          <a:p>
            <a:r>
              <a:rPr lang="en-US" altLang="ko-KR" dirty="0"/>
              <a:t>Using test case of Pintos, check code segment that should be considered as critical section</a:t>
            </a:r>
          </a:p>
          <a:p>
            <a:pPr lvl="1"/>
            <a:r>
              <a:rPr lang="en-US" altLang="ko-KR" dirty="0"/>
              <a:t>Protect this code segment using synchronization APIs.</a:t>
            </a:r>
          </a:p>
          <a:p>
            <a:pPr lvl="1"/>
            <a:r>
              <a:rPr lang="en-US" altLang="ko-KR" dirty="0"/>
              <a:t>ex) </a:t>
            </a:r>
            <a:r>
              <a:rPr lang="en-US" altLang="ko-KR" dirty="0" err="1"/>
              <a:t>syn</a:t>
            </a:r>
            <a:r>
              <a:rPr lang="en-US" altLang="ko-KR" dirty="0"/>
              <a:t>-read, </a:t>
            </a:r>
            <a:r>
              <a:rPr lang="en-US" altLang="ko-KR" dirty="0" err="1"/>
              <a:t>syn</a:t>
            </a:r>
            <a:r>
              <a:rPr lang="en-US" altLang="ko-KR" dirty="0"/>
              <a:t>-write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6550AAA-8F92-814C-869C-8228B27748CA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63620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Critical Section – Example in Pintos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6550AAA-8F92-814C-869C-8228B27748CA}" type="slidenum">
              <a:rPr lang="en-US" smtClean="0"/>
              <a:t>74</a:t>
            </a:fld>
            <a:endParaRPr lang="en-US"/>
          </a:p>
        </p:txBody>
      </p:sp>
      <p:cxnSp>
        <p:nvCxnSpPr>
          <p:cNvPr id="6" name="직선 연결선 5"/>
          <p:cNvCxnSpPr/>
          <p:nvPr/>
        </p:nvCxnSpPr>
        <p:spPr>
          <a:xfrm>
            <a:off x="0" y="2779060"/>
            <a:ext cx="12192000" cy="0"/>
          </a:xfrm>
          <a:prstGeom prst="line">
            <a:avLst/>
          </a:prstGeom>
          <a:ln w="381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222376" y="1111624"/>
            <a:ext cx="1156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thread 1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7288305" y="1111624"/>
            <a:ext cx="1156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thread 2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222376" y="2173052"/>
            <a:ext cx="1156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read</a:t>
            </a:r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7288305" y="2173052"/>
            <a:ext cx="1156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write</a:t>
            </a:r>
            <a:endParaRPr lang="ko-KR" altLang="en-US" dirty="0"/>
          </a:p>
        </p:txBody>
      </p:sp>
      <p:sp>
        <p:nvSpPr>
          <p:cNvPr id="24" name="자유형 23"/>
          <p:cNvSpPr/>
          <p:nvPr/>
        </p:nvSpPr>
        <p:spPr>
          <a:xfrm>
            <a:off x="4602686" y="1485694"/>
            <a:ext cx="395828" cy="687358"/>
          </a:xfrm>
          <a:custGeom>
            <a:avLst/>
            <a:gdLst>
              <a:gd name="connsiteX0" fmla="*/ 681449 w 681449"/>
              <a:gd name="connsiteY0" fmla="*/ 0 h 1183341"/>
              <a:gd name="connsiteX1" fmla="*/ 132 w 681449"/>
              <a:gd name="connsiteY1" fmla="*/ 233083 h 1183341"/>
              <a:gd name="connsiteX2" fmla="*/ 618696 w 681449"/>
              <a:gd name="connsiteY2" fmla="*/ 376518 h 1183341"/>
              <a:gd name="connsiteX3" fmla="*/ 89779 w 681449"/>
              <a:gd name="connsiteY3" fmla="*/ 600635 h 1183341"/>
              <a:gd name="connsiteX4" fmla="*/ 529049 w 681449"/>
              <a:gd name="connsiteY4" fmla="*/ 806824 h 1183341"/>
              <a:gd name="connsiteX5" fmla="*/ 152532 w 681449"/>
              <a:gd name="connsiteY5" fmla="*/ 986118 h 1183341"/>
              <a:gd name="connsiteX6" fmla="*/ 502155 w 681449"/>
              <a:gd name="connsiteY6" fmla="*/ 1075765 h 1183341"/>
              <a:gd name="connsiteX7" fmla="*/ 197355 w 681449"/>
              <a:gd name="connsiteY7" fmla="*/ 1183341 h 1183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1449" h="1183341">
                <a:moveTo>
                  <a:pt x="681449" y="0"/>
                </a:moveTo>
                <a:cubicBezTo>
                  <a:pt x="346020" y="85165"/>
                  <a:pt x="10591" y="170330"/>
                  <a:pt x="132" y="233083"/>
                </a:cubicBezTo>
                <a:cubicBezTo>
                  <a:pt x="-10327" y="295836"/>
                  <a:pt x="603755" y="315259"/>
                  <a:pt x="618696" y="376518"/>
                </a:cubicBezTo>
                <a:cubicBezTo>
                  <a:pt x="633637" y="437777"/>
                  <a:pt x="104720" y="528917"/>
                  <a:pt x="89779" y="600635"/>
                </a:cubicBezTo>
                <a:cubicBezTo>
                  <a:pt x="74838" y="672353"/>
                  <a:pt x="518590" y="742577"/>
                  <a:pt x="529049" y="806824"/>
                </a:cubicBezTo>
                <a:cubicBezTo>
                  <a:pt x="539508" y="871071"/>
                  <a:pt x="157014" y="941295"/>
                  <a:pt x="152532" y="986118"/>
                </a:cubicBezTo>
                <a:cubicBezTo>
                  <a:pt x="148050" y="1030942"/>
                  <a:pt x="494685" y="1042895"/>
                  <a:pt x="502155" y="1075765"/>
                </a:cubicBezTo>
                <a:cubicBezTo>
                  <a:pt x="509625" y="1108635"/>
                  <a:pt x="284014" y="1153459"/>
                  <a:pt x="197355" y="1183341"/>
                </a:cubicBezTo>
              </a:path>
            </a:pathLst>
          </a:custGeom>
          <a:noFill/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자유형 24"/>
          <p:cNvSpPr/>
          <p:nvPr/>
        </p:nvSpPr>
        <p:spPr>
          <a:xfrm>
            <a:off x="7668615" y="1485694"/>
            <a:ext cx="395828" cy="687358"/>
          </a:xfrm>
          <a:custGeom>
            <a:avLst/>
            <a:gdLst>
              <a:gd name="connsiteX0" fmla="*/ 681449 w 681449"/>
              <a:gd name="connsiteY0" fmla="*/ 0 h 1183341"/>
              <a:gd name="connsiteX1" fmla="*/ 132 w 681449"/>
              <a:gd name="connsiteY1" fmla="*/ 233083 h 1183341"/>
              <a:gd name="connsiteX2" fmla="*/ 618696 w 681449"/>
              <a:gd name="connsiteY2" fmla="*/ 376518 h 1183341"/>
              <a:gd name="connsiteX3" fmla="*/ 89779 w 681449"/>
              <a:gd name="connsiteY3" fmla="*/ 600635 h 1183341"/>
              <a:gd name="connsiteX4" fmla="*/ 529049 w 681449"/>
              <a:gd name="connsiteY4" fmla="*/ 806824 h 1183341"/>
              <a:gd name="connsiteX5" fmla="*/ 152532 w 681449"/>
              <a:gd name="connsiteY5" fmla="*/ 986118 h 1183341"/>
              <a:gd name="connsiteX6" fmla="*/ 502155 w 681449"/>
              <a:gd name="connsiteY6" fmla="*/ 1075765 h 1183341"/>
              <a:gd name="connsiteX7" fmla="*/ 197355 w 681449"/>
              <a:gd name="connsiteY7" fmla="*/ 1183341 h 1183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1449" h="1183341">
                <a:moveTo>
                  <a:pt x="681449" y="0"/>
                </a:moveTo>
                <a:cubicBezTo>
                  <a:pt x="346020" y="85165"/>
                  <a:pt x="10591" y="170330"/>
                  <a:pt x="132" y="233083"/>
                </a:cubicBezTo>
                <a:cubicBezTo>
                  <a:pt x="-10327" y="295836"/>
                  <a:pt x="603755" y="315259"/>
                  <a:pt x="618696" y="376518"/>
                </a:cubicBezTo>
                <a:cubicBezTo>
                  <a:pt x="633637" y="437777"/>
                  <a:pt x="104720" y="528917"/>
                  <a:pt x="89779" y="600635"/>
                </a:cubicBezTo>
                <a:cubicBezTo>
                  <a:pt x="74838" y="672353"/>
                  <a:pt x="518590" y="742577"/>
                  <a:pt x="529049" y="806824"/>
                </a:cubicBezTo>
                <a:cubicBezTo>
                  <a:pt x="539508" y="871071"/>
                  <a:pt x="157014" y="941295"/>
                  <a:pt x="152532" y="986118"/>
                </a:cubicBezTo>
                <a:cubicBezTo>
                  <a:pt x="148050" y="1030942"/>
                  <a:pt x="494685" y="1042895"/>
                  <a:pt x="502155" y="1075765"/>
                </a:cubicBezTo>
                <a:cubicBezTo>
                  <a:pt x="509625" y="1108635"/>
                  <a:pt x="284014" y="1153459"/>
                  <a:pt x="197355" y="1183341"/>
                </a:cubicBezTo>
              </a:path>
            </a:pathLst>
          </a:cu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/>
          <p:cNvSpPr txBox="1"/>
          <p:nvPr/>
        </p:nvSpPr>
        <p:spPr>
          <a:xfrm>
            <a:off x="367553" y="2277035"/>
            <a:ext cx="12909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User</a:t>
            </a:r>
            <a:endParaRPr lang="ko-KR" alt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367553" y="2916997"/>
            <a:ext cx="12909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Kernel</a:t>
            </a:r>
            <a:endParaRPr lang="ko-KR" alt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5210736" y="3229742"/>
            <a:ext cx="17705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err="1"/>
              <a:t>syscall_handler</a:t>
            </a:r>
            <a:endParaRPr lang="ko-KR" altLang="en-US" dirty="0"/>
          </a:p>
        </p:txBody>
      </p:sp>
      <p:cxnSp>
        <p:nvCxnSpPr>
          <p:cNvPr id="30" name="직선 화살표 연결선 29"/>
          <p:cNvCxnSpPr>
            <a:stCxn id="9" idx="2"/>
          </p:cNvCxnSpPr>
          <p:nvPr/>
        </p:nvCxnSpPr>
        <p:spPr>
          <a:xfrm>
            <a:off x="4800600" y="2542384"/>
            <a:ext cx="874059" cy="743945"/>
          </a:xfrm>
          <a:prstGeom prst="straightConnector1">
            <a:avLst/>
          </a:prstGeom>
          <a:ln w="57150">
            <a:solidFill>
              <a:srgbClr val="9EB8E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/>
          <p:cNvCxnSpPr>
            <a:stCxn id="10" idx="2"/>
          </p:cNvCxnSpPr>
          <p:nvPr/>
        </p:nvCxnSpPr>
        <p:spPr>
          <a:xfrm flipH="1">
            <a:off x="6651812" y="2542384"/>
            <a:ext cx="1214717" cy="743945"/>
          </a:xfrm>
          <a:prstGeom prst="straightConnector1">
            <a:avLst/>
          </a:prstGeom>
          <a:ln w="571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203512" y="4002533"/>
            <a:ext cx="17705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read</a:t>
            </a:r>
            <a:endParaRPr lang="ko-KR" alt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9433112" y="4002533"/>
            <a:ext cx="17705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write</a:t>
            </a:r>
            <a:endParaRPr lang="ko-KR" alt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1555719" y="5226005"/>
            <a:ext cx="1066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err="1"/>
              <a:t>file_read</a:t>
            </a:r>
            <a:endParaRPr lang="ko-KR" altLang="en-US" dirty="0"/>
          </a:p>
        </p:txBody>
      </p:sp>
      <p:sp>
        <p:nvSpPr>
          <p:cNvPr id="36" name="TextBox 35"/>
          <p:cNvSpPr txBox="1"/>
          <p:nvPr/>
        </p:nvSpPr>
        <p:spPr>
          <a:xfrm>
            <a:off x="9745755" y="5226005"/>
            <a:ext cx="11452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err="1"/>
              <a:t>file_write</a:t>
            </a:r>
            <a:endParaRPr lang="ko-KR" altLang="en-US" dirty="0"/>
          </a:p>
        </p:txBody>
      </p:sp>
      <p:pic>
        <p:nvPicPr>
          <p:cNvPr id="37" name="그림 3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3367" y="4491365"/>
            <a:ext cx="961268" cy="1103972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5693366" y="5685567"/>
            <a:ext cx="12012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/>
              <a:t>/foo.txt</a:t>
            </a:r>
            <a:endParaRPr lang="ko-KR" altLang="en-US" sz="2400" dirty="0"/>
          </a:p>
        </p:txBody>
      </p:sp>
      <p:cxnSp>
        <p:nvCxnSpPr>
          <p:cNvPr id="40" name="직선 화살표 연결선 39"/>
          <p:cNvCxnSpPr>
            <a:stCxn id="28" idx="1"/>
            <a:endCxn id="33" idx="0"/>
          </p:cNvCxnSpPr>
          <p:nvPr/>
        </p:nvCxnSpPr>
        <p:spPr>
          <a:xfrm flipH="1">
            <a:off x="2088777" y="3414408"/>
            <a:ext cx="3121959" cy="588125"/>
          </a:xfrm>
          <a:prstGeom prst="straightConnector1">
            <a:avLst/>
          </a:prstGeom>
          <a:ln w="38100">
            <a:solidFill>
              <a:srgbClr val="9EB8E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41"/>
          <p:cNvCxnSpPr>
            <a:stCxn id="28" idx="3"/>
            <a:endCxn id="34" idx="0"/>
          </p:cNvCxnSpPr>
          <p:nvPr/>
        </p:nvCxnSpPr>
        <p:spPr>
          <a:xfrm>
            <a:off x="6981265" y="3414408"/>
            <a:ext cx="3337112" cy="588125"/>
          </a:xfrm>
          <a:prstGeom prst="straightConnector1">
            <a:avLst/>
          </a:prstGeom>
          <a:ln w="38100">
            <a:solidFill>
              <a:srgbClr val="FFD65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43"/>
          <p:cNvCxnSpPr>
            <a:stCxn id="33" idx="2"/>
            <a:endCxn id="35" idx="0"/>
          </p:cNvCxnSpPr>
          <p:nvPr/>
        </p:nvCxnSpPr>
        <p:spPr>
          <a:xfrm flipH="1">
            <a:off x="2088776" y="4371865"/>
            <a:ext cx="1" cy="854140"/>
          </a:xfrm>
          <a:prstGeom prst="straightConnector1">
            <a:avLst/>
          </a:prstGeom>
          <a:ln w="38100">
            <a:solidFill>
              <a:srgbClr val="9EB8E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/>
          <p:cNvCxnSpPr>
            <a:stCxn id="34" idx="2"/>
            <a:endCxn id="36" idx="0"/>
          </p:cNvCxnSpPr>
          <p:nvPr/>
        </p:nvCxnSpPr>
        <p:spPr>
          <a:xfrm flipH="1">
            <a:off x="10318376" y="4371865"/>
            <a:ext cx="1" cy="854140"/>
          </a:xfrm>
          <a:prstGeom prst="straightConnector1">
            <a:avLst/>
          </a:prstGeom>
          <a:ln w="38100">
            <a:solidFill>
              <a:srgbClr val="FFD65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화살표 연결선 51"/>
          <p:cNvCxnSpPr>
            <a:stCxn id="35" idx="3"/>
          </p:cNvCxnSpPr>
          <p:nvPr/>
        </p:nvCxnSpPr>
        <p:spPr>
          <a:xfrm>
            <a:off x="2621832" y="5410671"/>
            <a:ext cx="3191535" cy="0"/>
          </a:xfrm>
          <a:prstGeom prst="straightConnector1">
            <a:avLst/>
          </a:prstGeom>
          <a:ln w="38100">
            <a:solidFill>
              <a:srgbClr val="9EB8E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화살표 연결선 53"/>
          <p:cNvCxnSpPr>
            <a:stCxn id="36" idx="1"/>
          </p:cNvCxnSpPr>
          <p:nvPr/>
        </p:nvCxnSpPr>
        <p:spPr>
          <a:xfrm flipH="1">
            <a:off x="6774635" y="5410671"/>
            <a:ext cx="2971120" cy="0"/>
          </a:xfrm>
          <a:prstGeom prst="straightConnector1">
            <a:avLst/>
          </a:prstGeom>
          <a:ln w="38100">
            <a:solidFill>
              <a:srgbClr val="FFD65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곱셈 기호 54"/>
          <p:cNvSpPr/>
          <p:nvPr/>
        </p:nvSpPr>
        <p:spPr>
          <a:xfrm>
            <a:off x="7524860" y="4736522"/>
            <a:ext cx="1348297" cy="1348297"/>
          </a:xfrm>
          <a:prstGeom prst="mathMultiply">
            <a:avLst>
              <a:gd name="adj1" fmla="val 14211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7" name="직선 화살표 연결선 56"/>
          <p:cNvCxnSpPr/>
          <p:nvPr/>
        </p:nvCxnSpPr>
        <p:spPr>
          <a:xfrm flipH="1">
            <a:off x="8560344" y="3708470"/>
            <a:ext cx="1198078" cy="124264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8840658" y="2934870"/>
            <a:ext cx="26838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/>
              <a:t>Need synchronization</a:t>
            </a:r>
            <a:endParaRPr lang="ko-KR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405923221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Synchronization APIs (See also p.67-68)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Lock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6550AAA-8F92-814C-869C-8228B27748CA}" type="slidenum">
              <a:rPr lang="en-US" smtClean="0"/>
              <a:t>75</a:t>
            </a:fld>
            <a:endParaRPr 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257" y="1769972"/>
            <a:ext cx="8497486" cy="2772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059815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Synchronization APIs (See also p.67-68)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Semaphore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6550AAA-8F92-814C-869C-8228B27748CA}" type="slidenum">
              <a:rPr lang="en-US" smtClean="0"/>
              <a:t>76</a:t>
            </a:fld>
            <a:endParaRPr 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2980" y="1727104"/>
            <a:ext cx="7135221" cy="2800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651182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chemeClr val="accent2"/>
                </a:solidFill>
              </a:rPr>
              <a:t>Suggested Order of Implementation (1)</a:t>
            </a:r>
            <a:endParaRPr lang="ko-KR" altLang="en-US" b="1" dirty="0">
              <a:solidFill>
                <a:schemeClr val="accent2"/>
              </a:solidFill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You can not see the result until you implement core functionalities.</a:t>
            </a:r>
          </a:p>
          <a:p>
            <a:r>
              <a:rPr lang="en-US" altLang="ko-KR" dirty="0"/>
              <a:t>Students are highly encouraged to read/understand these slides and Pintos manual first, design the structures and then start to implement.</a:t>
            </a:r>
          </a:p>
          <a:p>
            <a:pPr marL="457200" indent="-457200">
              <a:buFont typeface="+mj-lt"/>
              <a:buAutoNum type="arabicParenR"/>
            </a:pPr>
            <a:r>
              <a:rPr lang="en-US" altLang="ko-KR" b="1" dirty="0">
                <a:solidFill>
                  <a:schemeClr val="accent2"/>
                </a:solidFill>
              </a:rPr>
              <a:t>Argument Passing</a:t>
            </a:r>
            <a:r>
              <a:rPr lang="en-US" altLang="ko-KR" dirty="0"/>
              <a:t>: </a:t>
            </a:r>
            <a:r>
              <a:rPr lang="en-US" altLang="ko-KR" sz="1600" dirty="0"/>
              <a:t>After implementing it, check the result using </a:t>
            </a:r>
            <a:r>
              <a:rPr lang="en-US" altLang="ko-KR" sz="1600" dirty="0" err="1"/>
              <a:t>hex_dump</a:t>
            </a:r>
            <a:r>
              <a:rPr lang="en-US" altLang="ko-KR" sz="1600" dirty="0"/>
              <a:t>().</a:t>
            </a:r>
          </a:p>
          <a:p>
            <a:pPr marL="457200" indent="-457200">
              <a:buFont typeface="+mj-lt"/>
              <a:buAutoNum type="arabicParenR"/>
            </a:pPr>
            <a:r>
              <a:rPr lang="en-US" altLang="ko-KR" b="1" dirty="0">
                <a:solidFill>
                  <a:schemeClr val="accent2"/>
                </a:solidFill>
              </a:rPr>
              <a:t>User Memory Access</a:t>
            </a:r>
            <a:r>
              <a:rPr lang="en-US" altLang="ko-KR" dirty="0"/>
              <a:t>: </a:t>
            </a:r>
            <a:r>
              <a:rPr lang="en-US" altLang="ko-KR" sz="1600" dirty="0"/>
              <a:t>Protect user memory accesses from system calls.</a:t>
            </a:r>
          </a:p>
          <a:p>
            <a:pPr marL="457200" indent="-457200">
              <a:buFont typeface="+mj-lt"/>
              <a:buAutoNum type="arabicParenR"/>
            </a:pPr>
            <a:r>
              <a:rPr lang="en-US" altLang="ko-KR" b="1" dirty="0">
                <a:solidFill>
                  <a:schemeClr val="accent2"/>
                </a:solidFill>
              </a:rPr>
              <a:t>System Call Handler</a:t>
            </a:r>
            <a:r>
              <a:rPr lang="en-US" altLang="ko-KR" dirty="0"/>
              <a:t>: </a:t>
            </a:r>
            <a:r>
              <a:rPr lang="en-US" altLang="ko-KR" sz="1600" dirty="0"/>
              <a:t>Implement </a:t>
            </a:r>
            <a:r>
              <a:rPr lang="en-US" altLang="ko-KR" sz="1600" dirty="0" err="1"/>
              <a:t>syscall_handler</a:t>
            </a:r>
            <a:r>
              <a:rPr lang="en-US" altLang="ko-KR" sz="1600" dirty="0"/>
              <a:t>() to handle</a:t>
            </a:r>
            <a:r>
              <a:rPr lang="ko-KR" altLang="en-US" sz="1600" dirty="0"/>
              <a:t> </a:t>
            </a:r>
            <a:r>
              <a:rPr lang="en-US" altLang="ko-KR" sz="1600" dirty="0"/>
              <a:t>system call.</a:t>
            </a:r>
            <a:endParaRPr lang="en-US" altLang="ko-KR" b="1" dirty="0">
              <a:solidFill>
                <a:schemeClr val="accent2"/>
              </a:solidFill>
            </a:endParaRPr>
          </a:p>
          <a:p>
            <a:pPr marL="457200" indent="-457200">
              <a:buFont typeface="+mj-lt"/>
              <a:buAutoNum type="arabicParenR"/>
            </a:pPr>
            <a:r>
              <a:rPr lang="en-US" altLang="ko-KR" b="1" dirty="0">
                <a:solidFill>
                  <a:schemeClr val="accent2"/>
                </a:solidFill>
              </a:rPr>
              <a:t>System Call Implementation</a:t>
            </a:r>
            <a:r>
              <a:rPr lang="en-US" altLang="ko-KR" dirty="0"/>
              <a:t>:</a:t>
            </a:r>
            <a:r>
              <a:rPr lang="en-US" altLang="ko-KR" sz="1600" dirty="0"/>
              <a:t> Implement </a:t>
            </a:r>
            <a:r>
              <a:rPr lang="en-US" altLang="ko-KR" sz="1600" b="1" dirty="0"/>
              <a:t>exec(), exit(), write(), read() </a:t>
            </a:r>
            <a:r>
              <a:rPr lang="en-US" altLang="ko-KR" sz="1600" dirty="0"/>
              <a:t>first, and then others.</a:t>
            </a:r>
            <a:endParaRPr lang="en-US" altLang="ko-KR" dirty="0"/>
          </a:p>
          <a:p>
            <a:pPr marL="457200" indent="-457200">
              <a:buFont typeface="+mj-lt"/>
              <a:buAutoNum type="arabicParenR"/>
            </a:pPr>
            <a:r>
              <a:rPr lang="en-US" altLang="ko-KR" b="1" dirty="0">
                <a:solidFill>
                  <a:schemeClr val="accent2"/>
                </a:solidFill>
              </a:rPr>
              <a:t>Additional Implementation</a:t>
            </a:r>
            <a:r>
              <a:rPr lang="en-US" altLang="ko-KR" dirty="0"/>
              <a:t>: </a:t>
            </a:r>
            <a:r>
              <a:rPr lang="en-US" altLang="ko-KR" sz="1600" dirty="0"/>
              <a:t>Implement </a:t>
            </a:r>
            <a:r>
              <a:rPr lang="en-US" altLang="ko-KR" sz="1600" dirty="0" err="1"/>
              <a:t>fibonacci</a:t>
            </a:r>
            <a:r>
              <a:rPr lang="en-US" altLang="ko-KR" sz="1600" dirty="0"/>
              <a:t>(), </a:t>
            </a:r>
            <a:r>
              <a:rPr lang="en-US" altLang="ko-KR" sz="1600" dirty="0" err="1"/>
              <a:t>max_of_four_int</a:t>
            </a:r>
            <a:r>
              <a:rPr lang="en-US" altLang="ko-KR" sz="1600" dirty="0"/>
              <a:t>().</a:t>
            </a:r>
            <a:endParaRPr lang="en-US" altLang="ko-KR" dirty="0"/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FCA5BE7F-20AE-CF4F-8CC9-D67BA659F8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2656" y="5991138"/>
            <a:ext cx="446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A305A6-A07C-784C-BBE4-67C27A551CE4}" type="slidenum">
              <a:rPr lang="en-US" smtClean="0"/>
              <a:t>77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3A59F1-E4F1-7E49-89E8-8B7E059B0569}"/>
              </a:ext>
            </a:extLst>
          </p:cNvPr>
          <p:cNvSpPr/>
          <p:nvPr/>
        </p:nvSpPr>
        <p:spPr>
          <a:xfrm>
            <a:off x="8532496" y="536243"/>
            <a:ext cx="2971070" cy="391967"/>
          </a:xfrm>
          <a:prstGeom prst="rect">
            <a:avLst/>
          </a:prstGeom>
          <a:ln w="28575">
            <a:solidFill>
              <a:srgbClr val="C00000"/>
            </a:solidFill>
          </a:ln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dirty="0"/>
              <a:t>Refer to Pintos manual 3.2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DE4EEE20-8393-499E-8CB5-AE5BD278EE68}"/>
              </a:ext>
            </a:extLst>
          </p:cNvPr>
          <p:cNvSpPr/>
          <p:nvPr/>
        </p:nvSpPr>
        <p:spPr>
          <a:xfrm>
            <a:off x="838200" y="4215884"/>
            <a:ext cx="49730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※ Refer to source codes in </a:t>
            </a:r>
            <a:r>
              <a:rPr lang="en-US" altLang="ko-KR" dirty="0" err="1"/>
              <a:t>src</a:t>
            </a:r>
            <a:r>
              <a:rPr lang="en-US" altLang="ko-KR" dirty="0"/>
              <a:t>/tests/</a:t>
            </a:r>
            <a:r>
              <a:rPr lang="en-US" altLang="ko-KR" dirty="0" err="1"/>
              <a:t>userprog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26285885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73BD492-DB29-1E42-9C24-61EA099F6B57}"/>
              </a:ext>
            </a:extLst>
          </p:cNvPr>
          <p:cNvSpPr/>
          <p:nvPr/>
        </p:nvSpPr>
        <p:spPr>
          <a:xfrm>
            <a:off x="838200" y="4215884"/>
            <a:ext cx="49730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※ Refer to source codes in </a:t>
            </a:r>
            <a:r>
              <a:rPr lang="en-US" altLang="ko-KR" dirty="0" err="1">
                <a:solidFill>
                  <a:schemeClr val="bg1">
                    <a:lumMod val="65000"/>
                  </a:schemeClr>
                </a:solidFill>
              </a:rPr>
              <a:t>src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/tests/</a:t>
            </a:r>
            <a:r>
              <a:rPr lang="en-US" altLang="ko-KR" dirty="0" err="1">
                <a:solidFill>
                  <a:schemeClr val="bg1">
                    <a:lumMod val="65000"/>
                  </a:schemeClr>
                </a:solidFill>
              </a:rPr>
              <a:t>userprog</a:t>
            </a:r>
            <a:endParaRPr lang="en-US" altLang="ko-KR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chemeClr val="accent2"/>
                </a:solidFill>
              </a:rPr>
              <a:t>Suggested Order of Implementation (1)</a:t>
            </a:r>
            <a:endParaRPr lang="ko-KR" altLang="en-US" b="1" dirty="0">
              <a:solidFill>
                <a:schemeClr val="accent2"/>
              </a:solidFill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110296"/>
            <a:ext cx="10515600" cy="369332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You can not see the result until you implement core functionalities.</a:t>
            </a:r>
          </a:p>
          <a:p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Students are highly encouraged to read/understand these slides and Pintos manual first, design the structures and then start to implement.</a:t>
            </a:r>
          </a:p>
          <a:p>
            <a:pPr marL="457200" indent="-457200">
              <a:buFont typeface="+mj-lt"/>
              <a:buAutoNum type="arabicParenR"/>
            </a:pPr>
            <a:r>
              <a:rPr lang="en-US" altLang="ko-KR" b="1" dirty="0">
                <a:solidFill>
                  <a:schemeClr val="accent2"/>
                </a:solidFill>
              </a:rPr>
              <a:t>Argument Passing: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ko-KR" sz="1600" dirty="0">
                <a:solidFill>
                  <a:schemeClr val="bg1">
                    <a:lumMod val="65000"/>
                  </a:schemeClr>
                </a:solidFill>
              </a:rPr>
              <a:t>After implementing it, check the result using </a:t>
            </a:r>
            <a:r>
              <a:rPr lang="en-US" altLang="ko-KR" sz="1600" dirty="0" err="1">
                <a:solidFill>
                  <a:schemeClr val="bg1">
                    <a:lumMod val="65000"/>
                  </a:schemeClr>
                </a:solidFill>
              </a:rPr>
              <a:t>hex_dump</a:t>
            </a:r>
            <a:r>
              <a:rPr lang="en-US" altLang="ko-KR" sz="1600" dirty="0">
                <a:solidFill>
                  <a:schemeClr val="bg1">
                    <a:lumMod val="65000"/>
                  </a:schemeClr>
                </a:solidFill>
              </a:rPr>
              <a:t>()</a:t>
            </a:r>
          </a:p>
          <a:p>
            <a:pPr marL="457200" indent="-457200">
              <a:buFont typeface="+mj-lt"/>
              <a:buAutoNum type="arabicParenR"/>
            </a:pPr>
            <a:r>
              <a:rPr lang="en-US" altLang="ko-KR" b="1" dirty="0">
                <a:solidFill>
                  <a:schemeClr val="bg1">
                    <a:lumMod val="65000"/>
                  </a:schemeClr>
                </a:solidFill>
              </a:rPr>
              <a:t>User Memory Access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: </a:t>
            </a:r>
            <a:r>
              <a:rPr lang="en-US" altLang="ko-KR" sz="1600" dirty="0">
                <a:solidFill>
                  <a:schemeClr val="bg1">
                    <a:lumMod val="65000"/>
                  </a:schemeClr>
                </a:solidFill>
              </a:rPr>
              <a:t>Make a plan for protecting user memory accesses from system calls</a:t>
            </a:r>
          </a:p>
          <a:p>
            <a:pPr marL="457200" indent="-457200">
              <a:buFont typeface="+mj-lt"/>
              <a:buAutoNum type="arabicParenR"/>
            </a:pPr>
            <a:r>
              <a:rPr lang="en-US" altLang="ko-KR" b="1" dirty="0">
                <a:solidFill>
                  <a:schemeClr val="bg1">
                    <a:lumMod val="65000"/>
                  </a:schemeClr>
                </a:solidFill>
              </a:rPr>
              <a:t>System Call Handler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: </a:t>
            </a:r>
            <a:r>
              <a:rPr lang="en-US" altLang="ko-KR" sz="1600" dirty="0">
                <a:solidFill>
                  <a:schemeClr val="bg1">
                    <a:lumMod val="65000"/>
                  </a:schemeClr>
                </a:solidFill>
              </a:rPr>
              <a:t>Implement </a:t>
            </a:r>
            <a:r>
              <a:rPr lang="en-US" altLang="ko-KR" sz="1600" dirty="0" err="1">
                <a:solidFill>
                  <a:schemeClr val="bg1">
                    <a:lumMod val="65000"/>
                  </a:schemeClr>
                </a:solidFill>
              </a:rPr>
              <a:t>syscall_handler</a:t>
            </a:r>
            <a:r>
              <a:rPr lang="en-US" altLang="ko-KR" sz="1600" dirty="0">
                <a:solidFill>
                  <a:schemeClr val="bg1">
                    <a:lumMod val="65000"/>
                  </a:schemeClr>
                </a:solidFill>
              </a:rPr>
              <a:t>() to handle</a:t>
            </a:r>
            <a:r>
              <a:rPr lang="ko-KR" altLang="en-US" sz="1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ko-KR" sz="1600" dirty="0">
                <a:solidFill>
                  <a:schemeClr val="bg1">
                    <a:lumMod val="65000"/>
                  </a:schemeClr>
                </a:solidFill>
              </a:rPr>
              <a:t>system call</a:t>
            </a:r>
            <a:endParaRPr lang="en-US" altLang="ko-KR" dirty="0">
              <a:solidFill>
                <a:schemeClr val="bg1">
                  <a:lumMod val="65000"/>
                </a:schemeClr>
              </a:solidFill>
            </a:endParaRPr>
          </a:p>
          <a:p>
            <a:pPr marL="457200" indent="-457200">
              <a:buFont typeface="+mj-lt"/>
              <a:buAutoNum type="arabicParenR"/>
            </a:pPr>
            <a:r>
              <a:rPr lang="en-US" altLang="ko-KR" b="1" dirty="0">
                <a:solidFill>
                  <a:schemeClr val="bg1">
                    <a:lumMod val="65000"/>
                  </a:schemeClr>
                </a:solidFill>
              </a:rPr>
              <a:t>System Call Implementation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:</a:t>
            </a:r>
            <a:r>
              <a:rPr lang="en-US" altLang="ko-KR" sz="1600" dirty="0">
                <a:solidFill>
                  <a:schemeClr val="bg1">
                    <a:lumMod val="65000"/>
                  </a:schemeClr>
                </a:solidFill>
              </a:rPr>
              <a:t>  Implement </a:t>
            </a:r>
            <a:r>
              <a:rPr lang="en-US" altLang="ko-KR" sz="1600" b="1" dirty="0">
                <a:solidFill>
                  <a:schemeClr val="bg1">
                    <a:lumMod val="65000"/>
                  </a:schemeClr>
                </a:solidFill>
              </a:rPr>
              <a:t>exec(), exit(), write(), read() </a:t>
            </a:r>
            <a:r>
              <a:rPr lang="en-US" altLang="ko-KR" sz="1600" dirty="0">
                <a:solidFill>
                  <a:schemeClr val="bg1">
                    <a:lumMod val="65000"/>
                  </a:schemeClr>
                </a:solidFill>
              </a:rPr>
              <a:t>first</a:t>
            </a:r>
            <a:endParaRPr lang="en-US" altLang="ko-KR" dirty="0">
              <a:solidFill>
                <a:schemeClr val="bg1">
                  <a:lumMod val="65000"/>
                </a:schemeClr>
              </a:solidFill>
            </a:endParaRPr>
          </a:p>
          <a:p>
            <a:pPr marL="457200" indent="-457200">
              <a:buFont typeface="+mj-lt"/>
              <a:buAutoNum type="arabicParenR"/>
            </a:pPr>
            <a:r>
              <a:rPr lang="en-US" altLang="ko-KR" b="1" dirty="0">
                <a:solidFill>
                  <a:schemeClr val="bg1">
                    <a:lumMod val="65000"/>
                  </a:schemeClr>
                </a:solidFill>
              </a:rPr>
              <a:t>Additional Implementation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: </a:t>
            </a:r>
            <a:r>
              <a:rPr lang="en-US" altLang="ko-KR" sz="1600" dirty="0">
                <a:solidFill>
                  <a:schemeClr val="bg1">
                    <a:lumMod val="65000"/>
                  </a:schemeClr>
                </a:solidFill>
              </a:rPr>
              <a:t>Implement </a:t>
            </a:r>
            <a:r>
              <a:rPr lang="en-US" altLang="ko-KR" sz="1600" dirty="0" err="1">
                <a:solidFill>
                  <a:schemeClr val="bg1">
                    <a:lumMod val="65000"/>
                  </a:schemeClr>
                </a:solidFill>
              </a:rPr>
              <a:t>fibonacci</a:t>
            </a:r>
            <a:r>
              <a:rPr lang="en-US" altLang="ko-KR" sz="1600" dirty="0">
                <a:solidFill>
                  <a:schemeClr val="bg1">
                    <a:lumMod val="65000"/>
                  </a:schemeClr>
                </a:solidFill>
              </a:rPr>
              <a:t>(), </a:t>
            </a:r>
            <a:r>
              <a:rPr lang="en-US" altLang="ko-KR" sz="1600" dirty="0" err="1">
                <a:solidFill>
                  <a:schemeClr val="bg1">
                    <a:lumMod val="65000"/>
                  </a:schemeClr>
                </a:solidFill>
              </a:rPr>
              <a:t>max_of_four_int</a:t>
            </a:r>
            <a:r>
              <a:rPr lang="en-US" altLang="ko-KR" sz="1600" dirty="0">
                <a:solidFill>
                  <a:schemeClr val="bg1">
                    <a:lumMod val="65000"/>
                  </a:schemeClr>
                </a:solidFill>
              </a:rPr>
              <a:t>()</a:t>
            </a:r>
            <a:endParaRPr lang="en-US" altLang="ko-KR" dirty="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C54F4E12-79F7-4A1F-A19E-E1E68A1F4CCE}"/>
              </a:ext>
            </a:extLst>
          </p:cNvPr>
          <p:cNvCxnSpPr>
            <a:cxnSpLocks/>
          </p:cNvCxnSpPr>
          <p:nvPr/>
        </p:nvCxnSpPr>
        <p:spPr>
          <a:xfrm flipH="1" flipV="1">
            <a:off x="3062798" y="2547894"/>
            <a:ext cx="2219416" cy="2440660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F804AA6A-75F2-964C-AF09-186A96D6FB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2656" y="5991138"/>
            <a:ext cx="446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A305A6-A07C-784C-BBE4-67C27A551CE4}" type="slidenum">
              <a:rPr lang="en-US" smtClean="0"/>
              <a:t>78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23410B8-0227-7846-8990-737D83105E47}"/>
              </a:ext>
            </a:extLst>
          </p:cNvPr>
          <p:cNvSpPr/>
          <p:nvPr/>
        </p:nvSpPr>
        <p:spPr>
          <a:xfrm>
            <a:off x="8532496" y="536243"/>
            <a:ext cx="2971070" cy="391967"/>
          </a:xfrm>
          <a:prstGeom prst="rect">
            <a:avLst/>
          </a:prstGeom>
          <a:ln w="28575">
            <a:solidFill>
              <a:srgbClr val="C00000"/>
            </a:solidFill>
          </a:ln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dirty="0"/>
              <a:t>Refer to Pintos manual 3.2</a:t>
            </a: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64031A71-DE31-432B-8AAD-57A78A52E8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3100137"/>
              </p:ext>
            </p:extLst>
          </p:nvPr>
        </p:nvGraphicFramePr>
        <p:xfrm>
          <a:off x="5282214" y="3852908"/>
          <a:ext cx="5788953" cy="2271293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5788953">
                  <a:extLst>
                    <a:ext uri="{9D8B030D-6E8A-4147-A177-3AD203B41FA5}">
                      <a16:colId xmlns:a16="http://schemas.microsoft.com/office/drawing/2014/main" val="1013775778"/>
                    </a:ext>
                  </a:extLst>
                </a:gridCol>
              </a:tblGrid>
              <a:tr h="227129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1" dirty="0">
                          <a:solidFill>
                            <a:schemeClr val="accent2"/>
                          </a:solidFill>
                        </a:rPr>
                        <a:t>Refer to Code</a:t>
                      </a:r>
                      <a:r>
                        <a:rPr lang="ko-KR" altLang="en-US" sz="1600" b="1" dirty="0">
                          <a:solidFill>
                            <a:schemeClr val="accent2"/>
                          </a:solidFill>
                        </a:rPr>
                        <a:t> </a:t>
                      </a:r>
                      <a:r>
                        <a:rPr lang="en-US" altLang="ko-KR" sz="1600" b="1" dirty="0">
                          <a:solidFill>
                            <a:schemeClr val="accent2"/>
                          </a:solidFill>
                        </a:rPr>
                        <a:t>Level Flow</a:t>
                      </a:r>
                    </a:p>
                    <a:p>
                      <a:pPr algn="ctr" latinLnBrk="1"/>
                      <a:endParaRPr lang="en-US" altLang="ko-KR" sz="1600" b="1" dirty="0">
                        <a:solidFill>
                          <a:schemeClr val="accent2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z="1600" b="1" dirty="0" err="1">
                          <a:solidFill>
                            <a:schemeClr val="accent2"/>
                          </a:solidFill>
                        </a:rPr>
                        <a:t>src</a:t>
                      </a:r>
                      <a:r>
                        <a:rPr lang="en-US" altLang="ko-KR" sz="1600" b="1" dirty="0">
                          <a:solidFill>
                            <a:schemeClr val="accent2"/>
                          </a:solidFill>
                        </a:rPr>
                        <a:t>/</a:t>
                      </a:r>
                      <a:r>
                        <a:rPr lang="en-US" altLang="ko-KR" sz="1600" b="1" dirty="0" err="1">
                          <a:solidFill>
                            <a:schemeClr val="accent2"/>
                          </a:solidFill>
                        </a:rPr>
                        <a:t>userprog</a:t>
                      </a:r>
                      <a:r>
                        <a:rPr lang="en-US" altLang="ko-KR" sz="1600" b="1" dirty="0">
                          <a:solidFill>
                            <a:schemeClr val="accent2"/>
                          </a:solidFill>
                        </a:rPr>
                        <a:t>/</a:t>
                      </a:r>
                      <a:r>
                        <a:rPr lang="en-US" altLang="ko-KR" sz="1600" b="1" dirty="0" err="1">
                          <a:solidFill>
                            <a:schemeClr val="accent2"/>
                          </a:solidFill>
                        </a:rPr>
                        <a:t>process.c</a:t>
                      </a:r>
                      <a:r>
                        <a:rPr lang="en-US" altLang="ko-KR" sz="1600" b="1" dirty="0">
                          <a:solidFill>
                            <a:schemeClr val="accent2"/>
                          </a:solidFill>
                        </a:rPr>
                        <a:t> : load()</a:t>
                      </a:r>
                    </a:p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Check parameters of load()</a:t>
                      </a:r>
                    </a:p>
                    <a:p>
                      <a:pPr algn="ctr" latinLnBrk="1"/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z="1600" b="1" dirty="0">
                          <a:solidFill>
                            <a:schemeClr val="accent2"/>
                          </a:solidFill>
                        </a:rPr>
                        <a:t>If you want to check the dump values before implementing </a:t>
                      </a:r>
                      <a:r>
                        <a:rPr lang="en-US" altLang="ko-KR" sz="1600" b="1" dirty="0" err="1">
                          <a:solidFill>
                            <a:schemeClr val="accent2"/>
                          </a:solidFill>
                        </a:rPr>
                        <a:t>process_wait</a:t>
                      </a:r>
                      <a:r>
                        <a:rPr lang="en-US" altLang="ko-KR" sz="1600" b="1" dirty="0">
                          <a:solidFill>
                            <a:schemeClr val="accent2"/>
                          </a:solidFill>
                        </a:rPr>
                        <a:t>(),</a:t>
                      </a:r>
                      <a:r>
                        <a:rPr lang="ko-KR" altLang="en-US" sz="1600" b="1" dirty="0">
                          <a:solidFill>
                            <a:schemeClr val="accent2"/>
                          </a:solidFill>
                        </a:rPr>
                        <a:t>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insert infinite loop in </a:t>
                      </a:r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</a:rPr>
                        <a:t>process_wait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() to block process</a:t>
                      </a:r>
                    </a:p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(You should finish to implement </a:t>
                      </a:r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</a:rPr>
                        <a:t>process_wait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() later)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4179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321193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6E7D6EC-0BA1-984E-B5CD-6090BD614412}"/>
              </a:ext>
            </a:extLst>
          </p:cNvPr>
          <p:cNvSpPr/>
          <p:nvPr/>
        </p:nvSpPr>
        <p:spPr>
          <a:xfrm>
            <a:off x="838200" y="4215884"/>
            <a:ext cx="49730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※ Refer to source codes in </a:t>
            </a:r>
            <a:r>
              <a:rPr lang="en-US" altLang="ko-KR" dirty="0" err="1">
                <a:solidFill>
                  <a:schemeClr val="bg1">
                    <a:lumMod val="65000"/>
                  </a:schemeClr>
                </a:solidFill>
              </a:rPr>
              <a:t>src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/tests/</a:t>
            </a:r>
            <a:r>
              <a:rPr lang="en-US" altLang="ko-KR" dirty="0" err="1">
                <a:solidFill>
                  <a:schemeClr val="bg1">
                    <a:lumMod val="65000"/>
                  </a:schemeClr>
                </a:solidFill>
              </a:rPr>
              <a:t>userprog</a:t>
            </a:r>
            <a:endParaRPr lang="en-US" altLang="ko-KR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chemeClr val="accent2"/>
                </a:solidFill>
              </a:rPr>
              <a:t>Suggested Order of Implementation (1)</a:t>
            </a:r>
            <a:endParaRPr lang="ko-KR" altLang="en-US" b="1" dirty="0">
              <a:solidFill>
                <a:schemeClr val="accent2"/>
              </a:solidFill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110296"/>
            <a:ext cx="10515600" cy="369332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You can not see the result until you implement core functionalities.</a:t>
            </a:r>
          </a:p>
          <a:p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Students are highly encouraged to read/understand these slides and Pintos manual first, design the structures and then start to implement.</a:t>
            </a:r>
          </a:p>
          <a:p>
            <a:pPr marL="457200" indent="-457200">
              <a:buFont typeface="+mj-lt"/>
              <a:buAutoNum type="arabicParenR"/>
            </a:pPr>
            <a:r>
              <a:rPr lang="en-US" altLang="ko-KR" b="1" dirty="0">
                <a:solidFill>
                  <a:schemeClr val="bg1">
                    <a:lumMod val="65000"/>
                  </a:schemeClr>
                </a:solidFill>
              </a:rPr>
              <a:t>Argument Passing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: </a:t>
            </a:r>
            <a:r>
              <a:rPr lang="en-US" altLang="ko-KR" sz="1600" dirty="0">
                <a:solidFill>
                  <a:schemeClr val="bg1">
                    <a:lumMod val="65000"/>
                  </a:schemeClr>
                </a:solidFill>
              </a:rPr>
              <a:t>After implementing it, check the result using </a:t>
            </a:r>
            <a:r>
              <a:rPr lang="en-US" altLang="ko-KR" sz="1600" dirty="0" err="1">
                <a:solidFill>
                  <a:schemeClr val="bg1">
                    <a:lumMod val="65000"/>
                  </a:schemeClr>
                </a:solidFill>
              </a:rPr>
              <a:t>hex_dump</a:t>
            </a:r>
            <a:r>
              <a:rPr lang="en-US" altLang="ko-KR" sz="1600" dirty="0">
                <a:solidFill>
                  <a:schemeClr val="bg1">
                    <a:lumMod val="65000"/>
                  </a:schemeClr>
                </a:solidFill>
              </a:rPr>
              <a:t>()</a:t>
            </a:r>
          </a:p>
          <a:p>
            <a:pPr marL="457200" indent="-457200">
              <a:buFont typeface="+mj-lt"/>
              <a:buAutoNum type="arabicParenR"/>
            </a:pPr>
            <a:r>
              <a:rPr lang="en-US" altLang="ko-KR" b="1" dirty="0">
                <a:solidFill>
                  <a:schemeClr val="accent2"/>
                </a:solidFill>
              </a:rPr>
              <a:t>User Memory Access: </a:t>
            </a:r>
            <a:r>
              <a:rPr lang="en-US" altLang="ko-KR" sz="1600" dirty="0">
                <a:solidFill>
                  <a:schemeClr val="bg1">
                    <a:lumMod val="65000"/>
                  </a:schemeClr>
                </a:solidFill>
              </a:rPr>
              <a:t>Make a plan for protecting user memory accesses from system calls</a:t>
            </a:r>
          </a:p>
          <a:p>
            <a:pPr marL="457200" indent="-457200">
              <a:buFont typeface="+mj-lt"/>
              <a:buAutoNum type="arabicParenR"/>
            </a:pPr>
            <a:r>
              <a:rPr lang="en-US" altLang="ko-KR" b="1" dirty="0">
                <a:solidFill>
                  <a:schemeClr val="bg1">
                    <a:lumMod val="65000"/>
                  </a:schemeClr>
                </a:solidFill>
              </a:rPr>
              <a:t>System Call Handler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: </a:t>
            </a:r>
            <a:r>
              <a:rPr lang="en-US" altLang="ko-KR" sz="1600" dirty="0">
                <a:solidFill>
                  <a:schemeClr val="bg1">
                    <a:lumMod val="65000"/>
                  </a:schemeClr>
                </a:solidFill>
              </a:rPr>
              <a:t>Implement </a:t>
            </a:r>
            <a:r>
              <a:rPr lang="en-US" altLang="ko-KR" sz="1600" dirty="0" err="1">
                <a:solidFill>
                  <a:schemeClr val="bg1">
                    <a:lumMod val="65000"/>
                  </a:schemeClr>
                </a:solidFill>
              </a:rPr>
              <a:t>syscall_handler</a:t>
            </a:r>
            <a:r>
              <a:rPr lang="en-US" altLang="ko-KR" sz="1600" dirty="0">
                <a:solidFill>
                  <a:schemeClr val="bg1">
                    <a:lumMod val="65000"/>
                  </a:schemeClr>
                </a:solidFill>
              </a:rPr>
              <a:t>() to handle</a:t>
            </a:r>
            <a:r>
              <a:rPr lang="ko-KR" altLang="en-US" sz="1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ko-KR" sz="1600" dirty="0">
                <a:solidFill>
                  <a:schemeClr val="bg1">
                    <a:lumMod val="65000"/>
                  </a:schemeClr>
                </a:solidFill>
              </a:rPr>
              <a:t>system call</a:t>
            </a:r>
            <a:endParaRPr lang="en-US" altLang="ko-KR" dirty="0">
              <a:solidFill>
                <a:schemeClr val="bg1">
                  <a:lumMod val="65000"/>
                </a:schemeClr>
              </a:solidFill>
            </a:endParaRPr>
          </a:p>
          <a:p>
            <a:pPr marL="457200" indent="-457200">
              <a:buFont typeface="+mj-lt"/>
              <a:buAutoNum type="arabicParenR"/>
            </a:pPr>
            <a:r>
              <a:rPr lang="en-US" altLang="ko-KR" b="1" dirty="0">
                <a:solidFill>
                  <a:schemeClr val="bg1">
                    <a:lumMod val="65000"/>
                  </a:schemeClr>
                </a:solidFill>
              </a:rPr>
              <a:t>System Call Implementation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:</a:t>
            </a:r>
            <a:r>
              <a:rPr lang="en-US" altLang="ko-KR" sz="1600" dirty="0">
                <a:solidFill>
                  <a:schemeClr val="bg1">
                    <a:lumMod val="65000"/>
                  </a:schemeClr>
                </a:solidFill>
              </a:rPr>
              <a:t>  Implement </a:t>
            </a:r>
            <a:r>
              <a:rPr lang="en-US" altLang="ko-KR" sz="1600" b="1" dirty="0">
                <a:solidFill>
                  <a:schemeClr val="bg1">
                    <a:lumMod val="65000"/>
                  </a:schemeClr>
                </a:solidFill>
              </a:rPr>
              <a:t>exec(), exit(), write(), read() </a:t>
            </a:r>
            <a:r>
              <a:rPr lang="en-US" altLang="ko-KR" sz="1600" dirty="0">
                <a:solidFill>
                  <a:schemeClr val="bg1">
                    <a:lumMod val="65000"/>
                  </a:schemeClr>
                </a:solidFill>
              </a:rPr>
              <a:t>first</a:t>
            </a:r>
            <a:endParaRPr lang="en-US" altLang="ko-KR" dirty="0">
              <a:solidFill>
                <a:schemeClr val="bg1">
                  <a:lumMod val="65000"/>
                </a:schemeClr>
              </a:solidFill>
            </a:endParaRPr>
          </a:p>
          <a:p>
            <a:pPr marL="457200" indent="-457200">
              <a:buFont typeface="+mj-lt"/>
              <a:buAutoNum type="arabicParenR"/>
            </a:pPr>
            <a:r>
              <a:rPr lang="en-US" altLang="ko-KR" b="1" dirty="0">
                <a:solidFill>
                  <a:schemeClr val="bg1">
                    <a:lumMod val="65000"/>
                  </a:schemeClr>
                </a:solidFill>
              </a:rPr>
              <a:t>Additional Implementation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: </a:t>
            </a:r>
            <a:r>
              <a:rPr lang="en-US" altLang="ko-KR" sz="1600" dirty="0">
                <a:solidFill>
                  <a:schemeClr val="bg1">
                    <a:lumMod val="65000"/>
                  </a:schemeClr>
                </a:solidFill>
              </a:rPr>
              <a:t>Implement </a:t>
            </a:r>
            <a:r>
              <a:rPr lang="en-US" altLang="ko-KR" sz="1600" dirty="0" err="1">
                <a:solidFill>
                  <a:schemeClr val="bg1">
                    <a:lumMod val="65000"/>
                  </a:schemeClr>
                </a:solidFill>
              </a:rPr>
              <a:t>fibonacci</a:t>
            </a:r>
            <a:r>
              <a:rPr lang="en-US" altLang="ko-KR" sz="1600" dirty="0">
                <a:solidFill>
                  <a:schemeClr val="bg1">
                    <a:lumMod val="65000"/>
                  </a:schemeClr>
                </a:solidFill>
              </a:rPr>
              <a:t>(), </a:t>
            </a:r>
            <a:r>
              <a:rPr lang="en-US" altLang="ko-KR" sz="1600" dirty="0" err="1">
                <a:solidFill>
                  <a:schemeClr val="bg1">
                    <a:lumMod val="65000"/>
                  </a:schemeClr>
                </a:solidFill>
              </a:rPr>
              <a:t>max_of_four_int</a:t>
            </a:r>
            <a:r>
              <a:rPr lang="en-US" altLang="ko-KR" sz="1600" dirty="0">
                <a:solidFill>
                  <a:schemeClr val="bg1">
                    <a:lumMod val="65000"/>
                  </a:schemeClr>
                </a:solidFill>
              </a:rPr>
              <a:t>()</a:t>
            </a:r>
            <a:endParaRPr lang="en-US" altLang="ko-KR" dirty="0">
              <a:solidFill>
                <a:schemeClr val="bg1">
                  <a:lumMod val="65000"/>
                </a:schemeClr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9B1189CA-BB6E-421A-B4FD-2B5773D56F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2593248"/>
              </p:ext>
            </p:extLst>
          </p:nvPr>
        </p:nvGraphicFramePr>
        <p:xfrm>
          <a:off x="5282214" y="4560810"/>
          <a:ext cx="5788955" cy="1268116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5788955">
                  <a:extLst>
                    <a:ext uri="{9D8B030D-6E8A-4147-A177-3AD203B41FA5}">
                      <a16:colId xmlns:a16="http://schemas.microsoft.com/office/drawing/2014/main" val="1013775778"/>
                    </a:ext>
                  </a:extLst>
                </a:gridCol>
              </a:tblGrid>
              <a:tr h="126811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>
                          <a:solidFill>
                            <a:schemeClr val="accent2"/>
                          </a:solidFill>
                        </a:rPr>
                        <a:t>Refer to </a:t>
                      </a:r>
                      <a:r>
                        <a:rPr lang="en-US" altLang="ko-KR" sz="1600" b="1" dirty="0" err="1">
                          <a:solidFill>
                            <a:schemeClr val="accent2"/>
                          </a:solidFill>
                        </a:rPr>
                        <a:t>src</a:t>
                      </a:r>
                      <a:r>
                        <a:rPr lang="en-US" altLang="ko-KR" sz="1600" b="1" dirty="0">
                          <a:solidFill>
                            <a:schemeClr val="accent2"/>
                          </a:solidFill>
                        </a:rPr>
                        <a:t>/threads/</a:t>
                      </a:r>
                      <a:r>
                        <a:rPr lang="en-US" altLang="ko-KR" sz="1600" b="1" dirty="0" err="1">
                          <a:solidFill>
                            <a:schemeClr val="accent2"/>
                          </a:solidFill>
                        </a:rPr>
                        <a:t>vaddr.h</a:t>
                      </a:r>
                      <a:endParaRPr lang="en-US" altLang="ko-KR" sz="1600" b="1" dirty="0">
                        <a:solidFill>
                          <a:schemeClr val="accent2"/>
                        </a:solidFill>
                      </a:endParaRPr>
                    </a:p>
                    <a:p>
                      <a:pPr algn="ctr" latinLnBrk="1"/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z="1600" b="1" dirty="0">
                          <a:solidFill>
                            <a:schemeClr val="accent2"/>
                          </a:solidFill>
                        </a:rPr>
                        <a:t>Recommend to implement the function which checks the validity of given address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4179000"/>
                  </a:ext>
                </a:extLst>
              </a:tr>
            </a:tbl>
          </a:graphicData>
        </a:graphic>
      </p:graphicFrame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C54F4E12-79F7-4A1F-A19E-E1E68A1F4CCE}"/>
              </a:ext>
            </a:extLst>
          </p:cNvPr>
          <p:cNvCxnSpPr>
            <a:cxnSpLocks/>
            <a:stCxn id="4" idx="1"/>
          </p:cNvCxnSpPr>
          <p:nvPr/>
        </p:nvCxnSpPr>
        <p:spPr>
          <a:xfrm flipH="1" flipV="1">
            <a:off x="3213718" y="2874054"/>
            <a:ext cx="2068496" cy="2320814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F0169794-8F0F-D147-86CD-F9670CBFDF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2656" y="5991138"/>
            <a:ext cx="446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A305A6-A07C-784C-BBE4-67C27A551CE4}" type="slidenum">
              <a:rPr lang="en-US" smtClean="0"/>
              <a:t>79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0B27F83-BA9E-134D-8F61-FDBC23E6A0E3}"/>
              </a:ext>
            </a:extLst>
          </p:cNvPr>
          <p:cNvSpPr/>
          <p:nvPr/>
        </p:nvSpPr>
        <p:spPr>
          <a:xfrm>
            <a:off x="8532496" y="536243"/>
            <a:ext cx="2971070" cy="391967"/>
          </a:xfrm>
          <a:prstGeom prst="rect">
            <a:avLst/>
          </a:prstGeom>
          <a:ln w="28575">
            <a:solidFill>
              <a:srgbClr val="C00000"/>
            </a:solidFill>
          </a:ln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dirty="0"/>
              <a:t>Refer to Pintos manual 3.2</a:t>
            </a:r>
          </a:p>
        </p:txBody>
      </p:sp>
    </p:spTree>
    <p:extLst>
      <p:ext uri="{BB962C8B-B14F-4D97-AF65-F5344CB8AC3E}">
        <p14:creationId xmlns:p14="http://schemas.microsoft.com/office/powerpoint/2010/main" val="359090799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D934A1A-C6DD-964E-864F-4A8B7B188BA6}"/>
              </a:ext>
            </a:extLst>
          </p:cNvPr>
          <p:cNvSpPr/>
          <p:nvPr/>
        </p:nvSpPr>
        <p:spPr>
          <a:xfrm>
            <a:off x="838200" y="4215884"/>
            <a:ext cx="49730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※ Refer to source codes in </a:t>
            </a:r>
            <a:r>
              <a:rPr lang="en-US" altLang="ko-KR" dirty="0" err="1">
                <a:solidFill>
                  <a:schemeClr val="bg1">
                    <a:lumMod val="65000"/>
                  </a:schemeClr>
                </a:solidFill>
              </a:rPr>
              <a:t>src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/tests/</a:t>
            </a:r>
            <a:r>
              <a:rPr lang="en-US" altLang="ko-KR" dirty="0" err="1">
                <a:solidFill>
                  <a:schemeClr val="bg1">
                    <a:lumMod val="65000"/>
                  </a:schemeClr>
                </a:solidFill>
              </a:rPr>
              <a:t>userprog</a:t>
            </a:r>
            <a:endParaRPr lang="en-US" altLang="ko-KR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chemeClr val="accent2"/>
                </a:solidFill>
              </a:rPr>
              <a:t>Suggested Order of Implementation (1)</a:t>
            </a:r>
            <a:endParaRPr lang="ko-KR" altLang="en-US" b="1" dirty="0">
              <a:solidFill>
                <a:schemeClr val="accent2"/>
              </a:solidFill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110296"/>
            <a:ext cx="10515600" cy="369332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You can not see the result until you implement core functionalities.</a:t>
            </a:r>
          </a:p>
          <a:p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Students are highly encouraged to read/understand these slides and Pintos manual first, design the structures and then start to implement.</a:t>
            </a:r>
          </a:p>
          <a:p>
            <a:pPr marL="457200" indent="-457200">
              <a:buFont typeface="+mj-lt"/>
              <a:buAutoNum type="arabicParenR"/>
            </a:pPr>
            <a:r>
              <a:rPr lang="en-US" altLang="ko-KR" b="1" dirty="0">
                <a:solidFill>
                  <a:schemeClr val="bg1">
                    <a:lumMod val="65000"/>
                  </a:schemeClr>
                </a:solidFill>
              </a:rPr>
              <a:t>Argument Passing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: </a:t>
            </a:r>
            <a:r>
              <a:rPr lang="en-US" altLang="ko-KR" sz="1600" dirty="0">
                <a:solidFill>
                  <a:schemeClr val="bg1">
                    <a:lumMod val="65000"/>
                  </a:schemeClr>
                </a:solidFill>
              </a:rPr>
              <a:t>After implementing it, check the result using </a:t>
            </a:r>
            <a:r>
              <a:rPr lang="en-US" altLang="ko-KR" sz="1600" dirty="0" err="1">
                <a:solidFill>
                  <a:schemeClr val="bg1">
                    <a:lumMod val="65000"/>
                  </a:schemeClr>
                </a:solidFill>
              </a:rPr>
              <a:t>hex_dump</a:t>
            </a:r>
            <a:r>
              <a:rPr lang="en-US" altLang="ko-KR" sz="1600" dirty="0">
                <a:solidFill>
                  <a:schemeClr val="bg1">
                    <a:lumMod val="65000"/>
                  </a:schemeClr>
                </a:solidFill>
              </a:rPr>
              <a:t>()</a:t>
            </a:r>
          </a:p>
          <a:p>
            <a:pPr marL="457200" indent="-457200">
              <a:buFont typeface="+mj-lt"/>
              <a:buAutoNum type="arabicParenR"/>
            </a:pPr>
            <a:r>
              <a:rPr lang="en-US" altLang="ko-KR" b="1" dirty="0">
                <a:solidFill>
                  <a:schemeClr val="bg1">
                    <a:lumMod val="65000"/>
                  </a:schemeClr>
                </a:solidFill>
              </a:rPr>
              <a:t>User Memory Access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: </a:t>
            </a:r>
            <a:r>
              <a:rPr lang="en-US" altLang="ko-KR" sz="1600" dirty="0">
                <a:solidFill>
                  <a:schemeClr val="bg1">
                    <a:lumMod val="65000"/>
                  </a:schemeClr>
                </a:solidFill>
              </a:rPr>
              <a:t>Make a plan for protecting user memory accesses from system calls</a:t>
            </a:r>
          </a:p>
          <a:p>
            <a:pPr marL="457200" indent="-457200">
              <a:buFont typeface="+mj-lt"/>
              <a:buAutoNum type="arabicParenR"/>
            </a:pPr>
            <a:r>
              <a:rPr lang="en-US" altLang="ko-KR" b="1" dirty="0">
                <a:solidFill>
                  <a:schemeClr val="accent2"/>
                </a:solidFill>
              </a:rPr>
              <a:t>System Call Handler: </a:t>
            </a:r>
            <a:r>
              <a:rPr lang="en-US" altLang="ko-KR" sz="1600" dirty="0">
                <a:solidFill>
                  <a:schemeClr val="bg1">
                    <a:lumMod val="65000"/>
                  </a:schemeClr>
                </a:solidFill>
              </a:rPr>
              <a:t>Implement </a:t>
            </a:r>
            <a:r>
              <a:rPr lang="en-US" altLang="ko-KR" sz="1600" dirty="0" err="1">
                <a:solidFill>
                  <a:schemeClr val="bg1">
                    <a:lumMod val="65000"/>
                  </a:schemeClr>
                </a:solidFill>
              </a:rPr>
              <a:t>syscall_handler</a:t>
            </a:r>
            <a:r>
              <a:rPr lang="en-US" altLang="ko-KR" sz="1600" dirty="0">
                <a:solidFill>
                  <a:schemeClr val="bg1">
                    <a:lumMod val="65000"/>
                  </a:schemeClr>
                </a:solidFill>
              </a:rPr>
              <a:t>() to handle</a:t>
            </a:r>
            <a:r>
              <a:rPr lang="ko-KR" altLang="en-US" sz="1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ko-KR" sz="1600" dirty="0">
                <a:solidFill>
                  <a:schemeClr val="bg1">
                    <a:lumMod val="65000"/>
                  </a:schemeClr>
                </a:solidFill>
              </a:rPr>
              <a:t>system call</a:t>
            </a:r>
            <a:endParaRPr lang="en-US" altLang="ko-KR" dirty="0">
              <a:solidFill>
                <a:schemeClr val="bg1">
                  <a:lumMod val="65000"/>
                </a:schemeClr>
              </a:solidFill>
            </a:endParaRPr>
          </a:p>
          <a:p>
            <a:pPr marL="457200" indent="-457200">
              <a:buFont typeface="+mj-lt"/>
              <a:buAutoNum type="arabicParenR"/>
            </a:pPr>
            <a:r>
              <a:rPr lang="en-US" altLang="ko-KR" b="1" dirty="0">
                <a:solidFill>
                  <a:schemeClr val="bg1">
                    <a:lumMod val="65000"/>
                  </a:schemeClr>
                </a:solidFill>
              </a:rPr>
              <a:t>System Call Implementation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:</a:t>
            </a:r>
            <a:r>
              <a:rPr lang="en-US" altLang="ko-KR" sz="1600" dirty="0">
                <a:solidFill>
                  <a:schemeClr val="bg1">
                    <a:lumMod val="65000"/>
                  </a:schemeClr>
                </a:solidFill>
              </a:rPr>
              <a:t>  Implement </a:t>
            </a:r>
            <a:r>
              <a:rPr lang="en-US" altLang="ko-KR" sz="1600" b="1" dirty="0">
                <a:solidFill>
                  <a:schemeClr val="bg1">
                    <a:lumMod val="65000"/>
                  </a:schemeClr>
                </a:solidFill>
              </a:rPr>
              <a:t>exec(), exit(), write(), read() </a:t>
            </a:r>
            <a:r>
              <a:rPr lang="en-US" altLang="ko-KR" sz="1600" dirty="0">
                <a:solidFill>
                  <a:schemeClr val="bg1">
                    <a:lumMod val="65000"/>
                  </a:schemeClr>
                </a:solidFill>
              </a:rPr>
              <a:t>first</a:t>
            </a:r>
            <a:endParaRPr lang="en-US" altLang="ko-KR" dirty="0">
              <a:solidFill>
                <a:schemeClr val="bg1">
                  <a:lumMod val="65000"/>
                </a:schemeClr>
              </a:solidFill>
            </a:endParaRPr>
          </a:p>
          <a:p>
            <a:pPr marL="457200" indent="-457200">
              <a:buFont typeface="+mj-lt"/>
              <a:buAutoNum type="arabicParenR"/>
            </a:pPr>
            <a:r>
              <a:rPr lang="en-US" altLang="ko-KR" b="1" dirty="0">
                <a:solidFill>
                  <a:schemeClr val="bg1">
                    <a:lumMod val="65000"/>
                  </a:schemeClr>
                </a:solidFill>
              </a:rPr>
              <a:t>Additional Implementation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: </a:t>
            </a:r>
            <a:r>
              <a:rPr lang="en-US" altLang="ko-KR" sz="1600" dirty="0">
                <a:solidFill>
                  <a:schemeClr val="bg1">
                    <a:lumMod val="65000"/>
                  </a:schemeClr>
                </a:solidFill>
              </a:rPr>
              <a:t>Implement </a:t>
            </a:r>
            <a:r>
              <a:rPr lang="en-US" altLang="ko-KR" sz="1600" dirty="0" err="1">
                <a:solidFill>
                  <a:schemeClr val="bg1">
                    <a:lumMod val="65000"/>
                  </a:schemeClr>
                </a:solidFill>
              </a:rPr>
              <a:t>fibonacci</a:t>
            </a:r>
            <a:r>
              <a:rPr lang="en-US" altLang="ko-KR" sz="1600" dirty="0">
                <a:solidFill>
                  <a:schemeClr val="bg1">
                    <a:lumMod val="65000"/>
                  </a:schemeClr>
                </a:solidFill>
              </a:rPr>
              <a:t>(), </a:t>
            </a:r>
            <a:r>
              <a:rPr lang="en-US" altLang="ko-KR" sz="1600" dirty="0" err="1">
                <a:solidFill>
                  <a:schemeClr val="bg1">
                    <a:lumMod val="65000"/>
                  </a:schemeClr>
                </a:solidFill>
              </a:rPr>
              <a:t>max_of_four_int</a:t>
            </a:r>
            <a:r>
              <a:rPr lang="en-US" altLang="ko-KR" sz="1600" dirty="0">
                <a:solidFill>
                  <a:schemeClr val="bg1">
                    <a:lumMod val="65000"/>
                  </a:schemeClr>
                </a:solidFill>
              </a:rPr>
              <a:t>()</a:t>
            </a:r>
            <a:endParaRPr lang="en-US" altLang="ko-KR" dirty="0">
              <a:solidFill>
                <a:schemeClr val="bg1">
                  <a:lumMod val="65000"/>
                </a:schemeClr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9B1189CA-BB6E-421A-B4FD-2B5773D56F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3804474"/>
              </p:ext>
            </p:extLst>
          </p:nvPr>
        </p:nvGraphicFramePr>
        <p:xfrm>
          <a:off x="5282214" y="4570334"/>
          <a:ext cx="5788955" cy="1268117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5788955">
                  <a:extLst>
                    <a:ext uri="{9D8B030D-6E8A-4147-A177-3AD203B41FA5}">
                      <a16:colId xmlns:a16="http://schemas.microsoft.com/office/drawing/2014/main" val="1013775778"/>
                    </a:ext>
                  </a:extLst>
                </a:gridCol>
              </a:tblGrid>
              <a:tr h="126811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 err="1">
                          <a:solidFill>
                            <a:schemeClr val="accent2"/>
                          </a:solidFill>
                        </a:rPr>
                        <a:t>src</a:t>
                      </a:r>
                      <a:r>
                        <a:rPr lang="en-US" altLang="ko-KR" sz="1600" b="1" dirty="0">
                          <a:solidFill>
                            <a:schemeClr val="accent2"/>
                          </a:solidFill>
                        </a:rPr>
                        <a:t>/</a:t>
                      </a:r>
                      <a:r>
                        <a:rPr lang="en-US" altLang="ko-KR" sz="1600" b="1" dirty="0" err="1">
                          <a:solidFill>
                            <a:schemeClr val="accent2"/>
                          </a:solidFill>
                        </a:rPr>
                        <a:t>userprog</a:t>
                      </a:r>
                      <a:r>
                        <a:rPr lang="en-US" altLang="ko-KR" sz="1600" b="1" dirty="0">
                          <a:solidFill>
                            <a:schemeClr val="accent2"/>
                          </a:solidFill>
                        </a:rPr>
                        <a:t>/</a:t>
                      </a:r>
                      <a:r>
                        <a:rPr lang="en-US" altLang="ko-KR" sz="1600" b="1" dirty="0" err="1">
                          <a:solidFill>
                            <a:schemeClr val="accent2"/>
                          </a:solidFill>
                        </a:rPr>
                        <a:t>syscall.c</a:t>
                      </a:r>
                      <a:r>
                        <a:rPr lang="en-US" altLang="ko-KR" sz="1600" b="1" dirty="0">
                          <a:solidFill>
                            <a:schemeClr val="accent2"/>
                          </a:solidFill>
                        </a:rPr>
                        <a:t> : </a:t>
                      </a:r>
                      <a:r>
                        <a:rPr lang="en-US" altLang="ko-KR" sz="1600" b="1" dirty="0" err="1">
                          <a:solidFill>
                            <a:schemeClr val="accent2"/>
                          </a:solidFill>
                        </a:rPr>
                        <a:t>syscall_handler</a:t>
                      </a:r>
                      <a:r>
                        <a:rPr lang="en-US" altLang="ko-KR" sz="1600" b="1" dirty="0">
                          <a:solidFill>
                            <a:schemeClr val="accent2"/>
                          </a:solidFill>
                        </a:rPr>
                        <a:t>()</a:t>
                      </a:r>
                    </a:p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Check argument 'struct </a:t>
                      </a:r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</a:rPr>
                        <a:t>intr_frame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' of </a:t>
                      </a:r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</a:rPr>
                        <a:t>syscall_handler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() in </a:t>
                      </a:r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</a:rPr>
                        <a:t>syscall.c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(struct </a:t>
                      </a:r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</a:rPr>
                        <a:t>intr_frame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 is in </a:t>
                      </a:r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</a:rPr>
                        <a:t>src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/threads/</a:t>
                      </a:r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</a:rPr>
                        <a:t>interrupt.h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4179000"/>
                  </a:ext>
                </a:extLst>
              </a:tr>
            </a:tbl>
          </a:graphicData>
        </a:graphic>
      </p:graphicFrame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C54F4E12-79F7-4A1F-A19E-E1E68A1F4CCE}"/>
              </a:ext>
            </a:extLst>
          </p:cNvPr>
          <p:cNvCxnSpPr>
            <a:cxnSpLocks/>
            <a:stCxn id="4" idx="1"/>
          </p:cNvCxnSpPr>
          <p:nvPr/>
        </p:nvCxnSpPr>
        <p:spPr>
          <a:xfrm flipH="1" flipV="1">
            <a:off x="3382392" y="3283078"/>
            <a:ext cx="1899822" cy="1921314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C1A3F0B0-D731-FE46-84AF-FE7A9CB383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2656" y="5991138"/>
            <a:ext cx="446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A305A6-A07C-784C-BBE4-67C27A551CE4}" type="slidenum">
              <a:rPr lang="en-US" smtClean="0"/>
              <a:t>80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A3B89BD-6953-E945-B46A-8370A1029CD6}"/>
              </a:ext>
            </a:extLst>
          </p:cNvPr>
          <p:cNvSpPr/>
          <p:nvPr/>
        </p:nvSpPr>
        <p:spPr>
          <a:xfrm>
            <a:off x="8532496" y="536243"/>
            <a:ext cx="2971070" cy="391967"/>
          </a:xfrm>
          <a:prstGeom prst="rect">
            <a:avLst/>
          </a:prstGeom>
          <a:ln w="28575">
            <a:solidFill>
              <a:srgbClr val="C00000"/>
            </a:solidFill>
          </a:ln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dirty="0"/>
              <a:t>Refer to Pintos manual 3.2</a:t>
            </a:r>
          </a:p>
        </p:txBody>
      </p:sp>
    </p:spTree>
    <p:extLst>
      <p:ext uri="{BB962C8B-B14F-4D97-AF65-F5344CB8AC3E}">
        <p14:creationId xmlns:p14="http://schemas.microsoft.com/office/powerpoint/2010/main" val="545305031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7A6C314-3E49-AE46-9E89-5D71EF6650BE}"/>
              </a:ext>
            </a:extLst>
          </p:cNvPr>
          <p:cNvSpPr/>
          <p:nvPr/>
        </p:nvSpPr>
        <p:spPr>
          <a:xfrm>
            <a:off x="838200" y="4215884"/>
            <a:ext cx="49730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※ Refer to source codes in </a:t>
            </a:r>
            <a:r>
              <a:rPr lang="en-US" altLang="ko-KR" dirty="0" err="1">
                <a:solidFill>
                  <a:schemeClr val="bg1">
                    <a:lumMod val="65000"/>
                  </a:schemeClr>
                </a:solidFill>
              </a:rPr>
              <a:t>src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/tests/</a:t>
            </a:r>
            <a:r>
              <a:rPr lang="en-US" altLang="ko-KR" dirty="0" err="1">
                <a:solidFill>
                  <a:schemeClr val="bg1">
                    <a:lumMod val="65000"/>
                  </a:schemeClr>
                </a:solidFill>
              </a:rPr>
              <a:t>userprog</a:t>
            </a:r>
            <a:endParaRPr lang="en-US" altLang="ko-KR" dirty="0">
              <a:solidFill>
                <a:schemeClr val="bg1">
                  <a:lumMod val="65000"/>
                </a:schemeClr>
              </a:solidFill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9B1189CA-BB6E-421A-B4FD-2B5773D56F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1115119"/>
              </p:ext>
            </p:extLst>
          </p:nvPr>
        </p:nvGraphicFramePr>
        <p:xfrm>
          <a:off x="5282214" y="4560809"/>
          <a:ext cx="5788955" cy="1268117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5788955">
                  <a:extLst>
                    <a:ext uri="{9D8B030D-6E8A-4147-A177-3AD203B41FA5}">
                      <a16:colId xmlns:a16="http://schemas.microsoft.com/office/drawing/2014/main" val="1013775778"/>
                    </a:ext>
                  </a:extLst>
                </a:gridCol>
              </a:tblGrid>
              <a:tr h="126811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>
                          <a:solidFill>
                            <a:schemeClr val="accent2"/>
                          </a:solidFill>
                        </a:rPr>
                        <a:t>Synchronization will be needed</a:t>
                      </a:r>
                    </a:p>
                    <a:p>
                      <a:pPr algn="ctr" latinLnBrk="1"/>
                      <a:r>
                        <a:rPr lang="en-US" altLang="ko-KR" sz="1600" b="1" dirty="0">
                          <a:solidFill>
                            <a:schemeClr val="accent2"/>
                          </a:solidFill>
                        </a:rPr>
                        <a:t>(You can use busy waiting) </a:t>
                      </a:r>
                    </a:p>
                    <a:p>
                      <a:pPr algn="ctr" latinLnBrk="1"/>
                      <a:r>
                        <a:rPr lang="en-US" altLang="ko-KR" sz="1600" b="1" baseline="0" dirty="0">
                          <a:solidFill>
                            <a:schemeClr val="accent2"/>
                          </a:solidFill>
                        </a:rPr>
                        <a:t>exit status is</a:t>
                      </a:r>
                      <a:r>
                        <a:rPr lang="ko-KR" altLang="en-US" sz="1600" b="1" baseline="0" dirty="0">
                          <a:solidFill>
                            <a:schemeClr val="accent2"/>
                          </a:solidFill>
                        </a:rPr>
                        <a:t> </a:t>
                      </a:r>
                      <a:r>
                        <a:rPr lang="en-US" altLang="ko-KR" sz="1600" b="1" baseline="0" dirty="0">
                          <a:solidFill>
                            <a:schemeClr val="accent2"/>
                          </a:solidFill>
                        </a:rPr>
                        <a:t>-1 when </a:t>
                      </a:r>
                      <a:r>
                        <a:rPr lang="en-US" altLang="ko-KR" sz="1600" b="1" dirty="0" err="1">
                          <a:solidFill>
                            <a:schemeClr val="accent2"/>
                          </a:solidFill>
                        </a:rPr>
                        <a:t>syscall_handler</a:t>
                      </a:r>
                      <a:r>
                        <a:rPr lang="en-US" altLang="ko-KR" sz="1600" b="1" dirty="0">
                          <a:solidFill>
                            <a:schemeClr val="accent2"/>
                          </a:solidFill>
                        </a:rPr>
                        <a:t> is terminated in abnormal way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4179000"/>
                  </a:ext>
                </a:extLst>
              </a:tr>
            </a:tbl>
          </a:graphicData>
        </a:graphic>
      </p:graphicFrame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chemeClr val="accent2"/>
                </a:solidFill>
              </a:rPr>
              <a:t>Suggested Order of Implementation (1)</a:t>
            </a:r>
            <a:endParaRPr lang="ko-KR" altLang="en-US" b="1" dirty="0">
              <a:solidFill>
                <a:schemeClr val="accent2"/>
              </a:solidFill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110296"/>
            <a:ext cx="10515600" cy="369332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You can not see the result until you implement core functionalities.</a:t>
            </a:r>
          </a:p>
          <a:p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Students are highly encouraged to read/understand these slides and Pintos manual first, design the structures and then start to implement.</a:t>
            </a:r>
          </a:p>
          <a:p>
            <a:pPr marL="457200" indent="-457200">
              <a:buFont typeface="+mj-lt"/>
              <a:buAutoNum type="arabicParenR"/>
            </a:pPr>
            <a:r>
              <a:rPr lang="en-US" altLang="ko-KR" b="1" dirty="0">
                <a:solidFill>
                  <a:schemeClr val="bg1">
                    <a:lumMod val="65000"/>
                  </a:schemeClr>
                </a:solidFill>
              </a:rPr>
              <a:t>Argument Passing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: </a:t>
            </a:r>
            <a:r>
              <a:rPr lang="en-US" altLang="ko-KR" sz="1600" dirty="0">
                <a:solidFill>
                  <a:schemeClr val="bg1">
                    <a:lumMod val="65000"/>
                  </a:schemeClr>
                </a:solidFill>
              </a:rPr>
              <a:t>After implementing it, check the result using </a:t>
            </a:r>
            <a:r>
              <a:rPr lang="en-US" altLang="ko-KR" sz="1600" dirty="0" err="1">
                <a:solidFill>
                  <a:schemeClr val="bg1">
                    <a:lumMod val="65000"/>
                  </a:schemeClr>
                </a:solidFill>
              </a:rPr>
              <a:t>hex_dump</a:t>
            </a:r>
            <a:r>
              <a:rPr lang="en-US" altLang="ko-KR" sz="1600" dirty="0">
                <a:solidFill>
                  <a:schemeClr val="bg1">
                    <a:lumMod val="65000"/>
                  </a:schemeClr>
                </a:solidFill>
              </a:rPr>
              <a:t>()</a:t>
            </a:r>
          </a:p>
          <a:p>
            <a:pPr marL="457200" indent="-457200">
              <a:buFont typeface="+mj-lt"/>
              <a:buAutoNum type="arabicParenR"/>
            </a:pPr>
            <a:r>
              <a:rPr lang="en-US" altLang="ko-KR" b="1" dirty="0">
                <a:solidFill>
                  <a:schemeClr val="bg1">
                    <a:lumMod val="65000"/>
                  </a:schemeClr>
                </a:solidFill>
              </a:rPr>
              <a:t>User Memory Access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: </a:t>
            </a:r>
            <a:r>
              <a:rPr lang="en-US" altLang="ko-KR" sz="1600" dirty="0">
                <a:solidFill>
                  <a:schemeClr val="bg1">
                    <a:lumMod val="65000"/>
                  </a:schemeClr>
                </a:solidFill>
              </a:rPr>
              <a:t>Make a plan for protecting user memory accesses from system calls</a:t>
            </a:r>
          </a:p>
          <a:p>
            <a:pPr marL="457200" indent="-457200">
              <a:buFont typeface="+mj-lt"/>
              <a:buAutoNum type="arabicParenR"/>
            </a:pPr>
            <a:r>
              <a:rPr lang="en-US" altLang="ko-KR" b="1" dirty="0">
                <a:solidFill>
                  <a:schemeClr val="bg1">
                    <a:lumMod val="65000"/>
                  </a:schemeClr>
                </a:solidFill>
              </a:rPr>
              <a:t>System Call Handler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: </a:t>
            </a:r>
            <a:r>
              <a:rPr lang="en-US" altLang="ko-KR" sz="1600" dirty="0">
                <a:solidFill>
                  <a:schemeClr val="bg1">
                    <a:lumMod val="65000"/>
                  </a:schemeClr>
                </a:solidFill>
              </a:rPr>
              <a:t>Implement </a:t>
            </a:r>
            <a:r>
              <a:rPr lang="en-US" altLang="ko-KR" sz="1600" dirty="0" err="1">
                <a:solidFill>
                  <a:schemeClr val="bg1">
                    <a:lumMod val="65000"/>
                  </a:schemeClr>
                </a:solidFill>
              </a:rPr>
              <a:t>syscall_handler</a:t>
            </a:r>
            <a:r>
              <a:rPr lang="en-US" altLang="ko-KR" sz="1600" dirty="0">
                <a:solidFill>
                  <a:schemeClr val="bg1">
                    <a:lumMod val="65000"/>
                  </a:schemeClr>
                </a:solidFill>
              </a:rPr>
              <a:t>() to handle</a:t>
            </a:r>
            <a:r>
              <a:rPr lang="ko-KR" altLang="en-US" sz="1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ko-KR" sz="1600" dirty="0">
                <a:solidFill>
                  <a:schemeClr val="bg1">
                    <a:lumMod val="65000"/>
                  </a:schemeClr>
                </a:solidFill>
              </a:rPr>
              <a:t>system call</a:t>
            </a:r>
            <a:endParaRPr lang="en-US" altLang="ko-KR" dirty="0">
              <a:solidFill>
                <a:schemeClr val="bg1">
                  <a:lumMod val="65000"/>
                </a:schemeClr>
              </a:solidFill>
            </a:endParaRPr>
          </a:p>
          <a:p>
            <a:pPr marL="457200" indent="-457200">
              <a:buFont typeface="+mj-lt"/>
              <a:buAutoNum type="arabicParenR"/>
            </a:pPr>
            <a:r>
              <a:rPr lang="en-US" altLang="ko-KR" b="1" dirty="0">
                <a:solidFill>
                  <a:schemeClr val="accent2"/>
                </a:solidFill>
              </a:rPr>
              <a:t>System Call Implementation:  </a:t>
            </a:r>
            <a:r>
              <a:rPr lang="en-US" altLang="ko-KR" sz="1600" dirty="0">
                <a:solidFill>
                  <a:schemeClr val="bg1">
                    <a:lumMod val="65000"/>
                  </a:schemeClr>
                </a:solidFill>
              </a:rPr>
              <a:t>Implement </a:t>
            </a:r>
            <a:r>
              <a:rPr lang="en-US" altLang="ko-KR" sz="1600" b="1" dirty="0">
                <a:solidFill>
                  <a:schemeClr val="bg1">
                    <a:lumMod val="65000"/>
                  </a:schemeClr>
                </a:solidFill>
              </a:rPr>
              <a:t>exec(), exit(), write(), read() </a:t>
            </a:r>
            <a:r>
              <a:rPr lang="en-US" altLang="ko-KR" sz="1600" dirty="0">
                <a:solidFill>
                  <a:schemeClr val="bg1">
                    <a:lumMod val="65000"/>
                  </a:schemeClr>
                </a:solidFill>
              </a:rPr>
              <a:t>first</a:t>
            </a:r>
            <a:endParaRPr lang="en-US" altLang="ko-KR" dirty="0">
              <a:solidFill>
                <a:schemeClr val="bg1">
                  <a:lumMod val="65000"/>
                </a:schemeClr>
              </a:solidFill>
            </a:endParaRPr>
          </a:p>
          <a:p>
            <a:pPr marL="457200" indent="-457200">
              <a:buFont typeface="+mj-lt"/>
              <a:buAutoNum type="arabicParenR"/>
            </a:pPr>
            <a:r>
              <a:rPr lang="en-US" altLang="ko-KR" b="1" dirty="0">
                <a:solidFill>
                  <a:schemeClr val="bg1">
                    <a:lumMod val="65000"/>
                  </a:schemeClr>
                </a:solidFill>
              </a:rPr>
              <a:t>Additional Implementation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: </a:t>
            </a:r>
            <a:r>
              <a:rPr lang="en-US" altLang="ko-KR" sz="1600" dirty="0">
                <a:solidFill>
                  <a:schemeClr val="bg1">
                    <a:lumMod val="65000"/>
                  </a:schemeClr>
                </a:solidFill>
              </a:rPr>
              <a:t>Implement </a:t>
            </a:r>
            <a:r>
              <a:rPr lang="en-US" altLang="ko-KR" sz="1600" dirty="0" err="1">
                <a:solidFill>
                  <a:schemeClr val="bg1">
                    <a:lumMod val="65000"/>
                  </a:schemeClr>
                </a:solidFill>
              </a:rPr>
              <a:t>fibonacci</a:t>
            </a:r>
            <a:r>
              <a:rPr lang="en-US" altLang="ko-KR" sz="1600" dirty="0">
                <a:solidFill>
                  <a:schemeClr val="bg1">
                    <a:lumMod val="65000"/>
                  </a:schemeClr>
                </a:solidFill>
              </a:rPr>
              <a:t>(), </a:t>
            </a:r>
            <a:r>
              <a:rPr lang="en-US" altLang="ko-KR" sz="1600" dirty="0" err="1">
                <a:solidFill>
                  <a:schemeClr val="bg1">
                    <a:lumMod val="65000"/>
                  </a:schemeClr>
                </a:solidFill>
              </a:rPr>
              <a:t>max_of_four_int</a:t>
            </a:r>
            <a:r>
              <a:rPr lang="en-US" altLang="ko-KR" sz="1600" dirty="0">
                <a:solidFill>
                  <a:schemeClr val="bg1">
                    <a:lumMod val="65000"/>
                  </a:schemeClr>
                </a:solidFill>
              </a:rPr>
              <a:t>()</a:t>
            </a:r>
            <a:endParaRPr lang="en-US" altLang="ko-KR" dirty="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C54F4E12-79F7-4A1F-A19E-E1E68A1F4CCE}"/>
              </a:ext>
            </a:extLst>
          </p:cNvPr>
          <p:cNvCxnSpPr>
            <a:cxnSpLocks/>
            <a:stCxn id="6" idx="1"/>
          </p:cNvCxnSpPr>
          <p:nvPr/>
        </p:nvCxnSpPr>
        <p:spPr>
          <a:xfrm flipH="1" flipV="1">
            <a:off x="3559946" y="3699677"/>
            <a:ext cx="1722268" cy="1495190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6A994656-19C5-7547-B38D-BC930298CB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2656" y="5991138"/>
            <a:ext cx="446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A305A6-A07C-784C-BBE4-67C27A551CE4}" type="slidenum">
              <a:rPr lang="en-US" smtClean="0"/>
              <a:t>81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40E81FD-50D0-EF4E-830A-522F0F56A15C}"/>
              </a:ext>
            </a:extLst>
          </p:cNvPr>
          <p:cNvSpPr/>
          <p:nvPr/>
        </p:nvSpPr>
        <p:spPr>
          <a:xfrm>
            <a:off x="8532496" y="536243"/>
            <a:ext cx="2971070" cy="391967"/>
          </a:xfrm>
          <a:prstGeom prst="rect">
            <a:avLst/>
          </a:prstGeom>
          <a:ln w="28575">
            <a:solidFill>
              <a:srgbClr val="C00000"/>
            </a:solidFill>
          </a:ln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dirty="0"/>
              <a:t>Refer to Pintos manual 3.2</a:t>
            </a:r>
          </a:p>
        </p:txBody>
      </p:sp>
    </p:spTree>
    <p:extLst>
      <p:ext uri="{BB962C8B-B14F-4D97-AF65-F5344CB8AC3E}">
        <p14:creationId xmlns:p14="http://schemas.microsoft.com/office/powerpoint/2010/main" val="1200884013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C6FCD6-750D-D843-8A18-3BD3E402E6CF}"/>
              </a:ext>
            </a:extLst>
          </p:cNvPr>
          <p:cNvSpPr/>
          <p:nvPr/>
        </p:nvSpPr>
        <p:spPr>
          <a:xfrm>
            <a:off x="838200" y="4215884"/>
            <a:ext cx="49730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※ Refer to source codes in </a:t>
            </a:r>
            <a:r>
              <a:rPr lang="en-US" altLang="ko-KR" dirty="0" err="1">
                <a:solidFill>
                  <a:schemeClr val="bg1">
                    <a:lumMod val="65000"/>
                  </a:schemeClr>
                </a:solidFill>
              </a:rPr>
              <a:t>src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/tests/</a:t>
            </a:r>
            <a:r>
              <a:rPr lang="en-US" altLang="ko-KR" dirty="0" err="1">
                <a:solidFill>
                  <a:schemeClr val="bg1">
                    <a:lumMod val="65000"/>
                  </a:schemeClr>
                </a:solidFill>
              </a:rPr>
              <a:t>userprog</a:t>
            </a:r>
            <a:endParaRPr lang="en-US" altLang="ko-KR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chemeClr val="accent2"/>
                </a:solidFill>
              </a:rPr>
              <a:t>Suggested Order of Implementation (1)</a:t>
            </a:r>
            <a:endParaRPr lang="ko-KR" altLang="en-US" b="1" dirty="0">
              <a:solidFill>
                <a:schemeClr val="accent2"/>
              </a:solidFill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110296"/>
            <a:ext cx="10515600" cy="369332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You can not see the result until you implement core functionalities.</a:t>
            </a:r>
          </a:p>
          <a:p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Students are highly encouraged to read/understand these slides and Pintos manual first, design the structures and then start to implement.</a:t>
            </a:r>
          </a:p>
          <a:p>
            <a:pPr marL="457200" indent="-457200">
              <a:buFont typeface="+mj-lt"/>
              <a:buAutoNum type="arabicParenR"/>
            </a:pPr>
            <a:r>
              <a:rPr lang="en-US" altLang="ko-KR" b="1" dirty="0">
                <a:solidFill>
                  <a:schemeClr val="bg1">
                    <a:lumMod val="65000"/>
                  </a:schemeClr>
                </a:solidFill>
              </a:rPr>
              <a:t>Argument Passing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: </a:t>
            </a:r>
            <a:r>
              <a:rPr lang="en-US" altLang="ko-KR" sz="1600" dirty="0">
                <a:solidFill>
                  <a:schemeClr val="bg1">
                    <a:lumMod val="65000"/>
                  </a:schemeClr>
                </a:solidFill>
              </a:rPr>
              <a:t>After implementing it, check the result using </a:t>
            </a:r>
            <a:r>
              <a:rPr lang="en-US" altLang="ko-KR" sz="1600" dirty="0" err="1">
                <a:solidFill>
                  <a:schemeClr val="bg1">
                    <a:lumMod val="65000"/>
                  </a:schemeClr>
                </a:solidFill>
              </a:rPr>
              <a:t>hex_dump</a:t>
            </a:r>
            <a:r>
              <a:rPr lang="en-US" altLang="ko-KR" sz="1600" dirty="0">
                <a:solidFill>
                  <a:schemeClr val="bg1">
                    <a:lumMod val="65000"/>
                  </a:schemeClr>
                </a:solidFill>
              </a:rPr>
              <a:t>()</a:t>
            </a:r>
          </a:p>
          <a:p>
            <a:pPr marL="457200" indent="-457200">
              <a:buFont typeface="+mj-lt"/>
              <a:buAutoNum type="arabicParenR"/>
            </a:pPr>
            <a:r>
              <a:rPr lang="en-US" altLang="ko-KR" b="1" dirty="0">
                <a:solidFill>
                  <a:schemeClr val="bg1">
                    <a:lumMod val="65000"/>
                  </a:schemeClr>
                </a:solidFill>
              </a:rPr>
              <a:t>User Memory Access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: </a:t>
            </a:r>
            <a:r>
              <a:rPr lang="en-US" altLang="ko-KR" sz="1600" dirty="0">
                <a:solidFill>
                  <a:schemeClr val="bg1">
                    <a:lumMod val="65000"/>
                  </a:schemeClr>
                </a:solidFill>
              </a:rPr>
              <a:t>Make a plan for protecting user memory accesses from system calls</a:t>
            </a:r>
          </a:p>
          <a:p>
            <a:pPr marL="457200" indent="-457200">
              <a:buFont typeface="+mj-lt"/>
              <a:buAutoNum type="arabicParenR"/>
            </a:pPr>
            <a:r>
              <a:rPr lang="en-US" altLang="ko-KR" b="1" dirty="0">
                <a:solidFill>
                  <a:schemeClr val="bg1">
                    <a:lumMod val="65000"/>
                  </a:schemeClr>
                </a:solidFill>
              </a:rPr>
              <a:t>System Call Handler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: </a:t>
            </a:r>
            <a:r>
              <a:rPr lang="en-US" altLang="ko-KR" sz="1600" dirty="0">
                <a:solidFill>
                  <a:schemeClr val="bg1">
                    <a:lumMod val="65000"/>
                  </a:schemeClr>
                </a:solidFill>
              </a:rPr>
              <a:t>Implement </a:t>
            </a:r>
            <a:r>
              <a:rPr lang="en-US" altLang="ko-KR" sz="1600" dirty="0" err="1">
                <a:solidFill>
                  <a:schemeClr val="bg1">
                    <a:lumMod val="65000"/>
                  </a:schemeClr>
                </a:solidFill>
              </a:rPr>
              <a:t>syscall_handler</a:t>
            </a:r>
            <a:r>
              <a:rPr lang="en-US" altLang="ko-KR" sz="1600" dirty="0">
                <a:solidFill>
                  <a:schemeClr val="bg1">
                    <a:lumMod val="65000"/>
                  </a:schemeClr>
                </a:solidFill>
              </a:rPr>
              <a:t>() to handle</a:t>
            </a:r>
            <a:r>
              <a:rPr lang="ko-KR" altLang="en-US" sz="1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ko-KR" sz="1600" dirty="0">
                <a:solidFill>
                  <a:schemeClr val="bg1">
                    <a:lumMod val="65000"/>
                  </a:schemeClr>
                </a:solidFill>
              </a:rPr>
              <a:t>system call</a:t>
            </a:r>
            <a:endParaRPr lang="en-US" altLang="ko-KR" dirty="0">
              <a:solidFill>
                <a:schemeClr val="bg1">
                  <a:lumMod val="65000"/>
                </a:schemeClr>
              </a:solidFill>
            </a:endParaRPr>
          </a:p>
          <a:p>
            <a:pPr marL="457200" indent="-457200">
              <a:buFont typeface="+mj-lt"/>
              <a:buAutoNum type="arabicParenR"/>
            </a:pPr>
            <a:r>
              <a:rPr lang="en-US" altLang="ko-KR" b="1" dirty="0">
                <a:solidFill>
                  <a:schemeClr val="bg1">
                    <a:lumMod val="65000"/>
                  </a:schemeClr>
                </a:solidFill>
              </a:rPr>
              <a:t>System Call Implementation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:</a:t>
            </a:r>
            <a:r>
              <a:rPr lang="en-US" altLang="ko-KR" sz="1600" dirty="0">
                <a:solidFill>
                  <a:schemeClr val="bg1">
                    <a:lumMod val="65000"/>
                  </a:schemeClr>
                </a:solidFill>
              </a:rPr>
              <a:t>  Implement </a:t>
            </a:r>
            <a:r>
              <a:rPr lang="en-US" altLang="ko-KR" sz="1600" b="1" dirty="0">
                <a:solidFill>
                  <a:schemeClr val="bg1">
                    <a:lumMod val="65000"/>
                  </a:schemeClr>
                </a:solidFill>
              </a:rPr>
              <a:t>exec(), exit(), write(), read() </a:t>
            </a:r>
            <a:r>
              <a:rPr lang="en-US" altLang="ko-KR" sz="1600" dirty="0">
                <a:solidFill>
                  <a:schemeClr val="bg1">
                    <a:lumMod val="65000"/>
                  </a:schemeClr>
                </a:solidFill>
              </a:rPr>
              <a:t>first</a:t>
            </a:r>
            <a:endParaRPr lang="en-US" altLang="ko-KR" dirty="0">
              <a:solidFill>
                <a:schemeClr val="bg1">
                  <a:lumMod val="65000"/>
                </a:schemeClr>
              </a:solidFill>
            </a:endParaRPr>
          </a:p>
          <a:p>
            <a:pPr marL="457200" indent="-457200">
              <a:buFont typeface="+mj-lt"/>
              <a:buAutoNum type="arabicParenR"/>
            </a:pPr>
            <a:r>
              <a:rPr lang="en-US" altLang="ko-KR" b="1" dirty="0">
                <a:solidFill>
                  <a:schemeClr val="accent2"/>
                </a:solidFill>
              </a:rPr>
              <a:t>Additional Implementation: </a:t>
            </a:r>
            <a:r>
              <a:rPr lang="en-US" altLang="ko-KR" sz="1600" dirty="0">
                <a:solidFill>
                  <a:schemeClr val="bg1">
                    <a:lumMod val="65000"/>
                  </a:schemeClr>
                </a:solidFill>
              </a:rPr>
              <a:t>Implement </a:t>
            </a:r>
            <a:r>
              <a:rPr lang="en-US" altLang="ko-KR" sz="1600" dirty="0" err="1">
                <a:solidFill>
                  <a:schemeClr val="bg1">
                    <a:lumMod val="65000"/>
                  </a:schemeClr>
                </a:solidFill>
              </a:rPr>
              <a:t>fibonacci</a:t>
            </a:r>
            <a:r>
              <a:rPr lang="en-US" altLang="ko-KR" sz="1600" dirty="0">
                <a:solidFill>
                  <a:schemeClr val="bg1">
                    <a:lumMod val="65000"/>
                  </a:schemeClr>
                </a:solidFill>
              </a:rPr>
              <a:t>(), </a:t>
            </a:r>
            <a:r>
              <a:rPr lang="en-US" altLang="ko-KR" sz="1600" dirty="0" err="1">
                <a:solidFill>
                  <a:schemeClr val="bg1">
                    <a:lumMod val="65000"/>
                  </a:schemeClr>
                </a:solidFill>
              </a:rPr>
              <a:t>max_of_four_int</a:t>
            </a:r>
            <a:r>
              <a:rPr lang="en-US" altLang="ko-KR" sz="1600" dirty="0">
                <a:solidFill>
                  <a:schemeClr val="bg1">
                    <a:lumMod val="65000"/>
                  </a:schemeClr>
                </a:solidFill>
              </a:rPr>
              <a:t>()</a:t>
            </a:r>
            <a:endParaRPr lang="en-US" altLang="ko-KR" dirty="0">
              <a:solidFill>
                <a:schemeClr val="bg1">
                  <a:lumMod val="65000"/>
                </a:schemeClr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9B1189CA-BB6E-421A-B4FD-2B5773D56F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1780528"/>
              </p:ext>
            </p:extLst>
          </p:nvPr>
        </p:nvGraphicFramePr>
        <p:xfrm>
          <a:off x="5282214" y="4332209"/>
          <a:ext cx="5788955" cy="1268117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5788955">
                  <a:extLst>
                    <a:ext uri="{9D8B030D-6E8A-4147-A177-3AD203B41FA5}">
                      <a16:colId xmlns:a16="http://schemas.microsoft.com/office/drawing/2014/main" val="1013775778"/>
                    </a:ext>
                  </a:extLst>
                </a:gridCol>
              </a:tblGrid>
              <a:tr h="126811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1" dirty="0">
                          <a:solidFill>
                            <a:schemeClr val="accent2"/>
                          </a:solidFill>
                        </a:rPr>
                        <a:t>Modify the followings: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1" dirty="0" err="1">
                          <a:solidFill>
                            <a:schemeClr val="accent2"/>
                          </a:solidFill>
                        </a:rPr>
                        <a:t>src</a:t>
                      </a:r>
                      <a:r>
                        <a:rPr lang="en-US" altLang="ko-KR" sz="1600" b="1" dirty="0">
                          <a:solidFill>
                            <a:schemeClr val="accent2"/>
                          </a:solidFill>
                        </a:rPr>
                        <a:t>/lib/</a:t>
                      </a:r>
                      <a:r>
                        <a:rPr lang="en-US" altLang="ko-KR" sz="1600" b="1" dirty="0" err="1">
                          <a:solidFill>
                            <a:schemeClr val="accent2"/>
                          </a:solidFill>
                        </a:rPr>
                        <a:t>syscall-nr.h</a:t>
                      </a:r>
                      <a:endParaRPr lang="en-US" altLang="ko-KR" sz="1600" b="1" dirty="0">
                        <a:solidFill>
                          <a:schemeClr val="accent2"/>
                        </a:solidFill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1" dirty="0" err="1">
                          <a:solidFill>
                            <a:schemeClr val="accent2"/>
                          </a:solidFill>
                        </a:rPr>
                        <a:t>src</a:t>
                      </a:r>
                      <a:r>
                        <a:rPr lang="en-US" altLang="ko-KR" sz="1600" b="1" dirty="0">
                          <a:solidFill>
                            <a:schemeClr val="accent2"/>
                          </a:solidFill>
                        </a:rPr>
                        <a:t>/lib/</a:t>
                      </a:r>
                      <a:r>
                        <a:rPr lang="en-US" altLang="ko-KR" sz="1600" b="1" dirty="0" err="1">
                          <a:solidFill>
                            <a:schemeClr val="accent2"/>
                          </a:solidFill>
                        </a:rPr>
                        <a:t>syscall.h</a:t>
                      </a:r>
                      <a:endParaRPr lang="en-US" altLang="ko-KR" sz="1600" b="1" dirty="0">
                        <a:solidFill>
                          <a:schemeClr val="accent2"/>
                        </a:solidFill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1" dirty="0" err="1">
                          <a:solidFill>
                            <a:schemeClr val="accent2"/>
                          </a:solidFill>
                        </a:rPr>
                        <a:t>src</a:t>
                      </a:r>
                      <a:r>
                        <a:rPr lang="en-US" altLang="ko-KR" sz="1600" b="1" dirty="0">
                          <a:solidFill>
                            <a:schemeClr val="accent2"/>
                          </a:solidFill>
                        </a:rPr>
                        <a:t>/lib/</a:t>
                      </a:r>
                      <a:r>
                        <a:rPr lang="en-US" altLang="ko-KR" sz="1600" b="1" dirty="0" err="1">
                          <a:solidFill>
                            <a:schemeClr val="accent2"/>
                          </a:solidFill>
                        </a:rPr>
                        <a:t>syscall.c</a:t>
                      </a:r>
                      <a:endParaRPr lang="en-US" altLang="ko-KR" sz="1600" b="1" dirty="0">
                        <a:solidFill>
                          <a:schemeClr val="accent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4179000"/>
                  </a:ext>
                </a:extLst>
              </a:tr>
            </a:tbl>
          </a:graphicData>
        </a:graphic>
      </p:graphicFrame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C54F4E12-79F7-4A1F-A19E-E1E68A1F4CCE}"/>
              </a:ext>
            </a:extLst>
          </p:cNvPr>
          <p:cNvCxnSpPr>
            <a:cxnSpLocks/>
            <a:stCxn id="4" idx="1"/>
          </p:cNvCxnSpPr>
          <p:nvPr/>
        </p:nvCxnSpPr>
        <p:spPr>
          <a:xfrm flipH="1" flipV="1">
            <a:off x="3158836" y="4139565"/>
            <a:ext cx="2123378" cy="826702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5CDA1286-51DD-5641-80C5-42877B05B2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2656" y="5991138"/>
            <a:ext cx="446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A305A6-A07C-784C-BBE4-67C27A551CE4}" type="slidenum">
              <a:rPr lang="en-US" smtClean="0"/>
              <a:t>82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61742DB-689E-BE49-865B-16371DE8DA0F}"/>
              </a:ext>
            </a:extLst>
          </p:cNvPr>
          <p:cNvSpPr/>
          <p:nvPr/>
        </p:nvSpPr>
        <p:spPr>
          <a:xfrm>
            <a:off x="8532496" y="536243"/>
            <a:ext cx="2971070" cy="391967"/>
          </a:xfrm>
          <a:prstGeom prst="rect">
            <a:avLst/>
          </a:prstGeom>
          <a:ln w="28575">
            <a:solidFill>
              <a:srgbClr val="C00000"/>
            </a:solidFill>
          </a:ln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dirty="0"/>
              <a:t>Refer to Pintos manual 3.2</a:t>
            </a:r>
          </a:p>
        </p:txBody>
      </p:sp>
    </p:spTree>
    <p:extLst>
      <p:ext uri="{BB962C8B-B14F-4D97-AF65-F5344CB8AC3E}">
        <p14:creationId xmlns:p14="http://schemas.microsoft.com/office/powerpoint/2010/main" val="3848563483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chemeClr val="accent2"/>
                </a:solidFill>
              </a:rPr>
              <a:t>Suggested Order of Implementation (2)</a:t>
            </a:r>
            <a:endParaRPr lang="ko-KR" altLang="en-US" dirty="0"/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>
          <a:xfrm>
            <a:off x="838200" y="1112520"/>
            <a:ext cx="10515600" cy="4728443"/>
          </a:xfrm>
        </p:spPr>
        <p:txBody>
          <a:bodyPr/>
          <a:lstStyle/>
          <a:p>
            <a:r>
              <a:rPr lang="en-US" altLang="ko-KR" sz="2400" b="1" dirty="0"/>
              <a:t>Implement system calls about file system</a:t>
            </a:r>
          </a:p>
          <a:p>
            <a:pPr lvl="1"/>
            <a:r>
              <a:rPr lang="en-US" altLang="ko-KR" sz="2000" dirty="0"/>
              <a:t>System calls</a:t>
            </a:r>
          </a:p>
          <a:p>
            <a:pPr lvl="2"/>
            <a:r>
              <a:rPr lang="en-US" altLang="ko-KR" sz="1800" dirty="0"/>
              <a:t>create, remove, open, close, </a:t>
            </a:r>
            <a:r>
              <a:rPr lang="en-US" altLang="ko-KR" sz="1800" dirty="0" err="1"/>
              <a:t>filesize</a:t>
            </a:r>
            <a:r>
              <a:rPr lang="en-US" altLang="ko-KR" sz="1800" dirty="0"/>
              <a:t>, read, write, seek, tell</a:t>
            </a:r>
            <a:endParaRPr lang="en-US" altLang="ko-KR" sz="2000" dirty="0"/>
          </a:p>
          <a:p>
            <a:pPr lvl="1"/>
            <a:r>
              <a:rPr lang="en-US" altLang="ko-KR" sz="2000" dirty="0"/>
              <a:t>See Pintos manual p.29~32 for system call implementation.</a:t>
            </a:r>
            <a:endParaRPr lang="ko-KR" altLang="en-US" sz="2000" dirty="0"/>
          </a:p>
        </p:txBody>
      </p:sp>
      <p:sp>
        <p:nvSpPr>
          <p:cNvPr id="10" name="슬라이드 번호 개체 틀 9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6550AAA-8F92-814C-869C-8228B27748CA}" type="slidenum">
              <a:rPr lang="en-US" smtClean="0"/>
              <a:t>83</a:t>
            </a:fld>
            <a:endParaRPr lang="en-US"/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B3C1B090-E405-8130-4576-52B6F6F7622A}"/>
              </a:ext>
            </a:extLst>
          </p:cNvPr>
          <p:cNvSpPr txBox="1"/>
          <p:nvPr/>
        </p:nvSpPr>
        <p:spPr>
          <a:xfrm>
            <a:off x="0" y="0"/>
            <a:ext cx="845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ko-KR" b="1" dirty="0"/>
              <a:t>Prj1-2</a:t>
            </a:r>
            <a:endParaRPr kumimoji="1"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144186863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Evaluation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ko-KR" altLang="ko-KR" dirty="0"/>
              <a:t>All 76 </a:t>
            </a:r>
            <a:r>
              <a:rPr lang="ko-KR" altLang="ko-KR" dirty="0" err="1"/>
              <a:t>tests</a:t>
            </a:r>
            <a:r>
              <a:rPr lang="ko-KR" altLang="ko-KR" dirty="0"/>
              <a:t> </a:t>
            </a:r>
            <a:r>
              <a:rPr lang="ko-KR" altLang="ko-KR" dirty="0" err="1"/>
              <a:t>in</a:t>
            </a:r>
            <a:r>
              <a:rPr lang="ko-KR" altLang="ko-KR" dirty="0"/>
              <a:t> </a:t>
            </a:r>
            <a:r>
              <a:rPr lang="ko-KR" altLang="ko-KR" dirty="0" err="1"/>
              <a:t>this</a:t>
            </a:r>
            <a:r>
              <a:rPr lang="ko-KR" altLang="ko-KR" dirty="0"/>
              <a:t> </a:t>
            </a:r>
            <a:r>
              <a:rPr lang="ko-KR" altLang="ko-KR" dirty="0" err="1"/>
              <a:t>project</a:t>
            </a:r>
            <a:r>
              <a:rPr lang="ko-KR" altLang="ko-KR" dirty="0"/>
              <a:t> </a:t>
            </a:r>
            <a:r>
              <a:rPr lang="ko-KR" altLang="ko-KR" dirty="0" err="1"/>
              <a:t>will</a:t>
            </a:r>
            <a:r>
              <a:rPr lang="ko-KR" altLang="ko-KR" dirty="0"/>
              <a:t> </a:t>
            </a:r>
            <a:r>
              <a:rPr lang="ko-KR" altLang="ko-KR" dirty="0" err="1"/>
              <a:t>be</a:t>
            </a:r>
            <a:r>
              <a:rPr lang="ko-KR" altLang="ko-KR" dirty="0"/>
              <a:t> </a:t>
            </a:r>
            <a:r>
              <a:rPr lang="ko-KR" altLang="ko-KR" dirty="0" err="1"/>
              <a:t>graded</a:t>
            </a:r>
            <a:r>
              <a:rPr lang="en-US" altLang="ko-KR" dirty="0"/>
              <a:t>.</a:t>
            </a:r>
          </a:p>
          <a:p>
            <a:pPr marL="914400" lvl="1" indent="-457200">
              <a:buFont typeface="+mj-lt"/>
              <a:buAutoNum type="arabicPeriod"/>
            </a:pPr>
            <a:r>
              <a:rPr lang="ko-KR" altLang="ko-KR" dirty="0"/>
              <a:t>Prj1-1: 21 </a:t>
            </a:r>
            <a:r>
              <a:rPr lang="ko-KR" altLang="ko-KR" dirty="0" err="1"/>
              <a:t>tests</a:t>
            </a:r>
            <a:r>
              <a:rPr lang="ko-KR" altLang="ko-KR" dirty="0"/>
              <a:t> / Prj1-2: 55 </a:t>
            </a:r>
            <a:r>
              <a:rPr lang="ko-KR" altLang="ko-KR" dirty="0" err="1"/>
              <a:t>tests</a:t>
            </a:r>
            <a:r>
              <a:rPr lang="ko-KR" altLang="ko-KR" dirty="0"/>
              <a:t> </a:t>
            </a:r>
            <a:endParaRPr lang="en-US" altLang="ko-KR" dirty="0"/>
          </a:p>
          <a:p>
            <a:pPr marL="457200" lvl="1" indent="0">
              <a:buNone/>
            </a:pPr>
            <a:r>
              <a:rPr lang="ko-KR" altLang="ko-KR" dirty="0"/>
              <a:t>(</a:t>
            </a:r>
            <a:r>
              <a:rPr lang="ko-KR" altLang="ko-KR" dirty="0" err="1"/>
              <a:t>Refer</a:t>
            </a:r>
            <a:r>
              <a:rPr lang="ko-KR" altLang="ko-KR" dirty="0"/>
              <a:t> </a:t>
            </a:r>
            <a:r>
              <a:rPr lang="ko-KR" altLang="ko-KR" dirty="0" err="1"/>
              <a:t>to</a:t>
            </a:r>
            <a:r>
              <a:rPr lang="ko-KR" altLang="ko-KR" dirty="0"/>
              <a:t> </a:t>
            </a:r>
            <a:r>
              <a:rPr lang="ko-KR" altLang="ko-KR" dirty="0" err="1"/>
              <a:t>the</a:t>
            </a:r>
            <a:r>
              <a:rPr lang="ko-KR" altLang="ko-KR" dirty="0"/>
              <a:t> </a:t>
            </a:r>
            <a:r>
              <a:rPr lang="ko-KR" altLang="ko-KR" dirty="0" err="1"/>
              <a:t>test</a:t>
            </a:r>
            <a:r>
              <a:rPr lang="ko-KR" altLang="ko-KR" dirty="0"/>
              <a:t> </a:t>
            </a:r>
            <a:r>
              <a:rPr lang="ko-KR" altLang="ko-KR" dirty="0" err="1"/>
              <a:t>case</a:t>
            </a:r>
            <a:r>
              <a:rPr lang="ko-KR" altLang="ko-KR" dirty="0"/>
              <a:t> </a:t>
            </a:r>
            <a:r>
              <a:rPr lang="ko-KR" altLang="ko-KR" dirty="0" err="1"/>
              <a:t>lists</a:t>
            </a:r>
            <a:r>
              <a:rPr lang="ko-KR" altLang="ko-KR" dirty="0"/>
              <a:t> </a:t>
            </a:r>
            <a:r>
              <a:rPr lang="ko-KR" altLang="ko-KR" dirty="0" err="1"/>
              <a:t>in</a:t>
            </a:r>
            <a:r>
              <a:rPr lang="ko-KR" altLang="ko-KR" dirty="0"/>
              <a:t> </a:t>
            </a:r>
            <a:r>
              <a:rPr lang="ko-KR" altLang="ko-KR" dirty="0" err="1"/>
              <a:t>the</a:t>
            </a:r>
            <a:r>
              <a:rPr lang="ko-KR" altLang="ko-KR" dirty="0"/>
              <a:t> </a:t>
            </a:r>
            <a:r>
              <a:rPr lang="ko-KR" altLang="ko-KR" dirty="0" err="1"/>
              <a:t>next</a:t>
            </a:r>
            <a:r>
              <a:rPr lang="ko-KR" altLang="ko-KR" dirty="0"/>
              <a:t> </a:t>
            </a:r>
            <a:r>
              <a:rPr lang="ko-KR" altLang="ko-KR" dirty="0" err="1"/>
              <a:t>slides</a:t>
            </a:r>
            <a:r>
              <a:rPr lang="ko-KR" altLang="ko-KR" dirty="0"/>
              <a:t>) </a:t>
            </a:r>
            <a:endParaRPr lang="en-US" altLang="ko-KR" dirty="0"/>
          </a:p>
          <a:p>
            <a:pPr marL="457200" lvl="1" indent="0">
              <a:buNone/>
            </a:pPr>
            <a:r>
              <a:rPr lang="en-US" altLang="ko-KR" dirty="0"/>
              <a:t>(</a:t>
            </a:r>
            <a:r>
              <a:rPr lang="ko-KR" altLang="ko-KR" dirty="0"/>
              <a:t>※ </a:t>
            </a:r>
            <a:r>
              <a:rPr lang="en-US" altLang="ko-KR" dirty="0"/>
              <a:t>Rows </a:t>
            </a:r>
            <a:r>
              <a:rPr lang="ko-KR" altLang="ko-KR" dirty="0" err="1">
                <a:highlight>
                  <a:srgbClr val="FFFF00"/>
                </a:highlight>
              </a:rPr>
              <a:t>Highlighted</a:t>
            </a:r>
            <a:r>
              <a:rPr lang="ko-KR" altLang="en-US" dirty="0">
                <a:highlight>
                  <a:srgbClr val="FFFF00"/>
                </a:highlight>
              </a:rPr>
              <a:t> </a:t>
            </a:r>
            <a:r>
              <a:rPr lang="en-US" altLang="ko-KR" dirty="0">
                <a:highlight>
                  <a:srgbClr val="FFFF00"/>
                </a:highlight>
              </a:rPr>
              <a:t>in yellow</a:t>
            </a:r>
            <a:r>
              <a:rPr lang="en-US" altLang="ko-KR" dirty="0"/>
              <a:t> </a:t>
            </a:r>
            <a:r>
              <a:rPr lang="ko-KR" altLang="ko-KR" dirty="0" err="1"/>
              <a:t>in</a:t>
            </a:r>
            <a:r>
              <a:rPr lang="ko-KR" altLang="ko-KR" dirty="0"/>
              <a:t> </a:t>
            </a:r>
            <a:r>
              <a:rPr lang="ko-KR" altLang="ko-KR" dirty="0" err="1"/>
              <a:t>the</a:t>
            </a:r>
            <a:r>
              <a:rPr lang="ko-KR" altLang="ko-KR" dirty="0"/>
              <a:t> </a:t>
            </a:r>
            <a:r>
              <a:rPr lang="ko-KR" altLang="ko-KR" dirty="0" err="1"/>
              <a:t>tables</a:t>
            </a:r>
            <a:r>
              <a:rPr lang="ko-KR" altLang="ko-KR" dirty="0"/>
              <a:t> </a:t>
            </a:r>
            <a:r>
              <a:rPr lang="ko-KR" altLang="ko-KR" dirty="0" err="1"/>
              <a:t>are</a:t>
            </a:r>
            <a:r>
              <a:rPr lang="ko-KR" altLang="ko-KR" dirty="0"/>
              <a:t> </a:t>
            </a:r>
            <a:r>
              <a:rPr lang="ko-KR" altLang="ko-KR" dirty="0" err="1"/>
              <a:t>the</a:t>
            </a:r>
            <a:r>
              <a:rPr lang="ko-KR" altLang="ko-KR" dirty="0"/>
              <a:t> 21 </a:t>
            </a:r>
            <a:r>
              <a:rPr lang="ko-KR" altLang="ko-KR" dirty="0" err="1"/>
              <a:t>tests</a:t>
            </a:r>
            <a:r>
              <a:rPr lang="ko-KR" altLang="ko-KR" dirty="0"/>
              <a:t> </a:t>
            </a:r>
            <a:r>
              <a:rPr lang="ko-KR" altLang="ko-KR" dirty="0" err="1"/>
              <a:t>for</a:t>
            </a:r>
            <a:r>
              <a:rPr lang="ko-KR" altLang="ko-KR" dirty="0"/>
              <a:t> Prj1-1</a:t>
            </a:r>
            <a:r>
              <a:rPr lang="en-US" altLang="ko-KR" dirty="0"/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dirty="0"/>
              <a:t>Total score is 100 which consists of 80 for test cases and 20 for documentation.</a:t>
            </a:r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en-US" altLang="ko-KR" dirty="0"/>
              <a:t>Additional 2.5 points for each additional system call implementation.</a:t>
            </a:r>
            <a:br>
              <a:rPr lang="en-US" altLang="ko-KR" dirty="0"/>
            </a:br>
            <a:r>
              <a:rPr lang="en-US" altLang="ko-KR" dirty="0"/>
              <a:t>(5 points for </a:t>
            </a:r>
            <a:r>
              <a:rPr lang="en-US" b="1" dirty="0" err="1">
                <a:solidFill>
                  <a:srgbClr val="1065E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fibonacci</a:t>
            </a:r>
            <a:r>
              <a:rPr lang="en-US" b="1" dirty="0">
                <a:solidFill>
                  <a:srgbClr val="1065E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() </a:t>
            </a:r>
            <a:r>
              <a:rPr lang="en-US" dirty="0"/>
              <a:t>and </a:t>
            </a:r>
            <a:r>
              <a:rPr lang="en-US" b="1" dirty="0" err="1">
                <a:solidFill>
                  <a:srgbClr val="1065E7"/>
                </a:solidFill>
                <a:latin typeface="Hack" panose="020B0609030202020204" pitchFamily="49" charset="0"/>
                <a:cs typeface="Hack" panose="020B0609030202020204" pitchFamily="49" charset="0"/>
              </a:rPr>
              <a:t>max</a:t>
            </a:r>
            <a:r>
              <a:rPr lang="en-US" b="1" dirty="0" err="1">
                <a:solidFill>
                  <a:srgbClr val="1065E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_of_four_int</a:t>
            </a:r>
            <a:r>
              <a:rPr lang="en-US" b="1" dirty="0">
                <a:solidFill>
                  <a:srgbClr val="1065E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()</a:t>
            </a:r>
            <a:r>
              <a:rPr lang="en-US" altLang="ko-KR" dirty="0"/>
              <a:t> in implementation</a:t>
            </a:r>
            <a:r>
              <a:rPr lang="en-US" dirty="0"/>
              <a:t>)</a:t>
            </a:r>
            <a:br>
              <a:rPr lang="en-US" dirty="0"/>
            </a:br>
            <a:r>
              <a:rPr lang="en-US" sz="1600" dirty="0"/>
              <a:t>※ It will be calculated in development part (80%), so the total point will be 4 points (5*80%).</a:t>
            </a:r>
            <a:endParaRPr lang="en-US" altLang="ko-KR" dirty="0"/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en-US" altLang="ko-KR" dirty="0"/>
              <a:t>Grading script (</a:t>
            </a:r>
            <a:r>
              <a:rPr lang="en-US" altLang="ko-KR" b="1" i="1" dirty="0">
                <a:solidFill>
                  <a:srgbClr val="1065E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make grade </a:t>
            </a:r>
            <a:r>
              <a:rPr lang="en-US" altLang="ko-KR" dirty="0"/>
              <a:t>or </a:t>
            </a:r>
            <a:r>
              <a:rPr lang="en-US" altLang="ko-KR" b="1" i="1" dirty="0">
                <a:solidFill>
                  <a:srgbClr val="1065E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make check</a:t>
            </a:r>
            <a:r>
              <a:rPr lang="en-US" altLang="ko-KR" dirty="0"/>
              <a:t> in </a:t>
            </a:r>
            <a:r>
              <a:rPr lang="en-US" altLang="ko-KR" dirty="0" err="1"/>
              <a:t>src</a:t>
            </a:r>
            <a:r>
              <a:rPr lang="en-US" altLang="ko-KR" dirty="0"/>
              <a:t>/</a:t>
            </a:r>
            <a:r>
              <a:rPr lang="en-US" altLang="ko-KR" dirty="0" err="1"/>
              <a:t>userprog</a:t>
            </a:r>
            <a:r>
              <a:rPr lang="en-US" altLang="ko-KR" dirty="0"/>
              <a:t>) provided by Pintos will be used.</a:t>
            </a:r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en-US" altLang="ko-KR" dirty="0"/>
              <a:t>Refer to </a:t>
            </a:r>
            <a:r>
              <a:rPr lang="en-US" altLang="ko-KR" b="1" dirty="0"/>
              <a:t>'grade'</a:t>
            </a:r>
            <a:r>
              <a:rPr lang="en-US" altLang="ko-KR" dirty="0"/>
              <a:t> and </a:t>
            </a:r>
            <a:r>
              <a:rPr lang="en-US" altLang="ko-KR" b="1" dirty="0"/>
              <a:t>'results'</a:t>
            </a:r>
            <a:r>
              <a:rPr lang="en-US" altLang="ko-KR" dirty="0"/>
              <a:t> files in </a:t>
            </a:r>
            <a:r>
              <a:rPr lang="en-US" altLang="ko-KR" dirty="0" err="1"/>
              <a:t>src</a:t>
            </a:r>
            <a:r>
              <a:rPr lang="en-US" altLang="ko-KR" dirty="0"/>
              <a:t>/</a:t>
            </a:r>
            <a:r>
              <a:rPr lang="en-US" altLang="ko-KR" dirty="0" err="1"/>
              <a:t>userprog</a:t>
            </a:r>
            <a:r>
              <a:rPr lang="en-US" altLang="ko-KR" dirty="0"/>
              <a:t>/build after grading</a:t>
            </a:r>
            <a:br>
              <a:rPr lang="en-US" altLang="ko-KR" dirty="0"/>
            </a:br>
            <a:r>
              <a:rPr lang="en-US" altLang="ko-KR" dirty="0"/>
              <a:t>('grade' file is only created when you use </a:t>
            </a:r>
            <a:r>
              <a:rPr lang="en-US" altLang="ko-KR" b="1" i="1" dirty="0">
                <a:solidFill>
                  <a:srgbClr val="1065E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make grade</a:t>
            </a:r>
            <a:r>
              <a:rPr lang="en-US" altLang="ko-KR" dirty="0"/>
              <a:t>)</a:t>
            </a:r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71F1B149-F8C6-3548-90E6-D1B4EC3C78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2656" y="5991138"/>
            <a:ext cx="446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A305A6-A07C-784C-BBE4-67C27A551CE4}" type="slidenum">
              <a:rPr lang="en-US" smtClean="0"/>
              <a:t>84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7B8511B-2C0B-8C47-AD63-B6336F1F4B53}"/>
              </a:ext>
            </a:extLst>
          </p:cNvPr>
          <p:cNvSpPr/>
          <p:nvPr/>
        </p:nvSpPr>
        <p:spPr>
          <a:xfrm>
            <a:off x="8342713" y="536243"/>
            <a:ext cx="3149004" cy="391967"/>
          </a:xfrm>
          <a:prstGeom prst="rect">
            <a:avLst/>
          </a:prstGeom>
          <a:ln w="28575">
            <a:solidFill>
              <a:srgbClr val="C00000"/>
            </a:solidFill>
          </a:ln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dirty="0"/>
              <a:t>Refer to Pintos manual 1.2.1</a:t>
            </a:r>
          </a:p>
        </p:txBody>
      </p:sp>
    </p:spTree>
    <p:extLst>
      <p:ext uri="{BB962C8B-B14F-4D97-AF65-F5344CB8AC3E}">
        <p14:creationId xmlns:p14="http://schemas.microsoft.com/office/powerpoint/2010/main" val="1816046236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CB9AA-DB67-7427-0F1C-17C833331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FE10B9-F02D-5B6D-5997-C3125D9AC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Evaluation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2F60EAF-63E9-5208-AF7B-AE89D1755C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6"/>
            </a:pPr>
            <a:r>
              <a:rPr lang="en-US" altLang="ko-KR" dirty="0"/>
              <a:t>Test cases are classified </a:t>
            </a:r>
          </a:p>
          <a:p>
            <a:pPr marL="457200" lvl="1" indent="0">
              <a:buNone/>
            </a:pPr>
            <a:r>
              <a:rPr lang="en-US" altLang="ko-KR" dirty="0"/>
              <a:t>		i</a:t>
            </a:r>
            <a:r>
              <a:rPr lang="en-US" altLang="ko-KR" sz="2000" dirty="0"/>
              <a:t>n </a:t>
            </a:r>
            <a:r>
              <a:rPr lang="ko-KR" altLang="ko-KR" sz="2000" dirty="0" err="1"/>
              <a:t>functionality</a:t>
            </a:r>
            <a:r>
              <a:rPr lang="ko-KR" altLang="ko-KR" sz="2000" dirty="0"/>
              <a:t> / </a:t>
            </a:r>
            <a:r>
              <a:rPr lang="ko-KR" altLang="ko-KR" sz="2000" dirty="0" err="1"/>
              <a:t>robustness</a:t>
            </a:r>
            <a:r>
              <a:rPr lang="ko-KR" altLang="ko-KR" sz="2000" dirty="0"/>
              <a:t> / </a:t>
            </a:r>
            <a:r>
              <a:rPr lang="en-US" altLang="ko-KR" sz="2000" dirty="0"/>
              <a:t>no-</a:t>
            </a:r>
            <a:r>
              <a:rPr lang="en-US" altLang="ko-KR" sz="2000" dirty="0" err="1"/>
              <a:t>vm</a:t>
            </a:r>
            <a:r>
              <a:rPr lang="en-US" altLang="ko-KR" sz="2000" dirty="0"/>
              <a:t> / </a:t>
            </a:r>
            <a:r>
              <a:rPr lang="ko-KR" altLang="ko-KR" sz="2000" dirty="0" err="1"/>
              <a:t>base</a:t>
            </a:r>
            <a:r>
              <a:rPr lang="ko-KR" altLang="ko-KR" sz="2000" dirty="0"/>
              <a:t> </a:t>
            </a:r>
            <a:r>
              <a:rPr lang="ko-KR" altLang="ko-KR" sz="2000" dirty="0" err="1"/>
              <a:t>file</a:t>
            </a:r>
            <a:r>
              <a:rPr lang="ko-KR" altLang="ko-KR" sz="2000" dirty="0"/>
              <a:t> </a:t>
            </a:r>
            <a:r>
              <a:rPr lang="ko-KR" altLang="ko-KR" sz="2000" dirty="0" err="1"/>
              <a:t>system</a:t>
            </a:r>
            <a:r>
              <a:rPr lang="ko-KR" altLang="ko-KR" sz="2000" dirty="0"/>
              <a:t> (</a:t>
            </a:r>
            <a:r>
              <a:rPr lang="ko-KR" altLang="ko-KR" sz="2000" dirty="0" err="1"/>
              <a:t>filesys</a:t>
            </a:r>
            <a:r>
              <a:rPr lang="ko-KR" altLang="ko-KR" sz="2000" dirty="0"/>
              <a:t> </a:t>
            </a:r>
            <a:r>
              <a:rPr lang="ko-KR" altLang="ko-KR" sz="2000" dirty="0" err="1"/>
              <a:t>base</a:t>
            </a:r>
            <a:r>
              <a:rPr lang="ko-KR" altLang="ko-KR" sz="2000" dirty="0"/>
              <a:t>)</a:t>
            </a:r>
            <a:endParaRPr lang="en-US" altLang="ko-KR" sz="2000" dirty="0"/>
          </a:p>
          <a:p>
            <a:pPr marL="457200" indent="-457200">
              <a:lnSpc>
                <a:spcPct val="120000"/>
              </a:lnSpc>
              <a:buFont typeface="+mj-lt"/>
              <a:buAutoNum type="arabicPeriod" startAt="6"/>
            </a:pPr>
            <a:r>
              <a:rPr lang="en-US" altLang="ko-KR" dirty="0"/>
              <a:t>Refer to the followings for checking each test case's point based on the test type</a:t>
            </a:r>
          </a:p>
          <a:p>
            <a:pPr lvl="1">
              <a:lnSpc>
                <a:spcPct val="120000"/>
              </a:lnSpc>
            </a:pPr>
            <a:r>
              <a:rPr lang="en-US" altLang="ko-KR" dirty="0"/>
              <a:t>pintos/</a:t>
            </a:r>
            <a:r>
              <a:rPr lang="en-US" altLang="ko-KR" dirty="0" err="1"/>
              <a:t>src</a:t>
            </a:r>
            <a:r>
              <a:rPr lang="en-US" altLang="ko-KR" dirty="0"/>
              <a:t>/tests/</a:t>
            </a:r>
            <a:r>
              <a:rPr lang="en-US" altLang="ko-KR" dirty="0" err="1"/>
              <a:t>userprog</a:t>
            </a:r>
            <a:r>
              <a:rPr lang="en-US" altLang="ko-KR" dirty="0"/>
              <a:t>/</a:t>
            </a:r>
            <a:r>
              <a:rPr lang="en-US" altLang="ko-KR" dirty="0" err="1"/>
              <a:t>Rubric.functionality</a:t>
            </a:r>
            <a:r>
              <a:rPr lang="en-US" altLang="ko-KR" dirty="0"/>
              <a:t> </a:t>
            </a:r>
          </a:p>
          <a:p>
            <a:pPr lvl="1">
              <a:lnSpc>
                <a:spcPct val="120000"/>
              </a:lnSpc>
            </a:pPr>
            <a:r>
              <a:rPr lang="en-US" altLang="ko-KR" dirty="0"/>
              <a:t>pintos/</a:t>
            </a:r>
            <a:r>
              <a:rPr lang="en-US" altLang="ko-KR" dirty="0" err="1"/>
              <a:t>src</a:t>
            </a:r>
            <a:r>
              <a:rPr lang="en-US" altLang="ko-KR" dirty="0"/>
              <a:t>/tests/</a:t>
            </a:r>
            <a:r>
              <a:rPr lang="en-US" altLang="ko-KR" dirty="0" err="1"/>
              <a:t>userprog</a:t>
            </a:r>
            <a:r>
              <a:rPr lang="en-US" altLang="ko-KR" dirty="0"/>
              <a:t>/</a:t>
            </a:r>
            <a:r>
              <a:rPr lang="en-US" altLang="ko-KR" dirty="0" err="1"/>
              <a:t>Rubric.robustness</a:t>
            </a:r>
            <a:endParaRPr lang="en-US" altLang="ko-KR" dirty="0"/>
          </a:p>
          <a:p>
            <a:pPr lvl="1">
              <a:lnSpc>
                <a:spcPct val="120000"/>
              </a:lnSpc>
            </a:pPr>
            <a:r>
              <a:rPr lang="en-US" altLang="ko-KR" dirty="0"/>
              <a:t>pintos/</a:t>
            </a:r>
            <a:r>
              <a:rPr lang="en-US" altLang="ko-KR" dirty="0" err="1"/>
              <a:t>src</a:t>
            </a:r>
            <a:r>
              <a:rPr lang="en-US" altLang="ko-KR" dirty="0"/>
              <a:t>/tests/</a:t>
            </a:r>
            <a:r>
              <a:rPr lang="en-US" altLang="ko-KR" dirty="0" err="1"/>
              <a:t>userprog</a:t>
            </a:r>
            <a:r>
              <a:rPr lang="en-US" altLang="ko-KR" dirty="0"/>
              <a:t>/no-</a:t>
            </a:r>
            <a:r>
              <a:rPr lang="en-US" altLang="ko-KR" dirty="0" err="1"/>
              <a:t>vm</a:t>
            </a:r>
            <a:r>
              <a:rPr lang="en-US" altLang="ko-KR" dirty="0"/>
              <a:t>/Rubric</a:t>
            </a:r>
          </a:p>
          <a:p>
            <a:pPr lvl="1">
              <a:lnSpc>
                <a:spcPct val="120000"/>
              </a:lnSpc>
            </a:pPr>
            <a:r>
              <a:rPr lang="en-US" altLang="ko-KR" dirty="0"/>
              <a:t>pintos/</a:t>
            </a:r>
            <a:r>
              <a:rPr lang="en-US" altLang="ko-KR" dirty="0" err="1"/>
              <a:t>src</a:t>
            </a:r>
            <a:r>
              <a:rPr lang="en-US" altLang="ko-KR" dirty="0"/>
              <a:t>/tests/</a:t>
            </a:r>
            <a:r>
              <a:rPr lang="en-US" altLang="ko-KR" dirty="0" err="1"/>
              <a:t>filesys</a:t>
            </a:r>
            <a:r>
              <a:rPr lang="en-US" altLang="ko-KR" dirty="0"/>
              <a:t>/base/Rubric</a:t>
            </a:r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84349D69-A5D4-EA68-5AA1-EF6F924A77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2656" y="5991138"/>
            <a:ext cx="446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A305A6-A07C-784C-BBE4-67C27A551CE4}" type="slidenum">
              <a:rPr lang="en-US" smtClean="0"/>
              <a:t>85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06E718D-8D24-4D2B-7B4E-727F94873583}"/>
              </a:ext>
            </a:extLst>
          </p:cNvPr>
          <p:cNvSpPr/>
          <p:nvPr/>
        </p:nvSpPr>
        <p:spPr>
          <a:xfrm>
            <a:off x="8342713" y="536243"/>
            <a:ext cx="3149004" cy="391967"/>
          </a:xfrm>
          <a:prstGeom prst="rect">
            <a:avLst/>
          </a:prstGeom>
          <a:ln w="28575">
            <a:solidFill>
              <a:srgbClr val="C00000"/>
            </a:solidFill>
          </a:ln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dirty="0"/>
              <a:t>Refer to Pintos manual 1.2.1</a:t>
            </a:r>
          </a:p>
        </p:txBody>
      </p:sp>
    </p:spTree>
    <p:extLst>
      <p:ext uri="{BB962C8B-B14F-4D97-AF65-F5344CB8AC3E}">
        <p14:creationId xmlns:p14="http://schemas.microsoft.com/office/powerpoint/2010/main" val="1065290409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959A34D-8840-5A44-9C52-C9FFF7A38B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2597790"/>
              </p:ext>
            </p:extLst>
          </p:nvPr>
        </p:nvGraphicFramePr>
        <p:xfrm>
          <a:off x="1113044" y="1590638"/>
          <a:ext cx="3027143" cy="50198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097">
                  <a:extLst>
                    <a:ext uri="{9D8B030D-6E8A-4147-A177-3AD203B41FA5}">
                      <a16:colId xmlns:a16="http://schemas.microsoft.com/office/drawing/2014/main" val="1559104382"/>
                    </a:ext>
                  </a:extLst>
                </a:gridCol>
                <a:gridCol w="1586039">
                  <a:extLst>
                    <a:ext uri="{9D8B030D-6E8A-4147-A177-3AD203B41FA5}">
                      <a16:colId xmlns:a16="http://schemas.microsoft.com/office/drawing/2014/main" val="3801617341"/>
                    </a:ext>
                  </a:extLst>
                </a:gridCol>
                <a:gridCol w="704007">
                  <a:extLst>
                    <a:ext uri="{9D8B030D-6E8A-4147-A177-3AD203B41FA5}">
                      <a16:colId xmlns:a16="http://schemas.microsoft.com/office/drawing/2014/main" val="2188785696"/>
                    </a:ext>
                  </a:extLst>
                </a:gridCol>
              </a:tblGrid>
              <a:tr h="334658">
                <a:tc gridSpan="3"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Functionality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9537874"/>
                  </a:ext>
                </a:extLst>
              </a:tr>
              <a:tr h="33465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Point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6390716"/>
                  </a:ext>
                </a:extLst>
              </a:tr>
              <a:tr h="33465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args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-none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1167782"/>
                  </a:ext>
                </a:extLst>
              </a:tr>
              <a:tr h="33465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args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-single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2686427"/>
                  </a:ext>
                </a:extLst>
              </a:tr>
              <a:tr h="33465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args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-multiple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7530374"/>
                  </a:ext>
                </a:extLst>
              </a:tr>
              <a:tr h="33465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args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-many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4757424"/>
                  </a:ext>
                </a:extLst>
              </a:tr>
              <a:tr h="33465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args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dbl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-space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8612591"/>
                  </a:ext>
                </a:extLst>
              </a:tr>
              <a:tr h="33465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exec-once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3665917"/>
                  </a:ext>
                </a:extLst>
              </a:tr>
              <a:tr h="33465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exec-multiple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06337"/>
                  </a:ext>
                </a:extLst>
              </a:tr>
              <a:tr h="33465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exec-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arg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6356562"/>
                  </a:ext>
                </a:extLst>
              </a:tr>
              <a:tr h="33465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wait-simple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124248"/>
                  </a:ext>
                </a:extLst>
              </a:tr>
              <a:tr h="33465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wait-twice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3840723"/>
                  </a:ext>
                </a:extLst>
              </a:tr>
              <a:tr h="33465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multi-recurse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7103267"/>
                  </a:ext>
                </a:extLst>
              </a:tr>
              <a:tr h="33465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exit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0193930"/>
                  </a:ext>
                </a:extLst>
              </a:tr>
              <a:tr h="33465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halt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2057802"/>
                  </a:ext>
                </a:extLst>
              </a:tr>
            </a:tbl>
          </a:graphicData>
        </a:graphic>
      </p:graphicFrame>
      <p:sp>
        <p:nvSpPr>
          <p:cNvPr id="12" name="제목 1">
            <a:extLst>
              <a:ext uri="{FF2B5EF4-FFF2-40B4-BE49-F238E27FC236}">
                <a16:creationId xmlns:a16="http://schemas.microsoft.com/office/drawing/2014/main" id="{4D52812C-4F98-1E4B-ABE8-29933E047D07}"/>
              </a:ext>
            </a:extLst>
          </p:cNvPr>
          <p:cNvSpPr txBox="1">
            <a:spLocks/>
          </p:cNvSpPr>
          <p:nvPr/>
        </p:nvSpPr>
        <p:spPr>
          <a:xfrm>
            <a:off x="555567" y="373438"/>
            <a:ext cx="10515600" cy="482773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800" dirty="0">
                <a:latin typeface="+mn-lt"/>
                <a:ea typeface="+mn-ea"/>
                <a:cs typeface="+mn-cs"/>
              </a:rPr>
              <a:t>Evaluation</a:t>
            </a:r>
            <a:endParaRPr lang="ko-KR" altLang="en-US" sz="2800" dirty="0">
              <a:latin typeface="+mn-lt"/>
              <a:ea typeface="+mn-ea"/>
              <a:cs typeface="+mn-cs"/>
            </a:endParaRPr>
          </a:p>
        </p:txBody>
      </p:sp>
      <p:cxnSp>
        <p:nvCxnSpPr>
          <p:cNvPr id="13" name="직선 연결선 6">
            <a:extLst>
              <a:ext uri="{FF2B5EF4-FFF2-40B4-BE49-F238E27FC236}">
                <a16:creationId xmlns:a16="http://schemas.microsoft.com/office/drawing/2014/main" id="{A83774CB-6420-C346-B9F1-87B19A33AB7B}"/>
              </a:ext>
            </a:extLst>
          </p:cNvPr>
          <p:cNvCxnSpPr/>
          <p:nvPr/>
        </p:nvCxnSpPr>
        <p:spPr>
          <a:xfrm>
            <a:off x="536171" y="929120"/>
            <a:ext cx="109728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Slide Number Placeholder 1">
            <a:extLst>
              <a:ext uri="{FF2B5EF4-FFF2-40B4-BE49-F238E27FC236}">
                <a16:creationId xmlns:a16="http://schemas.microsoft.com/office/drawing/2014/main" id="{94938123-EE6F-C24D-8B89-2CA53B670504}"/>
              </a:ext>
            </a:extLst>
          </p:cNvPr>
          <p:cNvSpPr txBox="1">
            <a:spLocks/>
          </p:cNvSpPr>
          <p:nvPr/>
        </p:nvSpPr>
        <p:spPr>
          <a:xfrm>
            <a:off x="11062656" y="5991138"/>
            <a:ext cx="446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0A305A6-A07C-784C-BBE4-67C27A551CE4}" type="slidenum">
              <a:rPr lang="en-US" smtClean="0"/>
              <a:pPr/>
              <a:t>86</a:t>
            </a:fld>
            <a:endParaRPr lang="en-US" dirty="0"/>
          </a:p>
        </p:txBody>
      </p:sp>
      <p:graphicFrame>
        <p:nvGraphicFramePr>
          <p:cNvPr id="2" name="Table 5">
            <a:extLst>
              <a:ext uri="{FF2B5EF4-FFF2-40B4-BE49-F238E27FC236}">
                <a16:creationId xmlns:a16="http://schemas.microsoft.com/office/drawing/2014/main" id="{2C2A185A-FCC4-161B-72D5-B03A5D8EFC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603320"/>
              </p:ext>
            </p:extLst>
          </p:nvPr>
        </p:nvGraphicFramePr>
        <p:xfrm>
          <a:off x="4299795" y="1590638"/>
          <a:ext cx="3027143" cy="40158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097">
                  <a:extLst>
                    <a:ext uri="{9D8B030D-6E8A-4147-A177-3AD203B41FA5}">
                      <a16:colId xmlns:a16="http://schemas.microsoft.com/office/drawing/2014/main" val="1559104382"/>
                    </a:ext>
                  </a:extLst>
                </a:gridCol>
                <a:gridCol w="1586039">
                  <a:extLst>
                    <a:ext uri="{9D8B030D-6E8A-4147-A177-3AD203B41FA5}">
                      <a16:colId xmlns:a16="http://schemas.microsoft.com/office/drawing/2014/main" val="3801617341"/>
                    </a:ext>
                  </a:extLst>
                </a:gridCol>
                <a:gridCol w="704007">
                  <a:extLst>
                    <a:ext uri="{9D8B030D-6E8A-4147-A177-3AD203B41FA5}">
                      <a16:colId xmlns:a16="http://schemas.microsoft.com/office/drawing/2014/main" val="2188785696"/>
                    </a:ext>
                  </a:extLst>
                </a:gridCol>
              </a:tblGrid>
              <a:tr h="334658">
                <a:tc gridSpan="3"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Functionality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9537874"/>
                  </a:ext>
                </a:extLst>
              </a:tr>
              <a:tr h="33465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Point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6390716"/>
                  </a:ext>
                </a:extLst>
              </a:tr>
              <a:tr h="33465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create-empty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1167782"/>
                  </a:ext>
                </a:extLst>
              </a:tr>
              <a:tr h="334658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create-long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2686427"/>
                  </a:ext>
                </a:extLst>
              </a:tr>
              <a:tr h="334658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create-normal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530374"/>
                  </a:ext>
                </a:extLst>
              </a:tr>
              <a:tr h="334658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17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create-exists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4757424"/>
                  </a:ext>
                </a:extLst>
              </a:tr>
              <a:tr h="334658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18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open-missing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8612591"/>
                  </a:ext>
                </a:extLst>
              </a:tr>
              <a:tr h="334658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19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open-normal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3665917"/>
                  </a:ext>
                </a:extLst>
              </a:tr>
              <a:tr h="334658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open-twice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106337"/>
                  </a:ext>
                </a:extLst>
              </a:tr>
              <a:tr h="334658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21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read-normal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6356562"/>
                  </a:ext>
                </a:extLst>
              </a:tr>
              <a:tr h="334658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22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read-zero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24248"/>
                  </a:ext>
                </a:extLst>
              </a:tr>
              <a:tr h="334658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23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write-normal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3840723"/>
                  </a:ext>
                </a:extLst>
              </a:tr>
            </a:tbl>
          </a:graphicData>
        </a:graphic>
      </p:graphicFrame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2C758D5B-DF35-87FD-56C7-1F1441A97D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6681515"/>
              </p:ext>
            </p:extLst>
          </p:nvPr>
        </p:nvGraphicFramePr>
        <p:xfrm>
          <a:off x="7486546" y="1590638"/>
          <a:ext cx="3027143" cy="2677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097">
                  <a:extLst>
                    <a:ext uri="{9D8B030D-6E8A-4147-A177-3AD203B41FA5}">
                      <a16:colId xmlns:a16="http://schemas.microsoft.com/office/drawing/2014/main" val="1559104382"/>
                    </a:ext>
                  </a:extLst>
                </a:gridCol>
                <a:gridCol w="1586039">
                  <a:extLst>
                    <a:ext uri="{9D8B030D-6E8A-4147-A177-3AD203B41FA5}">
                      <a16:colId xmlns:a16="http://schemas.microsoft.com/office/drawing/2014/main" val="3801617341"/>
                    </a:ext>
                  </a:extLst>
                </a:gridCol>
                <a:gridCol w="704007">
                  <a:extLst>
                    <a:ext uri="{9D8B030D-6E8A-4147-A177-3AD203B41FA5}">
                      <a16:colId xmlns:a16="http://schemas.microsoft.com/office/drawing/2014/main" val="2188785696"/>
                    </a:ext>
                  </a:extLst>
                </a:gridCol>
              </a:tblGrid>
              <a:tr h="334658">
                <a:tc gridSpan="3"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Functionality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9537874"/>
                  </a:ext>
                </a:extLst>
              </a:tr>
              <a:tr h="33465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Point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6390716"/>
                  </a:ext>
                </a:extLst>
              </a:tr>
              <a:tr h="334658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24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write-zero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6508828"/>
                  </a:ext>
                </a:extLst>
              </a:tr>
              <a:tr h="334658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25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close-normal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8275463"/>
                  </a:ext>
                </a:extLst>
              </a:tr>
              <a:tr h="334658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26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rox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-simple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1167782"/>
                  </a:ext>
                </a:extLst>
              </a:tr>
              <a:tr h="334658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27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rox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-child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2686427"/>
                  </a:ext>
                </a:extLst>
              </a:tr>
              <a:tr h="334658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28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rox-multichild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530374"/>
                  </a:ext>
                </a:extLst>
              </a:tr>
              <a:tr h="334658"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Total Score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108</a:t>
                      </a:r>
                      <a:endParaRPr 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47574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2713435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920DE4-518F-7A15-BA81-58758E19F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04B4D91-C4CD-3C40-602C-A5FC99F14E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3782904"/>
              </p:ext>
            </p:extLst>
          </p:nvPr>
        </p:nvGraphicFramePr>
        <p:xfrm>
          <a:off x="203129" y="1595894"/>
          <a:ext cx="2791356" cy="3332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4491">
                  <a:extLst>
                    <a:ext uri="{9D8B030D-6E8A-4147-A177-3AD203B41FA5}">
                      <a16:colId xmlns:a16="http://schemas.microsoft.com/office/drawing/2014/main" val="414954208"/>
                    </a:ext>
                  </a:extLst>
                </a:gridCol>
                <a:gridCol w="1400619">
                  <a:extLst>
                    <a:ext uri="{9D8B030D-6E8A-4147-A177-3AD203B41FA5}">
                      <a16:colId xmlns:a16="http://schemas.microsoft.com/office/drawing/2014/main" val="736486475"/>
                    </a:ext>
                  </a:extLst>
                </a:gridCol>
                <a:gridCol w="726246">
                  <a:extLst>
                    <a:ext uri="{9D8B030D-6E8A-4147-A177-3AD203B41FA5}">
                      <a16:colId xmlns:a16="http://schemas.microsoft.com/office/drawing/2014/main" val="3584384947"/>
                    </a:ext>
                  </a:extLst>
                </a:gridCol>
              </a:tblGrid>
              <a:tr h="333292">
                <a:tc gridSpan="3"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Robustness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7748648"/>
                  </a:ext>
                </a:extLst>
              </a:tr>
              <a:tr h="33329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Point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0599622"/>
                  </a:ext>
                </a:extLst>
              </a:tr>
              <a:tr h="33329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exec-bad-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ptr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5675928"/>
                  </a:ext>
                </a:extLst>
              </a:tr>
              <a:tr h="33329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exec-missing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5634247"/>
                  </a:ext>
                </a:extLst>
              </a:tr>
              <a:tr h="33329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sc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-bad-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arg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5034423"/>
                  </a:ext>
                </a:extLst>
              </a:tr>
              <a:tr h="33329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sc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-bad-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sp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1160945"/>
                  </a:ext>
                </a:extLst>
              </a:tr>
              <a:tr h="33329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sc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-boundary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3938297"/>
                  </a:ext>
                </a:extLst>
              </a:tr>
              <a:tr h="33329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sc-boundary-2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153494"/>
                  </a:ext>
                </a:extLst>
              </a:tr>
              <a:tr h="33329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wait-bad-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pid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791548"/>
                  </a:ext>
                </a:extLst>
              </a:tr>
              <a:tr h="33329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wait-killed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3811539"/>
                  </a:ext>
                </a:extLst>
              </a:tr>
            </a:tbl>
          </a:graphicData>
        </a:graphic>
      </p:graphicFrame>
      <p:sp>
        <p:nvSpPr>
          <p:cNvPr id="12" name="제목 1">
            <a:extLst>
              <a:ext uri="{FF2B5EF4-FFF2-40B4-BE49-F238E27FC236}">
                <a16:creationId xmlns:a16="http://schemas.microsoft.com/office/drawing/2014/main" id="{497537EA-BF9C-9590-8AC2-14FC45CE33FC}"/>
              </a:ext>
            </a:extLst>
          </p:cNvPr>
          <p:cNvSpPr txBox="1">
            <a:spLocks/>
          </p:cNvSpPr>
          <p:nvPr/>
        </p:nvSpPr>
        <p:spPr>
          <a:xfrm>
            <a:off x="555567" y="373438"/>
            <a:ext cx="10515600" cy="482773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800" dirty="0">
                <a:latin typeface="+mn-lt"/>
                <a:ea typeface="+mn-ea"/>
                <a:cs typeface="+mn-cs"/>
              </a:rPr>
              <a:t>Evaluation</a:t>
            </a:r>
            <a:endParaRPr lang="ko-KR" altLang="en-US" sz="2800" dirty="0">
              <a:latin typeface="+mn-lt"/>
              <a:ea typeface="+mn-ea"/>
              <a:cs typeface="+mn-cs"/>
            </a:endParaRPr>
          </a:p>
        </p:txBody>
      </p:sp>
      <p:cxnSp>
        <p:nvCxnSpPr>
          <p:cNvPr id="13" name="직선 연결선 6">
            <a:extLst>
              <a:ext uri="{FF2B5EF4-FFF2-40B4-BE49-F238E27FC236}">
                <a16:creationId xmlns:a16="http://schemas.microsoft.com/office/drawing/2014/main" id="{3439B5C5-48BF-8892-97CE-8D3B4B05CF95}"/>
              </a:ext>
            </a:extLst>
          </p:cNvPr>
          <p:cNvCxnSpPr/>
          <p:nvPr/>
        </p:nvCxnSpPr>
        <p:spPr>
          <a:xfrm>
            <a:off x="536171" y="929120"/>
            <a:ext cx="109728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Slide Number Placeholder 1">
            <a:extLst>
              <a:ext uri="{FF2B5EF4-FFF2-40B4-BE49-F238E27FC236}">
                <a16:creationId xmlns:a16="http://schemas.microsoft.com/office/drawing/2014/main" id="{C76880B4-162C-0858-D802-9979762F0B3B}"/>
              </a:ext>
            </a:extLst>
          </p:cNvPr>
          <p:cNvSpPr txBox="1">
            <a:spLocks/>
          </p:cNvSpPr>
          <p:nvPr/>
        </p:nvSpPr>
        <p:spPr>
          <a:xfrm>
            <a:off x="11062656" y="5991138"/>
            <a:ext cx="446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0A305A6-A07C-784C-BBE4-67C27A551CE4}" type="slidenum">
              <a:rPr lang="en-US" smtClean="0"/>
              <a:pPr/>
              <a:t>87</a:t>
            </a:fld>
            <a:endParaRPr lang="en-US" dirty="0"/>
          </a:p>
        </p:txBody>
      </p:sp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2B94EF33-151F-75A1-C212-E466E19812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2754235"/>
              </p:ext>
            </p:extLst>
          </p:nvPr>
        </p:nvGraphicFramePr>
        <p:xfrm>
          <a:off x="3240742" y="1595894"/>
          <a:ext cx="2791356" cy="40158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9684">
                  <a:extLst>
                    <a:ext uri="{9D8B030D-6E8A-4147-A177-3AD203B41FA5}">
                      <a16:colId xmlns:a16="http://schemas.microsoft.com/office/drawing/2014/main" val="1559104382"/>
                    </a:ext>
                  </a:extLst>
                </a:gridCol>
                <a:gridCol w="1459357">
                  <a:extLst>
                    <a:ext uri="{9D8B030D-6E8A-4147-A177-3AD203B41FA5}">
                      <a16:colId xmlns:a16="http://schemas.microsoft.com/office/drawing/2014/main" val="3801617341"/>
                    </a:ext>
                  </a:extLst>
                </a:gridCol>
                <a:gridCol w="652315">
                  <a:extLst>
                    <a:ext uri="{9D8B030D-6E8A-4147-A177-3AD203B41FA5}">
                      <a16:colId xmlns:a16="http://schemas.microsoft.com/office/drawing/2014/main" val="2188785696"/>
                    </a:ext>
                  </a:extLst>
                </a:gridCol>
              </a:tblGrid>
              <a:tr h="334658">
                <a:tc gridSpan="3"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Robustness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8612591"/>
                  </a:ext>
                </a:extLst>
              </a:tr>
              <a:tr h="33465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Point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6315342"/>
                  </a:ext>
                </a:extLst>
              </a:tr>
              <a:tr h="334658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close-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stdin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3665917"/>
                  </a:ext>
                </a:extLst>
              </a:tr>
              <a:tr h="334658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close-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stdout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106337"/>
                  </a:ext>
                </a:extLst>
              </a:tr>
              <a:tr h="334658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close-bad-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fd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6356562"/>
                  </a:ext>
                </a:extLst>
              </a:tr>
              <a:tr h="334658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close-twice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24248"/>
                  </a:ext>
                </a:extLst>
              </a:tr>
              <a:tr h="334658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read-bad-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fd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3840723"/>
                  </a:ext>
                </a:extLst>
              </a:tr>
              <a:tr h="334658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read-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stdout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989017"/>
                  </a:ext>
                </a:extLst>
              </a:tr>
              <a:tr h="334658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write-bad-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fd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067440"/>
                  </a:ext>
                </a:extLst>
              </a:tr>
              <a:tr h="334658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write-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stdin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7379730"/>
                  </a:ext>
                </a:extLst>
              </a:tr>
              <a:tr h="334658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17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multi-child-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fd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7342307"/>
                  </a:ext>
                </a:extLst>
              </a:tr>
              <a:tr h="334658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18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create-bad-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ptr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0920440"/>
                  </a:ext>
                </a:extLst>
              </a:tr>
            </a:tbl>
          </a:graphicData>
        </a:graphic>
      </p:graphicFrame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B8595B64-A3AF-AB9A-0BC6-CF645A9C30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0397134"/>
              </p:ext>
            </p:extLst>
          </p:nvPr>
        </p:nvGraphicFramePr>
        <p:xfrm>
          <a:off x="6285538" y="1595894"/>
          <a:ext cx="2791356" cy="40158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9684">
                  <a:extLst>
                    <a:ext uri="{9D8B030D-6E8A-4147-A177-3AD203B41FA5}">
                      <a16:colId xmlns:a16="http://schemas.microsoft.com/office/drawing/2014/main" val="1559104382"/>
                    </a:ext>
                  </a:extLst>
                </a:gridCol>
                <a:gridCol w="1462501">
                  <a:extLst>
                    <a:ext uri="{9D8B030D-6E8A-4147-A177-3AD203B41FA5}">
                      <a16:colId xmlns:a16="http://schemas.microsoft.com/office/drawing/2014/main" val="3801617341"/>
                    </a:ext>
                  </a:extLst>
                </a:gridCol>
                <a:gridCol w="649171">
                  <a:extLst>
                    <a:ext uri="{9D8B030D-6E8A-4147-A177-3AD203B41FA5}">
                      <a16:colId xmlns:a16="http://schemas.microsoft.com/office/drawing/2014/main" val="2188785696"/>
                    </a:ext>
                  </a:extLst>
                </a:gridCol>
              </a:tblGrid>
              <a:tr h="334658">
                <a:tc gridSpan="3"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Robustness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9537874"/>
                  </a:ext>
                </a:extLst>
              </a:tr>
              <a:tr h="33465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Point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6390716"/>
                  </a:ext>
                </a:extLst>
              </a:tr>
              <a:tr h="33465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19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open-empty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530374"/>
                  </a:ext>
                </a:extLst>
              </a:tr>
              <a:tr h="33465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open-bad-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ptr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3665917"/>
                  </a:ext>
                </a:extLst>
              </a:tr>
              <a:tr h="33465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21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read-bad-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ptr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106337"/>
                  </a:ext>
                </a:extLst>
              </a:tr>
              <a:tr h="33465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22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write-bad-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ptr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6356562"/>
                  </a:ext>
                </a:extLst>
              </a:tr>
              <a:tr h="33465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23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create-bound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24248"/>
                  </a:ext>
                </a:extLst>
              </a:tr>
              <a:tr h="33465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24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open-boundary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3840723"/>
                  </a:ext>
                </a:extLst>
              </a:tr>
              <a:tr h="33465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read-boundary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989017"/>
                  </a:ext>
                </a:extLst>
              </a:tr>
              <a:tr h="33465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write-boundary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067440"/>
                  </a:ext>
                </a:extLst>
              </a:tr>
              <a:tr h="33465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27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create-null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7379730"/>
                  </a:ext>
                </a:extLst>
              </a:tr>
              <a:tr h="33465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open-null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8304950"/>
                  </a:ext>
                </a:extLst>
              </a:tr>
            </a:tbl>
          </a:graphicData>
        </a:graphic>
      </p:graphicFrame>
      <p:graphicFrame>
        <p:nvGraphicFramePr>
          <p:cNvPr id="8" name="Table 5">
            <a:extLst>
              <a:ext uri="{FF2B5EF4-FFF2-40B4-BE49-F238E27FC236}">
                <a16:creationId xmlns:a16="http://schemas.microsoft.com/office/drawing/2014/main" id="{15860676-2AB1-9118-3966-10188EA6D2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5857689"/>
              </p:ext>
            </p:extLst>
          </p:nvPr>
        </p:nvGraphicFramePr>
        <p:xfrm>
          <a:off x="9330334" y="1595894"/>
          <a:ext cx="2658537" cy="30119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7343">
                  <a:extLst>
                    <a:ext uri="{9D8B030D-6E8A-4147-A177-3AD203B41FA5}">
                      <a16:colId xmlns:a16="http://schemas.microsoft.com/office/drawing/2014/main" val="1559104382"/>
                    </a:ext>
                  </a:extLst>
                </a:gridCol>
                <a:gridCol w="1392912">
                  <a:extLst>
                    <a:ext uri="{9D8B030D-6E8A-4147-A177-3AD203B41FA5}">
                      <a16:colId xmlns:a16="http://schemas.microsoft.com/office/drawing/2014/main" val="3801617341"/>
                    </a:ext>
                  </a:extLst>
                </a:gridCol>
                <a:gridCol w="618282">
                  <a:extLst>
                    <a:ext uri="{9D8B030D-6E8A-4147-A177-3AD203B41FA5}">
                      <a16:colId xmlns:a16="http://schemas.microsoft.com/office/drawing/2014/main" val="2188785696"/>
                    </a:ext>
                  </a:extLst>
                </a:gridCol>
              </a:tblGrid>
              <a:tr h="334658">
                <a:tc gridSpan="3"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Robustness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9537874"/>
                  </a:ext>
                </a:extLst>
              </a:tr>
              <a:tr h="33465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Point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6390716"/>
                  </a:ext>
                </a:extLst>
              </a:tr>
              <a:tr h="33465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29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bad-read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530374"/>
                  </a:ext>
                </a:extLst>
              </a:tr>
              <a:tr h="33465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30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bad-read2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3665917"/>
                  </a:ext>
                </a:extLst>
              </a:tr>
              <a:tr h="33465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31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bad-write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106337"/>
                  </a:ext>
                </a:extLst>
              </a:tr>
              <a:tr h="33465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32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bad-write2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6356562"/>
                  </a:ext>
                </a:extLst>
              </a:tr>
              <a:tr h="33465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33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bad-jump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24248"/>
                  </a:ext>
                </a:extLst>
              </a:tr>
              <a:tr h="33465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34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bad-jump2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3840723"/>
                  </a:ext>
                </a:extLst>
              </a:tr>
              <a:tr h="334658"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Total Score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88</a:t>
                      </a:r>
                      <a:endParaRPr 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9890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7833634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B3ECF-DFC0-EBCB-4131-2DE43A979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제목 1">
            <a:extLst>
              <a:ext uri="{FF2B5EF4-FFF2-40B4-BE49-F238E27FC236}">
                <a16:creationId xmlns:a16="http://schemas.microsoft.com/office/drawing/2014/main" id="{2D7C4946-F745-2617-9108-90CE5FC73E98}"/>
              </a:ext>
            </a:extLst>
          </p:cNvPr>
          <p:cNvSpPr txBox="1">
            <a:spLocks/>
          </p:cNvSpPr>
          <p:nvPr/>
        </p:nvSpPr>
        <p:spPr>
          <a:xfrm>
            <a:off x="555567" y="373438"/>
            <a:ext cx="10515600" cy="482773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800" dirty="0">
                <a:latin typeface="+mn-lt"/>
                <a:ea typeface="+mn-ea"/>
                <a:cs typeface="+mn-cs"/>
              </a:rPr>
              <a:t>Evaluation</a:t>
            </a:r>
            <a:endParaRPr lang="ko-KR" altLang="en-US" sz="2800" dirty="0">
              <a:latin typeface="+mn-lt"/>
              <a:ea typeface="+mn-ea"/>
              <a:cs typeface="+mn-cs"/>
            </a:endParaRPr>
          </a:p>
        </p:txBody>
      </p:sp>
      <p:cxnSp>
        <p:nvCxnSpPr>
          <p:cNvPr id="13" name="직선 연결선 6">
            <a:extLst>
              <a:ext uri="{FF2B5EF4-FFF2-40B4-BE49-F238E27FC236}">
                <a16:creationId xmlns:a16="http://schemas.microsoft.com/office/drawing/2014/main" id="{DAEAF67A-FBB9-F224-5036-3283956AD57C}"/>
              </a:ext>
            </a:extLst>
          </p:cNvPr>
          <p:cNvCxnSpPr/>
          <p:nvPr/>
        </p:nvCxnSpPr>
        <p:spPr>
          <a:xfrm>
            <a:off x="536171" y="929120"/>
            <a:ext cx="109728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Slide Number Placeholder 1">
            <a:extLst>
              <a:ext uri="{FF2B5EF4-FFF2-40B4-BE49-F238E27FC236}">
                <a16:creationId xmlns:a16="http://schemas.microsoft.com/office/drawing/2014/main" id="{4A0ED471-A6A7-2F7A-0B53-A1FE9BB8DFF5}"/>
              </a:ext>
            </a:extLst>
          </p:cNvPr>
          <p:cNvSpPr txBox="1">
            <a:spLocks/>
          </p:cNvSpPr>
          <p:nvPr/>
        </p:nvSpPr>
        <p:spPr>
          <a:xfrm>
            <a:off x="11062656" y="5991138"/>
            <a:ext cx="446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0A305A6-A07C-784C-BBE4-67C27A551CE4}" type="slidenum">
              <a:rPr lang="en-US" smtClean="0"/>
              <a:pPr/>
              <a:t>88</a:t>
            </a:fld>
            <a:endParaRPr lang="en-US" dirty="0"/>
          </a:p>
        </p:txBody>
      </p:sp>
      <p:graphicFrame>
        <p:nvGraphicFramePr>
          <p:cNvPr id="11" name="Table 5">
            <a:extLst>
              <a:ext uri="{FF2B5EF4-FFF2-40B4-BE49-F238E27FC236}">
                <a16:creationId xmlns:a16="http://schemas.microsoft.com/office/drawing/2014/main" id="{7E4E5A83-84C3-BE5E-05B3-F2E7F23D4F3A}"/>
              </a:ext>
            </a:extLst>
          </p:cNvPr>
          <p:cNvGraphicFramePr>
            <a:graphicFrameLocks noGrp="1"/>
          </p:cNvGraphicFramePr>
          <p:nvPr/>
        </p:nvGraphicFramePr>
        <p:xfrm>
          <a:off x="1113044" y="1569821"/>
          <a:ext cx="3027143" cy="13386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097">
                  <a:extLst>
                    <a:ext uri="{9D8B030D-6E8A-4147-A177-3AD203B41FA5}">
                      <a16:colId xmlns:a16="http://schemas.microsoft.com/office/drawing/2014/main" val="1559104382"/>
                    </a:ext>
                  </a:extLst>
                </a:gridCol>
                <a:gridCol w="1586039">
                  <a:extLst>
                    <a:ext uri="{9D8B030D-6E8A-4147-A177-3AD203B41FA5}">
                      <a16:colId xmlns:a16="http://schemas.microsoft.com/office/drawing/2014/main" val="3801617341"/>
                    </a:ext>
                  </a:extLst>
                </a:gridCol>
                <a:gridCol w="704007">
                  <a:extLst>
                    <a:ext uri="{9D8B030D-6E8A-4147-A177-3AD203B41FA5}">
                      <a16:colId xmlns:a16="http://schemas.microsoft.com/office/drawing/2014/main" val="2188785696"/>
                    </a:ext>
                  </a:extLst>
                </a:gridCol>
              </a:tblGrid>
              <a:tr h="334658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No-</a:t>
                      </a:r>
                      <a:r>
                        <a:rPr lang="en-US" sz="1400" b="1" dirty="0" err="1">
                          <a:solidFill>
                            <a:schemeClr val="tx1"/>
                          </a:solidFill>
                        </a:rPr>
                        <a:t>vm</a:t>
                      </a:r>
                      <a:endParaRPr 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9537874"/>
                  </a:ext>
                </a:extLst>
              </a:tr>
              <a:tr h="33465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Point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6390716"/>
                  </a:ext>
                </a:extLst>
              </a:tr>
              <a:tr h="33465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multi-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oom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3840723"/>
                  </a:ext>
                </a:extLst>
              </a:tr>
              <a:tr h="334658"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Total Score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989017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DCB1EBB8-C338-AB95-64B1-9C0A1A8D0F89}"/>
              </a:ext>
            </a:extLst>
          </p:cNvPr>
          <p:cNvSpPr txBox="1"/>
          <p:nvPr/>
        </p:nvSpPr>
        <p:spPr>
          <a:xfrm>
            <a:off x="1113044" y="1066800"/>
            <a:ext cx="2096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User Program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651B219-C20E-7EB1-F01C-9CD914E05B36}"/>
              </a:ext>
            </a:extLst>
          </p:cNvPr>
          <p:cNvSpPr txBox="1"/>
          <p:nvPr/>
        </p:nvSpPr>
        <p:spPr>
          <a:xfrm>
            <a:off x="4205867" y="1066800"/>
            <a:ext cx="2096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Filesys</a:t>
            </a:r>
            <a:endParaRPr lang="ko-KR" altLang="en-US" dirty="0"/>
          </a:p>
        </p:txBody>
      </p:sp>
      <p:graphicFrame>
        <p:nvGraphicFramePr>
          <p:cNvPr id="17" name="Table 5">
            <a:extLst>
              <a:ext uri="{FF2B5EF4-FFF2-40B4-BE49-F238E27FC236}">
                <a16:creationId xmlns:a16="http://schemas.microsoft.com/office/drawing/2014/main" id="{6E17BA62-CBC1-B476-1F31-4F9B04B499CF}"/>
              </a:ext>
            </a:extLst>
          </p:cNvPr>
          <p:cNvGraphicFramePr>
            <a:graphicFrameLocks noGrp="1"/>
          </p:cNvGraphicFramePr>
          <p:nvPr/>
        </p:nvGraphicFramePr>
        <p:xfrm>
          <a:off x="4299795" y="1569821"/>
          <a:ext cx="3027143" cy="40158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097">
                  <a:extLst>
                    <a:ext uri="{9D8B030D-6E8A-4147-A177-3AD203B41FA5}">
                      <a16:colId xmlns:a16="http://schemas.microsoft.com/office/drawing/2014/main" val="1559104382"/>
                    </a:ext>
                  </a:extLst>
                </a:gridCol>
                <a:gridCol w="1586039">
                  <a:extLst>
                    <a:ext uri="{9D8B030D-6E8A-4147-A177-3AD203B41FA5}">
                      <a16:colId xmlns:a16="http://schemas.microsoft.com/office/drawing/2014/main" val="3801617341"/>
                    </a:ext>
                  </a:extLst>
                </a:gridCol>
                <a:gridCol w="704007">
                  <a:extLst>
                    <a:ext uri="{9D8B030D-6E8A-4147-A177-3AD203B41FA5}">
                      <a16:colId xmlns:a16="http://schemas.microsoft.com/office/drawing/2014/main" val="2188785696"/>
                    </a:ext>
                  </a:extLst>
                </a:gridCol>
              </a:tblGrid>
              <a:tr h="334658">
                <a:tc gridSpan="3"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Base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9537874"/>
                  </a:ext>
                </a:extLst>
              </a:tr>
              <a:tr h="33465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Point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6390716"/>
                  </a:ext>
                </a:extLst>
              </a:tr>
              <a:tr h="33465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sm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-create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1167782"/>
                  </a:ext>
                </a:extLst>
              </a:tr>
              <a:tr h="33465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sm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-full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2686427"/>
                  </a:ext>
                </a:extLst>
              </a:tr>
              <a:tr h="33465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sm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-random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530374"/>
                  </a:ext>
                </a:extLst>
              </a:tr>
              <a:tr h="33465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sm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seq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-block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3665917"/>
                  </a:ext>
                </a:extLst>
              </a:tr>
              <a:tr h="33465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sm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seq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-random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106337"/>
                  </a:ext>
                </a:extLst>
              </a:tr>
              <a:tr h="33465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lg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-create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8449861"/>
                  </a:ext>
                </a:extLst>
              </a:tr>
              <a:tr h="33465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lg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-full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3117404"/>
                  </a:ext>
                </a:extLst>
              </a:tr>
              <a:tr h="33465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lg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-random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6912496"/>
                  </a:ext>
                </a:extLst>
              </a:tr>
              <a:tr h="33465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lg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seq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-block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7873773"/>
                  </a:ext>
                </a:extLst>
              </a:tr>
              <a:tr h="33465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lg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seq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-random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3657067"/>
                  </a:ext>
                </a:extLst>
              </a:tr>
            </a:tbl>
          </a:graphicData>
        </a:graphic>
      </p:graphicFrame>
      <p:graphicFrame>
        <p:nvGraphicFramePr>
          <p:cNvPr id="18" name="Table 5">
            <a:extLst>
              <a:ext uri="{FF2B5EF4-FFF2-40B4-BE49-F238E27FC236}">
                <a16:creationId xmlns:a16="http://schemas.microsoft.com/office/drawing/2014/main" id="{939296D3-D037-8A3B-A9F1-731C770E1E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4674022"/>
              </p:ext>
            </p:extLst>
          </p:nvPr>
        </p:nvGraphicFramePr>
        <p:xfrm>
          <a:off x="7486546" y="1569821"/>
          <a:ext cx="3027143" cy="2677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097">
                  <a:extLst>
                    <a:ext uri="{9D8B030D-6E8A-4147-A177-3AD203B41FA5}">
                      <a16:colId xmlns:a16="http://schemas.microsoft.com/office/drawing/2014/main" val="1559104382"/>
                    </a:ext>
                  </a:extLst>
                </a:gridCol>
                <a:gridCol w="1586039">
                  <a:extLst>
                    <a:ext uri="{9D8B030D-6E8A-4147-A177-3AD203B41FA5}">
                      <a16:colId xmlns:a16="http://schemas.microsoft.com/office/drawing/2014/main" val="3801617341"/>
                    </a:ext>
                  </a:extLst>
                </a:gridCol>
                <a:gridCol w="704007">
                  <a:extLst>
                    <a:ext uri="{9D8B030D-6E8A-4147-A177-3AD203B41FA5}">
                      <a16:colId xmlns:a16="http://schemas.microsoft.com/office/drawing/2014/main" val="2188785696"/>
                    </a:ext>
                  </a:extLst>
                </a:gridCol>
              </a:tblGrid>
              <a:tr h="334658">
                <a:tc gridSpan="3"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Base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9537874"/>
                  </a:ext>
                </a:extLst>
              </a:tr>
              <a:tr h="33465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Point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6390716"/>
                  </a:ext>
                </a:extLst>
              </a:tr>
              <a:tr h="33465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syn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-read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1167782"/>
                  </a:ext>
                </a:extLst>
              </a:tr>
              <a:tr h="33465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syn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-write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2686427"/>
                  </a:ext>
                </a:extLst>
              </a:tr>
              <a:tr h="33465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solidFill>
                            <a:schemeClr val="tx1"/>
                          </a:solidFill>
                        </a:rPr>
                        <a:t>syn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-remove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530374"/>
                  </a:ext>
                </a:extLst>
              </a:tr>
              <a:tr h="334658"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Total Score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3665917"/>
                  </a:ext>
                </a:extLst>
              </a:tr>
              <a:tr h="334658">
                <a:tc gridSpan="2"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5083640"/>
                  </a:ext>
                </a:extLst>
              </a:tr>
              <a:tr h="334658"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# of Total Tests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76</a:t>
                      </a:r>
                      <a:endParaRPr 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9852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3274402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Evaluation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Total development score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:</a:t>
                </a:r>
              </a:p>
              <a:p>
                <a:pPr marL="0" indent="0">
                  <a:buNone/>
                </a:pPr>
                <a:br>
                  <a:rPr lang="en-US" altLang="ko-KR" dirty="0"/>
                </a:br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US" altLang="ko-KR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ko-KR" sz="2000" b="1" i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nor/>
                                </m:rPr>
                                <a:rPr lang="en-US" altLang="ko-KR" sz="2000" b="1" i="0" smtClean="0">
                                  <a:latin typeface="Cambria Math" panose="02040503050406030204" pitchFamily="18" charset="0"/>
                                </a:rPr>
                                <m:t>Functionality</m:t>
                              </m:r>
                            </m:num>
                            <m:den>
                              <m:r>
                                <a:rPr lang="en-US" altLang="ko-KR" sz="2000" b="1" i="1" smtClean="0">
                                  <a:latin typeface="Cambria Math" panose="02040503050406030204" pitchFamily="18" charset="0"/>
                                </a:rPr>
                                <m:t>𝟏𝟎𝟖</m:t>
                              </m:r>
                            </m:den>
                          </m:f>
                          <m:r>
                            <a:rPr lang="en-US" altLang="ko-KR" sz="2000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ko-KR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ko-KR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𝟑𝟓</m:t>
                          </m:r>
                          <m:r>
                            <a:rPr lang="en-US" altLang="ko-KR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ko-KR" sz="2000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nor/>
                                </m:rPr>
                                <a:rPr lang="en-US" altLang="ko-KR" sz="2000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Robustness</m:t>
                              </m:r>
                            </m:num>
                            <m:den>
                              <m:r>
                                <a:rPr lang="en-US" altLang="ko-KR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𝟖𝟖</m:t>
                              </m:r>
                            </m:den>
                          </m:f>
                          <m:r>
                            <a:rPr lang="en-US" altLang="ko-KR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ko-KR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𝟐𝟓</m:t>
                          </m:r>
                          <m:r>
                            <a:rPr lang="en-US" altLang="ko-KR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ko-KR" sz="2000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nor/>
                                </m:rPr>
                                <a:rPr lang="en-US" altLang="ko-KR" sz="2000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no−vm</m:t>
                              </m:r>
                            </m:num>
                            <m:den>
                              <m:r>
                                <a:rPr lang="en-US" altLang="ko-KR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den>
                          </m:f>
                          <m:r>
                            <a:rPr lang="en-US" altLang="ko-KR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ko-KR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𝟏𝟎</m:t>
                          </m:r>
                          <m:r>
                            <a:rPr lang="en-US" altLang="ko-KR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ko-KR" sz="2000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nor/>
                                </m:rPr>
                                <a:rPr lang="en-US" altLang="ko-KR" sz="2000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filesys(base)</m:t>
                              </m:r>
                            </m:num>
                            <m:den>
                              <m:r>
                                <a:rPr lang="en-US" altLang="ko-KR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𝟑𝟎</m:t>
                              </m:r>
                            </m:den>
                          </m:f>
                          <m:r>
                            <a:rPr lang="en-US" altLang="ko-KR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ko-KR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𝟑𝟎</m:t>
                          </m:r>
                        </m:e>
                      </m:d>
                      <m:r>
                        <a:rPr lang="en-US" altLang="ko-KR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/</m:t>
                      </m:r>
                      <m:r>
                        <a:rPr lang="en-US" altLang="ko-KR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𝟏𝟎𝟎</m:t>
                      </m:r>
                      <m:r>
                        <a:rPr lang="en-US" altLang="ko-KR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ko-KR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𝟖𝟎</m:t>
                      </m:r>
                    </m:oMath>
                  </m:oMathPara>
                </a14:m>
                <a:endParaRPr lang="en-US" altLang="ko-KR" dirty="0"/>
              </a:p>
              <a:p>
                <a:pPr marL="0" indent="0">
                  <a:buNone/>
                </a:pPr>
                <a:endParaRPr lang="en-US" altLang="ko-KR" dirty="0"/>
              </a:p>
              <a:p>
                <a:r>
                  <a:rPr lang="en-US" altLang="ko-KR" dirty="0"/>
                  <a:t>Documentation</a:t>
                </a:r>
              </a:p>
              <a:p>
                <a:pPr lvl="1"/>
                <a:r>
                  <a:rPr lang="en-US" altLang="ko-KR" dirty="0"/>
                  <a:t>Use the document file uploaded on e-class.</a:t>
                </a:r>
              </a:p>
              <a:p>
                <a:pPr lvl="1"/>
                <a:r>
                  <a:rPr lang="en-US" altLang="ko-KR" dirty="0"/>
                  <a:t>Documentation accounts for 20% of total score.</a:t>
                </a:r>
                <a:br>
                  <a:rPr lang="en-US" altLang="ko-KR" dirty="0"/>
                </a:br>
                <a:r>
                  <a:rPr lang="en-US" altLang="ko-KR" dirty="0"/>
                  <a:t>(Development 80%, Documentation 20%)</a:t>
                </a:r>
                <a:endParaRPr lang="ko-KR" altLang="en-US" dirty="0"/>
              </a:p>
              <a:p>
                <a:endParaRPr lang="en-US" altLang="ko-KR" dirty="0"/>
              </a:p>
              <a:p>
                <a:pPr marL="0" indent="0">
                  <a:buNone/>
                </a:pPr>
                <a:endParaRPr lang="en-US" altLang="ko-KR" dirty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03" t="-127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6550AAA-8F92-814C-869C-8228B27748CA}" type="slidenum">
              <a:rPr lang="en-US" smtClean="0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4325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Documentation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en-US" altLang="ko-KR" dirty="0"/>
              <a:t>Use the document file uploaded on e-class</a:t>
            </a:r>
          </a:p>
          <a:p>
            <a:pPr>
              <a:lnSpc>
                <a:spcPct val="120000"/>
              </a:lnSpc>
            </a:pPr>
            <a:r>
              <a:rPr lang="en-US" altLang="ko-KR" dirty="0"/>
              <a:t>Documentation accounts for</a:t>
            </a:r>
            <a:r>
              <a:rPr lang="ko-KR" altLang="en-US" dirty="0"/>
              <a:t> </a:t>
            </a:r>
            <a:r>
              <a:rPr lang="en-US" altLang="ko-KR" dirty="0"/>
              <a:t>20% of total score.</a:t>
            </a:r>
            <a:br>
              <a:rPr lang="en-US" altLang="ko-KR" dirty="0"/>
            </a:br>
            <a:r>
              <a:rPr lang="en-US" altLang="ko-KR" dirty="0"/>
              <a:t>(Development 80%, Documentation 20%)</a:t>
            </a:r>
            <a:endParaRPr lang="ko-KR" altLang="en-US" dirty="0"/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44215652-BBE4-6C4C-A464-ACBB5EE317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2656" y="5991138"/>
            <a:ext cx="446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A305A6-A07C-784C-BBE4-67C27A551CE4}" type="slidenum">
              <a:rPr lang="en-US" smtClean="0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866217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Submission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en-US" altLang="ko-KR" dirty="0"/>
              <a:t>We provide the script 'submit.sh' to make tar.gz file which contains '</a:t>
            </a:r>
            <a:r>
              <a:rPr lang="en-US" altLang="ko-KR" dirty="0" err="1"/>
              <a:t>src</a:t>
            </a:r>
            <a:r>
              <a:rPr lang="en-US" altLang="ko-KR" dirty="0"/>
              <a:t>' directory and document file.</a:t>
            </a:r>
            <a:br>
              <a:rPr lang="en-US" altLang="ko-KR" dirty="0"/>
            </a:br>
            <a:r>
              <a:rPr lang="ko-KR" altLang="en-US" dirty="0"/>
              <a:t>학생들의 편의를 위해 </a:t>
            </a:r>
            <a:r>
              <a:rPr lang="en-US" altLang="ko-KR" dirty="0"/>
              <a:t>pintos </a:t>
            </a:r>
            <a:r>
              <a:rPr lang="ko-KR" altLang="en-US" dirty="0"/>
              <a:t>디렉토리 내 </a:t>
            </a:r>
            <a:r>
              <a:rPr lang="en-US" altLang="ko-KR" dirty="0" err="1"/>
              <a:t>submit.sh</a:t>
            </a:r>
            <a:r>
              <a:rPr lang="ko-KR" altLang="en-US" dirty="0"/>
              <a:t> 스크립트를 제공합니다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이 스크립트는</a:t>
            </a:r>
            <a:r>
              <a:rPr lang="en-US" altLang="ko-KR" dirty="0"/>
              <a:t> </a:t>
            </a:r>
            <a:r>
              <a:rPr lang="en-US" altLang="ko-KR" dirty="0" err="1"/>
              <a:t>src</a:t>
            </a:r>
            <a:r>
              <a:rPr lang="ko-KR" altLang="en-US" dirty="0"/>
              <a:t> 디렉토리와 </a:t>
            </a:r>
            <a:r>
              <a:rPr lang="en-US" altLang="ko-KR" dirty="0"/>
              <a:t>document file</a:t>
            </a:r>
            <a:r>
              <a:rPr lang="ko-KR" altLang="en-US" dirty="0"/>
              <a:t>을 포함한 </a:t>
            </a:r>
            <a:r>
              <a:rPr lang="en-US" altLang="ko-KR" dirty="0" err="1"/>
              <a:t>tar.gz</a:t>
            </a:r>
            <a:r>
              <a:rPr lang="ko-KR" altLang="en-US" dirty="0"/>
              <a:t> 파일을 생성합니다</a:t>
            </a:r>
            <a:r>
              <a:rPr lang="en-US" altLang="ko-KR" dirty="0"/>
              <a:t>.</a:t>
            </a:r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5F1954B4-90C4-6842-A116-626722833B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2656" y="5991138"/>
            <a:ext cx="446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A305A6-A07C-784C-BBE4-67C27A551CE4}" type="slidenum">
              <a:rPr lang="en-US" smtClean="0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706322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Submission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en-US" altLang="ko-KR" dirty="0"/>
              <a:t>It is a </a:t>
            </a:r>
            <a:r>
              <a:rPr lang="en-US" altLang="ko-KR" b="1" dirty="0">
                <a:solidFill>
                  <a:srgbClr val="0070C0"/>
                </a:solidFill>
              </a:rPr>
              <a:t>individual project</a:t>
            </a:r>
            <a:r>
              <a:rPr lang="en-US" altLang="ko-KR" dirty="0"/>
              <a:t>.</a:t>
            </a:r>
            <a:endParaRPr lang="en-US" altLang="ko-KR" b="1" dirty="0">
              <a:solidFill>
                <a:srgbClr val="0070C0"/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ko-KR" dirty="0"/>
              <a:t>Due date :</a:t>
            </a:r>
            <a:r>
              <a:rPr lang="ko-KR" altLang="en-US" b="1" dirty="0"/>
              <a:t> </a:t>
            </a:r>
            <a:r>
              <a:rPr lang="en-US" altLang="ko-KR" b="1" dirty="0"/>
              <a:t>2026. 10. 4. 23:59</a:t>
            </a:r>
          </a:p>
          <a:p>
            <a:pPr>
              <a:lnSpc>
                <a:spcPct val="120000"/>
              </a:lnSpc>
            </a:pPr>
            <a:r>
              <a:rPr lang="en-US" altLang="ko-KR" dirty="0"/>
              <a:t>Submission</a:t>
            </a:r>
          </a:p>
          <a:p>
            <a:pPr lvl="1">
              <a:lnSpc>
                <a:spcPct val="120000"/>
              </a:lnSpc>
            </a:pPr>
            <a:r>
              <a:rPr lang="en-US" altLang="ko-KR" dirty="0"/>
              <a:t>The form of submission file is as follows:</a:t>
            </a:r>
            <a:br>
              <a:rPr lang="en-US" altLang="ko-KR" dirty="0"/>
            </a:br>
            <a:br>
              <a:rPr lang="en-US" altLang="ko-KR" dirty="0"/>
            </a:br>
            <a:br>
              <a:rPr lang="en-US" altLang="ko-KR" dirty="0"/>
            </a:br>
            <a:endParaRPr lang="en-US" altLang="ko-KR" dirty="0"/>
          </a:p>
          <a:p>
            <a:pPr lvl="1">
              <a:lnSpc>
                <a:spcPct val="120000"/>
              </a:lnSpc>
            </a:pPr>
            <a:r>
              <a:rPr lang="en-US" altLang="ko-KR" dirty="0"/>
              <a:t>No hardcopy.</a:t>
            </a:r>
          </a:p>
          <a:p>
            <a:pPr lvl="1">
              <a:lnSpc>
                <a:spcPct val="120000"/>
              </a:lnSpc>
            </a:pPr>
            <a:r>
              <a:rPr lang="en-US" altLang="ko-KR" b="1" dirty="0">
                <a:solidFill>
                  <a:srgbClr val="FF0000"/>
                </a:solidFill>
              </a:rPr>
              <a:t>Copy will get a penalty (1</a:t>
            </a:r>
            <a:r>
              <a:rPr lang="en-US" altLang="ko-KR" b="1" baseline="30000" dirty="0">
                <a:solidFill>
                  <a:srgbClr val="FF0000"/>
                </a:solidFill>
              </a:rPr>
              <a:t>st</a:t>
            </a:r>
            <a:r>
              <a:rPr lang="en-US" altLang="ko-KR" b="1" dirty="0">
                <a:solidFill>
                  <a:srgbClr val="FF0000"/>
                </a:solidFill>
              </a:rPr>
              <a:t> time: 0 Point and downgrading, 2</a:t>
            </a:r>
            <a:r>
              <a:rPr lang="en-US" altLang="ko-KR" b="1" baseline="30000" dirty="0">
                <a:solidFill>
                  <a:srgbClr val="FF0000"/>
                </a:solidFill>
              </a:rPr>
              <a:t>nd</a:t>
            </a:r>
            <a:r>
              <a:rPr lang="en-US" altLang="ko-KR" b="1" dirty="0">
                <a:solidFill>
                  <a:srgbClr val="FF0000"/>
                </a:solidFill>
              </a:rPr>
              <a:t> time: F grade)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5E29294-D42E-1242-8F31-098973442A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3464112"/>
              </p:ext>
            </p:extLst>
          </p:nvPr>
        </p:nvGraphicFramePr>
        <p:xfrm>
          <a:off x="1749365" y="3058160"/>
          <a:ext cx="698506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2530">
                  <a:extLst>
                    <a:ext uri="{9D8B030D-6E8A-4147-A177-3AD203B41FA5}">
                      <a16:colId xmlns:a16="http://schemas.microsoft.com/office/drawing/2014/main" val="1147865430"/>
                    </a:ext>
                  </a:extLst>
                </a:gridCol>
                <a:gridCol w="3492530">
                  <a:extLst>
                    <a:ext uri="{9D8B030D-6E8A-4147-A177-3AD203B41FA5}">
                      <a16:colId xmlns:a16="http://schemas.microsoft.com/office/drawing/2014/main" val="14280875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Name of compressed 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Example (ID: 2018</a:t>
                      </a:r>
                      <a:r>
                        <a:rPr lang="en-US" altLang="ko-KR" dirty="0"/>
                        <a:t>9999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17549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os_prj1_[ID].</a:t>
                      </a:r>
                      <a:r>
                        <a:rPr lang="en-US" dirty="0" err="1"/>
                        <a:t>tar.gz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os_prj1_2018</a:t>
                      </a:r>
                      <a:r>
                        <a:rPr lang="en-US" altLang="ko-KR" dirty="0"/>
                        <a:t>9999</a:t>
                      </a:r>
                      <a:r>
                        <a:rPr lang="en-US" dirty="0"/>
                        <a:t>.tar.gz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0507518"/>
                  </a:ext>
                </a:extLst>
              </a:tr>
            </a:tbl>
          </a:graphicData>
        </a:graphic>
      </p:graphicFrame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52008679-51E8-D74D-98F0-71A8B50FE6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2656" y="5991138"/>
            <a:ext cx="446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A305A6-A07C-784C-BBE4-67C27A551CE4}" type="slidenum">
              <a:rPr lang="en-US" smtClean="0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582141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69AED6-8EEA-4E85-A45E-F0A3853B0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Submission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6F8106-F1DA-41E7-A2BA-DB7BFEAAD1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03463"/>
            <a:ext cx="10232967" cy="292331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ko-KR" sz="1800" b="1" dirty="0"/>
              <a:t>Contents</a:t>
            </a:r>
            <a:endParaRPr lang="ko-KR" altLang="en-US" sz="1800" b="1" dirty="0"/>
          </a:p>
          <a:p>
            <a:pPr marL="800100" lvl="1" indent="-342900">
              <a:lnSpc>
                <a:spcPct val="90000"/>
              </a:lnSpc>
              <a:buFont typeface="+mj-ea"/>
              <a:buAutoNum type="circleNumDbPlain"/>
            </a:pPr>
            <a:r>
              <a:rPr lang="en-US" altLang="ko-KR" sz="1600" dirty="0"/>
              <a:t>Pintos source codes (Only </a:t>
            </a:r>
            <a:r>
              <a:rPr lang="en-US" altLang="ko-KR" sz="1600" b="1" dirty="0"/>
              <a:t>'</a:t>
            </a:r>
            <a:r>
              <a:rPr lang="en-US" altLang="ko-KR" sz="1600" b="1" dirty="0" err="1"/>
              <a:t>src</a:t>
            </a:r>
            <a:r>
              <a:rPr lang="en-US" altLang="ko-KR" sz="1600" b="1" dirty="0"/>
              <a:t>' directory </a:t>
            </a:r>
            <a:r>
              <a:rPr lang="en-US" altLang="ko-KR" sz="1600" dirty="0"/>
              <a:t>in pintos directory)</a:t>
            </a:r>
            <a:br>
              <a:rPr lang="en-US" altLang="ko-KR" sz="1600" dirty="0"/>
            </a:br>
            <a:r>
              <a:rPr lang="ko-KR" altLang="en-US" sz="1600" dirty="0"/>
              <a:t>최소한의 용량을 위해 </a:t>
            </a:r>
            <a:r>
              <a:rPr lang="en-US" altLang="ko-KR" sz="1600" b="1" dirty="0" err="1"/>
              <a:t>src</a:t>
            </a:r>
            <a:r>
              <a:rPr lang="ko-KR" altLang="en-US" sz="1600" b="1" dirty="0"/>
              <a:t> 디렉토리만 </a:t>
            </a:r>
            <a:r>
              <a:rPr lang="ko-KR" altLang="en-US" sz="1600" dirty="0" err="1"/>
              <a:t>압축파일에</a:t>
            </a:r>
            <a:r>
              <a:rPr lang="ko-KR" altLang="en-US" sz="1600" dirty="0"/>
              <a:t> 포함합니다</a:t>
            </a:r>
            <a:r>
              <a:rPr lang="en-US" altLang="ko-KR" sz="1600" dirty="0"/>
              <a:t>.</a:t>
            </a:r>
          </a:p>
          <a:p>
            <a:pPr marL="800100" lvl="1" indent="-342900">
              <a:buFont typeface="+mj-ea"/>
              <a:buAutoNum type="circleNumDbPlain"/>
            </a:pPr>
            <a:r>
              <a:rPr lang="en-US" altLang="ko-KR" sz="1600" dirty="0"/>
              <a:t>Document</a:t>
            </a:r>
            <a:r>
              <a:rPr lang="en-US" altLang="ko-KR" sz="1400" dirty="0"/>
              <a:t>:</a:t>
            </a:r>
            <a:r>
              <a:rPr lang="ko-KR" altLang="en-US" sz="1400" dirty="0"/>
              <a:t> </a:t>
            </a:r>
            <a:r>
              <a:rPr lang="en-US" altLang="ko-KR" sz="1400" dirty="0"/>
              <a:t>[</a:t>
            </a:r>
            <a:r>
              <a:rPr lang="en-US" altLang="ko-KR" sz="1400" b="1" dirty="0"/>
              <a:t>ID].docx</a:t>
            </a:r>
            <a:r>
              <a:rPr lang="ko-KR" altLang="en-US" sz="1400" b="1" dirty="0"/>
              <a:t> </a:t>
            </a:r>
            <a:r>
              <a:rPr lang="en-US" altLang="ko-KR" sz="1400" dirty="0"/>
              <a:t>(e.g. 20189999.docx; Other format is not allowed such as .</a:t>
            </a:r>
            <a:r>
              <a:rPr lang="en-US" altLang="ko-KR" sz="1400" dirty="0" err="1"/>
              <a:t>hwp</a:t>
            </a:r>
            <a:r>
              <a:rPr lang="en-US" altLang="ko-KR" sz="1400" dirty="0"/>
              <a:t>)</a:t>
            </a:r>
          </a:p>
          <a:p>
            <a:pPr>
              <a:lnSpc>
                <a:spcPct val="90000"/>
              </a:lnSpc>
            </a:pPr>
            <a:r>
              <a:rPr lang="en-US" altLang="ko-KR" sz="1800" b="1" dirty="0"/>
              <a:t>How to submit</a:t>
            </a:r>
          </a:p>
          <a:p>
            <a:pPr marL="800100" lvl="1" indent="-342900">
              <a:lnSpc>
                <a:spcPct val="90000"/>
              </a:lnSpc>
              <a:buFont typeface="+mj-lt"/>
              <a:buAutoNum type="arabicParenR"/>
            </a:pPr>
            <a:r>
              <a:rPr lang="en-US" altLang="ko-KR" sz="1600" dirty="0"/>
              <a:t>Make </a:t>
            </a:r>
            <a:r>
              <a:rPr lang="en-US" altLang="ko-KR" sz="1600" dirty="0" err="1"/>
              <a:t>tar.gz</a:t>
            </a:r>
            <a:r>
              <a:rPr lang="en-US" altLang="ko-KR" sz="1600" dirty="0"/>
              <a:t> file.</a:t>
            </a:r>
          </a:p>
          <a:p>
            <a:pPr lvl="2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/>
              <a:t>Copy the document file ([ID].docx) to pintos directory.</a:t>
            </a:r>
          </a:p>
          <a:p>
            <a:pPr lvl="2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ko-KR" sz="1400" b="1" dirty="0"/>
              <a:t>Execute </a:t>
            </a:r>
            <a:r>
              <a:rPr lang="en-US" altLang="ko-KR" sz="1400" b="1" dirty="0" err="1"/>
              <a:t>submit.sh</a:t>
            </a:r>
            <a:r>
              <a:rPr lang="en-US" altLang="ko-KR" sz="1400" b="1" dirty="0"/>
              <a:t> script in the pintos directory and follow the instructions of the script</a:t>
            </a:r>
            <a:r>
              <a:rPr lang="en-US" altLang="ko-KR" sz="1400" dirty="0"/>
              <a:t>.</a:t>
            </a:r>
            <a:br>
              <a:rPr lang="en-US" altLang="ko-KR" sz="1400" dirty="0"/>
            </a:br>
            <a:r>
              <a:rPr lang="en-US" altLang="ko-KR" sz="1400" b="1" dirty="0"/>
              <a:t>pintos</a:t>
            </a:r>
            <a:r>
              <a:rPr lang="ko-KR" altLang="en-US" sz="1400" b="1" dirty="0"/>
              <a:t> 디렉토리 내의 </a:t>
            </a:r>
            <a:r>
              <a:rPr lang="en-US" altLang="ko-KR" sz="1400" b="1" dirty="0" err="1"/>
              <a:t>submit.sh</a:t>
            </a:r>
            <a:r>
              <a:rPr lang="ko-KR" altLang="en-US" sz="1400" b="1" dirty="0"/>
              <a:t> 스크립트를 실행하고 스크립트의 지시를 따르십시오</a:t>
            </a:r>
            <a:r>
              <a:rPr lang="en-US" altLang="ko-KR" sz="1400" b="1" dirty="0"/>
              <a:t>.</a:t>
            </a:r>
          </a:p>
          <a:p>
            <a:pPr lvl="2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/>
              <a:t>Check that </a:t>
            </a:r>
            <a:r>
              <a:rPr lang="en-US" altLang="ko-KR" sz="1400" b="1" dirty="0">
                <a:solidFill>
                  <a:srgbClr val="C00000"/>
                </a:solidFill>
              </a:rPr>
              <a:t>os_prj1_[ID].</a:t>
            </a:r>
            <a:r>
              <a:rPr lang="en-US" altLang="ko-KR" sz="1400" b="1" dirty="0" err="1">
                <a:solidFill>
                  <a:srgbClr val="C00000"/>
                </a:solidFill>
              </a:rPr>
              <a:t>tar.gz</a:t>
            </a:r>
            <a:r>
              <a:rPr lang="en-US" altLang="ko-KR" sz="1400" dirty="0"/>
              <a:t> is created.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altLang="ko-KR" sz="1400" dirty="0"/>
              <a:t>Decompress </a:t>
            </a:r>
            <a:r>
              <a:rPr lang="en-US" altLang="ko-KR" sz="1400" b="1" dirty="0">
                <a:solidFill>
                  <a:srgbClr val="C00000"/>
                </a:solidFill>
              </a:rPr>
              <a:t>os_prj1_[ID].</a:t>
            </a:r>
            <a:r>
              <a:rPr lang="en-US" altLang="ko-KR" sz="1400" b="1" dirty="0" err="1">
                <a:solidFill>
                  <a:srgbClr val="C00000"/>
                </a:solidFill>
              </a:rPr>
              <a:t>tar.gz</a:t>
            </a:r>
            <a:r>
              <a:rPr lang="en-US" altLang="ko-KR" sz="1400" b="1" dirty="0">
                <a:solidFill>
                  <a:srgbClr val="C00000"/>
                </a:solidFill>
              </a:rPr>
              <a:t> </a:t>
            </a:r>
            <a:r>
              <a:rPr lang="en-US" altLang="ko-KR" sz="1400" dirty="0"/>
              <a:t>and check the contents in it. ($ </a:t>
            </a:r>
            <a:r>
              <a:rPr lang="en-US" altLang="ko-KR" sz="1400" b="1" dirty="0">
                <a:solidFill>
                  <a:srgbClr val="1065E7"/>
                </a:solidFill>
              </a:rPr>
              <a:t>tar -</a:t>
            </a:r>
            <a:r>
              <a:rPr lang="en-US" altLang="ko-KR" sz="1400" b="1" dirty="0" err="1">
                <a:solidFill>
                  <a:srgbClr val="1065E7"/>
                </a:solidFill>
              </a:rPr>
              <a:t>zxf</a:t>
            </a:r>
            <a:r>
              <a:rPr lang="en-US" altLang="ko-KR" sz="1400" b="1" dirty="0">
                <a:solidFill>
                  <a:srgbClr val="1065E7"/>
                </a:solidFill>
              </a:rPr>
              <a:t> os_prj1_[ID].</a:t>
            </a:r>
            <a:r>
              <a:rPr lang="en-US" altLang="ko-KR" sz="1400" b="1" dirty="0" err="1">
                <a:solidFill>
                  <a:srgbClr val="1065E7"/>
                </a:solidFill>
              </a:rPr>
              <a:t>tar.gz</a:t>
            </a:r>
            <a:r>
              <a:rPr lang="en-US" altLang="ko-KR" sz="1400" dirty="0"/>
              <a:t>)</a:t>
            </a:r>
            <a:br>
              <a:rPr lang="en-US" altLang="ko-KR" sz="1400" dirty="0"/>
            </a:br>
            <a:r>
              <a:rPr lang="en-US" altLang="ko-KR" sz="1400" dirty="0"/>
              <a:t>(Only </a:t>
            </a:r>
            <a:r>
              <a:rPr lang="en-US" altLang="ko-KR" sz="1400" b="1" dirty="0"/>
              <a:t>[ID].docx</a:t>
            </a:r>
            <a:r>
              <a:rPr lang="en-US" altLang="ko-KR" sz="1400" dirty="0"/>
              <a:t> and </a:t>
            </a:r>
            <a:r>
              <a:rPr lang="en-US" altLang="ko-KR" sz="1400" b="1" dirty="0" err="1"/>
              <a:t>src</a:t>
            </a:r>
            <a:r>
              <a:rPr lang="en-US" altLang="ko-KR" sz="1400" dirty="0"/>
              <a:t> directory should be contained in the </a:t>
            </a:r>
            <a:r>
              <a:rPr lang="en-US" altLang="ko-KR" sz="1400" dirty="0" err="1"/>
              <a:t>tar.gz</a:t>
            </a:r>
            <a:r>
              <a:rPr lang="en-US" altLang="ko-KR" sz="1400" dirty="0"/>
              <a:t> file.)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altLang="ko-KR" sz="1400" dirty="0"/>
              <a:t>For example, if your ID is 20189999, os_prj1_20189999.tar.gz should be created.</a:t>
            </a:r>
            <a:br>
              <a:rPr lang="en-US" altLang="ko-KR" sz="1400" dirty="0"/>
            </a:br>
            <a:r>
              <a:rPr lang="en-US" altLang="ko-KR" sz="1400" dirty="0"/>
              <a:t>To decompress the </a:t>
            </a:r>
            <a:r>
              <a:rPr lang="en-US" altLang="ko-KR" sz="1400" dirty="0" err="1"/>
              <a:t>tar.gz</a:t>
            </a:r>
            <a:r>
              <a:rPr lang="en-US" altLang="ko-KR" sz="1400" dirty="0"/>
              <a:t> file, execute </a:t>
            </a:r>
            <a:r>
              <a:rPr lang="en-US" altLang="ko-KR" sz="1400" b="1" dirty="0">
                <a:solidFill>
                  <a:srgbClr val="1065E7"/>
                </a:solidFill>
              </a:rPr>
              <a:t>tar -</a:t>
            </a:r>
            <a:r>
              <a:rPr lang="en-US" altLang="ko-KR" sz="1400" b="1" dirty="0" err="1">
                <a:solidFill>
                  <a:srgbClr val="1065E7"/>
                </a:solidFill>
              </a:rPr>
              <a:t>zxf</a:t>
            </a:r>
            <a:r>
              <a:rPr lang="en-US" altLang="ko-KR" sz="1400" b="1" dirty="0">
                <a:solidFill>
                  <a:srgbClr val="1065E7"/>
                </a:solidFill>
              </a:rPr>
              <a:t> os_prj1_20189999.tar.gz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altLang="ko-KR" sz="1400" b="1" dirty="0">
                <a:solidFill>
                  <a:srgbClr val="FF0000"/>
                </a:solidFill>
              </a:rPr>
              <a:t>Please check the contents of </a:t>
            </a:r>
            <a:r>
              <a:rPr lang="en-US" altLang="ko-KR" sz="1400" b="1" dirty="0" err="1">
                <a:solidFill>
                  <a:srgbClr val="FF0000"/>
                </a:solidFill>
              </a:rPr>
              <a:t>tar.gz</a:t>
            </a:r>
            <a:r>
              <a:rPr lang="en-US" altLang="ko-KR" sz="1400" b="1" dirty="0">
                <a:solidFill>
                  <a:srgbClr val="FF0000"/>
                </a:solidFill>
              </a:rPr>
              <a:t> file after creating it.</a:t>
            </a:r>
            <a:endParaRPr lang="ko-KR" altLang="en-US" sz="1400" dirty="0">
              <a:solidFill>
                <a:srgbClr val="FF0000"/>
              </a:solidFill>
            </a:endParaRPr>
          </a:p>
          <a:p>
            <a:pPr marL="800100" lvl="1" indent="-342900">
              <a:buFont typeface="+mj-lt"/>
              <a:buAutoNum type="arabicParenR"/>
            </a:pPr>
            <a:r>
              <a:rPr lang="en-US" altLang="ko-KR" sz="1600" dirty="0"/>
              <a:t>Upload the </a:t>
            </a:r>
            <a:r>
              <a:rPr lang="en-US" altLang="ko-KR" sz="1600" b="1" dirty="0">
                <a:solidFill>
                  <a:srgbClr val="C00000"/>
                </a:solidFill>
              </a:rPr>
              <a:t>os_prj1_[ID].</a:t>
            </a:r>
            <a:r>
              <a:rPr lang="en-US" altLang="ko-KR" sz="1600" b="1" dirty="0" err="1">
                <a:solidFill>
                  <a:srgbClr val="C00000"/>
                </a:solidFill>
              </a:rPr>
              <a:t>tar.gz</a:t>
            </a:r>
            <a:r>
              <a:rPr lang="en-US" altLang="ko-KR" sz="1600" dirty="0"/>
              <a:t> file to e-class.</a:t>
            </a:r>
            <a:endParaRPr lang="ko-KR" altLang="en-US" sz="1600" dirty="0"/>
          </a:p>
          <a:p>
            <a:pPr marL="457200" lvl="1" indent="0">
              <a:lnSpc>
                <a:spcPct val="90000"/>
              </a:lnSpc>
              <a:buNone/>
            </a:pPr>
            <a:endParaRPr lang="en-US" altLang="ko-KR" sz="1600" b="1" dirty="0">
              <a:solidFill>
                <a:srgbClr val="C00000"/>
              </a:solidFill>
            </a:endParaRPr>
          </a:p>
          <a:p>
            <a:pPr marL="457200" lvl="1" indent="0">
              <a:lnSpc>
                <a:spcPct val="90000"/>
              </a:lnSpc>
              <a:buNone/>
            </a:pPr>
            <a:r>
              <a:rPr lang="en-US" altLang="ko-KR" sz="1600" b="1" dirty="0">
                <a:solidFill>
                  <a:srgbClr val="C00000"/>
                </a:solidFill>
              </a:rPr>
              <a:t>5% of point will be deducted for a wrong form and way to submit.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v"/>
            </a:pPr>
            <a:r>
              <a:rPr lang="en-US" altLang="ko-KR" sz="1600" b="1" dirty="0">
                <a:solidFill>
                  <a:srgbClr val="C00000"/>
                </a:solidFill>
              </a:rPr>
              <a:t>Late submission is allowed up to 3 days (~10/7, 23:59) and 10% of point will be deducted per day.</a:t>
            </a:r>
            <a:endParaRPr lang="en-US" altLang="ko-KR" sz="1200" b="1" dirty="0">
              <a:solidFill>
                <a:srgbClr val="FF0000"/>
              </a:solidFill>
            </a:endParaRPr>
          </a:p>
        </p:txBody>
      </p:sp>
      <p:sp>
        <p:nvSpPr>
          <p:cNvPr id="5" name="슬라이드 번호 개체 틀 1">
            <a:extLst>
              <a:ext uri="{FF2B5EF4-FFF2-40B4-BE49-F238E27FC236}">
                <a16:creationId xmlns:a16="http://schemas.microsoft.com/office/drawing/2014/main" id="{3CC2BCAC-D6C2-43C4-8797-38B9A7AAA1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14538" y="5964670"/>
            <a:ext cx="6944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A1611C-8748-4718-9E90-3225C6B6D546}" type="slidenum">
              <a:rPr lang="ko-KR" altLang="en-US" smtClean="0"/>
              <a:t>93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9167031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Submission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en-US" altLang="ko-KR" b="1" dirty="0"/>
              <a:t>Notice – ‘</a:t>
            </a:r>
            <a:r>
              <a:rPr lang="en-US" altLang="ko-KR" b="1" dirty="0" err="1"/>
              <a:t>submit.sh</a:t>
            </a:r>
            <a:r>
              <a:rPr lang="en-US" altLang="ko-KR" b="1" dirty="0"/>
              <a:t>’</a:t>
            </a:r>
          </a:p>
          <a:p>
            <a:pPr lvl="1">
              <a:lnSpc>
                <a:spcPct val="120000"/>
              </a:lnSpc>
            </a:pPr>
            <a:r>
              <a:rPr lang="en-US" altLang="ko-KR" dirty="0"/>
              <a:t>The ‘</a:t>
            </a:r>
            <a:r>
              <a:rPr lang="en-US" altLang="ko-KR" dirty="0" err="1"/>
              <a:t>submit.sh</a:t>
            </a:r>
            <a:r>
              <a:rPr lang="en-US" altLang="ko-KR" dirty="0"/>
              <a:t>’ script should be executed on a directory where ‘</a:t>
            </a:r>
            <a:r>
              <a:rPr lang="en-US" altLang="ko-KR" dirty="0" err="1"/>
              <a:t>src</a:t>
            </a:r>
            <a:r>
              <a:rPr lang="en-US" altLang="ko-KR" dirty="0"/>
              <a:t>’ folder is located.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altLang="ko-KR" dirty="0"/>
              <a:t>   </a:t>
            </a:r>
            <a:r>
              <a:rPr lang="en-US" altLang="ko-KR" dirty="0" err="1"/>
              <a:t>submit.sh</a:t>
            </a:r>
            <a:r>
              <a:rPr lang="en-US" altLang="ko-KR" dirty="0"/>
              <a:t> </a:t>
            </a:r>
            <a:r>
              <a:rPr lang="ko-KR" altLang="en-US" dirty="0"/>
              <a:t>스크립트는 </a:t>
            </a:r>
            <a:r>
              <a:rPr lang="en-US" altLang="ko-KR" dirty="0" err="1"/>
              <a:t>src</a:t>
            </a:r>
            <a:r>
              <a:rPr lang="en-US" altLang="ko-KR" dirty="0"/>
              <a:t> </a:t>
            </a:r>
            <a:r>
              <a:rPr lang="ko-KR" altLang="en-US" dirty="0"/>
              <a:t>폴더가 위치한 디렉토리에서 실행되어야 합니다</a:t>
            </a:r>
            <a:r>
              <a:rPr lang="en-US" altLang="ko-KR" dirty="0"/>
              <a:t>.</a:t>
            </a:r>
          </a:p>
          <a:p>
            <a:pPr lvl="1">
              <a:lnSpc>
                <a:spcPct val="120000"/>
              </a:lnSpc>
            </a:pPr>
            <a:r>
              <a:rPr lang="en-US" altLang="ko-KR" b="1" dirty="0">
                <a:solidFill>
                  <a:srgbClr val="FF0000"/>
                </a:solidFill>
              </a:rPr>
              <a:t>‘ID’ folder should not be in the directory. ('ID' folder will be removed after compressing process.)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altLang="ko-KR" b="1" dirty="0">
                <a:solidFill>
                  <a:srgbClr val="FF0000"/>
                </a:solidFill>
              </a:rPr>
              <a:t>   </a:t>
            </a:r>
            <a:r>
              <a:rPr lang="ko-KR" altLang="en-US" b="1" dirty="0">
                <a:solidFill>
                  <a:srgbClr val="FF0000"/>
                </a:solidFill>
              </a:rPr>
              <a:t>해당 디렉토리에 </a:t>
            </a:r>
            <a:r>
              <a:rPr lang="en-US" altLang="ko-KR" b="1" dirty="0">
                <a:solidFill>
                  <a:srgbClr val="FF0000"/>
                </a:solidFill>
              </a:rPr>
              <a:t>‘</a:t>
            </a:r>
            <a:r>
              <a:rPr lang="ko-KR" altLang="en-US" b="1" dirty="0">
                <a:solidFill>
                  <a:srgbClr val="FF0000"/>
                </a:solidFill>
              </a:rPr>
              <a:t>학번</a:t>
            </a:r>
            <a:r>
              <a:rPr lang="en-US" altLang="ko-KR" b="1" dirty="0">
                <a:solidFill>
                  <a:srgbClr val="FF0000"/>
                </a:solidFill>
              </a:rPr>
              <a:t>’ </a:t>
            </a:r>
            <a:r>
              <a:rPr lang="ko-KR" altLang="en-US" b="1" dirty="0">
                <a:solidFill>
                  <a:srgbClr val="FF0000"/>
                </a:solidFill>
              </a:rPr>
              <a:t>폴더가 없어야 합니다</a:t>
            </a:r>
            <a:r>
              <a:rPr lang="en-US" altLang="ko-KR" b="1" dirty="0">
                <a:solidFill>
                  <a:srgbClr val="FF0000"/>
                </a:solidFill>
              </a:rPr>
              <a:t>. (</a:t>
            </a:r>
            <a:r>
              <a:rPr lang="ko-KR" altLang="en-US" b="1" dirty="0">
                <a:solidFill>
                  <a:srgbClr val="FF0000"/>
                </a:solidFill>
              </a:rPr>
              <a:t>압축 과정 중 </a:t>
            </a:r>
            <a:r>
              <a:rPr lang="en-US" altLang="ko-KR" b="1" dirty="0">
                <a:solidFill>
                  <a:srgbClr val="FF0000"/>
                </a:solidFill>
              </a:rPr>
              <a:t>'</a:t>
            </a:r>
            <a:r>
              <a:rPr lang="ko-KR" altLang="en-US" b="1" dirty="0">
                <a:solidFill>
                  <a:srgbClr val="FF0000"/>
                </a:solidFill>
              </a:rPr>
              <a:t>학번</a:t>
            </a:r>
            <a:r>
              <a:rPr lang="en-US" altLang="ko-KR" b="1" dirty="0">
                <a:solidFill>
                  <a:srgbClr val="FF0000"/>
                </a:solidFill>
              </a:rPr>
              <a:t>' </a:t>
            </a:r>
            <a:r>
              <a:rPr lang="ko-KR" altLang="en-US" b="1" dirty="0">
                <a:solidFill>
                  <a:srgbClr val="FF0000"/>
                </a:solidFill>
              </a:rPr>
              <a:t>폴더를 생성하여 필요한 파일을 넣고 압축한 뒤 </a:t>
            </a:r>
            <a:r>
              <a:rPr lang="en-US" altLang="ko-KR" b="1" dirty="0">
                <a:solidFill>
                  <a:srgbClr val="FF0000"/>
                </a:solidFill>
              </a:rPr>
              <a:t>'</a:t>
            </a:r>
            <a:r>
              <a:rPr lang="ko-KR" altLang="en-US" b="1" dirty="0">
                <a:solidFill>
                  <a:srgbClr val="FF0000"/>
                </a:solidFill>
              </a:rPr>
              <a:t>학번</a:t>
            </a:r>
            <a:r>
              <a:rPr lang="en-US" altLang="ko-KR" b="1" dirty="0">
                <a:solidFill>
                  <a:srgbClr val="FF0000"/>
                </a:solidFill>
              </a:rPr>
              <a:t>' </a:t>
            </a:r>
            <a:r>
              <a:rPr lang="ko-KR" altLang="en-US" b="1" dirty="0">
                <a:solidFill>
                  <a:srgbClr val="FF0000"/>
                </a:solidFill>
              </a:rPr>
              <a:t>폴더를 삭제합니다</a:t>
            </a:r>
            <a:r>
              <a:rPr lang="en-US" altLang="ko-KR" b="1" dirty="0">
                <a:solidFill>
                  <a:srgbClr val="FF0000"/>
                </a:solidFill>
              </a:rPr>
              <a:t>.)</a:t>
            </a:r>
          </a:p>
          <a:p>
            <a:pPr lvl="1">
              <a:lnSpc>
                <a:spcPct val="120000"/>
              </a:lnSpc>
            </a:pPr>
            <a:r>
              <a:rPr lang="en-US" altLang="ko-KR" dirty="0"/>
              <a:t>‘</a:t>
            </a:r>
            <a:r>
              <a:rPr lang="en-US" altLang="ko-KR" dirty="0" err="1"/>
              <a:t>ID.docx</a:t>
            </a:r>
            <a:r>
              <a:rPr lang="en-US" altLang="ko-KR" dirty="0"/>
              <a:t>’ file should be located in the directory.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altLang="ko-KR" dirty="0"/>
              <a:t>   Also, report file with extensions other than ‘docx’ will not be compressed.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altLang="ko-KR" dirty="0"/>
              <a:t>   </a:t>
            </a:r>
            <a:r>
              <a:rPr lang="ko-KR" altLang="en-US" dirty="0"/>
              <a:t>해당 디렉토리에 </a:t>
            </a:r>
            <a:r>
              <a:rPr lang="en-US" altLang="ko-KR" dirty="0"/>
              <a:t>‘</a:t>
            </a:r>
            <a:r>
              <a:rPr lang="ko-KR" altLang="en-US" dirty="0"/>
              <a:t>학번</a:t>
            </a:r>
            <a:r>
              <a:rPr lang="en-US" altLang="ko-KR" dirty="0"/>
              <a:t>.docx’ </a:t>
            </a:r>
            <a:r>
              <a:rPr lang="ko-KR" altLang="en-US" dirty="0"/>
              <a:t>파일이 있어야 함께 압축됩니다</a:t>
            </a:r>
            <a:r>
              <a:rPr lang="en-US" altLang="ko-KR" dirty="0"/>
              <a:t>.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altLang="ko-KR" dirty="0"/>
              <a:t>   </a:t>
            </a:r>
            <a:r>
              <a:rPr lang="ko-KR" altLang="en-US" dirty="0"/>
              <a:t>또한 </a:t>
            </a:r>
            <a:r>
              <a:rPr lang="en-US" altLang="ko-KR" dirty="0"/>
              <a:t>‘docx’ </a:t>
            </a:r>
            <a:r>
              <a:rPr lang="ko-KR" altLang="en-US" dirty="0"/>
              <a:t>이외의 </a:t>
            </a:r>
            <a:r>
              <a:rPr lang="ko-KR" altLang="en-US" dirty="0" err="1"/>
              <a:t>확장자를</a:t>
            </a:r>
            <a:r>
              <a:rPr lang="ko-KR" altLang="en-US" dirty="0"/>
              <a:t> 가진 보고서 파일은 압축되지 않습니다</a:t>
            </a:r>
            <a:r>
              <a:rPr lang="en-US" altLang="ko-KR" dirty="0"/>
              <a:t>.</a:t>
            </a:r>
          </a:p>
          <a:p>
            <a:pPr lvl="1">
              <a:lnSpc>
                <a:spcPct val="120000"/>
              </a:lnSpc>
            </a:pPr>
            <a:r>
              <a:rPr lang="en-US" altLang="ko-KR" dirty="0"/>
              <a:t>Be sure to backup your code in case of an unexpected situation.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altLang="ko-KR" dirty="0"/>
              <a:t>   </a:t>
            </a:r>
            <a:r>
              <a:rPr lang="ko-KR" altLang="en-US" dirty="0"/>
              <a:t>만일의 경우를 대비해 반드시 코드를 백업하여 주세요</a:t>
            </a:r>
            <a:r>
              <a:rPr lang="en-US" altLang="ko-KR" dirty="0"/>
              <a:t>. </a:t>
            </a:r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5F1954B4-90C4-6842-A116-626722833B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2656" y="5991138"/>
            <a:ext cx="446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A305A6-A07C-784C-BBE4-67C27A551CE4}" type="slidenum">
              <a:rPr lang="en-US" smtClean="0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30723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Submission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en-US" altLang="ko-KR" b="1" dirty="0">
                <a:solidFill>
                  <a:srgbClr val="FF0000"/>
                </a:solidFill>
              </a:rPr>
              <a:t>Disclaimer</a:t>
            </a:r>
          </a:p>
          <a:p>
            <a:pPr lvl="1">
              <a:lnSpc>
                <a:spcPct val="120000"/>
              </a:lnSpc>
            </a:pPr>
            <a:r>
              <a:rPr lang="en-US" altLang="ko-KR" b="1" u="sng" dirty="0">
                <a:solidFill>
                  <a:srgbClr val="FF0000"/>
                </a:solidFill>
              </a:rPr>
              <a:t>You must check the contents of the </a:t>
            </a:r>
            <a:r>
              <a:rPr lang="en-US" altLang="ko-KR" b="1" u="sng" dirty="0" err="1">
                <a:solidFill>
                  <a:srgbClr val="FF0000"/>
                </a:solidFill>
              </a:rPr>
              <a:t>tar.gz</a:t>
            </a:r>
            <a:r>
              <a:rPr lang="en-US" altLang="ko-KR" b="1" u="sng" dirty="0">
                <a:solidFill>
                  <a:srgbClr val="FF0000"/>
                </a:solidFill>
              </a:rPr>
              <a:t> file before submission.</a:t>
            </a:r>
          </a:p>
          <a:p>
            <a:pPr lvl="1">
              <a:lnSpc>
                <a:spcPct val="120000"/>
              </a:lnSpc>
            </a:pPr>
            <a:r>
              <a:rPr lang="ko-KR" altLang="en-US" b="1" u="sng" dirty="0">
                <a:solidFill>
                  <a:srgbClr val="FF0000"/>
                </a:solidFill>
              </a:rPr>
              <a:t>제출하기 전</a:t>
            </a:r>
            <a:r>
              <a:rPr lang="en-US" altLang="ko-KR" b="1" u="sng" dirty="0">
                <a:solidFill>
                  <a:srgbClr val="FF0000"/>
                </a:solidFill>
              </a:rPr>
              <a:t>,</a:t>
            </a:r>
            <a:r>
              <a:rPr lang="ko-KR" altLang="en-US" b="1" u="sng" dirty="0">
                <a:solidFill>
                  <a:srgbClr val="FF0000"/>
                </a:solidFill>
              </a:rPr>
              <a:t> </a:t>
            </a:r>
            <a:r>
              <a:rPr lang="en-US" altLang="ko-KR" b="1" u="sng" dirty="0" err="1">
                <a:solidFill>
                  <a:srgbClr val="FF0000"/>
                </a:solidFill>
              </a:rPr>
              <a:t>tar.gz</a:t>
            </a:r>
            <a:r>
              <a:rPr lang="ko-KR" altLang="en-US" b="1" u="sng" dirty="0">
                <a:solidFill>
                  <a:srgbClr val="FF0000"/>
                </a:solidFill>
              </a:rPr>
              <a:t> 파일의 내용물을 반드시 다시 한 번 체크하기 바랍니다</a:t>
            </a:r>
            <a:r>
              <a:rPr lang="en-US" altLang="ko-KR" b="1" u="sng" dirty="0">
                <a:solidFill>
                  <a:srgbClr val="FF0000"/>
                </a:solidFill>
              </a:rPr>
              <a:t>.</a:t>
            </a:r>
            <a:endParaRPr lang="en-US" altLang="ko-KR" dirty="0"/>
          </a:p>
          <a:p>
            <a:pPr lvl="1">
              <a:lnSpc>
                <a:spcPct val="120000"/>
              </a:lnSpc>
            </a:pPr>
            <a:endParaRPr lang="en-US" altLang="ko-KR" b="1" dirty="0">
              <a:solidFill>
                <a:srgbClr val="FF0000"/>
              </a:solidFill>
            </a:endParaRPr>
          </a:p>
          <a:p>
            <a:pPr lvl="1">
              <a:lnSpc>
                <a:spcPct val="120000"/>
              </a:lnSpc>
            </a:pPr>
            <a:r>
              <a:rPr lang="en-US" altLang="ko-KR" b="1" dirty="0">
                <a:solidFill>
                  <a:srgbClr val="FF0000"/>
                </a:solidFill>
              </a:rPr>
              <a:t>Any result produced from the '</a:t>
            </a:r>
            <a:r>
              <a:rPr lang="en-US" altLang="ko-KR" b="1" dirty="0" err="1">
                <a:solidFill>
                  <a:srgbClr val="FF0000"/>
                </a:solidFill>
              </a:rPr>
              <a:t>submit.sh</a:t>
            </a:r>
            <a:r>
              <a:rPr lang="en-US" altLang="ko-KR" b="1" dirty="0">
                <a:solidFill>
                  <a:srgbClr val="FF0000"/>
                </a:solidFill>
              </a:rPr>
              <a:t>' script is </a:t>
            </a:r>
            <a:r>
              <a:rPr lang="en-US" altLang="ko-KR" b="1" u="sng" dirty="0">
                <a:solidFill>
                  <a:srgbClr val="FF0000"/>
                </a:solidFill>
              </a:rPr>
              <a:t>at your own risk.</a:t>
            </a:r>
          </a:p>
          <a:p>
            <a:pPr lvl="1">
              <a:lnSpc>
                <a:spcPct val="120000"/>
              </a:lnSpc>
            </a:pPr>
            <a:r>
              <a:rPr lang="en-US" altLang="ko-KR" b="1" dirty="0">
                <a:solidFill>
                  <a:srgbClr val="FF0000"/>
                </a:solidFill>
              </a:rPr>
              <a:t>'</a:t>
            </a:r>
            <a:r>
              <a:rPr lang="en-US" altLang="ko-KR" b="1" dirty="0" err="1">
                <a:solidFill>
                  <a:srgbClr val="FF0000"/>
                </a:solidFill>
              </a:rPr>
              <a:t>submit.sh</a:t>
            </a:r>
            <a:r>
              <a:rPr lang="en-US" altLang="ko-KR" b="1" dirty="0">
                <a:solidFill>
                  <a:srgbClr val="FF0000"/>
                </a:solidFill>
              </a:rPr>
              <a:t>'</a:t>
            </a:r>
            <a:r>
              <a:rPr lang="ko-KR" altLang="en-US" b="1" dirty="0">
                <a:solidFill>
                  <a:srgbClr val="FF0000"/>
                </a:solidFill>
              </a:rPr>
              <a:t> 스크립트로 생성된 결과의 </a:t>
            </a:r>
            <a:r>
              <a:rPr lang="ko-KR" altLang="en-US" b="1" u="sng" dirty="0">
                <a:solidFill>
                  <a:srgbClr val="FF0000"/>
                </a:solidFill>
              </a:rPr>
              <a:t>모든 책임은 사용자에게 귀속됩니다</a:t>
            </a:r>
            <a:r>
              <a:rPr lang="en-US" altLang="ko-KR" b="1" u="sng" dirty="0">
                <a:solidFill>
                  <a:srgbClr val="FF0000"/>
                </a:solidFill>
              </a:rPr>
              <a:t>.</a:t>
            </a:r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5F1954B4-90C4-6842-A116-626722833B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2656" y="5991138"/>
            <a:ext cx="446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A305A6-A07C-784C-BBE4-67C27A551CE4}" type="slidenum">
              <a:rPr lang="en-US" smtClean="0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895608"/>
      </p:ext>
    </p:extLst>
  </p:cSld>
  <p:clrMapOvr>
    <a:masterClrMapping/>
  </p:clrMapOvr>
</p:sld>
</file>

<file path=ppt/theme/theme1.xml><?xml version="1.0" encoding="utf-8"?>
<a:theme xmlns:a="http://schemas.openxmlformats.org/drawingml/2006/main" name="1. Cover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. Body">
  <a:themeElements>
    <a:clrScheme name="다홍색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. Blank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1159</TotalTime>
  <Words>7492</Words>
  <Application>Microsoft Macintosh PowerPoint</Application>
  <PresentationFormat>와이드스크린</PresentationFormat>
  <Paragraphs>1340</Paragraphs>
  <Slides>95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3</vt:i4>
      </vt:variant>
      <vt:variant>
        <vt:lpstr>슬라이드 제목</vt:lpstr>
      </vt:variant>
      <vt:variant>
        <vt:i4>95</vt:i4>
      </vt:variant>
    </vt:vector>
  </HeadingPairs>
  <TitlesOfParts>
    <vt:vector size="104" baseType="lpstr">
      <vt:lpstr>Arial</vt:lpstr>
      <vt:lpstr>Consolas</vt:lpstr>
      <vt:lpstr>Wingdings</vt:lpstr>
      <vt:lpstr>Cambria Math</vt:lpstr>
      <vt:lpstr>Hack</vt:lpstr>
      <vt:lpstr>맑은 고딕</vt:lpstr>
      <vt:lpstr>1. Cover</vt:lpstr>
      <vt:lpstr>2. Body</vt:lpstr>
      <vt:lpstr>3. Blank</vt:lpstr>
      <vt:lpstr>Project #1: User Program</vt:lpstr>
      <vt:lpstr>Contents</vt:lpstr>
      <vt:lpstr>PowerPoint 프레젠테이션</vt:lpstr>
      <vt:lpstr>Background</vt:lpstr>
      <vt:lpstr>Background</vt:lpstr>
      <vt:lpstr>Background</vt:lpstr>
      <vt:lpstr>Background</vt:lpstr>
      <vt:lpstr>How User Program Works</vt:lpstr>
      <vt:lpstr>How User Program Works</vt:lpstr>
      <vt:lpstr>How User Program Works</vt:lpstr>
      <vt:lpstr>Code Level Flow</vt:lpstr>
      <vt:lpstr>Code Level Flow</vt:lpstr>
      <vt:lpstr>Code Level Flow</vt:lpstr>
      <vt:lpstr>Virtual Memory</vt:lpstr>
      <vt:lpstr>Virtual Memory</vt:lpstr>
      <vt:lpstr>Virtual Memory: Launch Application</vt:lpstr>
      <vt:lpstr>Virtual Memory: Launch Application</vt:lpstr>
      <vt:lpstr>Virtual Memory: Launch Application</vt:lpstr>
      <vt:lpstr>Virtual Memory in Pintos</vt:lpstr>
      <vt:lpstr>Virtual Memory</vt:lpstr>
      <vt:lpstr>System Calls</vt:lpstr>
      <vt:lpstr>System Calls</vt:lpstr>
      <vt:lpstr>System Calls</vt:lpstr>
      <vt:lpstr>System Calls</vt:lpstr>
      <vt:lpstr>System Calls</vt:lpstr>
      <vt:lpstr>System Calls</vt:lpstr>
      <vt:lpstr>System Calls</vt:lpstr>
      <vt:lpstr>System Calls</vt:lpstr>
      <vt:lpstr>What is File system?</vt:lpstr>
      <vt:lpstr>PowerPoint 프레젠테이션</vt:lpstr>
      <vt:lpstr>Process Termination Messages</vt:lpstr>
      <vt:lpstr>Process Termination Messages</vt:lpstr>
      <vt:lpstr>Process Termination Messages</vt:lpstr>
      <vt:lpstr>Process Termination Messages</vt:lpstr>
      <vt:lpstr>Argument Passing</vt:lpstr>
      <vt:lpstr>Argument Passing</vt:lpstr>
      <vt:lpstr>Argument Passing</vt:lpstr>
      <vt:lpstr>Argument Passing</vt:lpstr>
      <vt:lpstr>Argument Passing</vt:lpstr>
      <vt:lpstr>Argument Passing</vt:lpstr>
      <vt:lpstr>Argument Passing</vt:lpstr>
      <vt:lpstr>System Calls</vt:lpstr>
      <vt:lpstr>System Calls: General System Calls</vt:lpstr>
      <vt:lpstr>System Calls: General System Calls</vt:lpstr>
      <vt:lpstr>System Calls: General System Calls</vt:lpstr>
      <vt:lpstr>System Calls: Code Level Flow</vt:lpstr>
      <vt:lpstr>System Calls: Code Level Flow</vt:lpstr>
      <vt:lpstr>System Calls: Code Level Flow</vt:lpstr>
      <vt:lpstr>System Calls: Code Level Flow</vt:lpstr>
      <vt:lpstr>System Calls: Code Level Flow</vt:lpstr>
      <vt:lpstr>System Calls: Code Level Flow</vt:lpstr>
      <vt:lpstr>System Calls: Code Level Flow</vt:lpstr>
      <vt:lpstr>System Calls: Source Codes</vt:lpstr>
      <vt:lpstr>Additional System Calls</vt:lpstr>
      <vt:lpstr>Additional System Calls</vt:lpstr>
      <vt:lpstr>Additional System Calls</vt:lpstr>
      <vt:lpstr>Additional System Calls</vt:lpstr>
      <vt:lpstr>Additional System Calls: Source Codes</vt:lpstr>
      <vt:lpstr>Accessing User Memory</vt:lpstr>
      <vt:lpstr>Accessing User Memory</vt:lpstr>
      <vt:lpstr>Accessing User Memory</vt:lpstr>
      <vt:lpstr>Base File System</vt:lpstr>
      <vt:lpstr>Base File System</vt:lpstr>
      <vt:lpstr>Base File System</vt:lpstr>
      <vt:lpstr>Base File System</vt:lpstr>
      <vt:lpstr>File System Call Implementation</vt:lpstr>
      <vt:lpstr>File System Call Implementation</vt:lpstr>
      <vt:lpstr>File System Call Implementation</vt:lpstr>
      <vt:lpstr>File System Call Implementation</vt:lpstr>
      <vt:lpstr>File System Call Implementation</vt:lpstr>
      <vt:lpstr>Useful APIs</vt:lpstr>
      <vt:lpstr>Denying Writes to Executable files</vt:lpstr>
      <vt:lpstr>Protect Critical Section</vt:lpstr>
      <vt:lpstr>Critical Section – Example in Pintos</vt:lpstr>
      <vt:lpstr>Synchronization APIs (See also p.67-68)</vt:lpstr>
      <vt:lpstr>Synchronization APIs (See also p.67-68)</vt:lpstr>
      <vt:lpstr>Suggested Order of Implementation (1)</vt:lpstr>
      <vt:lpstr>Suggested Order of Implementation (1)</vt:lpstr>
      <vt:lpstr>Suggested Order of Implementation (1)</vt:lpstr>
      <vt:lpstr>Suggested Order of Implementation (1)</vt:lpstr>
      <vt:lpstr>Suggested Order of Implementation (1)</vt:lpstr>
      <vt:lpstr>Suggested Order of Implementation (1)</vt:lpstr>
      <vt:lpstr>Suggested Order of Implementation (2)</vt:lpstr>
      <vt:lpstr>Evaluation</vt:lpstr>
      <vt:lpstr>Evaluation</vt:lpstr>
      <vt:lpstr>PowerPoint 프레젠테이션</vt:lpstr>
      <vt:lpstr>PowerPoint 프레젠테이션</vt:lpstr>
      <vt:lpstr>PowerPoint 프레젠테이션</vt:lpstr>
      <vt:lpstr>Evaluation</vt:lpstr>
      <vt:lpstr>Documentation</vt:lpstr>
      <vt:lpstr>Submission</vt:lpstr>
      <vt:lpstr>Submission</vt:lpstr>
      <vt:lpstr>Submission</vt:lpstr>
      <vt:lpstr>Submission</vt:lpstr>
      <vt:lpstr>Submission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강 현구</dc:creator>
  <cp:lastModifiedBy>김명준</cp:lastModifiedBy>
  <cp:revision>1378</cp:revision>
  <cp:lastPrinted>2018-09-20T18:51:01Z</cp:lastPrinted>
  <dcterms:created xsi:type="dcterms:W3CDTF">2018-08-21T08:38:57Z</dcterms:created>
  <dcterms:modified xsi:type="dcterms:W3CDTF">2026-09-07T04:19:25Z</dcterms:modified>
</cp:coreProperties>
</file>