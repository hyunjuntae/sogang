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7" r:id="rId3"/>
    <p:sldId id="283" r:id="rId4"/>
    <p:sldId id="281" r:id="rId5"/>
    <p:sldId id="297" r:id="rId6"/>
    <p:sldId id="282" r:id="rId7"/>
    <p:sldId id="285" r:id="rId8"/>
    <p:sldId id="261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262" r:id="rId18"/>
    <p:sldId id="273" r:id="rId19"/>
    <p:sldId id="266" r:id="rId20"/>
    <p:sldId id="306" r:id="rId21"/>
    <p:sldId id="308" r:id="rId22"/>
    <p:sldId id="309" r:id="rId23"/>
    <p:sldId id="310" r:id="rId24"/>
    <p:sldId id="312" r:id="rId25"/>
    <p:sldId id="263" r:id="rId26"/>
    <p:sldId id="311" r:id="rId27"/>
    <p:sldId id="313" r:id="rId28"/>
    <p:sldId id="278" r:id="rId29"/>
    <p:sldId id="314" r:id="rId30"/>
    <p:sldId id="279" r:id="rId31"/>
    <p:sldId id="315" r:id="rId32"/>
    <p:sldId id="316" r:id="rId33"/>
    <p:sldId id="317" r:id="rId34"/>
    <p:sldId id="318" r:id="rId35"/>
    <p:sldId id="287" r:id="rId36"/>
    <p:sldId id="319" r:id="rId37"/>
    <p:sldId id="264" r:id="rId38"/>
    <p:sldId id="320" r:id="rId39"/>
    <p:sldId id="280" r:id="rId40"/>
    <p:sldId id="321" r:id="rId41"/>
    <p:sldId id="322" r:id="rId42"/>
    <p:sldId id="284" r:id="rId43"/>
    <p:sldId id="269" r:id="rId44"/>
    <p:sldId id="323" r:id="rId45"/>
    <p:sldId id="288" r:id="rId46"/>
    <p:sldId id="324" r:id="rId47"/>
    <p:sldId id="325" r:id="rId48"/>
    <p:sldId id="267" r:id="rId49"/>
    <p:sldId id="326" r:id="rId50"/>
    <p:sldId id="327" r:id="rId51"/>
    <p:sldId id="270" r:id="rId52"/>
    <p:sldId id="328" r:id="rId53"/>
    <p:sldId id="271" r:id="rId54"/>
    <p:sldId id="332" r:id="rId55"/>
    <p:sldId id="333" r:id="rId56"/>
    <p:sldId id="334" r:id="rId57"/>
    <p:sldId id="335" r:id="rId58"/>
    <p:sldId id="289" r:id="rId59"/>
    <p:sldId id="272" r:id="rId60"/>
    <p:sldId id="338" r:id="rId61"/>
    <p:sldId id="292" r:id="rId62"/>
    <p:sldId id="293" r:id="rId63"/>
    <p:sldId id="336" r:id="rId64"/>
    <p:sldId id="341" r:id="rId65"/>
    <p:sldId id="337" r:id="rId66"/>
    <p:sldId id="339" r:id="rId67"/>
    <p:sldId id="342" r:id="rId68"/>
    <p:sldId id="340" r:id="rId6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F87B38-DC4C-4CBB-B600-FDE368778A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3F0551D-971D-48D7-80F3-F7666996E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F077058-3F9C-4B02-A581-5380EC32D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28A003-8DA0-4AD1-A8DB-E726BCB55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791E88-4691-48E7-AE9D-E7257248A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6534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1A7A9E-FE6A-474E-A57B-C1FCCE96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FDC8AF-DECB-4664-8545-9255492A40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BBA886-D301-4379-985B-8955A7C2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938B28-4290-4E2B-A2DE-D1C3E2B5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F7928F-C54E-47C1-AB78-2E1994DB5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6419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ECBC8-4E74-4297-A995-9C07FA2F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9647E4-E76D-4182-98FB-634B35BAC0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4E1638D-CB9D-4E67-A862-EE6063786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1DFCC-DC9B-49C9-8298-3FCEE2C85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51E3D52-445E-4136-B04B-82D8F8214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96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32A6A0-8C53-467C-A645-82B09188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0BF819-2120-44D9-B422-9BF49CBB54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4A1F37-9284-4BEA-9356-98EBD2FBE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A62C313-D0A4-470A-A82F-581904D9C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DB63D20-81F5-49C5-95B7-DFF680359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8B695C8-FE4C-4785-A6DB-02CBA9A7A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623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627BA1-E42B-492B-9B49-359F474A4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FDCAD2-4B65-4356-9D7F-5F10D9FED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002C8E-D10D-4693-A3D2-1C5858401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CE24534-9E2F-4136-95ED-440043501B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B0DA136-C0AC-4732-9AED-6E64CF4C22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3043D00-101D-4480-A19D-0F88FEBDE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D341033-F54F-410B-9BBF-8A66DDD48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195DD7-6201-43CA-92C2-84A3F2FF3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364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2465F5-A128-427A-81D9-1C3C79395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D1E8FB-2450-4CC6-9FA9-8C98E122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75333EB-02EE-4A8A-B771-16E5D2C0AE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EE9A3C-71E6-4F9A-95B4-4A29A4BD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55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9FA3AB7-7D93-450B-B498-3AC7BCABB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00428D6-3A02-442C-871C-F00BE5A35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7ECEA8-2120-4520-BE61-F5B62248F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033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126DBD-3F91-4EC8-B67E-3CE157982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B73C4E-5829-49CB-B44C-EF70AB66C7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0BC431A-2273-40F9-BA34-18B25F303B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60AC2B-5184-4044-8A01-C0698CA0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4B06FF-629C-4080-A748-C05352CBB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C97B11C-A880-4C7D-BD66-4A7D5AE0F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4750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567744-2B5C-4E35-A3B6-0DE12D007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850342-D7B0-4DF3-BE01-BF829AE865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B61E6E8-C351-4BBF-9EC9-64D0D2817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04D1B5-3601-4678-B7C3-C89513D7C6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E92233-88C1-4668-B534-11E80CD3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535916-1C65-4FA1-842F-FD1CDCFF7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104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A9B3D-61E4-456E-8F17-3EFEC24D0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DFC0FBC-3429-4153-9C24-B668057D0B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D1B1E6B-EA68-4C4C-9AE8-F9E71646E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E4C827-051C-4403-AC63-368F6990F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6AE1A-C72D-48A8-B00D-EE41112C5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091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A972CDF-BE35-4E9B-BCF8-97665A798D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CC764D1-4F7A-40EC-9F64-BC5D210A1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9DE8A77-E02E-46AB-BF40-4C647C7B4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FE82A3-F667-462A-BD34-45DC4D1A67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D5D6C1-9415-449A-BAFF-79DFFCC1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32339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F5214BC-1CC5-4CB2-B7C9-C5C9403D7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4C5B9BB-914F-43D2-B636-34D3267023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3848CB-3CDC-441D-9BAB-80FB8937C2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3211B-B59B-4370-94A8-E67717DBAA3A}" type="datetimeFigureOut">
              <a:rPr lang="ko-KR" altLang="en-US" smtClean="0"/>
              <a:t>2026-08-30(Sunday)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B82ED2-DE70-49E5-A32B-F081E51B54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65E607-0645-46A8-B92C-371B9A82A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EA820A-732E-4931-A515-A57B304FFC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2688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D6AB69-CDF3-4FFD-BA6E-D9FDBB6B86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Masked &amp; Predictive </a:t>
            </a:r>
            <a:br>
              <a:rPr lang="en-US" altLang="ko-KR" dirty="0"/>
            </a:br>
            <a:r>
              <a:rPr lang="en-US" altLang="ko-KR" dirty="0"/>
              <a:t>Self-Supervised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DA3A2A5-9DFF-40E2-A3F8-23C3BE4992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마스킹</a:t>
            </a:r>
            <a:r>
              <a:rPr lang="ko-KR" altLang="en-US" dirty="0"/>
              <a:t> 기반 자기지도학습</a:t>
            </a:r>
          </a:p>
        </p:txBody>
      </p:sp>
    </p:spTree>
    <p:extLst>
      <p:ext uri="{BB962C8B-B14F-4D97-AF65-F5344CB8AC3E}">
        <p14:creationId xmlns:p14="http://schemas.microsoft.com/office/powerpoint/2010/main" val="2021124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AA488-E543-4C5F-B85F-94830A09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E638F-2E2B-4500-8E0B-18F666EE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마스킹</a:t>
            </a:r>
            <a:r>
              <a:rPr lang="ko-KR" altLang="en-US" dirty="0"/>
              <a:t> 기반 </a:t>
            </a:r>
            <a:r>
              <a:rPr lang="ko-KR" altLang="en-US" dirty="0" err="1"/>
              <a:t>자기주도학습이란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BERT</a:t>
            </a:r>
          </a:p>
          <a:p>
            <a:r>
              <a:rPr lang="en-US" altLang="ko-KR" dirty="0"/>
              <a:t>3. MAE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5521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AA488-E543-4C5F-B85F-94830A09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E638F-2E2B-4500-8E0B-18F666EE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u="sng" dirty="0"/>
              <a:t>1. </a:t>
            </a:r>
            <a:r>
              <a:rPr lang="ko-KR" altLang="en-US" u="sng" dirty="0" err="1"/>
              <a:t>마스킹</a:t>
            </a:r>
            <a:r>
              <a:rPr lang="ko-KR" altLang="en-US" u="sng" dirty="0"/>
              <a:t> 기반 </a:t>
            </a:r>
            <a:r>
              <a:rPr lang="ko-KR" altLang="en-US" u="sng" dirty="0" err="1"/>
              <a:t>자기주도학습이란</a:t>
            </a:r>
            <a:r>
              <a:rPr lang="en-US" altLang="ko-KR" u="sng" dirty="0"/>
              <a:t>?</a:t>
            </a:r>
          </a:p>
          <a:p>
            <a:r>
              <a:rPr lang="en-US" altLang="ko-KR" dirty="0"/>
              <a:t>2. BERT</a:t>
            </a:r>
          </a:p>
          <a:p>
            <a:r>
              <a:rPr lang="en-US" altLang="ko-KR" dirty="0"/>
              <a:t>3. MAE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735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0F9FA-0A93-4C0F-BFFF-1FCEA7D4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마스킹</a:t>
            </a:r>
            <a:r>
              <a:rPr lang="ko-KR" altLang="en-US" dirty="0"/>
              <a:t> 기반 자기주도학습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36D0D8-76A9-45A6-B1E4-A7DE2CD4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일일이 정답을 달아주지 않아도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 인공지능이 </a:t>
            </a:r>
            <a:r>
              <a:rPr lang="ko-KR" altLang="en-US" u="sng" dirty="0"/>
              <a:t>데이터 자체를 교재</a:t>
            </a:r>
            <a:r>
              <a:rPr lang="ko-KR" altLang="en-US" dirty="0"/>
              <a:t>로 삼아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u="sng" dirty="0"/>
              <a:t>스스로 데이터의 규칙과 문맥을 깨우치게</a:t>
            </a:r>
            <a:r>
              <a:rPr lang="ko-KR" altLang="en-US" dirty="0"/>
              <a:t> 만드는 학습 방법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39078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D0F9FA-0A93-4C0F-BFFF-1FCEA7D47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마스킹</a:t>
            </a:r>
            <a:r>
              <a:rPr lang="ko-KR" altLang="en-US" dirty="0"/>
              <a:t> 기반 자기주도학습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36D0D8-76A9-45A6-B1E4-A7DE2CD44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일일이 정답을 달아주지 않아도</a:t>
            </a:r>
            <a:r>
              <a:rPr lang="en-US" altLang="ko-KR" dirty="0"/>
              <a:t>,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r>
              <a:rPr lang="ko-KR" altLang="en-US" dirty="0"/>
              <a:t>  인공지능이 데이터 자체를 교재로 삼아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</a:t>
            </a:r>
            <a:r>
              <a:rPr lang="ko-KR" altLang="en-US" dirty="0"/>
              <a:t>스스로 데이터의 규칙과 문맥을 깨우치게 만드는 학습 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정답을 안 달아줘도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정답을 몰라도</a:t>
            </a:r>
            <a:r>
              <a:rPr lang="en-US" altLang="ko-KR" dirty="0">
                <a:sym typeface="Wingdings" panose="05000000000000000000" pitchFamily="2" charset="2"/>
              </a:rPr>
              <a:t>,</a:t>
            </a:r>
          </a:p>
          <a:p>
            <a:pPr marL="0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   </a:t>
            </a:r>
            <a:r>
              <a:rPr lang="ko-KR" altLang="en-US" dirty="0">
                <a:sym typeface="Wingdings" panose="05000000000000000000" pitchFamily="2" charset="2"/>
              </a:rPr>
              <a:t>그냥 데이터 왕창 집어넣어서 학습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44290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AA488-E543-4C5F-B85F-94830A09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E638F-2E2B-4500-8E0B-18F666EE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마스킹</a:t>
            </a:r>
            <a:r>
              <a:rPr lang="ko-KR" altLang="en-US" dirty="0"/>
              <a:t> 기반 </a:t>
            </a:r>
            <a:r>
              <a:rPr lang="ko-KR" altLang="en-US" dirty="0" err="1"/>
              <a:t>자기주도학습이란</a:t>
            </a:r>
            <a:r>
              <a:rPr lang="en-US" altLang="ko-KR" dirty="0"/>
              <a:t>?</a:t>
            </a:r>
          </a:p>
          <a:p>
            <a:r>
              <a:rPr lang="en-US" altLang="ko-KR" u="sng" dirty="0"/>
              <a:t>2. BERT</a:t>
            </a:r>
          </a:p>
          <a:p>
            <a:r>
              <a:rPr lang="en-US" altLang="ko-KR" dirty="0"/>
              <a:t>3. MAE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78793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</a:t>
            </a:r>
            <a:r>
              <a:rPr lang="ko-KR" altLang="en-US" dirty="0"/>
              <a:t>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400" dirty="0"/>
              <a:t>자연어 처리 모델의 한 종류</a:t>
            </a:r>
            <a:endParaRPr lang="en-US" altLang="ko-KR" sz="24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텍스트 분류</a:t>
            </a:r>
            <a:r>
              <a:rPr lang="en-US" altLang="ko-KR" sz="2400" dirty="0"/>
              <a:t>, </a:t>
            </a:r>
            <a:r>
              <a:rPr lang="ko-KR" altLang="en-US" sz="2400" dirty="0"/>
              <a:t>질의응답 같은 자연어 이해 업무에 최적화 되어있음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70957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발표 이전에</a:t>
            </a:r>
            <a:r>
              <a:rPr lang="en-US" altLang="ko-KR" sz="2400" dirty="0"/>
              <a:t>, </a:t>
            </a:r>
            <a:r>
              <a:rPr lang="ko-KR" altLang="en-US" sz="2400" dirty="0"/>
              <a:t>자연어 처리 모델의 딜레마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803187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발표 이전에</a:t>
            </a:r>
            <a:r>
              <a:rPr lang="en-US" altLang="ko-KR" sz="2400" dirty="0"/>
              <a:t>, </a:t>
            </a:r>
            <a:r>
              <a:rPr lang="ko-KR" altLang="en-US" sz="2400" dirty="0"/>
              <a:t>자연어 처리 모델의 딜레마</a:t>
            </a:r>
            <a:endParaRPr lang="en-US" altLang="ko-KR" sz="2400" dirty="0"/>
          </a:p>
          <a:p>
            <a:pPr lvl="1">
              <a:buFontTx/>
              <a:buChar char="-"/>
            </a:pPr>
            <a:r>
              <a:rPr lang="en-US" altLang="ko-KR" sz="2000" dirty="0"/>
              <a:t>BERT</a:t>
            </a:r>
            <a:r>
              <a:rPr lang="ko-KR" altLang="en-US" sz="2000" dirty="0"/>
              <a:t>가 나오기 전 </a:t>
            </a:r>
            <a:r>
              <a:rPr lang="en-US" altLang="ko-KR" sz="2000" dirty="0"/>
              <a:t>AI</a:t>
            </a:r>
            <a:r>
              <a:rPr lang="ko-KR" altLang="en-US" sz="2000" dirty="0"/>
              <a:t>가 글을 배우는 주류 방식은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“</a:t>
            </a:r>
            <a:r>
              <a:rPr lang="ko-KR" altLang="en-US" sz="2000" dirty="0"/>
              <a:t>왼쪽에서 오른쪽으로 하나씩 읽으면서 다음 단어 맞추기</a:t>
            </a:r>
            <a:r>
              <a:rPr lang="en-US" altLang="ko-KR" sz="2000" dirty="0"/>
              <a:t>” </a:t>
            </a:r>
            <a:r>
              <a:rPr lang="ko-KR" altLang="en-US" sz="2000" dirty="0"/>
              <a:t>였음</a:t>
            </a:r>
            <a:r>
              <a:rPr lang="en-US" altLang="ko-KR" sz="2000" dirty="0"/>
              <a:t>. EX) </a:t>
            </a:r>
            <a:r>
              <a:rPr lang="en-US" altLang="ko-KR" sz="2000" dirty="0" err="1"/>
              <a:t>GPT</a:t>
            </a:r>
            <a:r>
              <a:rPr lang="en-US" altLang="ko-KR" sz="2000" dirty="0"/>
              <a:t>-1</a:t>
            </a:r>
          </a:p>
          <a:p>
            <a:pPr marL="457200" lvl="1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333821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발표 이전에</a:t>
            </a:r>
            <a:r>
              <a:rPr lang="en-US" altLang="ko-KR" sz="2400" dirty="0"/>
              <a:t>, </a:t>
            </a:r>
            <a:r>
              <a:rPr lang="ko-KR" altLang="en-US" sz="2400" dirty="0"/>
              <a:t>자연어 처리 모델의 딜레마</a:t>
            </a:r>
            <a:endParaRPr lang="en-US" altLang="ko-KR" sz="2400" dirty="0"/>
          </a:p>
          <a:p>
            <a:pPr lvl="1">
              <a:buFontTx/>
              <a:buChar char="-"/>
            </a:pPr>
            <a:r>
              <a:rPr lang="en-US" altLang="ko-KR" sz="2000" dirty="0"/>
              <a:t>BERT</a:t>
            </a:r>
            <a:r>
              <a:rPr lang="ko-KR" altLang="en-US" sz="2000" dirty="0"/>
              <a:t>가 나오기 전 </a:t>
            </a:r>
            <a:r>
              <a:rPr lang="en-US" altLang="ko-KR" sz="2000" dirty="0"/>
              <a:t>AI</a:t>
            </a:r>
            <a:r>
              <a:rPr lang="ko-KR" altLang="en-US" sz="2000" dirty="0"/>
              <a:t>가 글을 배우는 주류 방식은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“</a:t>
            </a:r>
            <a:r>
              <a:rPr lang="ko-KR" altLang="en-US" sz="2000" dirty="0"/>
              <a:t>왼쪽에서 오른쪽으로 하나씩 읽으면서 다음 단어 맞추기</a:t>
            </a:r>
            <a:r>
              <a:rPr lang="en-US" altLang="ko-KR" sz="2000" dirty="0"/>
              <a:t>” </a:t>
            </a:r>
            <a:r>
              <a:rPr lang="ko-KR" altLang="en-US" sz="2000" dirty="0"/>
              <a:t>였음</a:t>
            </a:r>
            <a:r>
              <a:rPr lang="en-US" altLang="ko-KR" sz="2000" dirty="0"/>
              <a:t>. EX) </a:t>
            </a:r>
            <a:r>
              <a:rPr lang="en-US" altLang="ko-KR" sz="2000" dirty="0" err="1"/>
              <a:t>GPT</a:t>
            </a:r>
            <a:r>
              <a:rPr lang="en-US" altLang="ko-KR" sz="2000" dirty="0"/>
              <a:t>-1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하지만 글을 이해할 때는</a:t>
            </a:r>
            <a:r>
              <a:rPr lang="en-US" altLang="ko-KR" sz="2000" dirty="0"/>
              <a:t>, </a:t>
            </a:r>
            <a:r>
              <a:rPr lang="ko-KR" altLang="en-US" sz="2000" dirty="0"/>
              <a:t>앞뒤 문맥을 동시에 봐야함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r>
              <a:rPr lang="en-US" altLang="ko-KR" sz="2000" dirty="0"/>
              <a:t>   EX) </a:t>
            </a:r>
            <a:r>
              <a:rPr lang="ko-KR" altLang="en-US" sz="2000" dirty="0"/>
              <a:t>은행에 돈을 예금했다 </a:t>
            </a:r>
            <a:r>
              <a:rPr lang="en-US" altLang="ko-KR" sz="2000" dirty="0"/>
              <a:t>/ </a:t>
            </a:r>
            <a:r>
              <a:rPr lang="ko-KR" altLang="en-US" sz="2000" dirty="0"/>
              <a:t>가을이 되니 은행잎이 떨어진다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624810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발표 이전에</a:t>
            </a:r>
            <a:r>
              <a:rPr lang="en-US" altLang="ko-KR" sz="2400" dirty="0"/>
              <a:t>, </a:t>
            </a:r>
            <a:r>
              <a:rPr lang="ko-KR" altLang="en-US" sz="2400" dirty="0"/>
              <a:t>자연어 처리 모델의 딜레마</a:t>
            </a:r>
            <a:endParaRPr lang="en-US" altLang="ko-KR" sz="2400" dirty="0"/>
          </a:p>
          <a:p>
            <a:pPr lvl="1">
              <a:buFontTx/>
              <a:buChar char="-"/>
            </a:pPr>
            <a:r>
              <a:rPr lang="en-US" altLang="ko-KR" sz="2000" dirty="0"/>
              <a:t>BERT</a:t>
            </a:r>
            <a:r>
              <a:rPr lang="ko-KR" altLang="en-US" sz="2000" dirty="0"/>
              <a:t>가 나오기 전 </a:t>
            </a:r>
            <a:r>
              <a:rPr lang="en-US" altLang="ko-KR" sz="2000" dirty="0"/>
              <a:t>AI</a:t>
            </a:r>
            <a:r>
              <a:rPr lang="ko-KR" altLang="en-US" sz="2000" dirty="0"/>
              <a:t>가 글을 배우는 주류 방식은 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“</a:t>
            </a:r>
            <a:r>
              <a:rPr lang="ko-KR" altLang="en-US" sz="2000" dirty="0"/>
              <a:t>왼쪽에서 오른쪽으로 하나씩 읽으면서 다음 단어 맞추기</a:t>
            </a:r>
            <a:r>
              <a:rPr lang="en-US" altLang="ko-KR" sz="2000" dirty="0"/>
              <a:t>” </a:t>
            </a:r>
            <a:r>
              <a:rPr lang="ko-KR" altLang="en-US" sz="2000" dirty="0"/>
              <a:t>였음</a:t>
            </a:r>
            <a:r>
              <a:rPr lang="en-US" altLang="ko-KR" sz="2000" dirty="0"/>
              <a:t>. EX) </a:t>
            </a:r>
            <a:r>
              <a:rPr lang="en-US" altLang="ko-KR" sz="2000" dirty="0" err="1"/>
              <a:t>GPT</a:t>
            </a:r>
            <a:r>
              <a:rPr lang="en-US" altLang="ko-KR" sz="2000" dirty="0"/>
              <a:t>-1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하지만 글을 이해할 때는</a:t>
            </a:r>
            <a:r>
              <a:rPr lang="en-US" altLang="ko-KR" sz="2000" dirty="0"/>
              <a:t>, </a:t>
            </a:r>
            <a:r>
              <a:rPr lang="ko-KR" altLang="en-US" sz="2000" dirty="0"/>
              <a:t>앞뒤 문맥을 동시에 봐야함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r>
              <a:rPr lang="en-US" altLang="ko-KR" sz="2000" dirty="0"/>
              <a:t>   EX) </a:t>
            </a:r>
            <a:r>
              <a:rPr lang="ko-KR" altLang="en-US" sz="2000" dirty="0"/>
              <a:t>은행에 돈을 예금했다 </a:t>
            </a:r>
            <a:r>
              <a:rPr lang="en-US" altLang="ko-KR" sz="2000" dirty="0"/>
              <a:t>/ </a:t>
            </a:r>
            <a:r>
              <a:rPr lang="ko-KR" altLang="en-US" sz="2000" dirty="0"/>
              <a:t>가을이 되니 은행잎이 떨어진다</a:t>
            </a:r>
            <a:r>
              <a:rPr lang="en-US" altLang="ko-KR" sz="2000" dirty="0"/>
              <a:t>.</a:t>
            </a:r>
          </a:p>
          <a:p>
            <a:pPr marL="457200" lvl="1" indent="0">
              <a:buNone/>
            </a:pP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앞뒤 문맥을 봐야 글을 제대로 이해하는데</a:t>
            </a:r>
            <a:r>
              <a:rPr lang="en-US" altLang="ko-KR" sz="2000" dirty="0"/>
              <a:t>,</a:t>
            </a:r>
          </a:p>
          <a:p>
            <a:pPr marL="457200" lvl="1" indent="0">
              <a:buNone/>
            </a:pPr>
            <a:r>
              <a:rPr lang="en-US" altLang="ko-KR" sz="2000" dirty="0"/>
              <a:t>   </a:t>
            </a:r>
            <a:r>
              <a:rPr lang="ko-KR" altLang="en-US" sz="2000" dirty="0"/>
              <a:t>앞뒤 문맥을 다 보면 </a:t>
            </a:r>
            <a:r>
              <a:rPr lang="ko-KR" altLang="en-US" sz="2000" dirty="0" err="1"/>
              <a:t>뒷</a:t>
            </a:r>
            <a:r>
              <a:rPr lang="ko-KR" altLang="en-US" sz="2000" dirty="0"/>
              <a:t> 내용을 이미 알고서 </a:t>
            </a:r>
            <a:r>
              <a:rPr lang="ko-KR" altLang="en-US" sz="2000" dirty="0" err="1"/>
              <a:t>뒷</a:t>
            </a:r>
            <a:r>
              <a:rPr lang="ko-KR" altLang="en-US" sz="2000" dirty="0"/>
              <a:t> 내용을 예측</a:t>
            </a:r>
            <a:endParaRPr lang="en-US" altLang="ko-KR" sz="2000" dirty="0"/>
          </a:p>
          <a:p>
            <a:pPr marL="457200" lvl="1" indent="0">
              <a:buNone/>
            </a:pPr>
            <a:r>
              <a:rPr lang="en-US" altLang="ko-KR" sz="2000" dirty="0"/>
              <a:t>  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정답 베끼는 문제 발생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900459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기본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200" dirty="0"/>
              <a:t>앞뒤 문맥을 다 보여주되</a:t>
            </a:r>
            <a:r>
              <a:rPr lang="en-US" altLang="ko-KR" sz="2200" dirty="0"/>
              <a:t>, </a:t>
            </a:r>
            <a:r>
              <a:rPr lang="ko-KR" altLang="en-US" sz="2200" dirty="0"/>
              <a:t>맞춰야 할 단어를 가리고 보여주기 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444035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기본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200" dirty="0"/>
              <a:t>앞뒤 문맥을 다 보여주되</a:t>
            </a:r>
            <a:r>
              <a:rPr lang="en-US" altLang="ko-KR" sz="2200" dirty="0"/>
              <a:t>, </a:t>
            </a:r>
            <a:r>
              <a:rPr lang="ko-KR" altLang="en-US" sz="2200" dirty="0"/>
              <a:t>맞춰야 할 단어를 가리고 보여주기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그 후</a:t>
            </a:r>
            <a:r>
              <a:rPr lang="en-US" altLang="ko-KR" sz="2200" dirty="0">
                <a:sym typeface="Wingdings" panose="05000000000000000000" pitchFamily="2" charset="2"/>
              </a:rPr>
              <a:t>, </a:t>
            </a:r>
            <a:r>
              <a:rPr lang="ko-KR" altLang="en-US" sz="2200" dirty="0"/>
              <a:t>가린 단어를 맞추게 시키기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842268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기본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200" dirty="0"/>
              <a:t>앞뒤 문맥을 다 보여주되</a:t>
            </a:r>
            <a:r>
              <a:rPr lang="en-US" altLang="ko-KR" sz="2200" dirty="0"/>
              <a:t>, </a:t>
            </a:r>
            <a:r>
              <a:rPr lang="ko-KR" altLang="en-US" sz="2200" dirty="0"/>
              <a:t>맞춰야 할 단어를 가리고 보여주기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그 후</a:t>
            </a:r>
            <a:r>
              <a:rPr lang="en-US" altLang="ko-KR" sz="2200" dirty="0">
                <a:sym typeface="Wingdings" panose="05000000000000000000" pitchFamily="2" charset="2"/>
              </a:rPr>
              <a:t>, </a:t>
            </a:r>
            <a:r>
              <a:rPr lang="ko-KR" altLang="en-US" sz="2200" dirty="0"/>
              <a:t>가린 단어를 맞추게 시키기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트랜스포머 인코더 사용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8491477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기본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200" dirty="0"/>
              <a:t>앞뒤 문맥을 다 보여주되</a:t>
            </a:r>
            <a:r>
              <a:rPr lang="en-US" altLang="ko-KR" sz="2200" dirty="0"/>
              <a:t>, </a:t>
            </a:r>
            <a:r>
              <a:rPr lang="ko-KR" altLang="en-US" sz="2200" dirty="0"/>
              <a:t>맞춰야 할 단어를 가리고 보여주기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그 후</a:t>
            </a:r>
            <a:r>
              <a:rPr lang="en-US" altLang="ko-KR" sz="2200" dirty="0">
                <a:sym typeface="Wingdings" panose="05000000000000000000" pitchFamily="2" charset="2"/>
              </a:rPr>
              <a:t>, </a:t>
            </a:r>
            <a:r>
              <a:rPr lang="ko-KR" altLang="en-US" sz="2200" dirty="0"/>
              <a:t>가린 단어를 맞추게 시키기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트랜스포머 인코더 사용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2</a:t>
            </a:r>
            <a:r>
              <a:rPr lang="ko-KR" altLang="en-US" sz="2200" dirty="0"/>
              <a:t>가지 임무를 수행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- </a:t>
            </a:r>
            <a:r>
              <a:rPr lang="ko-KR" altLang="en-US" sz="2200" dirty="0"/>
              <a:t>단어 일부를 가리고</a:t>
            </a:r>
            <a:r>
              <a:rPr lang="en-US" altLang="ko-KR" sz="2200" dirty="0"/>
              <a:t>, </a:t>
            </a:r>
            <a:r>
              <a:rPr lang="ko-KR" altLang="en-US" sz="2200" dirty="0"/>
              <a:t>양쪽 문맥을 단서로 삼아 가린 단어 예측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- </a:t>
            </a:r>
            <a:r>
              <a:rPr lang="ko-KR" altLang="en-US" sz="2200" dirty="0"/>
              <a:t>문장 </a:t>
            </a:r>
            <a:r>
              <a:rPr lang="en-US" altLang="ko-KR" sz="2200" dirty="0"/>
              <a:t>A</a:t>
            </a:r>
            <a:r>
              <a:rPr lang="ko-KR" altLang="en-US" sz="2200" dirty="0"/>
              <a:t>와 </a:t>
            </a:r>
            <a:r>
              <a:rPr lang="en-US" altLang="ko-KR" sz="2200" dirty="0"/>
              <a:t>B</a:t>
            </a:r>
            <a:r>
              <a:rPr lang="ko-KR" altLang="en-US" sz="2200" dirty="0"/>
              <a:t>를 쌍으로 입력해</a:t>
            </a:r>
            <a:r>
              <a:rPr lang="en-US" altLang="ko-KR" sz="2200" dirty="0"/>
              <a:t>, B</a:t>
            </a:r>
            <a:r>
              <a:rPr lang="ko-KR" altLang="en-US" sz="2200" dirty="0"/>
              <a:t>가 </a:t>
            </a:r>
            <a:r>
              <a:rPr lang="en-US" altLang="ko-KR" sz="2200" dirty="0"/>
              <a:t>A </a:t>
            </a:r>
            <a:r>
              <a:rPr lang="ko-KR" altLang="en-US" sz="2200" dirty="0"/>
              <a:t>뒤에 이어지는 진짜 다음 문장인지</a:t>
            </a:r>
            <a:r>
              <a:rPr lang="en-US" altLang="ko-KR" sz="2200" dirty="0"/>
              <a:t>, </a:t>
            </a:r>
            <a:r>
              <a:rPr lang="ko-KR" altLang="en-US" sz="2200" dirty="0"/>
              <a:t>아니면 그냥 무작위로 </a:t>
            </a:r>
            <a:r>
              <a:rPr lang="ko-KR" altLang="en-US" sz="2200" dirty="0" err="1"/>
              <a:t>가져다놓은</a:t>
            </a:r>
            <a:r>
              <a:rPr lang="ko-KR" altLang="en-US" sz="2200" dirty="0"/>
              <a:t> 엉뚱한 문장인지 예측</a:t>
            </a:r>
            <a:endParaRPr lang="en-US" altLang="ko-KR" sz="2200" dirty="0"/>
          </a:p>
        </p:txBody>
      </p:sp>
    </p:spTree>
    <p:extLst>
      <p:ext uri="{BB962C8B-B14F-4D97-AF65-F5344CB8AC3E}">
        <p14:creationId xmlns:p14="http://schemas.microsoft.com/office/powerpoint/2010/main" val="1186767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기본 개념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ko-KR" altLang="en-US" sz="2200" dirty="0"/>
              <a:t>앞뒤 문맥을 다 보여주되</a:t>
            </a:r>
            <a:r>
              <a:rPr lang="en-US" altLang="ko-KR" sz="2200" dirty="0"/>
              <a:t>, </a:t>
            </a:r>
            <a:r>
              <a:rPr lang="ko-KR" altLang="en-US" sz="2200" dirty="0"/>
              <a:t>맞춰야 할 단어를 가리고 보여주기 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그 후</a:t>
            </a:r>
            <a:r>
              <a:rPr lang="en-US" altLang="ko-KR" sz="2200" dirty="0">
                <a:sym typeface="Wingdings" panose="05000000000000000000" pitchFamily="2" charset="2"/>
              </a:rPr>
              <a:t>, </a:t>
            </a:r>
            <a:r>
              <a:rPr lang="ko-KR" altLang="en-US" sz="2200" dirty="0"/>
              <a:t>가린 단어를 맞추게 시키기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>
                <a:sym typeface="Wingdings" panose="05000000000000000000" pitchFamily="2" charset="2"/>
              </a:rPr>
              <a:t> </a:t>
            </a:r>
            <a:r>
              <a:rPr lang="ko-KR" altLang="en-US" sz="2200" dirty="0">
                <a:sym typeface="Wingdings" panose="05000000000000000000" pitchFamily="2" charset="2"/>
              </a:rPr>
              <a:t>트랜스포머 인코더 사용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2</a:t>
            </a:r>
            <a:r>
              <a:rPr lang="ko-KR" altLang="en-US" sz="2200" dirty="0"/>
              <a:t>가지 임무를 수행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- </a:t>
            </a:r>
            <a:r>
              <a:rPr lang="ko-KR" altLang="en-US" sz="2200" dirty="0"/>
              <a:t>단어 일부를 가리고</a:t>
            </a:r>
            <a:r>
              <a:rPr lang="en-US" altLang="ko-KR" sz="2200" dirty="0"/>
              <a:t>, </a:t>
            </a:r>
            <a:r>
              <a:rPr lang="ko-KR" altLang="en-US" sz="2200" dirty="0"/>
              <a:t>양쪽 문맥을 단서로 삼아 가린 단어 예측</a:t>
            </a:r>
            <a:endParaRPr lang="en-US" altLang="ko-KR" sz="2200" dirty="0"/>
          </a:p>
          <a:p>
            <a:pPr marL="0" indent="0">
              <a:buNone/>
            </a:pPr>
            <a:r>
              <a:rPr lang="en-US" altLang="ko-KR" sz="2200" dirty="0"/>
              <a:t>- </a:t>
            </a:r>
            <a:r>
              <a:rPr lang="ko-KR" altLang="en-US" sz="2200" dirty="0"/>
              <a:t>문장 </a:t>
            </a:r>
            <a:r>
              <a:rPr lang="en-US" altLang="ko-KR" sz="2200" dirty="0"/>
              <a:t>A</a:t>
            </a:r>
            <a:r>
              <a:rPr lang="ko-KR" altLang="en-US" sz="2200" dirty="0"/>
              <a:t>와 </a:t>
            </a:r>
            <a:r>
              <a:rPr lang="en-US" altLang="ko-KR" sz="2200" dirty="0"/>
              <a:t>B</a:t>
            </a:r>
            <a:r>
              <a:rPr lang="ko-KR" altLang="en-US" sz="2200" dirty="0"/>
              <a:t>를 쌍으로 입력해</a:t>
            </a:r>
            <a:r>
              <a:rPr lang="en-US" altLang="ko-KR" sz="2200" dirty="0"/>
              <a:t>, B</a:t>
            </a:r>
            <a:r>
              <a:rPr lang="ko-KR" altLang="en-US" sz="2200" dirty="0"/>
              <a:t>가 </a:t>
            </a:r>
            <a:r>
              <a:rPr lang="en-US" altLang="ko-KR" sz="2200" dirty="0"/>
              <a:t>A </a:t>
            </a:r>
            <a:r>
              <a:rPr lang="ko-KR" altLang="en-US" sz="2200" dirty="0"/>
              <a:t>뒤에 이어지는 진짜 다음 문장인지</a:t>
            </a:r>
            <a:r>
              <a:rPr lang="en-US" altLang="ko-KR" sz="2200" dirty="0"/>
              <a:t>, </a:t>
            </a:r>
            <a:r>
              <a:rPr lang="ko-KR" altLang="en-US" sz="2200" dirty="0"/>
              <a:t>아니면 그냥 무작위로 </a:t>
            </a:r>
            <a:r>
              <a:rPr lang="ko-KR" altLang="en-US" sz="2200" dirty="0" err="1"/>
              <a:t>가져다놓은</a:t>
            </a:r>
            <a:r>
              <a:rPr lang="ko-KR" altLang="en-US" sz="2200" dirty="0"/>
              <a:t> 엉뚱한 문장인지 예측</a:t>
            </a:r>
            <a:endParaRPr lang="en-US" altLang="ko-KR" sz="2200" dirty="0"/>
          </a:p>
          <a:p>
            <a:pPr marL="0" indent="0">
              <a:buNone/>
            </a:pPr>
            <a:endParaRPr lang="en-US" altLang="ko-KR" sz="2200" dirty="0"/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sz="2200" dirty="0">
                <a:sym typeface="Wingdings" panose="05000000000000000000" pitchFamily="2" charset="2"/>
              </a:rPr>
              <a:t>정답이 없는 텍스트 데이터를 스스로 학습</a:t>
            </a:r>
            <a:endParaRPr lang="ko-KR" altLang="en-US" sz="2200" dirty="0"/>
          </a:p>
        </p:txBody>
      </p:sp>
    </p:spTree>
    <p:extLst>
      <p:ext uri="{BB962C8B-B14F-4D97-AF65-F5344CB8AC3E}">
        <p14:creationId xmlns:p14="http://schemas.microsoft.com/office/powerpoint/2010/main" val="602861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2</a:t>
            </a:r>
            <a:r>
              <a:rPr lang="ko-KR" altLang="en-US" sz="2400" dirty="0"/>
              <a:t>가지 임무를 수행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err="1"/>
              <a:t>MLM</a:t>
            </a:r>
            <a:r>
              <a:rPr lang="en-US" altLang="ko-KR" sz="2400" dirty="0"/>
              <a:t> (Masked </a:t>
            </a:r>
            <a:r>
              <a:rPr lang="en-US" altLang="ko-KR" sz="2400" dirty="0" err="1"/>
              <a:t>LM</a:t>
            </a:r>
            <a:r>
              <a:rPr lang="en-US" altLang="ko-KR" sz="2400" dirty="0"/>
              <a:t>)</a:t>
            </a:r>
          </a:p>
          <a:p>
            <a:pPr>
              <a:buFontTx/>
              <a:buChar char="-"/>
            </a:pPr>
            <a:r>
              <a:rPr lang="ko-KR" altLang="en-US" sz="2400" dirty="0"/>
              <a:t>단어 일부를 가리고</a:t>
            </a:r>
            <a:r>
              <a:rPr lang="en-US" altLang="ko-KR" sz="2400" dirty="0"/>
              <a:t>, </a:t>
            </a:r>
            <a:r>
              <a:rPr lang="ko-KR" altLang="en-US" sz="2400" dirty="0"/>
              <a:t>양쪽 문맥을 단서로 삼아 가린 단어 예측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 err="1"/>
              <a:t>NSP</a:t>
            </a:r>
            <a:r>
              <a:rPr lang="en-US" altLang="ko-KR" sz="2400" dirty="0"/>
              <a:t> (Next Sentence Prediction)</a:t>
            </a:r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문장 </a:t>
            </a:r>
            <a:r>
              <a:rPr lang="en-US" altLang="ko-KR" sz="2400" dirty="0"/>
              <a:t>A</a:t>
            </a:r>
            <a:r>
              <a:rPr lang="ko-KR" altLang="en-US" sz="2400" dirty="0"/>
              <a:t>와 </a:t>
            </a:r>
            <a:r>
              <a:rPr lang="en-US" altLang="ko-KR" sz="2400" dirty="0"/>
              <a:t>B</a:t>
            </a:r>
            <a:r>
              <a:rPr lang="ko-KR" altLang="en-US" sz="2400" dirty="0"/>
              <a:t>를 쌍으로 입력해</a:t>
            </a:r>
            <a:r>
              <a:rPr lang="en-US" altLang="ko-KR" sz="2400" dirty="0"/>
              <a:t>, B</a:t>
            </a:r>
            <a:r>
              <a:rPr lang="ko-KR" altLang="en-US" sz="2400" dirty="0"/>
              <a:t>가 </a:t>
            </a:r>
            <a:r>
              <a:rPr lang="en-US" altLang="ko-KR" sz="2400" dirty="0"/>
              <a:t>A </a:t>
            </a:r>
            <a:r>
              <a:rPr lang="ko-KR" altLang="en-US" sz="2400" dirty="0"/>
              <a:t>뒤에 이어지는 진짜 다음 문장인지</a:t>
            </a:r>
            <a:r>
              <a:rPr lang="en-US" altLang="ko-KR" sz="2400" dirty="0"/>
              <a:t>, </a:t>
            </a:r>
            <a:r>
              <a:rPr lang="ko-KR" altLang="en-US" sz="2400" dirty="0"/>
              <a:t>아니면 그냥 무작위로 </a:t>
            </a:r>
            <a:r>
              <a:rPr lang="ko-KR" altLang="en-US" sz="2400" dirty="0" err="1"/>
              <a:t>가져다놓은</a:t>
            </a:r>
            <a:r>
              <a:rPr lang="ko-KR" altLang="en-US" sz="2400" dirty="0"/>
              <a:t> 엉뚱한 문장인지 예측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396429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 err="1"/>
              <a:t>MLM</a:t>
            </a:r>
            <a:r>
              <a:rPr lang="en-US" altLang="ko-KR" sz="2400" dirty="0"/>
              <a:t> (Masked </a:t>
            </a:r>
            <a:r>
              <a:rPr lang="en-US" altLang="ko-KR" sz="2400" dirty="0" err="1"/>
              <a:t>LM</a:t>
            </a:r>
            <a:r>
              <a:rPr lang="en-US" altLang="ko-KR" sz="2400" dirty="0"/>
              <a:t>) – </a:t>
            </a:r>
            <a:r>
              <a:rPr lang="ko-KR" altLang="en-US" sz="2400" dirty="0"/>
              <a:t>단어 사이의 관계를 파악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전체 단어 중 </a:t>
            </a:r>
            <a:r>
              <a:rPr lang="en-US" altLang="ko-KR" sz="2400" dirty="0"/>
              <a:t>15%</a:t>
            </a:r>
            <a:r>
              <a:rPr lang="ko-KR" altLang="en-US" sz="2400" dirty="0"/>
              <a:t>의 단어를 가림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en-US" altLang="ko-KR" sz="2400" dirty="0"/>
              <a:t>15% </a:t>
            </a:r>
            <a:r>
              <a:rPr lang="ko-KR" altLang="en-US" sz="2400" dirty="0"/>
              <a:t>중에서</a:t>
            </a:r>
            <a:r>
              <a:rPr lang="en-US" altLang="ko-KR" sz="2400" dirty="0"/>
              <a:t>,</a:t>
            </a:r>
          </a:p>
          <a:p>
            <a:pPr lvl="1">
              <a:buFontTx/>
              <a:buChar char="-"/>
            </a:pPr>
            <a:r>
              <a:rPr lang="en-US" altLang="ko-KR" sz="2000" dirty="0"/>
              <a:t>80%</a:t>
            </a:r>
            <a:r>
              <a:rPr lang="ko-KR" altLang="en-US" sz="2000" dirty="0"/>
              <a:t>는 </a:t>
            </a:r>
            <a:r>
              <a:rPr lang="en-US" altLang="ko-KR" sz="2000" dirty="0"/>
              <a:t>MASK </a:t>
            </a:r>
            <a:r>
              <a:rPr lang="ko-KR" altLang="en-US" sz="2000" dirty="0"/>
              <a:t>토큰으로</a:t>
            </a:r>
            <a:r>
              <a:rPr lang="en-US" altLang="ko-KR" sz="2000" dirty="0"/>
              <a:t> (</a:t>
            </a:r>
            <a:r>
              <a:rPr lang="ko-KR" altLang="en-US" sz="2000" dirty="0"/>
              <a:t>사과 </a:t>
            </a:r>
            <a:r>
              <a:rPr lang="en-US" altLang="ko-KR" sz="2000" dirty="0">
                <a:sym typeface="Wingdings" panose="05000000000000000000" pitchFamily="2" charset="2"/>
              </a:rPr>
              <a:t></a:t>
            </a:r>
            <a:r>
              <a:rPr lang="en-US" altLang="ko-KR" sz="2000" dirty="0"/>
              <a:t> [MASK])</a:t>
            </a:r>
          </a:p>
          <a:p>
            <a:pPr lvl="1">
              <a:buFontTx/>
              <a:buChar char="-"/>
            </a:pPr>
            <a:r>
              <a:rPr lang="en-US" altLang="ko-KR" sz="2000" dirty="0"/>
              <a:t>10%</a:t>
            </a:r>
            <a:r>
              <a:rPr lang="ko-KR" altLang="en-US" sz="2000" dirty="0"/>
              <a:t>는 아예 엉뚱한 단어로 </a:t>
            </a:r>
            <a:r>
              <a:rPr lang="en-US" altLang="ko-KR" sz="2000" dirty="0"/>
              <a:t>(</a:t>
            </a:r>
            <a:r>
              <a:rPr lang="ko-KR" altLang="en-US" sz="2000" dirty="0"/>
              <a:t>사과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노트북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  <a:endParaRPr lang="en-US" altLang="ko-KR" sz="2000" dirty="0"/>
          </a:p>
          <a:p>
            <a:pPr lvl="1">
              <a:buFontTx/>
              <a:buChar char="-"/>
            </a:pPr>
            <a:r>
              <a:rPr lang="en-US" altLang="ko-KR" sz="2000" dirty="0"/>
              <a:t>10%</a:t>
            </a:r>
            <a:r>
              <a:rPr lang="ko-KR" altLang="en-US" sz="2000" dirty="0"/>
              <a:t>는 원래 단어 그대로 </a:t>
            </a:r>
            <a:r>
              <a:rPr lang="en-US" altLang="ko-KR" sz="2000" dirty="0"/>
              <a:t>(</a:t>
            </a:r>
            <a:r>
              <a:rPr lang="ko-KR" altLang="en-US" sz="2000" dirty="0"/>
              <a:t>사과 </a:t>
            </a:r>
            <a:r>
              <a:rPr lang="en-US" altLang="ko-KR" sz="2000" dirty="0">
                <a:sym typeface="Wingdings" panose="05000000000000000000" pitchFamily="2" charset="2"/>
              </a:rPr>
              <a:t> </a:t>
            </a:r>
            <a:r>
              <a:rPr lang="ko-KR" altLang="en-US" sz="2000" dirty="0">
                <a:sym typeface="Wingdings" panose="05000000000000000000" pitchFamily="2" charset="2"/>
              </a:rPr>
              <a:t>사과</a:t>
            </a:r>
            <a:r>
              <a:rPr lang="en-US" altLang="ko-KR" sz="2000" dirty="0">
                <a:sym typeface="Wingdings" panose="05000000000000000000" pitchFamily="2" charset="2"/>
              </a:rPr>
              <a:t>)</a:t>
            </a:r>
          </a:p>
          <a:p>
            <a:pPr marL="457200" lvl="1" indent="0">
              <a:buNone/>
            </a:pPr>
            <a:endParaRPr lang="en-US" altLang="ko-KR" sz="2400" dirty="0"/>
          </a:p>
          <a:p>
            <a:pPr>
              <a:buFontTx/>
              <a:buChar char="-"/>
            </a:pPr>
            <a:endParaRPr lang="en-US" altLang="ko-KR" sz="20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296836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 err="1"/>
              <a:t>NSP</a:t>
            </a:r>
            <a:r>
              <a:rPr lang="en-US" altLang="ko-KR" sz="2400" dirty="0"/>
              <a:t> (Next Sentence Prediction) – </a:t>
            </a:r>
            <a:r>
              <a:rPr lang="ko-KR" altLang="en-US" sz="2400" dirty="0"/>
              <a:t>문장 사이의 관계를 파악</a:t>
            </a: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두 개의 문장 </a:t>
            </a:r>
            <a:r>
              <a:rPr lang="en-US" altLang="ko-KR" sz="2400" dirty="0"/>
              <a:t>A, B</a:t>
            </a:r>
            <a:r>
              <a:rPr lang="ko-KR" altLang="en-US" sz="2400" dirty="0"/>
              <a:t>를 나란히 보여주고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   B</a:t>
            </a:r>
            <a:r>
              <a:rPr lang="ko-KR" altLang="en-US" sz="2400" dirty="0"/>
              <a:t>가 </a:t>
            </a:r>
            <a:r>
              <a:rPr lang="en-US" altLang="ko-KR" sz="2400" dirty="0"/>
              <a:t>A </a:t>
            </a:r>
            <a:r>
              <a:rPr lang="ko-KR" altLang="en-US" sz="2400" dirty="0"/>
              <a:t>바로 다음에 이어지는 실제 문장이 맞는지 </a:t>
            </a:r>
            <a:r>
              <a:rPr lang="en-US" altLang="ko-KR" sz="2400" dirty="0"/>
              <a:t>O/X </a:t>
            </a:r>
            <a:r>
              <a:rPr lang="ko-KR" altLang="en-US" sz="2400" dirty="0"/>
              <a:t>퀴즈를 냄</a:t>
            </a:r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퀴즈 중에서</a:t>
            </a:r>
            <a:endParaRPr lang="en-US" altLang="ko-KR" sz="2400" dirty="0"/>
          </a:p>
          <a:p>
            <a:pPr lvl="1">
              <a:buFontTx/>
              <a:buChar char="-"/>
            </a:pPr>
            <a:r>
              <a:rPr lang="en-US" altLang="ko-KR" sz="2000" dirty="0"/>
              <a:t>50%</a:t>
            </a:r>
            <a:r>
              <a:rPr lang="ko-KR" altLang="en-US" sz="2000" dirty="0"/>
              <a:t>는 실제 이어지는 두 문장 </a:t>
            </a:r>
            <a:r>
              <a:rPr lang="en-US" altLang="ko-KR" sz="2000" dirty="0"/>
              <a:t>A</a:t>
            </a:r>
            <a:r>
              <a:rPr lang="ko-KR" altLang="en-US" sz="2000" dirty="0"/>
              <a:t>와 </a:t>
            </a:r>
            <a:r>
              <a:rPr lang="en-US" altLang="ko-KR" sz="2000" dirty="0"/>
              <a:t>B</a:t>
            </a:r>
          </a:p>
          <a:p>
            <a:pPr lvl="1">
              <a:buFontTx/>
              <a:buChar char="-"/>
            </a:pPr>
            <a:r>
              <a:rPr lang="en-US" altLang="ko-KR" sz="2000" dirty="0"/>
              <a:t>50%</a:t>
            </a:r>
            <a:r>
              <a:rPr lang="ko-KR" altLang="en-US" sz="2000" dirty="0"/>
              <a:t>는 전혀 </a:t>
            </a:r>
            <a:r>
              <a:rPr lang="ko-KR" altLang="en-US" sz="2000" dirty="0" err="1"/>
              <a:t>관련없는</a:t>
            </a:r>
            <a:r>
              <a:rPr lang="ko-KR" altLang="en-US" sz="2000" dirty="0"/>
              <a:t> 두 문서에서 무작위로 가져온 두 문장 </a:t>
            </a:r>
            <a:r>
              <a:rPr lang="en-US" altLang="ko-KR" sz="2000" dirty="0"/>
              <a:t>A</a:t>
            </a:r>
            <a:r>
              <a:rPr lang="ko-KR" altLang="en-US" sz="2000" dirty="0"/>
              <a:t>와 </a:t>
            </a:r>
            <a:r>
              <a:rPr lang="en-US" altLang="ko-KR" sz="2000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881745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DE972-DF13-4C7D-BEF3-8F4A097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- </a:t>
            </a:r>
            <a:r>
              <a:rPr lang="ko-KR" altLang="en-US" dirty="0"/>
              <a:t>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2AFA90D-2118-4F30-A993-98FCF866E1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400" dirty="0"/>
              <a:t>전체적인 구조</a:t>
            </a:r>
            <a:r>
              <a:rPr lang="en-US" altLang="ko-KR" sz="2400" dirty="0"/>
              <a:t>	</a:t>
            </a:r>
            <a:endParaRPr lang="ko-KR" altLang="en-US" sz="2400" dirty="0"/>
          </a:p>
        </p:txBody>
      </p:sp>
      <p:pic>
        <p:nvPicPr>
          <p:cNvPr id="1026" name="Picture 2" descr="https://blog.kakaocdn.net/dna/BTdQ2/btsI2gloMSS/AAAAAAAAAAAAAAAAAAAAAMYSFSniuH-mtzTls1VM9OVpvL3X3rcuc3ruiJly-Rwy/img.png?credential=yqXZFxpELC7KVnFOS48ylbz2pIh7yKj8&amp;expires=1788188399&amp;allow_ip=&amp;allow_referer=&amp;signature=u3XW72aQLZfnox0%2B6j4TG0g2g7o%3D">
            <a:extLst>
              <a:ext uri="{FF2B5EF4-FFF2-40B4-BE49-F238E27FC236}">
                <a16:creationId xmlns:a16="http://schemas.microsoft.com/office/drawing/2014/main" id="{07070D56-B8A5-45EF-9473-2560D767AC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8331" y="2544397"/>
            <a:ext cx="10015338" cy="4043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08973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DE972-DF13-4C7D-BEF3-8F4A097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- </a:t>
            </a:r>
            <a:r>
              <a:rPr lang="ko-KR" altLang="en-US" dirty="0"/>
              <a:t>구조</a:t>
            </a:r>
          </a:p>
        </p:txBody>
      </p:sp>
      <p:pic>
        <p:nvPicPr>
          <p:cNvPr id="2050" name="Picture 2" descr="https://blog.kakaocdn.net/dna/pMJTC/btsI1fHsc8G/AAAAAAAAAAAAAAAAAAAAADOFr0Gvr_mbqTlS4-AkcnyJiDDj12yBuXmw5hGXeixm/img.png?credential=yqXZFxpELC7KVnFOS48ylbz2pIh7yKj8&amp;expires=1788188399&amp;allow_ip=&amp;allow_referer=&amp;signature=D4IC4L%2Fmnb9HCYNAoSpgtTf0CV4%3D">
            <a:extLst>
              <a:ext uri="{FF2B5EF4-FFF2-40B4-BE49-F238E27FC236}">
                <a16:creationId xmlns:a16="http://schemas.microsoft.com/office/drawing/2014/main" id="{598AD928-928C-4DCA-B6AD-8EDC455A72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2207" y="2389851"/>
            <a:ext cx="8661940" cy="4103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B5BA06D-CEF2-47B7-95AF-709164CE1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4193" y="1859181"/>
            <a:ext cx="10515600" cy="4351338"/>
          </a:xfrm>
        </p:spPr>
        <p:txBody>
          <a:bodyPr/>
          <a:lstStyle/>
          <a:p>
            <a:r>
              <a:rPr lang="ko-KR" altLang="en-US" dirty="0"/>
              <a:t>입력 데이터</a:t>
            </a:r>
          </a:p>
        </p:txBody>
      </p:sp>
    </p:spTree>
    <p:extLst>
      <p:ext uri="{BB962C8B-B14F-4D97-AF65-F5344CB8AC3E}">
        <p14:creationId xmlns:p14="http://schemas.microsoft.com/office/powerpoint/2010/main" val="2277871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DE972-DF13-4C7D-BEF3-8F4A097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- </a:t>
            </a:r>
            <a:r>
              <a:rPr lang="ko-KR" altLang="en-US" dirty="0"/>
              <a:t>구조</a:t>
            </a:r>
          </a:p>
        </p:txBody>
      </p:sp>
      <p:pic>
        <p:nvPicPr>
          <p:cNvPr id="5122" name="Picture 2" descr="https://blog.kakaocdn.net/dna/kTgXk/btsI2QNfqqW/AAAAAAAAAAAAAAAAAAAAAEmI8sFdAAoiV_Dw86rQVVD4dV-bXqUd2Zla78tOxw0C/img.png?credential=yqXZFxpELC7KVnFOS48ylbz2pIh7yKj8&amp;expires=1788188399&amp;allow_ip=&amp;allow_referer=&amp;signature=cBtYtjUM4jJnSo1NRzqrH%2FCBi3U%3D">
            <a:extLst>
              <a:ext uri="{FF2B5EF4-FFF2-40B4-BE49-F238E27FC236}">
                <a16:creationId xmlns:a16="http://schemas.microsoft.com/office/drawing/2014/main" id="{97CAA2D7-E79A-4D70-92FD-5AF3FFC1E6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712" y="2154840"/>
            <a:ext cx="7824783" cy="36093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485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DE972-DF13-4C7D-BEF3-8F4A0971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- </a:t>
            </a:r>
            <a:r>
              <a:rPr lang="ko-KR" altLang="en-US" dirty="0"/>
              <a:t>구조</a:t>
            </a:r>
          </a:p>
        </p:txBody>
      </p:sp>
      <p:pic>
        <p:nvPicPr>
          <p:cNvPr id="8194" name="Picture 2" descr="https://blog.kakaocdn.net/dna/VhP8X/btsI3W6Zliv/AAAAAAAAAAAAAAAAAAAAAKPNudPzxXdNcqrpoAo9x1RVaRnXdNwbtSS3sIy2FheM/img.png?credential=yqXZFxpELC7KVnFOS48ylbz2pIh7yKj8&amp;expires=1788188399&amp;allow_ip=&amp;allow_referer=&amp;signature=IHVtIHwRtBV4EOfasbWNdPdql8A%3D">
            <a:extLst>
              <a:ext uri="{FF2B5EF4-FFF2-40B4-BE49-F238E27FC236}">
                <a16:creationId xmlns:a16="http://schemas.microsoft.com/office/drawing/2014/main" id="{33C4EA96-A93C-4545-9280-08A9CAD0A0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4107" y="1969796"/>
            <a:ext cx="9423785" cy="38353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644793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BERT </a:t>
            </a:r>
            <a:r>
              <a:rPr lang="ko-KR" altLang="en-US" sz="2400" dirty="0"/>
              <a:t>모델이 </a:t>
            </a:r>
            <a:r>
              <a:rPr lang="en-US" altLang="ko-KR" sz="2400" dirty="0"/>
              <a:t>11</a:t>
            </a:r>
            <a:r>
              <a:rPr lang="ko-KR" altLang="en-US" sz="2400" dirty="0"/>
              <a:t>가지 </a:t>
            </a:r>
            <a:r>
              <a:rPr lang="en-US" altLang="ko-KR" sz="2400" dirty="0"/>
              <a:t>NLP task</a:t>
            </a:r>
            <a:r>
              <a:rPr lang="ko-KR" altLang="en-US" sz="2400" dirty="0"/>
              <a:t> 풀어봤는데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dirty="0"/>
              <a:t>모든 과제에서 이전 다른 모델들보다 더 잘 풀더라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96558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결과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BERT </a:t>
            </a:r>
            <a:r>
              <a:rPr lang="ko-KR" altLang="en-US" sz="2400" dirty="0"/>
              <a:t>모델이 </a:t>
            </a:r>
            <a:r>
              <a:rPr lang="en-US" altLang="ko-KR" sz="2400" dirty="0"/>
              <a:t>11</a:t>
            </a:r>
            <a:r>
              <a:rPr lang="ko-KR" altLang="en-US" sz="2400" dirty="0"/>
              <a:t>가지 </a:t>
            </a:r>
            <a:r>
              <a:rPr lang="en-US" altLang="ko-KR" sz="2400" dirty="0"/>
              <a:t>NLP task</a:t>
            </a:r>
            <a:r>
              <a:rPr lang="ko-KR" altLang="en-US" sz="2400" dirty="0"/>
              <a:t> 풀어봤는데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dirty="0"/>
              <a:t>모든 과제에서 이전 다른 모델들보다 더 잘 풀더라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en-US" altLang="ko-KR" sz="2400" dirty="0" err="1"/>
              <a:t>MSM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NSP</a:t>
            </a:r>
            <a:r>
              <a:rPr lang="ko-KR" altLang="en-US" sz="2400" dirty="0"/>
              <a:t>가 </a:t>
            </a:r>
            <a:r>
              <a:rPr lang="en-US" altLang="ko-KR" sz="2400" dirty="0"/>
              <a:t>BERT </a:t>
            </a:r>
            <a:r>
              <a:rPr lang="ko-KR" altLang="en-US" sz="2400" dirty="0"/>
              <a:t>성능 향상에 매우 큰 영향을 미침</a:t>
            </a:r>
          </a:p>
        </p:txBody>
      </p:sp>
    </p:spTree>
    <p:extLst>
      <p:ext uri="{BB962C8B-B14F-4D97-AF65-F5344CB8AC3E}">
        <p14:creationId xmlns:p14="http://schemas.microsoft.com/office/powerpoint/2010/main" val="11753915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'</a:t>
            </a:r>
            <a:r>
              <a:rPr lang="ko-KR" altLang="en-US" sz="2400" dirty="0"/>
              <a:t>양방향성</a:t>
            </a:r>
            <a:r>
              <a:rPr lang="en-US" altLang="ko-KR" sz="2400" dirty="0"/>
              <a:t>(Bidirectional)' </a:t>
            </a:r>
            <a:r>
              <a:rPr lang="ko-KR" altLang="en-US" sz="2400" dirty="0"/>
              <a:t>제거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 질의응답 성능 폭락</a:t>
            </a:r>
          </a:p>
        </p:txBody>
      </p:sp>
    </p:spTree>
    <p:extLst>
      <p:ext uri="{BB962C8B-B14F-4D97-AF65-F5344CB8AC3E}">
        <p14:creationId xmlns:p14="http://schemas.microsoft.com/office/powerpoint/2010/main" val="4028120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1. '</a:t>
            </a:r>
            <a:r>
              <a:rPr lang="ko-KR" altLang="en-US" sz="2400" dirty="0"/>
              <a:t>양방향성</a:t>
            </a:r>
            <a:r>
              <a:rPr lang="en-US" altLang="ko-KR" sz="2400" dirty="0"/>
              <a:t>(Bidirectional)' </a:t>
            </a:r>
            <a:r>
              <a:rPr lang="ko-KR" altLang="en-US" sz="2400" dirty="0"/>
              <a:t>제거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 질의응답 성능 폭락</a:t>
            </a:r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실험</a:t>
            </a:r>
            <a:r>
              <a:rPr lang="en-US" altLang="ko-KR" sz="2400" dirty="0"/>
              <a:t>:</a:t>
            </a:r>
            <a:r>
              <a:rPr lang="ko-KR" altLang="en-US" sz="2400" dirty="0"/>
              <a:t> 기존 모델</a:t>
            </a:r>
            <a:r>
              <a:rPr lang="en-US" altLang="ko-KR" sz="2400" dirty="0"/>
              <a:t>(</a:t>
            </a:r>
            <a:r>
              <a:rPr lang="en-US" altLang="ko-KR" sz="2400" dirty="0" err="1"/>
              <a:t>GPT</a:t>
            </a:r>
            <a:r>
              <a:rPr lang="en-US" altLang="ko-KR" sz="2400" dirty="0"/>
              <a:t>)</a:t>
            </a:r>
            <a:r>
              <a:rPr lang="ko-KR" altLang="en-US" sz="2400" dirty="0"/>
              <a:t>처럼 왼쪽에서 오른쪽으로만 읽게 변경</a:t>
            </a:r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결과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SQuAD</a:t>
            </a:r>
            <a:r>
              <a:rPr lang="en-US" altLang="ko-KR" sz="2400" dirty="0"/>
              <a:t>(</a:t>
            </a:r>
            <a:r>
              <a:rPr lang="ko-KR" altLang="en-US" sz="2400" dirty="0"/>
              <a:t>질의응답</a:t>
            </a:r>
            <a:r>
              <a:rPr lang="en-US" altLang="ko-KR" sz="2400" dirty="0"/>
              <a:t>) </a:t>
            </a:r>
            <a:r>
              <a:rPr lang="ko-KR" altLang="en-US" sz="2400" dirty="0"/>
              <a:t>등 문맥 이해 과제 성능이 처참하게 하락</a:t>
            </a:r>
          </a:p>
        </p:txBody>
      </p:sp>
    </p:spTree>
    <p:extLst>
      <p:ext uri="{BB962C8B-B14F-4D97-AF65-F5344CB8AC3E}">
        <p14:creationId xmlns:p14="http://schemas.microsoft.com/office/powerpoint/2010/main" val="5243453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en-US" altLang="ko-KR" sz="2400" dirty="0" err="1"/>
              <a:t>NSP</a:t>
            </a:r>
            <a:r>
              <a:rPr lang="en-US" altLang="ko-KR" sz="2400" dirty="0"/>
              <a:t>(</a:t>
            </a:r>
            <a:r>
              <a:rPr lang="ko-KR" altLang="en-US" sz="2400" dirty="0"/>
              <a:t>다음 문장 예측</a:t>
            </a:r>
            <a:r>
              <a:rPr lang="en-US" altLang="ko-KR" sz="2400" dirty="0"/>
              <a:t>) </a:t>
            </a:r>
            <a:r>
              <a:rPr lang="ko-KR" altLang="en-US" sz="2400" dirty="0"/>
              <a:t>제거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 논리 추론 하락</a:t>
            </a:r>
          </a:p>
        </p:txBody>
      </p:sp>
    </p:spTree>
    <p:extLst>
      <p:ext uri="{BB962C8B-B14F-4D97-AF65-F5344CB8AC3E}">
        <p14:creationId xmlns:p14="http://schemas.microsoft.com/office/powerpoint/2010/main" val="21723403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en-US" altLang="ko-KR" sz="2400" dirty="0" err="1"/>
              <a:t>NSP</a:t>
            </a:r>
            <a:r>
              <a:rPr lang="en-US" altLang="ko-KR" sz="2400" dirty="0"/>
              <a:t>(</a:t>
            </a:r>
            <a:r>
              <a:rPr lang="ko-KR" altLang="en-US" sz="2400" dirty="0"/>
              <a:t>다음 문장 예측</a:t>
            </a:r>
            <a:r>
              <a:rPr lang="en-US" altLang="ko-KR" sz="2400" dirty="0"/>
              <a:t>) </a:t>
            </a:r>
            <a:r>
              <a:rPr lang="ko-KR" altLang="en-US" sz="2400" dirty="0"/>
              <a:t>제거 </a:t>
            </a:r>
            <a:r>
              <a:rPr lang="en-US" altLang="ko-KR" sz="2400" dirty="0">
                <a:sym typeface="Wingdings" panose="05000000000000000000" pitchFamily="2" charset="2"/>
              </a:rPr>
              <a:t></a:t>
            </a:r>
            <a:r>
              <a:rPr lang="ko-KR" altLang="en-US" sz="2400" dirty="0"/>
              <a:t> 논리 추론 하락</a:t>
            </a:r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실험</a:t>
            </a:r>
            <a:r>
              <a:rPr lang="en-US" altLang="ko-KR" sz="2400" dirty="0"/>
              <a:t>:</a:t>
            </a:r>
            <a:r>
              <a:rPr lang="ko-KR" altLang="en-US" sz="2400" dirty="0"/>
              <a:t> </a:t>
            </a:r>
            <a:r>
              <a:rPr lang="en-US" altLang="ko-KR" sz="2400" dirty="0" err="1"/>
              <a:t>MLM</a:t>
            </a:r>
            <a:r>
              <a:rPr lang="en-US" altLang="ko-KR" sz="2400" dirty="0"/>
              <a:t>(</a:t>
            </a:r>
            <a:r>
              <a:rPr lang="ko-KR" altLang="en-US" sz="2400" dirty="0"/>
              <a:t>빈칸 맞추기</a:t>
            </a:r>
            <a:r>
              <a:rPr lang="en-US" altLang="ko-KR" sz="2400" dirty="0"/>
              <a:t>)</a:t>
            </a:r>
            <a:r>
              <a:rPr lang="ko-KR" altLang="en-US" sz="2400" dirty="0"/>
              <a:t>만 시키고 </a:t>
            </a:r>
            <a:r>
              <a:rPr lang="en-US" altLang="ko-KR" sz="2400" dirty="0" err="1"/>
              <a:t>NSP</a:t>
            </a:r>
            <a:r>
              <a:rPr lang="en-US" altLang="ko-KR" sz="2400" dirty="0"/>
              <a:t> </a:t>
            </a:r>
            <a:r>
              <a:rPr lang="ko-KR" altLang="en-US" sz="2400" dirty="0"/>
              <a:t>과제 삭제</a:t>
            </a:r>
          </a:p>
          <a:p>
            <a:pPr marL="0" indent="0">
              <a:buNone/>
            </a:pPr>
            <a:r>
              <a:rPr lang="en-US" altLang="ko-KR" sz="2400" dirty="0"/>
              <a:t>- </a:t>
            </a:r>
            <a:r>
              <a:rPr lang="ko-KR" altLang="en-US" sz="2400" dirty="0"/>
              <a:t>결과</a:t>
            </a:r>
            <a:r>
              <a:rPr lang="en-US" altLang="ko-KR" sz="2400" dirty="0"/>
              <a:t>:</a:t>
            </a:r>
            <a:r>
              <a:rPr lang="ko-KR" altLang="en-US" sz="2400" dirty="0"/>
              <a:t> 문장 간 논리 추론</a:t>
            </a:r>
            <a:r>
              <a:rPr lang="en-US" altLang="ko-KR" sz="2400" dirty="0"/>
              <a:t> </a:t>
            </a:r>
            <a:r>
              <a:rPr lang="ko-KR" altLang="en-US" sz="2400" dirty="0"/>
              <a:t>및 </a:t>
            </a:r>
            <a:r>
              <a:rPr lang="en-US" altLang="ko-KR" sz="2400" dirty="0"/>
              <a:t>QA </a:t>
            </a:r>
            <a:r>
              <a:rPr lang="ko-KR" altLang="en-US" sz="2400" dirty="0"/>
              <a:t>태스크 성능 눈에 띄게 하락</a:t>
            </a:r>
          </a:p>
        </p:txBody>
      </p:sp>
    </p:spTree>
    <p:extLst>
      <p:ext uri="{BB962C8B-B14F-4D97-AF65-F5344CB8AC3E}">
        <p14:creationId xmlns:p14="http://schemas.microsoft.com/office/powerpoint/2010/main" val="21709168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0"/>
            <a:ext cx="10515600" cy="527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3. '80-10-10' </a:t>
            </a:r>
            <a:r>
              <a:rPr lang="ko-KR" altLang="en-US" sz="2000" dirty="0" err="1"/>
              <a:t>마스킹</a:t>
            </a:r>
            <a:r>
              <a:rPr lang="ko-KR" altLang="en-US" sz="2000" dirty="0"/>
              <a:t> 황금비율 검증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248435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0"/>
            <a:ext cx="10515600" cy="527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3. '80-10-10' </a:t>
            </a:r>
            <a:r>
              <a:rPr lang="ko-KR" altLang="en-US" sz="2000" dirty="0" err="1"/>
              <a:t>마스킹</a:t>
            </a:r>
            <a:r>
              <a:rPr lang="ko-KR" altLang="en-US" sz="2000" dirty="0"/>
              <a:t> 황금비율 검증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실험</a:t>
            </a:r>
            <a:r>
              <a:rPr lang="en-US" altLang="ko-KR" sz="2000" dirty="0"/>
              <a:t>: 15% </a:t>
            </a:r>
            <a:r>
              <a:rPr lang="ko-KR" altLang="en-US" sz="2000" dirty="0"/>
              <a:t>빈칸을 오직 </a:t>
            </a:r>
            <a:r>
              <a:rPr lang="en-US" altLang="ko-KR" sz="2000" dirty="0"/>
              <a:t>[MASK] </a:t>
            </a:r>
            <a:r>
              <a:rPr lang="ko-KR" altLang="en-US" sz="2000" dirty="0"/>
              <a:t>토큰으로 덮어서 훈련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결과</a:t>
            </a:r>
            <a:r>
              <a:rPr lang="en-US" altLang="ko-KR" sz="2000" dirty="0"/>
              <a:t>: </a:t>
            </a:r>
            <a:r>
              <a:rPr lang="ko-KR" altLang="en-US" sz="2000" dirty="0"/>
              <a:t>실전 테스트 데이터에는 </a:t>
            </a:r>
            <a:r>
              <a:rPr lang="en-US" altLang="ko-KR" sz="2000" dirty="0"/>
              <a:t>[MASK] </a:t>
            </a:r>
            <a:r>
              <a:rPr lang="ko-KR" altLang="en-US" sz="2000" dirty="0"/>
              <a:t>기호가 없어서 모델이 혼란을 겪고 성능이 크게 하락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338542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0"/>
            <a:ext cx="10515600" cy="527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3. '80-10-10' </a:t>
            </a:r>
            <a:r>
              <a:rPr lang="ko-KR" altLang="en-US" sz="2000" dirty="0" err="1"/>
              <a:t>마스킹</a:t>
            </a:r>
            <a:r>
              <a:rPr lang="ko-KR" altLang="en-US" sz="2000" dirty="0"/>
              <a:t> 황금비율 검증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실험</a:t>
            </a:r>
            <a:r>
              <a:rPr lang="en-US" altLang="ko-KR" sz="2000" dirty="0"/>
              <a:t>: 15% </a:t>
            </a:r>
            <a:r>
              <a:rPr lang="ko-KR" altLang="en-US" sz="2000" dirty="0"/>
              <a:t>빈칸을 오직 </a:t>
            </a:r>
            <a:r>
              <a:rPr lang="en-US" altLang="ko-KR" sz="2000" dirty="0"/>
              <a:t>[MASK] </a:t>
            </a:r>
            <a:r>
              <a:rPr lang="ko-KR" altLang="en-US" sz="2000" dirty="0"/>
              <a:t>토큰으로 덮어서 훈련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결과</a:t>
            </a:r>
            <a:r>
              <a:rPr lang="en-US" altLang="ko-KR" sz="2000" dirty="0"/>
              <a:t>: </a:t>
            </a:r>
            <a:r>
              <a:rPr lang="ko-KR" altLang="en-US" sz="2000" dirty="0"/>
              <a:t>실전 테스트 데이터에는 </a:t>
            </a:r>
            <a:r>
              <a:rPr lang="en-US" altLang="ko-KR" sz="2000" dirty="0"/>
              <a:t>[MASK] </a:t>
            </a:r>
            <a:r>
              <a:rPr lang="ko-KR" altLang="en-US" sz="2000" dirty="0"/>
              <a:t>기호가 없어서 모델이 혼란을 겪고 성능이 크게 하락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실험</a:t>
            </a:r>
            <a:r>
              <a:rPr lang="en-US" altLang="ko-KR" sz="2000" dirty="0">
                <a:latin typeface="Arial" panose="020B0604020202020204" pitchFamily="34" charset="0"/>
              </a:rPr>
              <a:t>: 15% </a:t>
            </a:r>
            <a:r>
              <a:rPr lang="ko-KR" altLang="en-US" sz="2000" dirty="0">
                <a:latin typeface="Arial" panose="020B0604020202020204" pitchFamily="34" charset="0"/>
              </a:rPr>
              <a:t>빈칸을 모두 랜덤</a:t>
            </a:r>
            <a:r>
              <a:rPr lang="en-US" altLang="ko-KR" sz="2000" dirty="0"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latin typeface="Arial" panose="020B0604020202020204" pitchFamily="34" charset="0"/>
              </a:rPr>
              <a:t>단어로 바꿔서 훈련</a:t>
            </a: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결과</a:t>
            </a:r>
            <a:r>
              <a:rPr lang="en-US" altLang="ko-KR" sz="2000" dirty="0">
                <a:latin typeface="Arial" panose="020B0604020202020204" pitchFamily="34" charset="0"/>
              </a:rPr>
              <a:t>: </a:t>
            </a:r>
            <a:r>
              <a:rPr lang="ko-KR" altLang="en-US" sz="2000" dirty="0">
                <a:latin typeface="Arial" panose="020B0604020202020204" pitchFamily="34" charset="0"/>
              </a:rPr>
              <a:t>모델이 주어진 단어를 모두 가짜라고 의심하게 되어 정상적인 문맥 추론 능력이 망가지고 성능이 가장 크게 폭락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746074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0"/>
            <a:ext cx="10515600" cy="527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3. '80-10-10' </a:t>
            </a:r>
            <a:r>
              <a:rPr lang="ko-KR" altLang="en-US" sz="2000" dirty="0" err="1"/>
              <a:t>마스킹</a:t>
            </a:r>
            <a:r>
              <a:rPr lang="ko-KR" altLang="en-US" sz="2000" dirty="0"/>
              <a:t> 황금비율 검증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실험</a:t>
            </a:r>
            <a:r>
              <a:rPr lang="en-US" altLang="ko-KR" sz="2000" dirty="0"/>
              <a:t>: 15% </a:t>
            </a:r>
            <a:r>
              <a:rPr lang="ko-KR" altLang="en-US" sz="2000" dirty="0"/>
              <a:t>빈칸을 오직 </a:t>
            </a:r>
            <a:r>
              <a:rPr lang="en-US" altLang="ko-KR" sz="2000" dirty="0"/>
              <a:t>[MASK] </a:t>
            </a:r>
            <a:r>
              <a:rPr lang="ko-KR" altLang="en-US" sz="2000" dirty="0"/>
              <a:t>토큰으로 덮어서 훈련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결과</a:t>
            </a:r>
            <a:r>
              <a:rPr lang="en-US" altLang="ko-KR" sz="2000" dirty="0"/>
              <a:t>: </a:t>
            </a:r>
            <a:r>
              <a:rPr lang="ko-KR" altLang="en-US" sz="2000" dirty="0"/>
              <a:t>실전 테스트 데이터에는 </a:t>
            </a:r>
            <a:r>
              <a:rPr lang="en-US" altLang="ko-KR" sz="2000" dirty="0"/>
              <a:t>[MASK] </a:t>
            </a:r>
            <a:r>
              <a:rPr lang="ko-KR" altLang="en-US" sz="2000" dirty="0"/>
              <a:t>기호가 없어서 모델이 혼란을 겪고 성능이 크게 하락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실험</a:t>
            </a:r>
            <a:r>
              <a:rPr lang="en-US" altLang="ko-KR" sz="2000" dirty="0">
                <a:latin typeface="Arial" panose="020B0604020202020204" pitchFamily="34" charset="0"/>
              </a:rPr>
              <a:t>: 15% </a:t>
            </a:r>
            <a:r>
              <a:rPr lang="ko-KR" altLang="en-US" sz="2000" dirty="0">
                <a:latin typeface="Arial" panose="020B0604020202020204" pitchFamily="34" charset="0"/>
              </a:rPr>
              <a:t>빈칸을 모두 랜덤</a:t>
            </a:r>
            <a:r>
              <a:rPr lang="en-US" altLang="ko-KR" sz="2000" dirty="0"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latin typeface="Arial" panose="020B0604020202020204" pitchFamily="34" charset="0"/>
              </a:rPr>
              <a:t>단어로 바꿔서 훈련</a:t>
            </a: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결과</a:t>
            </a:r>
            <a:r>
              <a:rPr lang="en-US" altLang="ko-KR" sz="2000" dirty="0">
                <a:latin typeface="Arial" panose="020B0604020202020204" pitchFamily="34" charset="0"/>
              </a:rPr>
              <a:t>: </a:t>
            </a:r>
            <a:r>
              <a:rPr lang="ko-KR" altLang="en-US" sz="2000" dirty="0">
                <a:latin typeface="Arial" panose="020B0604020202020204" pitchFamily="34" charset="0"/>
              </a:rPr>
              <a:t>모델이 주어진 단어를 모두 가짜라고 의심하게 되어 정상적인 문맥 추론 능력이 망가지고 성능이 가장 크게 폭락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실험</a:t>
            </a:r>
            <a:r>
              <a:rPr lang="en-US" altLang="ko-KR" sz="2000" dirty="0">
                <a:latin typeface="Arial" panose="020B0604020202020204" pitchFamily="34" charset="0"/>
              </a:rPr>
              <a:t>: 15% </a:t>
            </a:r>
            <a:r>
              <a:rPr lang="ko-KR" altLang="en-US" sz="2000" dirty="0">
                <a:latin typeface="Arial" panose="020B0604020202020204" pitchFamily="34" charset="0"/>
              </a:rPr>
              <a:t>빈칸을 </a:t>
            </a:r>
            <a:r>
              <a:rPr lang="en-US" altLang="ko-KR" sz="2000" dirty="0">
                <a:latin typeface="Arial" panose="020B0604020202020204" pitchFamily="34" charset="0"/>
              </a:rPr>
              <a:t>[MASK] </a:t>
            </a:r>
            <a:r>
              <a:rPr lang="ko-KR" altLang="en-US" sz="2000" dirty="0">
                <a:latin typeface="Arial" panose="020B0604020202020204" pitchFamily="34" charset="0"/>
              </a:rPr>
              <a:t>기호</a:t>
            </a:r>
            <a:r>
              <a:rPr lang="en-US" altLang="ko-KR" sz="2000" dirty="0">
                <a:latin typeface="Arial" panose="020B0604020202020204" pitchFamily="34" charset="0"/>
              </a:rPr>
              <a:t>(80%)</a:t>
            </a:r>
            <a:r>
              <a:rPr lang="ko-KR" altLang="en-US" sz="2000" dirty="0">
                <a:latin typeface="Arial" panose="020B0604020202020204" pitchFamily="34" charset="0"/>
              </a:rPr>
              <a:t>와 원래 단어 유지</a:t>
            </a:r>
            <a:r>
              <a:rPr lang="en-US" altLang="ko-KR" sz="2000" dirty="0">
                <a:latin typeface="Arial" panose="020B0604020202020204" pitchFamily="34" charset="0"/>
              </a:rPr>
              <a:t>(20%)</a:t>
            </a:r>
            <a:r>
              <a:rPr lang="ko-KR" altLang="en-US" sz="2000" dirty="0">
                <a:latin typeface="Arial" panose="020B0604020202020204" pitchFamily="34" charset="0"/>
              </a:rPr>
              <a:t>로만 채우고</a:t>
            </a:r>
            <a:r>
              <a:rPr lang="en-US" altLang="ko-KR" sz="2000" dirty="0">
                <a:latin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latin typeface="Arial" panose="020B0604020202020204" pitchFamily="34" charset="0"/>
              </a:rPr>
              <a:t>	</a:t>
            </a:r>
            <a:r>
              <a:rPr lang="ko-KR" altLang="en-US" sz="2000" dirty="0">
                <a:latin typeface="Arial" panose="020B0604020202020204" pitchFamily="34" charset="0"/>
              </a:rPr>
              <a:t>엉뚱한 단어로 바꾸는 교란을 빼고 훈련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결과</a:t>
            </a:r>
            <a:r>
              <a:rPr lang="en-US" altLang="ko-KR" sz="2000" dirty="0">
                <a:latin typeface="Arial" panose="020B0604020202020204" pitchFamily="34" charset="0"/>
              </a:rPr>
              <a:t>: </a:t>
            </a:r>
            <a:r>
              <a:rPr lang="ko-KR" altLang="en-US" sz="2000" dirty="0">
                <a:latin typeface="Arial" panose="020B0604020202020204" pitchFamily="34" charset="0"/>
              </a:rPr>
              <a:t>틀린 단어를 찾아내어 문맥을 꼼꼼히 살피게 만드는 긴장감이 사라져 모델의 견고함이 떨어지고 최고 성능 달성에 실패</a:t>
            </a:r>
            <a:endParaRPr lang="en-US" altLang="ko-KR" sz="20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99314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제거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9730"/>
            <a:ext cx="10515600" cy="52714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ko-KR" sz="2000" dirty="0"/>
              <a:t>3. '80-10-10' </a:t>
            </a:r>
            <a:r>
              <a:rPr lang="ko-KR" altLang="en-US" sz="2000" dirty="0" err="1"/>
              <a:t>마스킹</a:t>
            </a:r>
            <a:r>
              <a:rPr lang="ko-KR" altLang="en-US" sz="2000" dirty="0"/>
              <a:t> 황금비율 검증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실험</a:t>
            </a:r>
            <a:r>
              <a:rPr lang="en-US" altLang="ko-KR" sz="2000" dirty="0"/>
              <a:t>: 15% </a:t>
            </a:r>
            <a:r>
              <a:rPr lang="ko-KR" altLang="en-US" sz="2000" dirty="0"/>
              <a:t>빈칸을 오직 </a:t>
            </a:r>
            <a:r>
              <a:rPr lang="en-US" altLang="ko-KR" sz="2000" dirty="0"/>
              <a:t>[MASK] </a:t>
            </a:r>
            <a:r>
              <a:rPr lang="ko-KR" altLang="en-US" sz="2000" dirty="0"/>
              <a:t>토큰으로 덮어서 훈련</a:t>
            </a: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/>
              <a:t>결과</a:t>
            </a:r>
            <a:r>
              <a:rPr lang="en-US" altLang="ko-KR" sz="2000" dirty="0"/>
              <a:t>: </a:t>
            </a:r>
            <a:r>
              <a:rPr lang="ko-KR" altLang="en-US" sz="2000" dirty="0"/>
              <a:t>실전 테스트 데이터에는 </a:t>
            </a:r>
            <a:r>
              <a:rPr lang="en-US" altLang="ko-KR" sz="2000" dirty="0"/>
              <a:t>[MASK] </a:t>
            </a:r>
            <a:r>
              <a:rPr lang="ko-KR" altLang="en-US" sz="2000" dirty="0"/>
              <a:t>기호가 없어서 모델이 혼란을 겪고 성능이 크게 하락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실험</a:t>
            </a:r>
            <a:r>
              <a:rPr lang="en-US" altLang="ko-KR" sz="2000" dirty="0">
                <a:latin typeface="Arial" panose="020B0604020202020204" pitchFamily="34" charset="0"/>
              </a:rPr>
              <a:t>: 15% </a:t>
            </a:r>
            <a:r>
              <a:rPr lang="ko-KR" altLang="en-US" sz="2000" dirty="0">
                <a:latin typeface="Arial" panose="020B0604020202020204" pitchFamily="34" charset="0"/>
              </a:rPr>
              <a:t>빈칸을 모두 랜덤</a:t>
            </a:r>
            <a:r>
              <a:rPr lang="en-US" altLang="ko-KR" sz="2000" dirty="0">
                <a:latin typeface="Arial" panose="020B0604020202020204" pitchFamily="34" charset="0"/>
              </a:rPr>
              <a:t> </a:t>
            </a:r>
            <a:r>
              <a:rPr lang="ko-KR" altLang="en-US" sz="2000" dirty="0">
                <a:latin typeface="Arial" panose="020B0604020202020204" pitchFamily="34" charset="0"/>
              </a:rPr>
              <a:t>단어로 바꿔서 훈련</a:t>
            </a: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결과</a:t>
            </a:r>
            <a:r>
              <a:rPr lang="en-US" altLang="ko-KR" sz="2000" dirty="0">
                <a:latin typeface="Arial" panose="020B0604020202020204" pitchFamily="34" charset="0"/>
              </a:rPr>
              <a:t>: </a:t>
            </a:r>
            <a:r>
              <a:rPr lang="ko-KR" altLang="en-US" sz="2000" dirty="0">
                <a:latin typeface="Arial" panose="020B0604020202020204" pitchFamily="34" charset="0"/>
              </a:rPr>
              <a:t>모델이 주어진 단어를 모두 가짜라고 의심하게 되어 정상적인 문맥 추론 능력이 망가지고 성능이 가장 크게 폭락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실험</a:t>
            </a:r>
            <a:r>
              <a:rPr lang="en-US" altLang="ko-KR" sz="2000" dirty="0">
                <a:latin typeface="Arial" panose="020B0604020202020204" pitchFamily="34" charset="0"/>
              </a:rPr>
              <a:t>: 15% </a:t>
            </a:r>
            <a:r>
              <a:rPr lang="ko-KR" altLang="en-US" sz="2000" dirty="0">
                <a:latin typeface="Arial" panose="020B0604020202020204" pitchFamily="34" charset="0"/>
              </a:rPr>
              <a:t>빈칸을 </a:t>
            </a:r>
            <a:r>
              <a:rPr lang="en-US" altLang="ko-KR" sz="2000" dirty="0">
                <a:latin typeface="Arial" panose="020B0604020202020204" pitchFamily="34" charset="0"/>
              </a:rPr>
              <a:t>[MASK] </a:t>
            </a:r>
            <a:r>
              <a:rPr lang="ko-KR" altLang="en-US" sz="2000" dirty="0">
                <a:latin typeface="Arial" panose="020B0604020202020204" pitchFamily="34" charset="0"/>
              </a:rPr>
              <a:t>기호</a:t>
            </a:r>
            <a:r>
              <a:rPr lang="en-US" altLang="ko-KR" sz="2000" dirty="0">
                <a:latin typeface="Arial" panose="020B0604020202020204" pitchFamily="34" charset="0"/>
              </a:rPr>
              <a:t>(80%)</a:t>
            </a:r>
            <a:r>
              <a:rPr lang="ko-KR" altLang="en-US" sz="2000" dirty="0">
                <a:latin typeface="Arial" panose="020B0604020202020204" pitchFamily="34" charset="0"/>
              </a:rPr>
              <a:t>와 원래 단어 유지</a:t>
            </a:r>
            <a:r>
              <a:rPr lang="en-US" altLang="ko-KR" sz="2000" dirty="0">
                <a:latin typeface="Arial" panose="020B0604020202020204" pitchFamily="34" charset="0"/>
              </a:rPr>
              <a:t>(20%)</a:t>
            </a:r>
            <a:r>
              <a:rPr lang="ko-KR" altLang="en-US" sz="2000" dirty="0">
                <a:latin typeface="Arial" panose="020B0604020202020204" pitchFamily="34" charset="0"/>
              </a:rPr>
              <a:t>로만 채우고</a:t>
            </a:r>
            <a:r>
              <a:rPr lang="en-US" altLang="ko-KR" sz="2000" dirty="0">
                <a:latin typeface="Arial" panose="020B0604020202020204" pitchFamily="34" charset="0"/>
              </a:rPr>
              <a:t>, </a:t>
            </a:r>
          </a:p>
          <a:p>
            <a:pPr marL="0" indent="0">
              <a:buNone/>
            </a:pPr>
            <a:r>
              <a:rPr lang="en-US" altLang="ko-KR" sz="2000" dirty="0">
                <a:latin typeface="Arial" panose="020B0604020202020204" pitchFamily="34" charset="0"/>
              </a:rPr>
              <a:t>	</a:t>
            </a:r>
            <a:r>
              <a:rPr lang="ko-KR" altLang="en-US" sz="2000" dirty="0">
                <a:latin typeface="Arial" panose="020B0604020202020204" pitchFamily="34" charset="0"/>
              </a:rPr>
              <a:t>엉뚱한 단어로 바꾸는 교란을 빼고 훈련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>
              <a:buFontTx/>
              <a:buChar char="-"/>
            </a:pPr>
            <a:r>
              <a:rPr lang="ko-KR" altLang="en-US" sz="2000" dirty="0">
                <a:latin typeface="Arial" panose="020B0604020202020204" pitchFamily="34" charset="0"/>
              </a:rPr>
              <a:t>결과</a:t>
            </a:r>
            <a:r>
              <a:rPr lang="en-US" altLang="ko-KR" sz="2000" dirty="0">
                <a:latin typeface="Arial" panose="020B0604020202020204" pitchFamily="34" charset="0"/>
              </a:rPr>
              <a:t>: </a:t>
            </a:r>
            <a:r>
              <a:rPr lang="ko-KR" altLang="en-US" sz="2000" dirty="0">
                <a:latin typeface="Arial" panose="020B0604020202020204" pitchFamily="34" charset="0"/>
              </a:rPr>
              <a:t>틀린 단어를 찾아내어 문맥을 꼼꼼히 살피게 만드는 긴장감이 사라져 모델의 견고함이 떨어지고 최고 성능 달성에 실패</a:t>
            </a:r>
            <a:endParaRPr lang="en-US" altLang="ko-KR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ko-KR" sz="2000" dirty="0">
                <a:latin typeface="Arial" panose="020B0604020202020204" pitchFamily="34" charset="0"/>
                <a:sym typeface="Wingdings" panose="05000000000000000000" pitchFamily="2" charset="2"/>
              </a:rPr>
              <a:t> 80-10-10</a:t>
            </a:r>
            <a:r>
              <a:rPr lang="ko-KR" altLang="en-US" sz="2000" dirty="0">
                <a:latin typeface="Arial" panose="020B0604020202020204" pitchFamily="34" charset="0"/>
                <a:sym typeface="Wingdings" panose="05000000000000000000" pitchFamily="2" charset="2"/>
              </a:rPr>
              <a:t>이 제일 좋더라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6652981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추가적인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모델 크기를 계속 키우면 계속 좋아질까</a:t>
            </a:r>
            <a:r>
              <a:rPr lang="en-US" altLang="ko-KR" sz="2400" dirty="0"/>
              <a:t>?</a:t>
            </a:r>
          </a:p>
          <a:p>
            <a:pPr lvl="1">
              <a:buFontTx/>
              <a:buChar char="-"/>
            </a:pPr>
            <a:r>
              <a:rPr lang="ko-KR" altLang="en-US" sz="2000" dirty="0"/>
              <a:t>층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은닉층</a:t>
            </a:r>
            <a:r>
              <a:rPr lang="ko-KR" altLang="en-US" sz="2000" dirty="0"/>
              <a:t> 크기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어텐션</a:t>
            </a:r>
            <a:r>
              <a:rPr lang="ko-KR" altLang="en-US" sz="2000" dirty="0"/>
              <a:t> 헤드 수를 다양하게 조절하며 실험</a:t>
            </a:r>
            <a:r>
              <a:rPr lang="en-US" altLang="ko-KR" sz="2000" dirty="0"/>
              <a:t>.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42320316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추가적인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altLang="ko-KR" sz="2400" dirty="0"/>
              <a:t>BERT </a:t>
            </a:r>
            <a:r>
              <a:rPr lang="ko-KR" altLang="en-US" sz="2400" dirty="0"/>
              <a:t>모델 크기를 계속 키우면 계속 좋아질까</a:t>
            </a:r>
            <a:r>
              <a:rPr lang="en-US" altLang="ko-KR" sz="2400" dirty="0"/>
              <a:t>?</a:t>
            </a:r>
          </a:p>
          <a:p>
            <a:pPr lvl="1">
              <a:buFontTx/>
              <a:buChar char="-"/>
            </a:pPr>
            <a:r>
              <a:rPr lang="ko-KR" altLang="en-US" sz="2000" dirty="0"/>
              <a:t>층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은닉층</a:t>
            </a:r>
            <a:r>
              <a:rPr lang="ko-KR" altLang="en-US" sz="2000" dirty="0"/>
              <a:t> 크기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어텐션</a:t>
            </a:r>
            <a:r>
              <a:rPr lang="ko-KR" altLang="en-US" sz="2000" dirty="0"/>
              <a:t> 헤드 수를 다양하게 조절하며 실험</a:t>
            </a:r>
            <a:r>
              <a:rPr lang="en-US" altLang="ko-KR" sz="2000" dirty="0"/>
              <a:t>.</a:t>
            </a:r>
          </a:p>
          <a:p>
            <a:pPr lvl="1">
              <a:buFontTx/>
              <a:buChar char="-"/>
            </a:pPr>
            <a:endParaRPr lang="en-US" altLang="ko-KR" sz="2000" dirty="0"/>
          </a:p>
          <a:p>
            <a:pPr lvl="1">
              <a:buFontTx/>
              <a:buChar char="-"/>
            </a:pPr>
            <a:r>
              <a:rPr lang="ko-KR" altLang="en-US" sz="2000" dirty="0"/>
              <a:t>결론 </a:t>
            </a:r>
            <a:r>
              <a:rPr lang="en-US" altLang="ko-KR" sz="2000" dirty="0"/>
              <a:t>: </a:t>
            </a:r>
            <a:r>
              <a:rPr lang="ko-KR" altLang="en-US" sz="2000" dirty="0"/>
              <a:t>계속 좋아진다 </a:t>
            </a:r>
            <a:r>
              <a:rPr lang="ko-KR" altLang="en-US" sz="2000" dirty="0" err="1"/>
              <a:t>ㅇㅇ</a:t>
            </a:r>
            <a:r>
              <a:rPr lang="en-US" altLang="ko-KR" sz="2000" dirty="0"/>
              <a:t>. </a:t>
            </a:r>
            <a:r>
              <a:rPr lang="ko-KR" altLang="en-US" sz="2000" dirty="0"/>
              <a:t>모델 크면 무조건 좋음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0763898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파인 튜닝 및 실전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400" dirty="0"/>
              <a:t>사전 학습 완료된 </a:t>
            </a:r>
            <a:r>
              <a:rPr lang="en-US" altLang="ko-KR" sz="2400" dirty="0"/>
              <a:t>BERT</a:t>
            </a:r>
            <a:r>
              <a:rPr lang="ko-KR" altLang="en-US" sz="2400" dirty="0"/>
              <a:t> 인코더 구조 그대로 유지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u="sng" dirty="0"/>
              <a:t>모델 최상단에 과제 목적에 맞는 </a:t>
            </a:r>
            <a:r>
              <a:rPr lang="en-US" altLang="ko-KR" sz="2400" u="sng" dirty="0"/>
              <a:t>1</a:t>
            </a:r>
            <a:r>
              <a:rPr lang="ko-KR" altLang="en-US" sz="2400" u="sng" dirty="0"/>
              <a:t>개의 선형 분류층</a:t>
            </a:r>
            <a:r>
              <a:rPr lang="ko-KR" altLang="en-US" sz="2400" dirty="0"/>
              <a:t>만 붙이면 됨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862799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파인 튜닝 및 실전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400" dirty="0"/>
              <a:t>사전 학습 완료된 </a:t>
            </a:r>
            <a:r>
              <a:rPr lang="en-US" altLang="ko-KR" sz="2400" dirty="0"/>
              <a:t>BERT</a:t>
            </a:r>
            <a:r>
              <a:rPr lang="ko-KR" altLang="en-US" sz="2400" dirty="0"/>
              <a:t> 인코더 구조 그대로 유지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u="sng" dirty="0"/>
              <a:t>모델 최상단에 과제 목적에 맞는 </a:t>
            </a:r>
            <a:r>
              <a:rPr lang="en-US" altLang="ko-KR" sz="2400" u="sng" dirty="0"/>
              <a:t>1</a:t>
            </a:r>
            <a:r>
              <a:rPr lang="ko-KR" altLang="en-US" sz="2400" u="sng" dirty="0"/>
              <a:t>개의 선형 분류층</a:t>
            </a:r>
            <a:r>
              <a:rPr lang="ko-KR" altLang="en-US" sz="2400" dirty="0"/>
              <a:t>만 붙이면 됨</a:t>
            </a:r>
            <a:r>
              <a:rPr lang="en-US" altLang="ko-KR" sz="2400" dirty="0"/>
              <a:t>.</a:t>
            </a:r>
          </a:p>
          <a:p>
            <a:pPr marL="0" indent="0">
              <a:buNone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주어진 </a:t>
            </a:r>
            <a:r>
              <a:rPr lang="ko-KR" altLang="en-US" sz="2400" u="sng" dirty="0"/>
              <a:t>과제의 정답 레이블을 사용하여</a:t>
            </a:r>
            <a:r>
              <a:rPr lang="en-US" altLang="ko-KR" sz="2400" u="sng" dirty="0"/>
              <a:t> </a:t>
            </a:r>
            <a:r>
              <a:rPr lang="ko-KR" altLang="en-US" sz="2400" u="sng" dirty="0"/>
              <a:t>손실을 계산</a:t>
            </a:r>
            <a:r>
              <a:rPr lang="ko-KR" altLang="en-US" sz="2400" dirty="0"/>
              <a:t>하고</a:t>
            </a:r>
            <a:r>
              <a:rPr lang="en-US" altLang="ko-KR" sz="2400" dirty="0"/>
              <a:t>,</a:t>
            </a:r>
          </a:p>
          <a:p>
            <a:pPr marL="0" indent="0">
              <a:buNone/>
            </a:pPr>
            <a:r>
              <a:rPr lang="en-US" altLang="ko-KR" sz="2400" dirty="0"/>
              <a:t>   </a:t>
            </a:r>
            <a:r>
              <a:rPr lang="ko-KR" altLang="en-US" sz="2400" u="sng" dirty="0"/>
              <a:t>기존 </a:t>
            </a:r>
            <a:r>
              <a:rPr lang="en-US" altLang="ko-KR" sz="2400" u="sng" dirty="0"/>
              <a:t>BERT </a:t>
            </a:r>
            <a:r>
              <a:rPr lang="ko-KR" altLang="en-US" sz="2400" u="sng" dirty="0"/>
              <a:t>인코더</a:t>
            </a:r>
            <a:r>
              <a:rPr lang="ko-KR" altLang="en-US" sz="2400" dirty="0"/>
              <a:t>와 </a:t>
            </a:r>
            <a:r>
              <a:rPr lang="ko-KR" altLang="en-US" sz="2400" u="sng" dirty="0"/>
              <a:t>새로 붙인 선형 분류층</a:t>
            </a:r>
            <a:r>
              <a:rPr lang="ko-KR" altLang="en-US" sz="2400" dirty="0"/>
              <a:t>의 파라미터를 </a:t>
            </a:r>
            <a:r>
              <a:rPr lang="ko-KR" altLang="en-US" sz="2400" u="sng" dirty="0"/>
              <a:t>미세 조정</a:t>
            </a:r>
            <a:endParaRPr lang="en-US" altLang="ko-KR" sz="2400" u="sng" dirty="0"/>
          </a:p>
        </p:txBody>
      </p:sp>
    </p:spTree>
    <p:extLst>
      <p:ext uri="{BB962C8B-B14F-4D97-AF65-F5344CB8AC3E}">
        <p14:creationId xmlns:p14="http://schemas.microsoft.com/office/powerpoint/2010/main" val="2564519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파인 튜닝 및 실전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400" dirty="0"/>
              <a:t>문장 단위 분류 </a:t>
            </a:r>
            <a:r>
              <a:rPr lang="en-US" altLang="ko-KR" sz="2400" dirty="0"/>
              <a:t>(EX. </a:t>
            </a:r>
            <a:r>
              <a:rPr lang="ko-KR" altLang="en-US" sz="2400" dirty="0"/>
              <a:t>감성 분석</a:t>
            </a:r>
            <a:r>
              <a:rPr lang="en-US" altLang="ko-KR" sz="2400" dirty="0"/>
              <a:t>, </a:t>
            </a:r>
            <a:r>
              <a:rPr lang="ko-KR" altLang="en-US" sz="2400" dirty="0"/>
              <a:t>논리 추론</a:t>
            </a:r>
            <a:r>
              <a:rPr lang="en-US" altLang="ko-KR" sz="2400" dirty="0"/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/>
              <a:t>인코더 최종 층 통과한 </a:t>
            </a:r>
            <a:r>
              <a:rPr lang="en-US" altLang="ko-KR" sz="2000" dirty="0"/>
              <a:t>[</a:t>
            </a:r>
            <a:r>
              <a:rPr lang="en-US" altLang="ko-KR" sz="2000" dirty="0" err="1"/>
              <a:t>CSL</a:t>
            </a:r>
            <a:r>
              <a:rPr lang="en-US" altLang="ko-KR" sz="2000" dirty="0"/>
              <a:t>] </a:t>
            </a:r>
            <a:r>
              <a:rPr lang="ko-KR" altLang="en-US" sz="2000" dirty="0"/>
              <a:t>토큰의 은닉 상태 벡터 사용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 marL="0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1838152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 – </a:t>
            </a:r>
            <a:r>
              <a:rPr lang="ko-KR" altLang="en-US" dirty="0"/>
              <a:t>파인 튜닝 및 실전 적용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ko-KR" altLang="en-US" sz="2400" dirty="0"/>
              <a:t>문장 단위 분류 </a:t>
            </a:r>
            <a:r>
              <a:rPr lang="en-US" altLang="ko-KR" sz="2400" dirty="0"/>
              <a:t>(EX. </a:t>
            </a:r>
            <a:r>
              <a:rPr lang="ko-KR" altLang="en-US" sz="2400" dirty="0"/>
              <a:t>감성 분석</a:t>
            </a:r>
            <a:r>
              <a:rPr lang="en-US" altLang="ko-KR" sz="2400" dirty="0"/>
              <a:t>, </a:t>
            </a:r>
            <a:r>
              <a:rPr lang="ko-KR" altLang="en-US" sz="2400" dirty="0"/>
              <a:t>논리 추론</a:t>
            </a:r>
            <a:r>
              <a:rPr lang="en-US" altLang="ko-KR" sz="2400" dirty="0"/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/>
              <a:t>인코더 최종 층 통과한 </a:t>
            </a:r>
            <a:r>
              <a:rPr lang="en-US" altLang="ko-KR" sz="2000" dirty="0"/>
              <a:t>[</a:t>
            </a:r>
            <a:r>
              <a:rPr lang="en-US" altLang="ko-KR" sz="2000" dirty="0" err="1"/>
              <a:t>CSL</a:t>
            </a:r>
            <a:r>
              <a:rPr lang="en-US" altLang="ko-KR" sz="2000" dirty="0"/>
              <a:t>] </a:t>
            </a:r>
            <a:r>
              <a:rPr lang="ko-KR" altLang="en-US" sz="2000" dirty="0"/>
              <a:t>토큰의 은닉 상태 벡터 사용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400" dirty="0"/>
          </a:p>
          <a:p>
            <a:pPr>
              <a:buFontTx/>
              <a:buChar char="-"/>
            </a:pPr>
            <a:r>
              <a:rPr lang="ko-KR" altLang="en-US" sz="2400" dirty="0"/>
              <a:t>토큰 단위 분류 </a:t>
            </a:r>
            <a:r>
              <a:rPr lang="en-US" altLang="ko-KR" sz="2400" dirty="0"/>
              <a:t>(EX. </a:t>
            </a:r>
            <a:r>
              <a:rPr lang="ko-KR" altLang="en-US" sz="2400" dirty="0" err="1"/>
              <a:t>개체명</a:t>
            </a:r>
            <a:r>
              <a:rPr lang="ko-KR" altLang="en-US" sz="2400" dirty="0"/>
              <a:t> 인식</a:t>
            </a:r>
            <a:r>
              <a:rPr lang="en-US" altLang="ko-KR" sz="2400" dirty="0"/>
              <a:t>)</a:t>
            </a:r>
          </a:p>
          <a:p>
            <a:pPr lvl="1">
              <a:buFontTx/>
              <a:buChar char="-"/>
            </a:pPr>
            <a:r>
              <a:rPr lang="ko-KR" altLang="en-US" sz="2000" dirty="0"/>
              <a:t>입력된 모든 단어 토큰들의 개별 최종 은닉 상태 벡터 사용</a:t>
            </a:r>
            <a:endParaRPr lang="en-US" altLang="ko-KR" sz="2000" dirty="0"/>
          </a:p>
          <a:p>
            <a:pPr>
              <a:buFontTx/>
              <a:buChar char="-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1995112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B631CA-EBB1-4E16-ADB4-14D14954C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BERT</a:t>
            </a:r>
            <a:r>
              <a:rPr lang="ko-KR" altLang="en-US" dirty="0"/>
              <a:t>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FC1E5A-B095-40D8-8013-6B92925EB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altLang="ko-KR" sz="2000" dirty="0"/>
              <a:t>Language Model</a:t>
            </a:r>
            <a:r>
              <a:rPr lang="ko-KR" altLang="en-US" sz="2000" dirty="0"/>
              <a:t>의 단방향 아키텍처를 양방향으로 확장</a:t>
            </a:r>
            <a:endParaRPr lang="en-US" altLang="ko-KR" sz="2000" dirty="0"/>
          </a:p>
          <a:p>
            <a:pPr marL="457200" indent="-457200">
              <a:buAutoNum type="arabicPeriod"/>
            </a:pPr>
            <a:endParaRPr lang="en-US" altLang="ko-KR" sz="2000" dirty="0"/>
          </a:p>
          <a:p>
            <a:pPr marL="457200" indent="-457200">
              <a:buAutoNum type="arabicPeriod"/>
            </a:pPr>
            <a:r>
              <a:rPr lang="ko-KR" altLang="en-US" sz="2000" dirty="0" err="1"/>
              <a:t>사전학습된</a:t>
            </a:r>
            <a:r>
              <a:rPr lang="ko-KR" altLang="en-US" sz="2000" dirty="0"/>
              <a:t> 모델을 </a:t>
            </a:r>
            <a:r>
              <a:rPr lang="ko-KR" altLang="en-US" sz="2000" dirty="0" err="1"/>
              <a:t>쪼금</a:t>
            </a:r>
            <a:r>
              <a:rPr lang="ko-KR" altLang="en-US" sz="2000" dirty="0"/>
              <a:t> 더 깎아서</a:t>
            </a:r>
            <a:r>
              <a:rPr lang="en-US" altLang="ko-KR" sz="2000" dirty="0"/>
              <a:t>, </a:t>
            </a:r>
            <a:r>
              <a:rPr lang="ko-KR" altLang="en-US" sz="2000" dirty="0"/>
              <a:t>여러 태스크에 적용하면 아주 좋다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9685511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3AA488-E543-4C5F-B85F-94830A09B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E638F-2E2B-4500-8E0B-18F666EE0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 err="1"/>
              <a:t>마스킹</a:t>
            </a:r>
            <a:r>
              <a:rPr lang="ko-KR" altLang="en-US" dirty="0"/>
              <a:t> 기반 </a:t>
            </a:r>
            <a:r>
              <a:rPr lang="ko-KR" altLang="en-US" dirty="0" err="1"/>
              <a:t>자기주도학습이란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2. BERT</a:t>
            </a:r>
          </a:p>
          <a:p>
            <a:r>
              <a:rPr lang="en-US" altLang="ko-KR" u="sng" dirty="0"/>
              <a:t>3. MAE</a:t>
            </a:r>
            <a:endParaRPr lang="ko-KR" altLang="en-US" u="sng" dirty="0"/>
          </a:p>
        </p:txBody>
      </p:sp>
    </p:spTree>
    <p:extLst>
      <p:ext uri="{BB962C8B-B14F-4D97-AF65-F5344CB8AC3E}">
        <p14:creationId xmlns:p14="http://schemas.microsoft.com/office/powerpoint/2010/main" val="6600915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BERT </a:t>
            </a:r>
            <a:r>
              <a:rPr lang="ko-KR" altLang="en-US" dirty="0"/>
              <a:t>등의 </a:t>
            </a:r>
            <a:r>
              <a:rPr lang="ko-KR" altLang="en-US" dirty="0" err="1"/>
              <a:t>마스킹</a:t>
            </a:r>
            <a:r>
              <a:rPr lang="ko-KR" altLang="en-US" dirty="0"/>
              <a:t> 기반 자기지도학습 모델 발전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데이터 그냥 왕창 집어넣어서 거대 </a:t>
            </a:r>
            <a:r>
              <a:rPr lang="en-US" altLang="ko-KR" dirty="0">
                <a:sym typeface="Wingdings" panose="05000000000000000000" pitchFamily="2" charset="2"/>
              </a:rPr>
              <a:t>AI </a:t>
            </a:r>
            <a:r>
              <a:rPr lang="ko-KR" altLang="en-US" dirty="0">
                <a:sym typeface="Wingdings" panose="05000000000000000000" pitchFamily="2" charset="2"/>
              </a:rPr>
              <a:t>시대로 진입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42011798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BERT </a:t>
            </a:r>
            <a:r>
              <a:rPr lang="ko-KR" altLang="en-US" dirty="0"/>
              <a:t>등의 </a:t>
            </a:r>
            <a:r>
              <a:rPr lang="ko-KR" altLang="en-US" dirty="0" err="1"/>
              <a:t>마스킹</a:t>
            </a:r>
            <a:r>
              <a:rPr lang="ko-KR" altLang="en-US" dirty="0"/>
              <a:t> 기반 자기지도학습 모델 발전</a:t>
            </a:r>
            <a:endParaRPr lang="en-US" altLang="ko-KR" dirty="0"/>
          </a:p>
          <a:p>
            <a:pPr>
              <a:buFont typeface="Wingdings" panose="05000000000000000000" pitchFamily="2" charset="2"/>
              <a:buChar char="à"/>
            </a:pPr>
            <a:r>
              <a:rPr lang="ko-KR" altLang="en-US" dirty="0">
                <a:sym typeface="Wingdings" panose="05000000000000000000" pitchFamily="2" charset="2"/>
              </a:rPr>
              <a:t>데이터 그냥 왕창 집어넣어서 거대 </a:t>
            </a:r>
            <a:r>
              <a:rPr lang="en-US" altLang="ko-KR" dirty="0">
                <a:sym typeface="Wingdings" panose="05000000000000000000" pitchFamily="2" charset="2"/>
              </a:rPr>
              <a:t>AI </a:t>
            </a:r>
            <a:r>
              <a:rPr lang="ko-KR" altLang="en-US" dirty="0">
                <a:sym typeface="Wingdings" panose="05000000000000000000" pitchFamily="2" charset="2"/>
              </a:rPr>
              <a:t>시대로 진입</a:t>
            </a: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ko-KR" altLang="en-US" dirty="0">
                <a:sym typeface="Wingdings" panose="05000000000000000000" pitchFamily="2" charset="2"/>
              </a:rPr>
              <a:t>근데 이미지 분야는</a:t>
            </a:r>
            <a:r>
              <a:rPr lang="en-US" altLang="ko-KR" dirty="0">
                <a:sym typeface="Wingdings" panose="05000000000000000000" pitchFamily="2" charset="2"/>
              </a:rPr>
              <a:t>? </a:t>
            </a:r>
            <a:r>
              <a:rPr lang="ko-KR" altLang="en-US" dirty="0">
                <a:sym typeface="Wingdings" panose="05000000000000000000" pitchFamily="2" charset="2"/>
              </a:rPr>
              <a:t>아직 안되더라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65340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50" y="1775291"/>
            <a:ext cx="11367782" cy="4717584"/>
          </a:xfrm>
        </p:spPr>
        <p:txBody>
          <a:bodyPr/>
          <a:lstStyle/>
          <a:p>
            <a:r>
              <a:rPr lang="ko-KR" altLang="en-US" dirty="0"/>
              <a:t>이미지 분야는 자기지도학습이 왜 안된다고 생각했을까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pPr marL="457200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010128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50" y="1775291"/>
            <a:ext cx="11367782" cy="4717584"/>
          </a:xfrm>
        </p:spPr>
        <p:txBody>
          <a:bodyPr/>
          <a:lstStyle/>
          <a:p>
            <a:r>
              <a:rPr lang="ko-KR" altLang="en-US" dirty="0"/>
              <a:t>이미지 분야는 자기지도학습이 왜 안된다고 생각했을까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1. </a:t>
            </a:r>
            <a:r>
              <a:rPr lang="ko-KR" altLang="en-US" dirty="0">
                <a:sym typeface="Wingdings" panose="05000000000000000000" pitchFamily="2" charset="2"/>
              </a:rPr>
              <a:t>아키텍처의 차이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과거 이미지 분야 지배자였던 </a:t>
            </a:r>
            <a:r>
              <a:rPr lang="en-US" altLang="ko-KR" dirty="0">
                <a:sym typeface="Wingdings" panose="05000000000000000000" pitchFamily="2" charset="2"/>
              </a:rPr>
              <a:t>CNN</a:t>
            </a:r>
            <a:r>
              <a:rPr lang="ko-KR" altLang="en-US" dirty="0">
                <a:sym typeface="Wingdings" panose="05000000000000000000" pitchFamily="2" charset="2"/>
              </a:rPr>
              <a:t>은 격자 구조로 연산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 </a:t>
            </a:r>
            <a:r>
              <a:rPr lang="ko-KR" altLang="en-US" dirty="0" err="1">
                <a:sym typeface="Wingdings" panose="05000000000000000000" pitchFamily="2" charset="2"/>
              </a:rPr>
              <a:t>마스킹</a:t>
            </a:r>
            <a:r>
              <a:rPr lang="ko-KR" altLang="en-US" dirty="0">
                <a:sym typeface="Wingdings" panose="05000000000000000000" pitchFamily="2" charset="2"/>
              </a:rPr>
              <a:t> 하기가 구조적으로 까다로움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16899967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등장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8750" y="1775291"/>
            <a:ext cx="11367782" cy="4717584"/>
          </a:xfrm>
        </p:spPr>
        <p:txBody>
          <a:bodyPr/>
          <a:lstStyle/>
          <a:p>
            <a:r>
              <a:rPr lang="ko-KR" altLang="en-US" dirty="0"/>
              <a:t>이미지 분야는 자기지도학습이 왜 안된다고 생각했을까</a:t>
            </a:r>
            <a:r>
              <a:rPr lang="en-US" altLang="ko-KR" dirty="0">
                <a:sym typeface="Wingdings" panose="05000000000000000000" pitchFamily="2" charset="2"/>
              </a:rPr>
              <a:t>?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1. </a:t>
            </a:r>
            <a:r>
              <a:rPr lang="ko-KR" altLang="en-US" dirty="0">
                <a:sym typeface="Wingdings" panose="05000000000000000000" pitchFamily="2" charset="2"/>
              </a:rPr>
              <a:t>아키텍처의 차이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과거 이미지 분야 지배자였던 </a:t>
            </a:r>
            <a:r>
              <a:rPr lang="en-US" altLang="ko-KR" dirty="0">
                <a:sym typeface="Wingdings" panose="05000000000000000000" pitchFamily="2" charset="2"/>
              </a:rPr>
              <a:t>CNN</a:t>
            </a:r>
            <a:r>
              <a:rPr lang="ko-KR" altLang="en-US" dirty="0">
                <a:sym typeface="Wingdings" panose="05000000000000000000" pitchFamily="2" charset="2"/>
              </a:rPr>
              <a:t>은 격자 구조로 연산</a:t>
            </a:r>
            <a:r>
              <a:rPr lang="en-US" altLang="ko-KR" dirty="0">
                <a:sym typeface="Wingdings" panose="05000000000000000000" pitchFamily="2" charset="2"/>
              </a:rPr>
              <a:t>.</a:t>
            </a: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 </a:t>
            </a:r>
            <a:r>
              <a:rPr lang="ko-KR" altLang="en-US" dirty="0" err="1">
                <a:sym typeface="Wingdings" panose="05000000000000000000" pitchFamily="2" charset="2"/>
              </a:rPr>
              <a:t>마스킹</a:t>
            </a:r>
            <a:r>
              <a:rPr lang="ko-KR" altLang="en-US" dirty="0">
                <a:sym typeface="Wingdings" panose="05000000000000000000" pitchFamily="2" charset="2"/>
              </a:rPr>
              <a:t> 하기가 구조적으로 까다로움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  <a:p>
            <a:r>
              <a:rPr lang="en-US" altLang="ko-KR" dirty="0">
                <a:sym typeface="Wingdings" panose="05000000000000000000" pitchFamily="2" charset="2"/>
              </a:rPr>
              <a:t>2. </a:t>
            </a:r>
            <a:r>
              <a:rPr lang="ko-KR" altLang="en-US" dirty="0">
                <a:sym typeface="Wingdings" panose="05000000000000000000" pitchFamily="2" charset="2"/>
              </a:rPr>
              <a:t>정보 밀도의 차이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자연어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단어 하나하나에 의미가 압축 </a:t>
            </a:r>
            <a:r>
              <a:rPr lang="en-US" altLang="ko-KR" dirty="0">
                <a:sym typeface="Wingdings" panose="05000000000000000000" pitchFamily="2" charset="2"/>
              </a:rPr>
              <a:t> 15%</a:t>
            </a:r>
            <a:r>
              <a:rPr lang="ko-KR" altLang="en-US" dirty="0">
                <a:sym typeface="Wingdings" panose="05000000000000000000" pitchFamily="2" charset="2"/>
              </a:rPr>
              <a:t>만 가려도 쉽게 못 맞춤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이미지 </a:t>
            </a:r>
            <a:r>
              <a:rPr lang="en-US" altLang="ko-KR" dirty="0">
                <a:sym typeface="Wingdings" panose="05000000000000000000" pitchFamily="2" charset="2"/>
              </a:rPr>
              <a:t>: </a:t>
            </a:r>
            <a:r>
              <a:rPr lang="ko-KR" altLang="en-US" dirty="0">
                <a:sym typeface="Wingdings" panose="05000000000000000000" pitchFamily="2" charset="2"/>
              </a:rPr>
              <a:t>주변 픽셀 보면 지워진 부분 쉽게 유추 가능 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US" altLang="ko-KR" dirty="0">
                <a:sym typeface="Wingdings" panose="05000000000000000000" pitchFamily="2" charset="2"/>
              </a:rPr>
              <a:t>		 </a:t>
            </a:r>
            <a:r>
              <a:rPr lang="ko-KR" altLang="en-US" dirty="0">
                <a:sym typeface="Wingdings" panose="05000000000000000000" pitchFamily="2" charset="2"/>
              </a:rPr>
              <a:t>적당히 가리면 </a:t>
            </a:r>
            <a:r>
              <a:rPr lang="ko-KR" altLang="en-US" dirty="0" err="1">
                <a:sym typeface="Wingdings" panose="05000000000000000000" pitchFamily="2" charset="2"/>
              </a:rPr>
              <a:t>컨닝으로</a:t>
            </a:r>
            <a:r>
              <a:rPr lang="ko-KR" altLang="en-US" dirty="0">
                <a:sym typeface="Wingdings" panose="05000000000000000000" pitchFamily="2" charset="2"/>
              </a:rPr>
              <a:t> 다 풀고 학습은 안됨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5582080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기본 개념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18" y="1825625"/>
            <a:ext cx="11056690" cy="46672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아키텍처 한계 돌파</a:t>
            </a:r>
            <a:endParaRPr lang="en-US" altLang="ko-KR" sz="2400" dirty="0"/>
          </a:p>
          <a:p>
            <a:pPr lvl="1"/>
            <a:r>
              <a:rPr lang="ko-KR" altLang="en-US" dirty="0"/>
              <a:t>격자 구조인 </a:t>
            </a:r>
            <a:r>
              <a:rPr lang="en-US" altLang="ko-KR" dirty="0"/>
              <a:t>CNN </a:t>
            </a:r>
            <a:r>
              <a:rPr lang="ko-KR" altLang="en-US" dirty="0"/>
              <a:t>버리기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이미지를 바둑판 모양의 작은 패치 단위로 잘라서 단어처럼 취급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29954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기본 개념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18" y="1825625"/>
            <a:ext cx="11056690" cy="46672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아키텍처 한계 돌파</a:t>
            </a:r>
            <a:endParaRPr lang="en-US" altLang="ko-KR" sz="2400" dirty="0"/>
          </a:p>
          <a:p>
            <a:pPr lvl="1"/>
            <a:r>
              <a:rPr lang="ko-KR" altLang="en-US" dirty="0"/>
              <a:t>격자 구조인 </a:t>
            </a:r>
            <a:r>
              <a:rPr lang="en-US" altLang="ko-KR" dirty="0"/>
              <a:t>CNN </a:t>
            </a:r>
            <a:r>
              <a:rPr lang="ko-KR" altLang="en-US" dirty="0"/>
              <a:t>버리기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이미지를 바둑판 모양의 작은 패치 단위로 잘라서 단어처럼 취급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정보 밀도 한계 돌파</a:t>
            </a:r>
            <a:endParaRPr lang="en-US" altLang="ko-KR" sz="2400" dirty="0"/>
          </a:p>
          <a:p>
            <a:pPr lvl="1"/>
            <a:r>
              <a:rPr lang="ko-KR" altLang="en-US" dirty="0"/>
              <a:t>이미지 패치 중 </a:t>
            </a:r>
            <a:r>
              <a:rPr lang="en-US" altLang="ko-KR" dirty="0"/>
              <a:t>75%</a:t>
            </a:r>
            <a:r>
              <a:rPr lang="ko-KR" altLang="en-US" dirty="0"/>
              <a:t>만큼을 무작위로 </a:t>
            </a:r>
            <a:r>
              <a:rPr lang="ko-KR" altLang="en-US" dirty="0" err="1"/>
              <a:t>가려버림</a:t>
            </a:r>
            <a:r>
              <a:rPr lang="en-US" altLang="ko-KR" dirty="0"/>
              <a:t>.</a:t>
            </a:r>
          </a:p>
          <a:p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25802531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기본 개념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5618" y="1825625"/>
            <a:ext cx="11056690" cy="4667250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아키텍처 한계 돌파</a:t>
            </a:r>
            <a:endParaRPr lang="en-US" altLang="ko-KR" sz="2400" dirty="0"/>
          </a:p>
          <a:p>
            <a:pPr lvl="1"/>
            <a:r>
              <a:rPr lang="ko-KR" altLang="en-US" dirty="0"/>
              <a:t>격자 구조인 </a:t>
            </a:r>
            <a:r>
              <a:rPr lang="en-US" altLang="ko-KR" dirty="0"/>
              <a:t>CNN </a:t>
            </a:r>
            <a:r>
              <a:rPr lang="ko-KR" altLang="en-US" dirty="0"/>
              <a:t>버리기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이미지를 바둑판 모양의 작은 패치 단위로 잘라서 단어처럼 취급</a:t>
            </a:r>
            <a:endParaRPr lang="en-US" altLang="ko-KR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US" altLang="ko-KR" dirty="0"/>
          </a:p>
          <a:p>
            <a:r>
              <a:rPr lang="en-US" altLang="ko-KR" sz="2400" dirty="0"/>
              <a:t>2. </a:t>
            </a:r>
            <a:r>
              <a:rPr lang="ko-KR" altLang="en-US" sz="2400" dirty="0"/>
              <a:t>정보 밀도 한계 돌파</a:t>
            </a:r>
            <a:endParaRPr lang="en-US" altLang="ko-KR" sz="2400" dirty="0"/>
          </a:p>
          <a:p>
            <a:pPr lvl="1"/>
            <a:r>
              <a:rPr lang="ko-KR" altLang="en-US" dirty="0"/>
              <a:t>이미지 패치 중 </a:t>
            </a:r>
            <a:r>
              <a:rPr lang="en-US" altLang="ko-KR" dirty="0"/>
              <a:t>75%</a:t>
            </a:r>
            <a:r>
              <a:rPr lang="ko-KR" altLang="en-US" dirty="0"/>
              <a:t>만큼을 무작위로 </a:t>
            </a:r>
            <a:r>
              <a:rPr lang="ko-KR" altLang="en-US" dirty="0" err="1"/>
              <a:t>가려버림</a:t>
            </a:r>
            <a:r>
              <a:rPr lang="en-US" altLang="ko-KR" dirty="0"/>
              <a:t>.</a:t>
            </a:r>
          </a:p>
          <a:p>
            <a:endParaRPr lang="en-US" altLang="ko-KR" sz="2400" dirty="0"/>
          </a:p>
          <a:p>
            <a:r>
              <a:rPr lang="en-US" altLang="ko-KR" sz="2400" dirty="0"/>
              <a:t>3. </a:t>
            </a:r>
            <a:r>
              <a:rPr lang="ko-KR" altLang="en-US" sz="2400" dirty="0" err="1"/>
              <a:t>연산량</a:t>
            </a:r>
            <a:r>
              <a:rPr lang="ko-KR" altLang="en-US" sz="2400" dirty="0"/>
              <a:t> 딜레마 해결</a:t>
            </a:r>
            <a:endParaRPr lang="en-US" altLang="ko-KR" sz="2400" dirty="0"/>
          </a:p>
          <a:p>
            <a:pPr lvl="1"/>
            <a:r>
              <a:rPr lang="ko-KR" altLang="en-US" dirty="0"/>
              <a:t>인코더 </a:t>
            </a:r>
            <a:r>
              <a:rPr lang="en-US" altLang="ko-KR" dirty="0"/>
              <a:t>– </a:t>
            </a:r>
            <a:r>
              <a:rPr lang="ko-KR" altLang="en-US" dirty="0"/>
              <a:t>살아남은 </a:t>
            </a:r>
            <a:r>
              <a:rPr lang="en-US" altLang="ko-KR" dirty="0"/>
              <a:t>25%</a:t>
            </a:r>
            <a:r>
              <a:rPr lang="ko-KR" altLang="en-US" dirty="0"/>
              <a:t>의 패치만 </a:t>
            </a:r>
            <a:r>
              <a:rPr lang="ko-KR" altLang="en-US" dirty="0" err="1"/>
              <a:t>입력받아</a:t>
            </a:r>
            <a:r>
              <a:rPr lang="ko-KR" altLang="en-US" dirty="0"/>
              <a:t> 학습</a:t>
            </a:r>
            <a:endParaRPr lang="en-US" altLang="ko-KR" dirty="0"/>
          </a:p>
          <a:p>
            <a:pPr lvl="1"/>
            <a:r>
              <a:rPr lang="ko-KR" altLang="en-US" dirty="0" err="1"/>
              <a:t>디코더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인코더가 처리한 </a:t>
            </a:r>
            <a:r>
              <a:rPr lang="en-US" altLang="ko-KR" dirty="0"/>
              <a:t>25% </a:t>
            </a:r>
            <a:r>
              <a:rPr lang="ko-KR" altLang="en-US" dirty="0"/>
              <a:t>데이터 </a:t>
            </a:r>
            <a:r>
              <a:rPr lang="en-US" altLang="ko-KR" dirty="0"/>
              <a:t>+ [MASK]</a:t>
            </a:r>
            <a:r>
              <a:rPr lang="ko-KR" altLang="en-US" dirty="0"/>
              <a:t> 처리된 </a:t>
            </a:r>
            <a:r>
              <a:rPr lang="en-US" altLang="ko-KR" dirty="0"/>
              <a:t>75% </a:t>
            </a:r>
            <a:r>
              <a:rPr lang="ko-KR" altLang="en-US" dirty="0"/>
              <a:t>데이터 조립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dirty="0"/>
              <a:t>		 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얕고 가벼운 층을 거쳐 원본 이미지를 복원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94960326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인코더 </a:t>
            </a:r>
            <a:r>
              <a:rPr lang="en-US" altLang="ko-KR" dirty="0"/>
              <a:t>: </a:t>
            </a:r>
            <a:r>
              <a:rPr lang="en-US" altLang="ko-KR" dirty="0" err="1"/>
              <a:t>ViT</a:t>
            </a:r>
            <a:r>
              <a:rPr lang="en-US" altLang="ko-KR" dirty="0"/>
              <a:t>(Vision Transformer) </a:t>
            </a:r>
            <a:r>
              <a:rPr lang="ko-KR" altLang="en-US" dirty="0"/>
              <a:t>구조 사용</a:t>
            </a:r>
            <a:endParaRPr lang="en-US" altLang="ko-KR" dirty="0"/>
          </a:p>
          <a:p>
            <a:r>
              <a:rPr lang="ko-KR" altLang="en-US" dirty="0" err="1"/>
              <a:t>디코더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초경량 트랜스포머 사용</a:t>
            </a:r>
          </a:p>
        </p:txBody>
      </p:sp>
    </p:spTree>
    <p:extLst>
      <p:ext uri="{BB962C8B-B14F-4D97-AF65-F5344CB8AC3E}">
        <p14:creationId xmlns:p14="http://schemas.microsoft.com/office/powerpoint/2010/main" val="28909437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핵심 아이디어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인코더 </a:t>
            </a:r>
            <a:r>
              <a:rPr lang="en-US" altLang="ko-KR" dirty="0"/>
              <a:t>: </a:t>
            </a:r>
            <a:r>
              <a:rPr lang="en-US" altLang="ko-KR" dirty="0" err="1"/>
              <a:t>ViT</a:t>
            </a:r>
            <a:r>
              <a:rPr lang="en-US" altLang="ko-KR" dirty="0"/>
              <a:t>(Vision Transformer) </a:t>
            </a:r>
            <a:r>
              <a:rPr lang="ko-KR" altLang="en-US" dirty="0"/>
              <a:t>구조 사용</a:t>
            </a:r>
            <a:endParaRPr lang="en-US" altLang="ko-KR" dirty="0"/>
          </a:p>
          <a:p>
            <a:r>
              <a:rPr lang="ko-KR" altLang="en-US" dirty="0" err="1"/>
              <a:t>디코더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초경량 트랜스포머 사용</a:t>
            </a:r>
          </a:p>
        </p:txBody>
      </p:sp>
      <p:pic>
        <p:nvPicPr>
          <p:cNvPr id="5122" name="Picture 2" descr="논문리뷰] Masked Autoencoders(MAE) Are Scalable Vision Learners">
            <a:extLst>
              <a:ext uri="{FF2B5EF4-FFF2-40B4-BE49-F238E27FC236}">
                <a16:creationId xmlns:a16="http://schemas.microsoft.com/office/drawing/2014/main" id="{F3DC58FC-312E-459A-9D42-1618071E6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592" y="2910181"/>
            <a:ext cx="7224580" cy="3947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275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1. </a:t>
            </a:r>
            <a:r>
              <a:rPr lang="ko-KR" altLang="en-US" sz="2400" dirty="0"/>
              <a:t>최종 성능</a:t>
            </a:r>
            <a:r>
              <a:rPr lang="en-US" altLang="ko-KR" sz="2400" dirty="0"/>
              <a:t>, </a:t>
            </a:r>
            <a:r>
              <a:rPr lang="ko-KR" altLang="en-US" sz="2400" dirty="0"/>
              <a:t>다른 모델과 비교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9218" name="Picture 2" descr="https://blog.kakaocdn.net/dna/ya2b6/btsycUGss3Q/AAAAAAAAAAAAAAAAAAAAAHhHuac43E8dzOmdXhechdybJO0XyZkSwxIOa4esyryU/img.png?credential=yqXZFxpELC7KVnFOS48ylbz2pIh7yKj8&amp;expires=1788188399&amp;allow_ip=&amp;allow_referer=&amp;signature=MQzH4b09lLadleIkBv1FuKgfo1E%3D">
            <a:extLst>
              <a:ext uri="{FF2B5EF4-FFF2-40B4-BE49-F238E27FC236}">
                <a16:creationId xmlns:a16="http://schemas.microsoft.com/office/drawing/2014/main" id="{9DB83F8A-AC46-4B75-B3B5-61E9251C43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835" y="2652713"/>
            <a:ext cx="8801100" cy="3524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8948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2. </a:t>
            </a:r>
            <a:r>
              <a:rPr lang="ko-KR" altLang="en-US" sz="2400" dirty="0" err="1"/>
              <a:t>디코더</a:t>
            </a:r>
            <a:r>
              <a:rPr lang="ko-KR" altLang="en-US" sz="2400" dirty="0"/>
              <a:t> 실험</a:t>
            </a:r>
            <a:endParaRPr lang="en-US" altLang="ko-KR" sz="2400" dirty="0"/>
          </a:p>
          <a:p>
            <a:pPr lvl="1"/>
            <a:r>
              <a:rPr lang="ko-KR" altLang="en-US" sz="2000" dirty="0" err="1"/>
              <a:t>파인튜닝에서는</a:t>
            </a:r>
            <a:r>
              <a:rPr lang="ko-KR" altLang="en-US" sz="2000" dirty="0"/>
              <a:t> 큰 차이 </a:t>
            </a:r>
            <a:r>
              <a:rPr lang="en-US" altLang="ko-KR" sz="2000" dirty="0"/>
              <a:t>X</a:t>
            </a:r>
          </a:p>
          <a:p>
            <a:pPr lvl="1"/>
            <a:r>
              <a:rPr lang="en-US" altLang="ko-KR" sz="2000" dirty="0"/>
              <a:t>Linear probing</a:t>
            </a:r>
            <a:r>
              <a:rPr lang="ko-KR" altLang="en-US" sz="2000" dirty="0"/>
              <a:t>에서는 차이 </a:t>
            </a:r>
            <a:r>
              <a:rPr lang="en-US" altLang="ko-KR" sz="2000" dirty="0"/>
              <a:t>O</a:t>
            </a:r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10242" name="Picture 2" descr="https://blog.kakaocdn.net/dna/FDK76/btsybyjEkVk/AAAAAAAAAAAAAAAAAAAAAIi9K5V5SPdkXwFsl8kbm7iNQEda1J550QK-UBrsgE54/img.png?credential=yqXZFxpELC7KVnFOS48ylbz2pIh7yKj8&amp;expires=1788188399&amp;allow_ip=&amp;allow_referer=&amp;signature=keGJMEUhHe3pCN%2FR2uAcRCgmv2A%3D">
            <a:extLst>
              <a:ext uri="{FF2B5EF4-FFF2-40B4-BE49-F238E27FC236}">
                <a16:creationId xmlns:a16="http://schemas.microsoft.com/office/drawing/2014/main" id="{301813BE-5E15-4063-BC7B-B05FDD152C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2955459"/>
            <a:ext cx="103060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57237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3. </a:t>
            </a:r>
            <a:r>
              <a:rPr lang="ko-KR" altLang="en-US" sz="2400" dirty="0"/>
              <a:t>인코더에 </a:t>
            </a:r>
            <a:r>
              <a:rPr lang="ko-KR" altLang="en-US" sz="2400" dirty="0" err="1"/>
              <a:t>마스킹</a:t>
            </a:r>
            <a:r>
              <a:rPr lang="ko-KR" altLang="en-US" sz="2400" dirty="0"/>
              <a:t> 처리한 토큰들 넣냐 </a:t>
            </a:r>
            <a:r>
              <a:rPr lang="ko-KR" altLang="en-US" sz="2400" dirty="0" err="1"/>
              <a:t>안넣냐</a:t>
            </a:r>
            <a:endParaRPr lang="en-US" altLang="ko-KR" sz="2400" dirty="0"/>
          </a:p>
          <a:p>
            <a:pPr lvl="1"/>
            <a:r>
              <a:rPr lang="ko-KR" altLang="en-US" sz="2000" dirty="0"/>
              <a:t>넣으면 </a:t>
            </a:r>
            <a:r>
              <a:rPr lang="ko-KR" altLang="en-US" sz="2000" dirty="0" err="1"/>
              <a:t>연산량이</a:t>
            </a:r>
            <a:r>
              <a:rPr lang="ko-KR" altLang="en-US" sz="2000" dirty="0"/>
              <a:t> </a:t>
            </a:r>
            <a:r>
              <a:rPr lang="en-US" altLang="ko-KR" sz="2000" dirty="0"/>
              <a:t>3.3</a:t>
            </a:r>
            <a:r>
              <a:rPr lang="ko-KR" altLang="en-US" sz="2000" dirty="0"/>
              <a:t>배 늘어남 </a:t>
            </a:r>
            <a:r>
              <a:rPr lang="ko-KR" altLang="en-US" sz="2000" dirty="0" err="1"/>
              <a:t>ㄷㄷ</a:t>
            </a:r>
            <a:endParaRPr lang="en-US" altLang="ko-KR" sz="2000" dirty="0"/>
          </a:p>
          <a:p>
            <a:endParaRPr lang="en-US" altLang="ko-KR" sz="2400" dirty="0"/>
          </a:p>
          <a:p>
            <a:endParaRPr lang="en-US" altLang="ko-KR" sz="2400" dirty="0"/>
          </a:p>
        </p:txBody>
      </p:sp>
      <p:pic>
        <p:nvPicPr>
          <p:cNvPr id="11266" name="Picture 2" descr="https://blog.kakaocdn.net/dna/cNswlq/btsycswsINm/AAAAAAAAAAAAAAAAAAAAAMjPXyydegc1xTMpd1J8qp8cFVpdKzvrNcPRjxu4UtGh/img.png?credential=yqXZFxpELC7KVnFOS48ylbz2pIh7yKj8&amp;expires=1788188399&amp;allow_ip=&amp;allow_referer=&amp;signature=Q%2Fj1Qsid3%2Fix82Vpgn5Wwx4Ylpc%3D">
            <a:extLst>
              <a:ext uri="{FF2B5EF4-FFF2-40B4-BE49-F238E27FC236}">
                <a16:creationId xmlns:a16="http://schemas.microsoft.com/office/drawing/2014/main" id="{562A99C3-9364-4D0E-A3D4-CA3342E91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6828" y="3429000"/>
            <a:ext cx="5620886" cy="3131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15466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4. </a:t>
            </a:r>
            <a:r>
              <a:rPr lang="ko-KR" altLang="en-US" sz="2400" dirty="0"/>
              <a:t>데이터 증강 실험</a:t>
            </a:r>
            <a:endParaRPr lang="en-US" altLang="ko-KR" sz="2400" dirty="0"/>
          </a:p>
          <a:p>
            <a:pPr lvl="1"/>
            <a:r>
              <a:rPr lang="ko-KR" altLang="en-US" sz="2000" dirty="0"/>
              <a:t>기존의 대조 학습</a:t>
            </a:r>
            <a:r>
              <a:rPr lang="en-US" altLang="ko-KR" sz="2000" dirty="0"/>
              <a:t> </a:t>
            </a:r>
            <a:r>
              <a:rPr lang="ko-KR" altLang="en-US" sz="2000" dirty="0"/>
              <a:t>기반 모델들은 같은 이미지를 색상 왜곡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블러</a:t>
            </a:r>
            <a:r>
              <a:rPr lang="ko-KR" altLang="en-US" sz="2000" dirty="0"/>
              <a:t> 처리 등 복잡하고 다양한 데이터 증강을 거쳐야 제대로 학습 가능</a:t>
            </a:r>
            <a:r>
              <a:rPr lang="en-US" altLang="ko-KR" sz="2000" dirty="0"/>
              <a:t>.</a:t>
            </a:r>
          </a:p>
          <a:p>
            <a:pPr lvl="1"/>
            <a:r>
              <a:rPr lang="en-US" altLang="ko-KR" sz="2000" dirty="0"/>
              <a:t>MAE</a:t>
            </a:r>
            <a:r>
              <a:rPr lang="ko-KR" altLang="en-US" sz="2000" dirty="0"/>
              <a:t>는 </a:t>
            </a:r>
            <a:r>
              <a:rPr lang="ko-KR" altLang="en-US" sz="2000" dirty="0" err="1"/>
              <a:t>필요없더라</a:t>
            </a:r>
            <a:r>
              <a:rPr lang="en-US" altLang="ko-KR" sz="2000" dirty="0"/>
              <a:t>.</a:t>
            </a:r>
          </a:p>
          <a:p>
            <a:endParaRPr lang="en-US" altLang="ko-KR" sz="2400" dirty="0"/>
          </a:p>
        </p:txBody>
      </p:sp>
      <p:pic>
        <p:nvPicPr>
          <p:cNvPr id="12290" name="Picture 2" descr="https://blog.kakaocdn.net/dna/5o1jk/btsygnuC5nX/AAAAAAAAAAAAAAAAAAAAAOnaJYZI1udFlRAhbVUbFnyTYKV0Mor_SJyS-VxkD5at/img.png?credential=yqXZFxpELC7KVnFOS48ylbz2pIh7yKj8&amp;expires=1788188399&amp;allow_ip=&amp;allow_referer=&amp;signature=DZz8uzjhRSVfVcwwykvxvgNlyoA%3D">
            <a:extLst>
              <a:ext uri="{FF2B5EF4-FFF2-40B4-BE49-F238E27FC236}">
                <a16:creationId xmlns:a16="http://schemas.microsoft.com/office/drawing/2014/main" id="{E5BF9B65-5A75-464A-BBA4-83E6F03D55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3749" y="3769191"/>
            <a:ext cx="5734050" cy="2876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673093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5. </a:t>
            </a:r>
            <a:r>
              <a:rPr lang="ko-KR" altLang="en-US" sz="2400" dirty="0" err="1"/>
              <a:t>에포크에</a:t>
            </a:r>
            <a:r>
              <a:rPr lang="ko-KR" altLang="en-US" sz="2400" dirty="0"/>
              <a:t> 따른 스케일링</a:t>
            </a:r>
            <a:endParaRPr lang="en-US" altLang="ko-KR" sz="2400" dirty="0"/>
          </a:p>
          <a:p>
            <a:pPr lvl="1"/>
            <a:r>
              <a:rPr lang="en-US" altLang="ko-KR" sz="2000" dirty="0"/>
              <a:t>100 </a:t>
            </a:r>
            <a:r>
              <a:rPr lang="ko-KR" altLang="en-US" sz="2000" dirty="0" err="1"/>
              <a:t>에포크에서</a:t>
            </a:r>
            <a:r>
              <a:rPr lang="ko-KR" altLang="en-US" sz="2000" dirty="0"/>
              <a:t> </a:t>
            </a:r>
            <a:r>
              <a:rPr lang="en-US" altLang="ko-KR" sz="2000" dirty="0"/>
              <a:t>1600 </a:t>
            </a:r>
            <a:r>
              <a:rPr lang="ko-KR" altLang="en-US" sz="2000" dirty="0" err="1"/>
              <a:t>에포크까지</a:t>
            </a:r>
            <a:r>
              <a:rPr lang="en-US" altLang="ko-KR" sz="2000" dirty="0"/>
              <a:t>, </a:t>
            </a:r>
            <a:r>
              <a:rPr lang="ko-KR" altLang="en-US" sz="2000" dirty="0"/>
              <a:t>성능 계속 상승함</a:t>
            </a:r>
            <a:r>
              <a:rPr lang="en-US" altLang="ko-KR" sz="2000" dirty="0"/>
              <a:t>.</a:t>
            </a:r>
          </a:p>
          <a:p>
            <a:endParaRPr lang="en-US" altLang="ko-KR" sz="2400" dirty="0"/>
          </a:p>
        </p:txBody>
      </p:sp>
      <p:pic>
        <p:nvPicPr>
          <p:cNvPr id="13314" name="Picture 2" descr="https://blog.kakaocdn.net/dna/cEGjdl/btsyepeXJ2p/AAAAAAAAAAAAAAAAAAAAAA0ILv_6Pxso33BBMQwOMnFHGHQ4v0S18JMSJFlLzbKf/img.png?credential=yqXZFxpELC7KVnFOS48ylbz2pIh7yKj8&amp;expires=1788188399&amp;allow_ip=&amp;allow_referer=&amp;signature=s34cewZK3uw4FIIAooHVOELBURs%3D">
            <a:extLst>
              <a:ext uri="{FF2B5EF4-FFF2-40B4-BE49-F238E27FC236}">
                <a16:creationId xmlns:a16="http://schemas.microsoft.com/office/drawing/2014/main" id="{42EFF3B3-84A6-4BA4-9175-C7BAB8C885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9288" y="2717187"/>
            <a:ext cx="6670821" cy="402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1363511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</a:t>
            </a:r>
            <a:r>
              <a:rPr lang="ko-KR" altLang="en-US" dirty="0"/>
              <a:t> 이미지넷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/>
              <a:t>6. </a:t>
            </a:r>
            <a:r>
              <a:rPr lang="ko-KR" altLang="en-US" sz="2400" dirty="0" err="1"/>
              <a:t>마스킹</a:t>
            </a:r>
            <a:r>
              <a:rPr lang="ko-KR" altLang="en-US" sz="2400" dirty="0"/>
              <a:t> 비율 실험</a:t>
            </a:r>
            <a:endParaRPr lang="en-US" altLang="ko-KR" sz="2400" dirty="0"/>
          </a:p>
          <a:p>
            <a:pPr lvl="1"/>
            <a:r>
              <a:rPr lang="en-US" altLang="ko-KR" sz="2000" dirty="0"/>
              <a:t>10% ~ 95% </a:t>
            </a:r>
            <a:r>
              <a:rPr lang="ko-KR" altLang="en-US" sz="2000" dirty="0"/>
              <a:t>등 여러 비율로 이미지 가리고 </a:t>
            </a:r>
            <a:r>
              <a:rPr lang="ko-KR" altLang="en-US" sz="2000" dirty="0" err="1"/>
              <a:t>실험해봄</a:t>
            </a:r>
            <a:endParaRPr lang="en-US" altLang="ko-KR" sz="2000" dirty="0"/>
          </a:p>
          <a:p>
            <a:pPr lvl="1"/>
            <a:r>
              <a:rPr lang="en-US" altLang="ko-KR" sz="2000" dirty="0">
                <a:sym typeface="Wingdings" panose="05000000000000000000" pitchFamily="2" charset="2"/>
              </a:rPr>
              <a:t> 75% </a:t>
            </a:r>
            <a:r>
              <a:rPr lang="ko-KR" altLang="en-US" sz="2000" dirty="0">
                <a:sym typeface="Wingdings" panose="05000000000000000000" pitchFamily="2" charset="2"/>
              </a:rPr>
              <a:t>가렸을 때 성능 가장 높음</a:t>
            </a:r>
            <a:endParaRPr lang="en-US" altLang="ko-KR" sz="2000" dirty="0"/>
          </a:p>
          <a:p>
            <a:pPr marL="0" indent="0">
              <a:buNone/>
            </a:pPr>
            <a:endParaRPr lang="en-US" altLang="ko-KR" sz="2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125817F-7007-4B67-81F7-96244D309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3059" y="2965968"/>
            <a:ext cx="6676718" cy="386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4550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 픽셀 복원 말고</a:t>
            </a:r>
            <a:r>
              <a:rPr lang="en-US" altLang="ko-KR" dirty="0"/>
              <a:t>, </a:t>
            </a:r>
            <a:r>
              <a:rPr lang="ko-KR" altLang="en-US" dirty="0"/>
              <a:t>다른 것도 잘 할까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객체 탐지</a:t>
            </a:r>
            <a:r>
              <a:rPr lang="en-US" altLang="ko-KR" dirty="0"/>
              <a:t>, </a:t>
            </a:r>
            <a:r>
              <a:rPr lang="ko-KR" altLang="en-US" dirty="0"/>
              <a:t>의미론적 분할</a:t>
            </a:r>
          </a:p>
        </p:txBody>
      </p:sp>
    </p:spTree>
    <p:extLst>
      <p:ext uri="{BB962C8B-B14F-4D97-AF65-F5344CB8AC3E}">
        <p14:creationId xmlns:p14="http://schemas.microsoft.com/office/powerpoint/2010/main" val="105551863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 픽셀 복원 말고</a:t>
            </a:r>
            <a:r>
              <a:rPr lang="en-US" altLang="ko-KR" dirty="0"/>
              <a:t>, </a:t>
            </a:r>
            <a:r>
              <a:rPr lang="ko-KR" altLang="en-US" dirty="0"/>
              <a:t>다른 것도 잘 할까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객체 탐지</a:t>
            </a:r>
            <a:r>
              <a:rPr lang="en-US" altLang="ko-KR" dirty="0"/>
              <a:t>, </a:t>
            </a:r>
            <a:r>
              <a:rPr lang="ko-KR" altLang="en-US" dirty="0"/>
              <a:t>의미론적 분할</a:t>
            </a:r>
          </a:p>
        </p:txBody>
      </p:sp>
      <p:pic>
        <p:nvPicPr>
          <p:cNvPr id="4" name="Picture 4" descr="딥러닝 기반의 객체 탐지 모델 YOLO(2022, 고3, 7월)">
            <a:extLst>
              <a:ext uri="{FF2B5EF4-FFF2-40B4-BE49-F238E27FC236}">
                <a16:creationId xmlns:a16="http://schemas.microsoft.com/office/drawing/2014/main" id="{94D53F00-21D8-436A-9B37-D8F9A5934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224" y="3629222"/>
            <a:ext cx="4545435" cy="305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4" name="Picture 2" descr="스트리트뷰 이미지에서 도로/보도/자동차/나무 의미론적 분할해보기🌳🚗 [딥러닝 Semantic segmentation + Green  View Index]">
            <a:extLst>
              <a:ext uri="{FF2B5EF4-FFF2-40B4-BE49-F238E27FC236}">
                <a16:creationId xmlns:a16="http://schemas.microsoft.com/office/drawing/2014/main" id="{4138EDAF-4A3A-44D8-802E-5496C4E608B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22"/>
          <a:stretch/>
        </p:blipFill>
        <p:spPr bwMode="auto">
          <a:xfrm>
            <a:off x="7180278" y="4504942"/>
            <a:ext cx="4072854" cy="215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2" descr="스트리트뷰 이미지에서 도로/보도/자동차/나무 의미론적 분할해보기🌳🚗 [딥러닝 Semantic segmentation + Green  View Index]">
            <a:extLst>
              <a:ext uri="{FF2B5EF4-FFF2-40B4-BE49-F238E27FC236}">
                <a16:creationId xmlns:a16="http://schemas.microsoft.com/office/drawing/2014/main" id="{A533F438-AA32-4589-AB3F-D27F33C65A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22"/>
          <a:stretch/>
        </p:blipFill>
        <p:spPr bwMode="auto">
          <a:xfrm>
            <a:off x="7079611" y="2353058"/>
            <a:ext cx="4072853" cy="2151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5635905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 픽셀 복원 말고</a:t>
            </a:r>
            <a:r>
              <a:rPr lang="en-US" altLang="ko-KR" dirty="0"/>
              <a:t>, </a:t>
            </a:r>
            <a:r>
              <a:rPr lang="ko-KR" altLang="en-US" dirty="0"/>
              <a:t>다른 것도 잘 할까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객체 탐지 및 인스턴스 분할 </a:t>
            </a:r>
            <a:r>
              <a:rPr lang="en-US" altLang="ko-KR" dirty="0"/>
              <a:t>– COCO </a:t>
            </a:r>
            <a:r>
              <a:rPr lang="ko-KR" altLang="en-US" dirty="0"/>
              <a:t>데이터셋</a:t>
            </a:r>
            <a:endParaRPr lang="en-US" altLang="ko-KR" dirty="0"/>
          </a:p>
          <a:p>
            <a:r>
              <a:rPr lang="ko-KR" altLang="en-US" dirty="0"/>
              <a:t>의미론적 분할 </a:t>
            </a:r>
            <a:r>
              <a:rPr lang="en-US" altLang="ko-KR" dirty="0"/>
              <a:t>- </a:t>
            </a:r>
            <a:r>
              <a:rPr lang="en-US" altLang="ko-KR" dirty="0" err="1"/>
              <a:t>ADE20K</a:t>
            </a:r>
            <a:r>
              <a:rPr lang="en-US" altLang="ko-KR" dirty="0"/>
              <a:t> </a:t>
            </a:r>
            <a:r>
              <a:rPr lang="ko-KR" altLang="en-US" dirty="0"/>
              <a:t>데이터셋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4181563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이미지 픽셀 복원 말고</a:t>
            </a:r>
            <a:r>
              <a:rPr lang="en-US" altLang="ko-KR" dirty="0"/>
              <a:t>, </a:t>
            </a:r>
            <a:r>
              <a:rPr lang="ko-KR" altLang="en-US" dirty="0"/>
              <a:t>다른 것도 잘 할까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/>
              <a:t>객체 탐지 및 인스턴스 분할 </a:t>
            </a:r>
            <a:r>
              <a:rPr lang="en-US" altLang="ko-KR" dirty="0"/>
              <a:t>– COCO </a:t>
            </a:r>
            <a:r>
              <a:rPr lang="ko-KR" altLang="en-US" dirty="0"/>
              <a:t>데이터셋</a:t>
            </a:r>
            <a:endParaRPr lang="en-US" altLang="ko-KR" dirty="0"/>
          </a:p>
          <a:p>
            <a:r>
              <a:rPr lang="ko-KR" altLang="en-US" dirty="0"/>
              <a:t>의미론적 분할 </a:t>
            </a:r>
            <a:r>
              <a:rPr lang="en-US" altLang="ko-KR" dirty="0"/>
              <a:t>- </a:t>
            </a:r>
            <a:r>
              <a:rPr lang="en-US" altLang="ko-KR" dirty="0" err="1"/>
              <a:t>ADE20K</a:t>
            </a:r>
            <a:r>
              <a:rPr lang="en-US" altLang="ko-KR" dirty="0"/>
              <a:t> </a:t>
            </a:r>
            <a:r>
              <a:rPr lang="ko-KR" altLang="en-US" dirty="0"/>
              <a:t>데이터셋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이것도 시켜보니까</a:t>
            </a:r>
            <a:r>
              <a:rPr lang="en-US" altLang="ko-KR" dirty="0"/>
              <a:t>, </a:t>
            </a:r>
            <a:r>
              <a:rPr lang="ko-KR" altLang="en-US" dirty="0"/>
              <a:t>기존 모델보다 더 잘함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76411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객체 탐지 </a:t>
            </a:r>
            <a:r>
              <a:rPr lang="en-US" altLang="ko-KR" dirty="0"/>
              <a:t>– </a:t>
            </a:r>
            <a:r>
              <a:rPr lang="ko-KR" altLang="en-US" dirty="0"/>
              <a:t>학습된 </a:t>
            </a:r>
            <a:r>
              <a:rPr lang="en-US" altLang="ko-KR" dirty="0" err="1"/>
              <a:t>ViT</a:t>
            </a:r>
            <a:r>
              <a:rPr lang="ko-KR" altLang="en-US" dirty="0"/>
              <a:t>와 </a:t>
            </a:r>
            <a:r>
              <a:rPr lang="en-US" altLang="ko-KR" dirty="0"/>
              <a:t>Mask R-CNN </a:t>
            </a:r>
            <a:r>
              <a:rPr lang="ko-KR" altLang="en-US" dirty="0"/>
              <a:t>결합</a:t>
            </a:r>
            <a:endParaRPr lang="en-US" altLang="ko-KR" dirty="0"/>
          </a:p>
        </p:txBody>
      </p:sp>
      <p:pic>
        <p:nvPicPr>
          <p:cNvPr id="14338" name="Picture 2" descr="https://blog.kakaocdn.net/dna/rkSZz/btsybTujoio/AAAAAAAAAAAAAAAAAAAAAKwrSk1APdU4BJDzhUP6hqoMvrY9Ehz7_wRXrAQzEDYE/img.png?credential=yqXZFxpELC7KVnFOS48ylbz2pIh7yKj8&amp;expires=1788188399&amp;allow_ip=&amp;allow_referer=&amp;signature=DGCoF%2FF942PAX%2FD6HJ9wrIqq%2FyM%3D">
            <a:extLst>
              <a:ext uri="{FF2B5EF4-FFF2-40B4-BE49-F238E27FC236}">
                <a16:creationId xmlns:a16="http://schemas.microsoft.com/office/drawing/2014/main" id="{DAAF5063-F0AB-4772-9B7D-9EB5CE57A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5829" y="2838982"/>
            <a:ext cx="8992481" cy="2982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1727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의미론적 분할 </a:t>
            </a:r>
            <a:r>
              <a:rPr lang="en-US" altLang="ko-KR" dirty="0"/>
              <a:t>- </a:t>
            </a:r>
            <a:r>
              <a:rPr lang="ko-KR" altLang="en-US" dirty="0"/>
              <a:t>학습된 </a:t>
            </a:r>
            <a:r>
              <a:rPr lang="en-US" altLang="ko-KR" dirty="0" err="1"/>
              <a:t>ViT</a:t>
            </a:r>
            <a:r>
              <a:rPr lang="ko-KR" altLang="en-US" dirty="0"/>
              <a:t>와 </a:t>
            </a:r>
            <a:r>
              <a:rPr lang="en-US" altLang="ko-KR" dirty="0" err="1"/>
              <a:t>UperNet</a:t>
            </a:r>
            <a:r>
              <a:rPr lang="en-US" altLang="ko-KR" dirty="0"/>
              <a:t> </a:t>
            </a:r>
            <a:r>
              <a:rPr lang="ko-KR" altLang="en-US" dirty="0"/>
              <a:t>결합</a:t>
            </a:r>
            <a:endParaRPr lang="en-US" altLang="ko-KR" dirty="0"/>
          </a:p>
        </p:txBody>
      </p:sp>
      <p:pic>
        <p:nvPicPr>
          <p:cNvPr id="15362" name="Picture 2" descr="https://blog.kakaocdn.net/dna/lWcof/btsyenBrwb7/AAAAAAAAAAAAAAAAAAAAANJ1OP3Uc4npST7_1rOk1CT_r-APp6F-9jXWaYQOvhzs/img.png?credential=yqXZFxpELC7KVnFOS48ylbz2pIh7yKj8&amp;expires=1788188399&amp;allow_ip=&amp;allow_referer=&amp;signature=ZlwGIRYoGXUoS6oqd7dHVLwNNj8%3D">
            <a:extLst>
              <a:ext uri="{FF2B5EF4-FFF2-40B4-BE49-F238E27FC236}">
                <a16:creationId xmlns:a16="http://schemas.microsoft.com/office/drawing/2014/main" id="{A18C84C2-A673-428B-95AB-7557C1D7DB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050" y="2941477"/>
            <a:ext cx="9531131" cy="274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2486644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 – </a:t>
            </a:r>
            <a:r>
              <a:rPr lang="ko-KR" altLang="en-US" dirty="0"/>
              <a:t>전이 학습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Classification</a:t>
            </a:r>
          </a:p>
        </p:txBody>
      </p:sp>
      <p:pic>
        <p:nvPicPr>
          <p:cNvPr id="15364" name="Picture 4" descr="https://blog.kakaocdn.net/dna/zpwgv/btsMjAOEC4z/AAAAAAAAAAAAAAAAAAAAAJfARpiU3PY_PN1FzrHvv_IV6IRZSspbRJBior5Luj8a/img.png?credential=yqXZFxpELC7KVnFOS48ylbz2pIh7yKj8&amp;expires=1788188399&amp;allow_ip=&amp;allow_referer=&amp;signature=EimAgYo9H8kdMABRdJq0OZK0Oz0%3D">
            <a:extLst>
              <a:ext uri="{FF2B5EF4-FFF2-40B4-BE49-F238E27FC236}">
                <a16:creationId xmlns:a16="http://schemas.microsoft.com/office/drawing/2014/main" id="{C69C7C9D-6558-4CF3-BEC6-6DDE330D91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5684" y="2464630"/>
            <a:ext cx="8916308" cy="3847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93318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DF1F01-76CD-4108-844C-2EBE9B240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MAE</a:t>
            </a:r>
            <a:r>
              <a:rPr lang="ko-KR" altLang="en-US" dirty="0"/>
              <a:t> 결론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4B7C00-2B28-4ACA-9997-E83C6ADDF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성능 좋다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알고리즘이 쉽고 학습 속도가 빠르다</a:t>
            </a:r>
            <a:r>
              <a:rPr lang="en-US" altLang="ko-KR" dirty="0"/>
              <a:t>!</a:t>
            </a:r>
          </a:p>
          <a:p>
            <a:endParaRPr lang="en-US" altLang="ko-KR" dirty="0"/>
          </a:p>
          <a:p>
            <a:r>
              <a:rPr lang="en-US" altLang="ko-KR" dirty="0"/>
              <a:t>3. vision </a:t>
            </a:r>
            <a:r>
              <a:rPr lang="ko-KR" altLang="en-US" dirty="0"/>
              <a:t>분야에도 비지도 학습 적용 가능하다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21904299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6049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0A682E-5F72-468D-A1D0-C0ABFA7F6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추가로 보면 좋을 내용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E10A0-17B3-4A53-B0E9-0A1ADEAB4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음성 자기지도학습 모델</a:t>
            </a:r>
            <a:endParaRPr lang="en-US" altLang="ko-KR" dirty="0"/>
          </a:p>
          <a:p>
            <a:pPr lvl="1"/>
            <a:r>
              <a:rPr lang="en-US" altLang="ko-KR" dirty="0" err="1"/>
              <a:t>wav2vec</a:t>
            </a:r>
            <a:r>
              <a:rPr lang="en-US" altLang="ko-KR" dirty="0"/>
              <a:t> 2.0 – </a:t>
            </a:r>
            <a:r>
              <a:rPr lang="ko-KR" altLang="en-US" dirty="0"/>
              <a:t>대조 학습 기반</a:t>
            </a:r>
            <a:endParaRPr lang="en-US" altLang="ko-KR" dirty="0"/>
          </a:p>
          <a:p>
            <a:pPr lvl="1"/>
            <a:r>
              <a:rPr lang="en-US" altLang="ko-KR" dirty="0" err="1"/>
              <a:t>HuBERT</a:t>
            </a:r>
            <a:r>
              <a:rPr lang="en-US" altLang="ko-KR" dirty="0"/>
              <a:t> – </a:t>
            </a:r>
            <a:r>
              <a:rPr lang="ko-KR" altLang="en-US" dirty="0"/>
              <a:t>클러스터링 기반 순수 </a:t>
            </a:r>
            <a:r>
              <a:rPr lang="en-US" altLang="ko-KR" dirty="0" err="1"/>
              <a:t>MLM</a:t>
            </a:r>
            <a:endParaRPr lang="en-US" altLang="ko-KR" dirty="0"/>
          </a:p>
          <a:p>
            <a:pPr marL="457200" lvl="1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658924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396</TotalTime>
  <Words>2141</Words>
  <Application>Microsoft Office PowerPoint</Application>
  <PresentationFormat>와이드스크린</PresentationFormat>
  <Paragraphs>315</Paragraphs>
  <Slides>68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68</vt:i4>
      </vt:variant>
    </vt:vector>
  </HeadingPairs>
  <TitlesOfParts>
    <vt:vector size="72" baseType="lpstr">
      <vt:lpstr>맑은 고딕</vt:lpstr>
      <vt:lpstr>Arial</vt:lpstr>
      <vt:lpstr>Wingdings</vt:lpstr>
      <vt:lpstr>Office 테마</vt:lpstr>
      <vt:lpstr>Masked &amp; Predictive  Self-Supervised Learning</vt:lpstr>
      <vt:lpstr>목차</vt:lpstr>
      <vt:lpstr>목차</vt:lpstr>
      <vt:lpstr>마스킹 기반 자기주도학습</vt:lpstr>
      <vt:lpstr>마스킹 기반 자기주도학습</vt:lpstr>
      <vt:lpstr>목차</vt:lpstr>
      <vt:lpstr>BERT란?</vt:lpstr>
      <vt:lpstr>BERT – 등장 배경</vt:lpstr>
      <vt:lpstr>BERT – 등장 배경</vt:lpstr>
      <vt:lpstr>BERT – 등장 배경</vt:lpstr>
      <vt:lpstr>BERT – 등장 배경</vt:lpstr>
      <vt:lpstr>BERT – 기본 개념</vt:lpstr>
      <vt:lpstr>BERT – 기본 개념</vt:lpstr>
      <vt:lpstr>BERT – 기본 개념</vt:lpstr>
      <vt:lpstr>BERT – 기본 개념</vt:lpstr>
      <vt:lpstr>BERT – 기본 개념</vt:lpstr>
      <vt:lpstr>BERT – 핵심 아이디어</vt:lpstr>
      <vt:lpstr>BERT – 핵심 아이디어</vt:lpstr>
      <vt:lpstr>BERT – 핵심 아이디어</vt:lpstr>
      <vt:lpstr>BERT - 구조</vt:lpstr>
      <vt:lpstr>BERT - 구조</vt:lpstr>
      <vt:lpstr>BERT - 구조</vt:lpstr>
      <vt:lpstr>BERT - 구조</vt:lpstr>
      <vt:lpstr>BERT – 결과</vt:lpstr>
      <vt:lpstr>BERT – 결과</vt:lpstr>
      <vt:lpstr>BERT – 제거 실험</vt:lpstr>
      <vt:lpstr>BERT – 제거 실험</vt:lpstr>
      <vt:lpstr>BERT – 제거 실험</vt:lpstr>
      <vt:lpstr>BERT – 제거 실험</vt:lpstr>
      <vt:lpstr>BERT – 제거 실험</vt:lpstr>
      <vt:lpstr>BERT – 제거 실험</vt:lpstr>
      <vt:lpstr>BERT – 제거 실험</vt:lpstr>
      <vt:lpstr>BERT – 제거 실험</vt:lpstr>
      <vt:lpstr>BERT – 제거 실험</vt:lpstr>
      <vt:lpstr>BERT – 추가적인 실험</vt:lpstr>
      <vt:lpstr>BERT – 추가적인 실험</vt:lpstr>
      <vt:lpstr>BERT – 파인 튜닝 및 실전 적용</vt:lpstr>
      <vt:lpstr>BERT – 파인 튜닝 및 실전 적용</vt:lpstr>
      <vt:lpstr>BERT – 파인 튜닝 및 실전 적용</vt:lpstr>
      <vt:lpstr>BERT – 파인 튜닝 및 실전 적용</vt:lpstr>
      <vt:lpstr>BERT 결론</vt:lpstr>
      <vt:lpstr>목차</vt:lpstr>
      <vt:lpstr>MAE – 등장 배경</vt:lpstr>
      <vt:lpstr>MAE – 등장 배경</vt:lpstr>
      <vt:lpstr>MAE – 등장 배경</vt:lpstr>
      <vt:lpstr>MAE – 등장 배경</vt:lpstr>
      <vt:lpstr>MAE – 등장 배경</vt:lpstr>
      <vt:lpstr>MAE – 기본 개념 </vt:lpstr>
      <vt:lpstr>MAE – 기본 개념 </vt:lpstr>
      <vt:lpstr>MAE – 기본 개념 </vt:lpstr>
      <vt:lpstr>MAE – 핵심 아이디어</vt:lpstr>
      <vt:lpstr>MAE – 핵심 아이디어</vt:lpstr>
      <vt:lpstr>MAE – 이미지넷 실험</vt:lpstr>
      <vt:lpstr>MAE – 이미지넷 실험</vt:lpstr>
      <vt:lpstr>MAE – 이미지넷 실험</vt:lpstr>
      <vt:lpstr>MAE – 이미지넷 실험</vt:lpstr>
      <vt:lpstr>MAE – 이미지넷 실험</vt:lpstr>
      <vt:lpstr>MAE – 이미지넷 실험</vt:lpstr>
      <vt:lpstr>MAE – 전이 학습 실험</vt:lpstr>
      <vt:lpstr>MAE – 전이 학습 실험</vt:lpstr>
      <vt:lpstr>MAE – 전이 학습 실험</vt:lpstr>
      <vt:lpstr>MAE – 전이 학습 실험</vt:lpstr>
      <vt:lpstr>MAE – 전이 학습 실험</vt:lpstr>
      <vt:lpstr>MAE – 전이 학습 실험</vt:lpstr>
      <vt:lpstr>MAE – 전이 학습 실험</vt:lpstr>
      <vt:lpstr>MAE 결론</vt:lpstr>
      <vt:lpstr>PowerPoint 프레젠테이션</vt:lpstr>
      <vt:lpstr>추가로 보면 좋을 내용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user</dc:creator>
  <cp:lastModifiedBy>user</cp:lastModifiedBy>
  <cp:revision>141</cp:revision>
  <dcterms:created xsi:type="dcterms:W3CDTF">2026-08-28T12:41:50Z</dcterms:created>
  <dcterms:modified xsi:type="dcterms:W3CDTF">2026-08-30T05:04:42Z</dcterms:modified>
</cp:coreProperties>
</file>