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95" r:id="rId5"/>
    <p:sldId id="259" r:id="rId6"/>
    <p:sldId id="294" r:id="rId7"/>
    <p:sldId id="260" r:id="rId8"/>
    <p:sldId id="261" r:id="rId9"/>
    <p:sldId id="297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6" r:id="rId20"/>
    <p:sldId id="277" r:id="rId21"/>
    <p:sldId id="296" r:id="rId22"/>
    <p:sldId id="278" r:id="rId23"/>
    <p:sldId id="29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90" r:id="rId32"/>
    <p:sldId id="289" r:id="rId33"/>
    <p:sldId id="291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21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 주제: 화면 안에만 있던 AI를 밖으로 꺼내, 함께 걷고 게임하고 방송하는 동반자로 만드는 방법.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다섯 파트로 진행. 데모 파트가 가장 길고, 주황색은 Open LLM VTuber, 파란색은 Project AIRI.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우리가 최종적으로 그리는 그림. 게임 파트너, 산책 친구, 방송 진행자, 그리고 AI끼리 노는 모습까지.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Neuro-sama는 우리가 목표로 하는 모습의 대표 사례. 게임 플레이와 실시간 소통을 동시에 해낸다는 점이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10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Neuro-sama는 우리가 목표로 하는 모습의 대표 사례. 게임 플레이와 실시간 소통을 동시에 해낸다는 점이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Neuro-sama는 우리가 목표로 하는 모습의 대표 사례. 게임 플레이와 실시간 소통을 동시에 해낸다는 점이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29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입력, 두뇌, 출력 세 단계로 데이터가 흐른다. 뒤에 나오는 모든 기능은 이 세 칸 중 하나를 강화하는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버튜버를 만들 수 있는 대표적인 오픈소스가 두 가지 있다. 우열을 먼저 정하지 않고, 데모에서 기능별로 직접 비교해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conf.yaml을 열어 persona_prompt에 실제로 작성한 페르소나를 보여준다. 코드 수정 없이 텍스트만으로 캐릭터가 바뀐다는 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교체 가능한 부품. 로컬(Ollama)과 클라우드(Gemini, ChatGPT) 모두 가능하고, 오늘은 Gemini API 키로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기본 기능. 텍스트로 질문하고 페르소나대로 답하는 모습을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대화 기록 폴더를 열어 세션마다 파일이 따로 쌓이는 것을 보여준다. 장기 기억의 기초 데이터가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키보드 없이 말로 대화. STT로 받아 TTS로 답하는 전체 파이프라인이 동작하는 장면.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웃거나 찡그리면 AI가 알아채고 반응을 바꾼다. 입력 단계의 Vision이 추가된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웹페이지를 띄워 두고 "이거 어때?"라고 물으면 화면 내용을 보고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가만히 있어도 AI가 먼저 말을 건다. 비서가 아니라 동반자처럼 느껴지게 만드는 기능.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창이 아니라 바탕화면 위에 캐릭터가 떠 있다. 다른 작업을 하면서도 늘 곁에 있는 느낌.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run_bilibili_live.py 하나로 라이브 방송에 연결. 시청자 채팅에 AI가 반응한다.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MCP로 외부 도구를 연결하면 게임 조작도 가능하다. 완성 기능이라기보다 가능성을 보여주는 데모.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MCP로 외부 도구를 연결하면 게임 조작도 가능하다. 완성 기능이라기보다 가능성을 보여주는 데모.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85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chat_group.py로 여러 사람과 여러 AI가 한 방에. "AI끼리 노는" 유스케이스의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AIRI는 페르소나가 별도 패키지로 분리되어 있다. 성격·배경·프롬프트를 구조적으로 관리할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xsai 덕분에 선택지가 30개 이상. Ollama, ChatGPT, Claude, Gemini를 UI에서 바로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대화 환경이 브라우저에서도, 데스크톱 앱에서도 동작한다.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 없이 브라우저 안의 DB(DuckDB WASM, PGlite)에 기록이 남는다. 장기 기억 구현의 토대.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없이 브라우저만으로 음성 대화. 모바일 산책 모드로 이어질 수 있는 부분.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디스플레이 스냅샷을 Vision LLM에 넘기는 구조. 웹캠은 기본 제공은 아니지만 같은 방식으로 직접 붙일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stage-tamagotchi 앱이 데스크톱 펫 전용. 이름처럼 다마고치처럼 곁에 두는 캐릭터.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투명 배경 아바타를 OBS에 얹어 방송하는 방식. OBS로 송출하는 플랫폼이면 활용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비전으로 보고 RCON으로 조작해 실제 게임을 스스로 플레이한다. AIRI가 핵심 데모로 내세우는 기능.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메신저 연동으로 여러 사람과, 다중 인스턴스로 AI끼리. "자기들끼리 노는 AI"의 기반.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42158"/>
            <a:ext cx="10566400" cy="400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42158"/>
            <a:ext cx="10566400" cy="400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0"/>
            <a:ext cx="6604000" cy="6858000"/>
          </a:xfrm>
          <a:prstGeom prst="rect">
            <a:avLst/>
          </a:prstGeom>
          <a:gradFill rotWithShape="1">
            <a:gsLst>
              <a:gs pos="0">
                <a:srgbClr val="2C4F98"/>
              </a:gs>
              <a:gs pos="38000">
                <a:srgbClr val="1C2140"/>
              </a:gs>
              <a:gs pos="70000">
                <a:srgbClr val="14131F"/>
              </a:gs>
            </a:gsLst>
            <a:path path="circle">
              <a:fillToRect l="70000" t="38000" r="30000" b="62000"/>
            </a:path>
          </a:gradFill>
          <a:ln/>
        </p:spPr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926840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밖으로 나온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031740"/>
            <a:ext cx="10883392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20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걷고, 게임하고, 방송하는</a:t>
            </a:r>
            <a:endParaRPr lang="en-US" sz="2200" dirty="0"/>
          </a:p>
          <a:p>
            <a:pPr marL="0" indent="0" algn="l">
              <a:lnSpc>
                <a:spcPts val="3190"/>
              </a:lnSpc>
              <a:buNone/>
            </a:pPr>
            <a:r>
              <a:rPr lang="en-US" sz="220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궁극의 동반자 만들기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449070"/>
            <a:ext cx="10566400" cy="0"/>
          </a:xfrm>
          <a:prstGeom prst="line">
            <a:avLst/>
          </a:prstGeom>
          <a:noFill/>
          <a:ln w="12700">
            <a:solidFill>
              <a:srgbClr val="1B1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630680"/>
            <a:ext cx="622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7500" y="1689100"/>
            <a:ext cx="23545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76700" y="1692910"/>
            <a:ext cx="62657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게임하고, 산책하고, 방송하는 AI의 청사진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2202815"/>
            <a:ext cx="10566400" cy="0"/>
          </a:xfrm>
          <a:prstGeom prst="line">
            <a:avLst/>
          </a:prstGeom>
          <a:noFill/>
          <a:ln w="6350">
            <a:solidFill>
              <a:srgbClr val="D9D3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382520"/>
            <a:ext cx="622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87500" y="2440940"/>
            <a:ext cx="23545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지식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76700" y="2444750"/>
            <a:ext cx="62657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Neuro-sama 사례와 AI 캐릭터 파이프라인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800" y="2954655"/>
            <a:ext cx="10566400" cy="0"/>
          </a:xfrm>
          <a:prstGeom prst="line">
            <a:avLst/>
          </a:prstGeom>
          <a:noFill/>
          <a:ln w="6350">
            <a:solidFill>
              <a:srgbClr val="D9D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134360"/>
            <a:ext cx="622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87500" y="3192780"/>
            <a:ext cx="23545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검토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76700" y="3196590"/>
            <a:ext cx="62657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오픈소스 프레임워크 소개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2800" y="3706495"/>
            <a:ext cx="10566400" cy="0"/>
          </a:xfrm>
          <a:prstGeom prst="line">
            <a:avLst/>
          </a:prstGeom>
          <a:noFill/>
          <a:ln w="6350">
            <a:solidFill>
              <a:srgbClr val="D9D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019550"/>
            <a:ext cx="622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87500" y="4077970"/>
            <a:ext cx="23545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데모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76700" y="3886200"/>
            <a:ext cx="62657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기능별로 직접 보는 Open LLM VTuber와 AIRI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76700" y="4254500"/>
            <a:ext cx="3055461" cy="289560"/>
          </a:xfrm>
          <a:custGeom>
            <a:avLst/>
            <a:gdLst/>
            <a:ahLst/>
            <a:cxnLst/>
            <a:rect l="l" t="t" r="r" b="b"/>
            <a:pathLst>
              <a:path w="3055461" h="289560">
                <a:moveTo>
                  <a:pt x="144780" y="0"/>
                </a:moveTo>
                <a:lnTo>
                  <a:pt x="2910681" y="0"/>
                </a:lnTo>
                <a:arcTo wR="144780" hR="144780" stAng="16200000" swAng="5400000"/>
                <a:lnTo>
                  <a:pt x="3055461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F6DF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3C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1 · Open LLM VTuber · 13개 기능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08362" y="4254500"/>
            <a:ext cx="2621518" cy="289560"/>
          </a:xfrm>
          <a:custGeom>
            <a:avLst/>
            <a:gdLst/>
            <a:ahLst/>
            <a:cxnLst/>
            <a:rect l="l" t="t" r="r" b="b"/>
            <a:pathLst>
              <a:path w="2621518" h="289560">
                <a:moveTo>
                  <a:pt x="144780" y="0"/>
                </a:moveTo>
                <a:lnTo>
                  <a:pt x="2476738" y="0"/>
                </a:lnTo>
                <a:arcTo wR="144780" hR="144780" stAng="16200000" swAng="5400000"/>
                <a:lnTo>
                  <a:pt x="2621518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2 · Project AIRI · 10개 기능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4725035"/>
            <a:ext cx="10566400" cy="0"/>
          </a:xfrm>
          <a:prstGeom prst="line">
            <a:avLst/>
          </a:prstGeom>
          <a:noFill/>
          <a:ln w="6350">
            <a:solidFill>
              <a:srgbClr val="D9D3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800" y="6225413"/>
            <a:ext cx="10566400" cy="0"/>
          </a:xfrm>
          <a:prstGeom prst="line">
            <a:avLst/>
          </a:prstGeom>
          <a:noFill/>
          <a:ln w="6350">
            <a:solidFill>
              <a:srgbClr val="D9D3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4904740"/>
            <a:ext cx="622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87500" y="4963160"/>
            <a:ext cx="23545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정리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076700" y="4966970"/>
            <a:ext cx="62657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프레임워크의 공통점과 차이점 한눈에 보기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812800" y="5475605"/>
            <a:ext cx="10566400" cy="0"/>
          </a:xfrm>
          <a:prstGeom prst="line">
            <a:avLst/>
          </a:prstGeom>
          <a:noFill/>
          <a:ln w="6350">
            <a:solidFill>
              <a:srgbClr val="D9D3C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12800" y="5654548"/>
            <a:ext cx="622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1587500" y="5712968"/>
            <a:ext cx="235458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4076700" y="5716778"/>
            <a:ext cx="62657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AIRI 마인크래프트 플레이 흐름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오프닝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만들 AI 동반자의 네 가지 모습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70736"/>
            <a:ext cx="2482850" cy="3768090"/>
          </a:xfrm>
          <a:prstGeom prst="roundRect">
            <a:avLst>
              <a:gd name="adj" fmla="val 6010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5" name="Image 0" descr="Pla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0" y="235204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910841"/>
            <a:ext cx="197784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게임하는 AI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3393441"/>
            <a:ext cx="1977847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옆에서 같이 플레이하고 반응하는 게임 파트너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08375" y="2070736"/>
            <a:ext cx="2482850" cy="3768090"/>
          </a:xfrm>
          <a:prstGeom prst="roundRect">
            <a:avLst>
              <a:gd name="adj" fmla="val 6010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9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89680" y="2352041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89680" y="2910841"/>
            <a:ext cx="197784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같이 산책하는 AI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789680" y="3393441"/>
            <a:ext cx="1977847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밖에서 같은 풍경을 보며 대화하는 동반자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00775" y="2070736"/>
            <a:ext cx="2482850" cy="3768090"/>
          </a:xfrm>
          <a:prstGeom prst="roundRect">
            <a:avLst>
              <a:gd name="adj" fmla="val 6010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3" name="Image 2" descr="Cha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2080" y="2352041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82080" y="2910841"/>
            <a:ext cx="19778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방송을 진행하는 AI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482080" y="3723641"/>
            <a:ext cx="1977847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시청자와 소통하며 스트리밍을 이끄는 진행자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93175" y="2070736"/>
            <a:ext cx="2482850" cy="3768090"/>
          </a:xfrm>
          <a:prstGeom prst="roundRect">
            <a:avLst>
              <a:gd name="adj" fmla="val 6010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7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74480" y="2352041"/>
            <a:ext cx="40640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74480" y="2910841"/>
            <a:ext cx="19778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자기들끼리 노는 AI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9174480" y="3723641"/>
            <a:ext cx="1977847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캐릭터끼리 대화하고 어울리는 작은 세계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배경 지식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Neuro-sama, AI 스트리머의 성공 사례</a:t>
            </a:r>
            <a:endParaRPr lang="en-US" sz="3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DFB21C-779A-45E5-B585-A350EF1AC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025" y="1725010"/>
            <a:ext cx="8387100" cy="463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1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배경 지식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Neuro-sama, AI 스트리머의 성공 사례</a:t>
            </a:r>
            <a:endParaRPr lang="en-US" sz="32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A03ED60-5AD2-41F4-A16C-C5532D5E29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45" t="5728"/>
          <a:stretch/>
        </p:blipFill>
        <p:spPr>
          <a:xfrm>
            <a:off x="2239861" y="1686561"/>
            <a:ext cx="7499758" cy="5061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배경 지식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Neuro-sama, AI 스트리머의 성공 사례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2458720"/>
            <a:ext cx="3386614" cy="1922780"/>
          </a:xfrm>
          <a:prstGeom prst="roundRect">
            <a:avLst>
              <a:gd name="adj" fmla="val 7926"/>
            </a:avLst>
          </a:prstGeom>
          <a:solidFill>
            <a:srgbClr val="FCFBF7"/>
          </a:solidFill>
          <a:ln/>
        </p:spPr>
      </p:sp>
      <p:sp>
        <p:nvSpPr>
          <p:cNvPr id="7" name="Text 5"/>
          <p:cNvSpPr/>
          <p:nvPr/>
        </p:nvSpPr>
        <p:spPr>
          <a:xfrm>
            <a:off x="1117600" y="2927478"/>
            <a:ext cx="286032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ko-KR" altLang="en-US" sz="22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플레이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7600" y="3392298"/>
            <a:ext cx="28603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조작하지 않고 AI가 직접 게임을 플레이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14" y="2458720"/>
            <a:ext cx="3386693" cy="1922780"/>
          </a:xfrm>
          <a:prstGeom prst="roundRect">
            <a:avLst>
              <a:gd name="adj" fmla="val 7926"/>
            </a:avLst>
          </a:prstGeom>
          <a:solidFill>
            <a:srgbClr val="FCFBF7"/>
          </a:solidFill>
          <a:ln/>
        </p:spPr>
      </p:sp>
      <p:sp>
        <p:nvSpPr>
          <p:cNvPr id="11" name="Text 9"/>
          <p:cNvSpPr/>
          <p:nvPr/>
        </p:nvSpPr>
        <p:spPr>
          <a:xfrm>
            <a:off x="4707414" y="2927478"/>
            <a:ext cx="28604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ko-KR" altLang="en-US" sz="22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</a:rPr>
              <a:t>실시간 대화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7414" y="3392298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채팅을 읽고 목소리로 </a:t>
            </a:r>
            <a:r>
              <a:rPr lang="en-US" sz="14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</a:t>
            </a: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07" y="2458720"/>
            <a:ext cx="3386693" cy="1922780"/>
          </a:xfrm>
          <a:prstGeom prst="roundRect">
            <a:avLst>
              <a:gd name="adj" fmla="val 7926"/>
            </a:avLst>
          </a:prstGeom>
          <a:solidFill>
            <a:srgbClr val="FCFB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7307" y="2927478"/>
            <a:ext cx="28604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수만 명의 시청자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97307" y="3392298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캐릭터도 대형 스트리머가 될 수 있음을 증명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189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배경 지식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캐릭터의 기본 파이프라인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21536"/>
            <a:ext cx="2943384" cy="2056130"/>
          </a:xfrm>
          <a:prstGeom prst="roundRect">
            <a:avLst>
              <a:gd name="adj" fmla="val 6022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2428239"/>
            <a:ext cx="23998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2680" y="2768600"/>
            <a:ext cx="2399873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22680" y="3261361"/>
            <a:ext cx="239987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(음성 → 텍스트)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(화면·카메라)</a:t>
            </a:r>
            <a:endParaRPr lang="en-US" sz="15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65734" y="3022600"/>
            <a:ext cx="457200" cy="25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26134" y="2123439"/>
            <a:ext cx="2939653" cy="2052320"/>
          </a:xfrm>
          <a:prstGeom prst="roundRect">
            <a:avLst>
              <a:gd name="adj" fmla="val 6188"/>
            </a:avLst>
          </a:prstGeom>
          <a:solidFill>
            <a:srgbClr val="1B1A26"/>
          </a:solidFill>
          <a:ln/>
        </p:spPr>
      </p:sp>
      <p:sp>
        <p:nvSpPr>
          <p:cNvPr id="10" name="Text 7"/>
          <p:cNvSpPr/>
          <p:nvPr/>
        </p:nvSpPr>
        <p:spPr>
          <a:xfrm>
            <a:off x="4930934" y="2428239"/>
            <a:ext cx="23999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F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0934" y="2768600"/>
            <a:ext cx="239995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930934" y="3261361"/>
            <a:ext cx="23999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프롬프트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기억</a:t>
            </a:r>
            <a:endParaRPr lang="en-US" sz="15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68987" y="3022600"/>
            <a:ext cx="457200" cy="254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432562" y="2121536"/>
            <a:ext cx="2943463" cy="2056130"/>
          </a:xfrm>
          <a:prstGeom prst="roundRect">
            <a:avLst>
              <a:gd name="adj" fmla="val 6022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39267" y="2428239"/>
            <a:ext cx="23999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739267" y="2768600"/>
            <a:ext cx="239995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739267" y="3261361"/>
            <a:ext cx="23999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 (텍스트 → 음성)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립싱크 · 아바타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기술 스택 검토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오픈소스 프레임워크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1865" y="2070736"/>
            <a:ext cx="5149850" cy="3768090"/>
          </a:xfrm>
          <a:prstGeom prst="roundRect">
            <a:avLst>
              <a:gd name="adj" fmla="val 3960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3480" y="2428239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SOURCE ·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3480" y="2819400"/>
            <a:ext cx="4567885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LLM VTuber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73480" y="3393438"/>
            <a:ext cx="4567885" cy="219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560"/>
              </a:lnSpc>
              <a:buFontTx/>
              <a:buChar char="-"/>
            </a:pP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파이썬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웹소켓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연결 기반 </a:t>
            </a:r>
            <a:endParaRPr lang="en-US" altLang="ko-KR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285750" indent="-285750" algn="l">
              <a:lnSpc>
                <a:spcPts val="2560"/>
              </a:lnSpc>
              <a:buFontTx/>
              <a:buChar char="-"/>
            </a:pP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파이썬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서버가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STT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LLM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TTS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모두 처리 후 브라우저로 보내줌</a:t>
            </a:r>
            <a:endParaRPr lang="en-US" altLang="ko-KR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</a:endParaRPr>
          </a:p>
          <a:p>
            <a:pPr marL="285750" indent="-285750" algn="l">
              <a:lnSpc>
                <a:spcPts val="2560"/>
              </a:lnSpc>
              <a:buFontTx/>
              <a:buChar char="-"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6175" y="2070736"/>
            <a:ext cx="5149850" cy="3768090"/>
          </a:xfrm>
          <a:prstGeom prst="roundRect">
            <a:avLst>
              <a:gd name="adj" fmla="val 3960"/>
            </a:avLst>
          </a:prstGeom>
          <a:solidFill>
            <a:srgbClr val="FCFBF7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28239"/>
            <a:ext cx="45678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SOURCE ·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819400"/>
            <a:ext cx="4567885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AIRI</a:t>
            </a:r>
            <a:endParaRPr lang="en-US" sz="2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AC465-2B87-40FD-8DA8-7F1A01C1134F}"/>
              </a:ext>
            </a:extLst>
          </p:cNvPr>
          <p:cNvSpPr/>
          <p:nvPr/>
        </p:nvSpPr>
        <p:spPr>
          <a:xfrm>
            <a:off x="6583680" y="3382344"/>
            <a:ext cx="4567885" cy="219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560"/>
              </a:lnSpc>
              <a:buFontTx/>
              <a:buChar char="-"/>
            </a:pP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</a:t>
            </a:r>
            <a:endParaRPr lang="en-US" altLang="ko-KR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285750" indent="-285750" algn="l">
              <a:lnSpc>
                <a:spcPts val="2560"/>
              </a:lnSpc>
              <a:buFontTx/>
              <a:buChar char="-"/>
            </a:pPr>
            <a:r>
              <a:rPr 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WebGPU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WASM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WebWorkers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등을 사용하여 웹 브라우저 자체의 연산을 활용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n LLM VTuber 시연">
    <p:bg>
      <p:bgPr>
        <a:solidFill>
          <a:srgbClr val="14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5588000" y="0"/>
            <a:ext cx="6604000" cy="6858000"/>
          </a:xfrm>
          <a:prstGeom prst="rect">
            <a:avLst/>
          </a:prstGeom>
          <a:gradFill rotWithShape="1">
            <a:gsLst>
              <a:gs pos="0">
                <a:srgbClr val="7A3E1C"/>
              </a:gs>
              <a:gs pos="38000">
                <a:srgbClr val="2A1D22"/>
              </a:gs>
              <a:gs pos="70000">
                <a:srgbClr val="14131F"/>
              </a:gs>
            </a:gsLst>
            <a:path path="circle">
              <a:fillToRect l="70000" t="38000" r="30000" b="62000"/>
            </a:path>
          </a:gradFill>
          <a:ln/>
        </p:spPr>
      </p:sp>
      <p:sp>
        <p:nvSpPr>
          <p:cNvPr id="3" name="Eyebrow"/>
          <p:cNvSpPr txBox="1"/>
          <p:nvPr/>
        </p:nvSpPr>
        <p:spPr>
          <a:xfrm>
            <a:off x="812901" y="2331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400" b="1" spc="100" dirty="0">
                <a:solidFill>
                  <a:srgbClr val="FF9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</a:t>
            </a:r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12901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LLM VTuber 시연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1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구축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40561"/>
            <a:ext cx="444754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conf.yaml 파일의 persona_prompt </a:t>
            </a:r>
            <a:r>
              <a:rPr 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부분에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글을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써넣는 것만으로 캐릭터의 성격이 완성됩니다.</a:t>
            </a:r>
            <a:endParaRPr 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176CB80-37AC-4C2E-9927-9D5FDF9E9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62" y="2992121"/>
            <a:ext cx="10147177" cy="1559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모델 선택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40563"/>
            <a:ext cx="4447540" cy="1247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Ollama, Gemini, ChatGPT 등 여러 모델 중 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골라서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쓰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예시에서는 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API 키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9DF3DE1-869E-4046-B8E5-A1343C31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893" y="533713"/>
            <a:ext cx="6397618" cy="336716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0E3A258-6D82-4EB4-BFFC-C8A25606A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292" y="4400194"/>
            <a:ext cx="6472819" cy="9628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대화</a:t>
            </a:r>
            <a:endParaRPr lang="en-US" sz="3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663E03-0E93-4623-9D6A-C3FD608DD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570" y="1123388"/>
            <a:ext cx="8967981" cy="50430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세션별 대화 내역 저장</a:t>
            </a:r>
            <a:endParaRPr lang="en-US" sz="3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E120192-1F7E-431B-B432-76380DDE46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58" t="9265" r="23063"/>
          <a:stretch/>
        </p:blipFill>
        <p:spPr>
          <a:xfrm>
            <a:off x="4998847" y="1380315"/>
            <a:ext cx="6615256" cy="45687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인식 대화</a:t>
            </a:r>
            <a:endParaRPr lang="en-US" sz="3200" dirty="0"/>
          </a:p>
        </p:txBody>
      </p:sp>
      <p:pic>
        <p:nvPicPr>
          <p:cNvPr id="12" name="화면 녹화 중 2026-10-06 013543">
            <a:hlinkClick r:id="" action="ppaction://media"/>
            <a:extLst>
              <a:ext uri="{FF2B5EF4-FFF2-40B4-BE49-F238E27FC236}">
                <a16:creationId xmlns:a16="http://schemas.microsoft.com/office/drawing/2014/main" id="{5E682E91-CD5A-4908-9A0F-1D7937E069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8599" y="1150850"/>
            <a:ext cx="8491024" cy="4771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연동 대화</a:t>
            </a:r>
            <a:endParaRPr lang="en-US" sz="3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0BF566-6254-4A34-8965-299627E673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285"/>
          <a:stretch/>
        </p:blipFill>
        <p:spPr>
          <a:xfrm>
            <a:off x="4060271" y="380998"/>
            <a:ext cx="3473042" cy="61581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A813273-F7A9-45C2-9E3E-8C3BD374EC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7936"/>
          <a:stretch/>
        </p:blipFill>
        <p:spPr>
          <a:xfrm>
            <a:off x="7617962" y="380998"/>
            <a:ext cx="3489431" cy="61197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화면 보며 대화</a:t>
            </a:r>
            <a:endParaRPr lang="en-US" sz="3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2F8DBB9-4BDA-4CB1-8581-6111A1CAC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614" y="1762764"/>
            <a:ext cx="7848601" cy="44135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64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먼저 말 걸기</a:t>
            </a:r>
            <a:endParaRPr lang="en-US" sz="3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49EB72-C6BA-42BE-B222-660FBCDE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40" y="1813373"/>
            <a:ext cx="4016088" cy="21871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A9C3403-DA08-4A10-934B-88907CAFF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788" y="1762764"/>
            <a:ext cx="7689985" cy="43203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Desktop Pet</a:t>
            </a:r>
            <a:endParaRPr lang="en-US" sz="3200" dirty="0"/>
          </a:p>
        </p:txBody>
      </p:sp>
      <p:pic>
        <p:nvPicPr>
          <p:cNvPr id="1026" name="Picture 2" descr="Project Overview | Open LLM Vtuber">
            <a:extLst>
              <a:ext uri="{FF2B5EF4-FFF2-40B4-BE49-F238E27FC236}">
                <a16:creationId xmlns:a16="http://schemas.microsoft.com/office/drawing/2014/main" id="{56B2A73E-2322-4988-A123-C5DBF1B6D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770" y="1154370"/>
            <a:ext cx="7566069" cy="489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빌리빌리 스트리밍</a:t>
            </a:r>
            <a:endParaRPr 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D4D1508-B862-4FC6-AA4F-805B677D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042" y="1321638"/>
            <a:ext cx="7457709" cy="5088970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C89778E4-72EA-46F6-855E-C6729833BE79}"/>
              </a:ext>
            </a:extLst>
          </p:cNvPr>
          <p:cNvSpPr/>
          <p:nvPr/>
        </p:nvSpPr>
        <p:spPr>
          <a:xfrm>
            <a:off x="812800" y="1940556"/>
            <a:ext cx="280751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관련 </a:t>
            </a:r>
            <a:r>
              <a:rPr lang="ko-KR" altLang="en-US" sz="160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코드가 구현되어 있음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직접 플레이 (MCP)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99" y="1940557"/>
            <a:ext cx="10738841" cy="247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b="1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관련 기능 지원 </a:t>
            </a:r>
            <a:r>
              <a:rPr lang="en-US" altLang="ko-KR" sz="1600" b="1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X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하지만</a:t>
            </a:r>
            <a:r>
              <a:rPr lang="en-US" altLang="ko-KR" sz="1600" dirty="0"/>
              <a:t>, </a:t>
            </a:r>
            <a:r>
              <a:rPr lang="en-US" altLang="ko-KR" sz="1600" b="1" dirty="0"/>
              <a:t>AI</a:t>
            </a:r>
            <a:r>
              <a:rPr lang="ko-KR" altLang="en-US" sz="1600" b="1" dirty="0"/>
              <a:t>가 외부 도구를 사용하게 해주는 </a:t>
            </a:r>
            <a:r>
              <a:rPr lang="en-US" altLang="ko-KR" sz="1600" b="1" dirty="0" err="1"/>
              <a:t>MCP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기능은 포함되어 있음</a:t>
            </a:r>
            <a:r>
              <a:rPr lang="en-US" altLang="ko-KR" sz="1600" dirty="0"/>
              <a:t>.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/>
              <a:t>-&gt; </a:t>
            </a:r>
            <a:r>
              <a:rPr lang="ko-KR" altLang="en-US" sz="1600" dirty="0" err="1"/>
              <a:t>파이썬으로</a:t>
            </a:r>
            <a:r>
              <a:rPr lang="ko-KR" altLang="en-US" sz="1600" dirty="0"/>
              <a:t> 마우스</a:t>
            </a:r>
            <a:r>
              <a:rPr lang="en-US" altLang="ko-KR" sz="1600" dirty="0"/>
              <a:t>/</a:t>
            </a:r>
            <a:r>
              <a:rPr lang="ko-KR" altLang="en-US" sz="1600" dirty="0"/>
              <a:t>키보드 다루는 매크로 코드를 짜서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MCP</a:t>
            </a:r>
            <a:r>
              <a:rPr lang="ko-KR" altLang="en-US" sz="1600" dirty="0"/>
              <a:t>로 등록해두고</a:t>
            </a:r>
            <a:r>
              <a:rPr lang="en-US" altLang="ko-KR" sz="1600" dirty="0"/>
              <a:t>, 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altLang="ko-KR" sz="1600" dirty="0"/>
              <a:t>    AI</a:t>
            </a:r>
            <a:r>
              <a:rPr lang="ko-KR" altLang="en-US" sz="1600" dirty="0"/>
              <a:t>한테 게임 화면을 실시간으로 보여주면서 </a:t>
            </a:r>
            <a:r>
              <a:rPr lang="en-US" altLang="ko-KR" sz="1600" dirty="0"/>
              <a:t>(</a:t>
            </a:r>
            <a:r>
              <a:rPr lang="ko-KR" altLang="en-US" sz="1600" dirty="0"/>
              <a:t>혹은 게임 내부 데이터를 직접 전달하면서 </a:t>
            </a:r>
            <a:r>
              <a:rPr lang="en-US" altLang="ko-KR" sz="1600" dirty="0"/>
              <a:t>)</a:t>
            </a:r>
            <a:r>
              <a:rPr lang="en-US" altLang="ko-KR" sz="1600" dirty="0" err="1"/>
              <a:t>MCP</a:t>
            </a:r>
            <a:r>
              <a:rPr lang="ko-KR" altLang="en-US" sz="1600" dirty="0"/>
              <a:t>로 조작하게 하기는 가능</a:t>
            </a:r>
            <a:r>
              <a:rPr lang="en-US" altLang="ko-KR" sz="16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ko-KR" altLang="en-US" b="1" dirty="0"/>
              <a:t>게임 훈수두기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99" y="1940557"/>
            <a:ext cx="10738841" cy="247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화면 공유 기능</a:t>
            </a:r>
            <a:r>
              <a:rPr lang="en-US" altLang="ko-KR" sz="1600" dirty="0"/>
              <a:t>] + [</a:t>
            </a:r>
            <a:r>
              <a:rPr lang="ko-KR" altLang="en-US" sz="1600" dirty="0"/>
              <a:t>먼저 말 걸기</a:t>
            </a:r>
            <a:r>
              <a:rPr lang="en-US" altLang="ko-KR" sz="1600" dirty="0"/>
              <a:t>] </a:t>
            </a:r>
            <a:r>
              <a:rPr lang="ko-KR" altLang="en-US" sz="1600" dirty="0"/>
              <a:t>기능으로</a:t>
            </a: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b="1" dirty="0"/>
              <a:t>내가 게임 하고 있을 때 옆에서 훈수두기 기능</a:t>
            </a:r>
            <a:r>
              <a:rPr lang="ko-KR" altLang="en-US" sz="1600" dirty="0"/>
              <a:t>은 바로 구현 가능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62028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Open LLM VTuber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대화</a:t>
            </a:r>
            <a:endParaRPr 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3B57B0E-A81E-442C-81B7-408179870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454" y="1762758"/>
            <a:ext cx="9126265" cy="50305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AIRI 시연">
    <p:bg>
      <p:bgPr>
        <a:solidFill>
          <a:srgbClr val="14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5588000" y="0"/>
            <a:ext cx="6604000" cy="6858000"/>
          </a:xfrm>
          <a:prstGeom prst="rect">
            <a:avLst/>
          </a:prstGeom>
          <a:gradFill rotWithShape="1">
            <a:gsLst>
              <a:gs pos="0">
                <a:srgbClr val="2C4F98"/>
              </a:gs>
              <a:gs pos="38000">
                <a:srgbClr val="1C2140"/>
              </a:gs>
              <a:gs pos="70000">
                <a:srgbClr val="14131F"/>
              </a:gs>
            </a:gsLst>
            <a:path path="circle">
              <a:fillToRect l="70000" t="38000" r="30000" b="62000"/>
            </a:path>
          </a:gradFill>
          <a:ln/>
        </p:spPr>
      </p:sp>
      <p:sp>
        <p:nvSpPr>
          <p:cNvPr id="3" name="Eyebrow"/>
          <p:cNvSpPr txBox="1"/>
          <p:nvPr/>
        </p:nvSpPr>
        <p:spPr>
          <a:xfrm>
            <a:off x="812901" y="2331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400" b="1" spc="100" dirty="0">
                <a:solidFill>
                  <a:srgbClr val="7F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</a:t>
            </a:r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12901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AIRI 시연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구축</a:t>
            </a:r>
            <a:endParaRPr lang="en-US" sz="3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34BE480-D198-44E6-87CC-446790F8F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16" y="221301"/>
            <a:ext cx="6838173" cy="38453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4C29594-77B9-42F8-826D-B80517815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423" y="4083437"/>
            <a:ext cx="8416954" cy="26738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모델 선택</a:t>
            </a:r>
            <a:endParaRPr lang="en-US" sz="3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BB8ADC-494E-498B-94DB-F4C53C768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57" y="3464653"/>
            <a:ext cx="5989610" cy="33681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5998166-4057-4EF9-9B3C-32B7420FA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707" y="33556"/>
            <a:ext cx="6097766" cy="342900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BC1046AA-5DE0-464A-A1EE-39659F4E0B8C}"/>
              </a:ext>
            </a:extLst>
          </p:cNvPr>
          <p:cNvSpPr/>
          <p:nvPr/>
        </p:nvSpPr>
        <p:spPr>
          <a:xfrm>
            <a:off x="376573" y="3984794"/>
            <a:ext cx="5504110" cy="206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Project </a:t>
            </a:r>
            <a:r>
              <a:rPr 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Airi</a:t>
            </a: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의 경우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기본 제공되는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Airi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서버 모델이 존재함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altLang="ko-KR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근데 전용 토큰이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따로 있어서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결제를 하거나  로컬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LLM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혹은 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API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연결을 </a:t>
            </a: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해줘야함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대화</a:t>
            </a:r>
            <a:endParaRPr 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9A7775-1525-47D5-AB58-983FF3C9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570" y="1622330"/>
            <a:ext cx="8716161" cy="49014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세션별 대화 내역 저장</a:t>
            </a:r>
            <a:endParaRPr lang="en-US" sz="3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E8EC1F-C9E1-43EB-A724-BF91B2DE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476" y="1843881"/>
            <a:ext cx="9096462" cy="48055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인식 대화</a:t>
            </a:r>
            <a:endParaRPr lang="en-US" sz="3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E700124-F8B3-4B74-9CAD-6BAD4D765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441" y="1762758"/>
            <a:ext cx="8887117" cy="49975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58"/>
            <a:ext cx="510982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공유</a:t>
            </a: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51406" y="2169600"/>
            <a:ext cx="4447540" cy="282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웹 브라우저로 띄우면 잘 안되고</a:t>
            </a: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펫 모드로 띄워야 잘됨</a:t>
            </a: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캠 연동은 안되는듯</a:t>
            </a:r>
            <a:endParaRPr 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333E772-FA0C-4821-BE02-691A53CC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787" y="1845578"/>
            <a:ext cx="8732088" cy="49103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Desktop Pet</a:t>
            </a:r>
            <a:endParaRPr lang="en-US" sz="3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77B316-3897-47B0-84D8-87D4BFA6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300" y="1847583"/>
            <a:ext cx="8744125" cy="49171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스트리밍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40569"/>
            <a:ext cx="8431868" cy="336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트위치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유튜브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디스코드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등의 채팅을 한 곳으로 모아주는 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‘Satori’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라는 통합 봇 프로토콜이 존재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이걸 잘 깎으면 채팅창과 반응하는 </a:t>
            </a:r>
            <a:r>
              <a:rPr lang="en-US" altLang="ko-KR" sz="1600" dirty="0"/>
              <a:t>AI </a:t>
            </a:r>
            <a:r>
              <a:rPr lang="ko-KR" altLang="en-US" sz="1600" dirty="0"/>
              <a:t>만들 수 있을지도</a:t>
            </a:r>
            <a:r>
              <a:rPr lang="en-US" altLang="ko-KR" sz="1600" dirty="0"/>
              <a:t>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직접 플레이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40570"/>
            <a:ext cx="7282576" cy="3688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마인크래프트, 팩토리오 등을 자율 플레이.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ts val="2480"/>
              </a:lnSpc>
              <a:buNone/>
            </a:pPr>
            <a:endParaRPr lang="en-US" sz="1600" dirty="0">
              <a:solidFill>
                <a:srgbClr val="4A4A58"/>
              </a:solidFill>
              <a:latin typeface="Noto Sans KR" pitchFamily="34" charset="0"/>
              <a:ea typeface="Noto Sans KR" pitchFamily="34" charset="-122"/>
            </a:endParaRPr>
          </a:p>
          <a:p>
            <a:pPr marL="285750" indent="-285750" algn="l">
              <a:lnSpc>
                <a:spcPts val="2480"/>
              </a:lnSpc>
              <a:buFontTx/>
              <a:buChar char="-"/>
            </a:pP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마인크래프트의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경우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en-US" altLang="ko-KR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mineflayer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라는 라이브러리를 사용함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algn="l">
              <a:lnSpc>
                <a:spcPts val="2480"/>
              </a:lnSpc>
            </a:pPr>
            <a:r>
              <a:rPr 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     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실제 화면을 보는게 아니라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게임 내의 데이터를 보고 판단을 내림</a:t>
            </a:r>
            <a:r>
              <a:rPr lang="en-US" altLang="ko-KR" sz="160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600" dirty="0"/>
          </a:p>
          <a:p>
            <a:pPr marL="285750" indent="-285750" algn="l">
              <a:lnSpc>
                <a:spcPts val="2480"/>
              </a:lnSpc>
              <a:buFontTx/>
              <a:buChar char="-"/>
            </a:pP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비전(화면 분석)을 쓰지 않음 → 서버가 보내는 데이터(JSON)를 직접 읽어 판단함.</a:t>
            </a:r>
          </a:p>
          <a:p>
            <a:pPr marL="285750" indent="-285750" algn="l">
              <a:lnSpc>
                <a:spcPts val="2480"/>
              </a:lnSpc>
              <a:buFontTx/>
              <a:buChar char="-"/>
            </a:pPr>
            <a:r>
              <a:rPr lang="ko-KR" altLang="en-US" sz="1600" dirty="0" err="1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</a:rPr>
              <a:t>RCON(관리자 콘솔)도 쓰지 않음 → 평범한 일반 유저로 접속해 조작 신호를 서버로 보냄.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실전 데모 · Project AIRI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70"/>
            <a:ext cx="4447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대화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99" y="1940570"/>
            <a:ext cx="9589549" cy="429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/>
              <a:t>AI</a:t>
            </a:r>
            <a:r>
              <a:rPr lang="ko-KR" altLang="en-US" sz="1600" dirty="0"/>
              <a:t> 여러 개 만든 다음에</a:t>
            </a:r>
            <a:r>
              <a:rPr lang="en-US" altLang="ko-KR" sz="1600" dirty="0"/>
              <a:t>, </a:t>
            </a:r>
            <a:r>
              <a:rPr lang="ko-KR" altLang="en-US" sz="1600" dirty="0"/>
              <a:t>각각을 </a:t>
            </a:r>
            <a:r>
              <a:rPr lang="ko-KR" altLang="en-US" sz="1600" dirty="0" err="1"/>
              <a:t>디스코드</a:t>
            </a:r>
            <a:r>
              <a:rPr lang="ko-KR" altLang="en-US" sz="1600" dirty="0"/>
              <a:t> 봇으로 만들어서 방 하나에 초대해두면</a:t>
            </a: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여러 명의 </a:t>
            </a:r>
            <a:r>
              <a:rPr lang="en-US" altLang="ko-KR" sz="1600" dirty="0"/>
              <a:t>AI</a:t>
            </a:r>
            <a:r>
              <a:rPr lang="ko-KR" altLang="en-US" sz="1600" dirty="0"/>
              <a:t>와 동시에 대화 가능</a:t>
            </a:r>
            <a:r>
              <a:rPr lang="en-US" altLang="ko-KR" sz="1600" dirty="0"/>
              <a:t>.</a:t>
            </a:r>
          </a:p>
          <a:p>
            <a:pPr marL="0" indent="0" algn="l">
              <a:lnSpc>
                <a:spcPts val="2480"/>
              </a:lnSpc>
              <a:buNone/>
            </a:pPr>
            <a:r>
              <a:rPr lang="en-US" altLang="ko-KR" sz="1600" dirty="0"/>
              <a:t>(</a:t>
            </a:r>
            <a:r>
              <a:rPr lang="ko-KR" altLang="en-US" sz="1600" dirty="0" err="1"/>
              <a:t>디스코드용</a:t>
            </a:r>
            <a:r>
              <a:rPr lang="ko-KR" altLang="en-US" sz="1600" dirty="0"/>
              <a:t> 음성 대화 라이브러리가 존재함</a:t>
            </a:r>
            <a:r>
              <a:rPr lang="en-US" altLang="ko-KR" sz="1600" dirty="0"/>
              <a:t>)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다만</a:t>
            </a:r>
            <a:r>
              <a:rPr lang="en-US" altLang="ko-KR" sz="1600" dirty="0"/>
              <a:t>, </a:t>
            </a:r>
            <a:r>
              <a:rPr lang="ko-KR" altLang="en-US" sz="1600" dirty="0"/>
              <a:t>현재는 무한 대화를 방지하기 위해서</a:t>
            </a:r>
            <a:r>
              <a:rPr lang="en-US" altLang="ko-KR" sz="1600" dirty="0"/>
              <a:t>, AI</a:t>
            </a:r>
            <a:r>
              <a:rPr lang="ko-KR" altLang="en-US" sz="1600" dirty="0"/>
              <a:t>의 말에 다른 </a:t>
            </a:r>
            <a:r>
              <a:rPr lang="en-US" altLang="ko-KR" sz="1600" dirty="0"/>
              <a:t>AI</a:t>
            </a:r>
            <a:r>
              <a:rPr lang="ko-KR" altLang="en-US" sz="1600" dirty="0"/>
              <a:t>가 반응하지 않도록 되어있다고 함</a:t>
            </a:r>
            <a:r>
              <a:rPr lang="en-US" altLang="ko-KR" sz="1600" dirty="0"/>
              <a:t>.</a:t>
            </a:r>
          </a:p>
          <a:p>
            <a:pPr marL="0" indent="0" algn="l">
              <a:lnSpc>
                <a:spcPts val="2480"/>
              </a:lnSpc>
              <a:buNone/>
            </a:pPr>
            <a:endParaRPr lang="en-US" altLang="ko-KR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ko-KR" altLang="en-US" sz="1600" dirty="0"/>
              <a:t>잘 깎으면 자기들끼리 얘기하게 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일상 대화 하듯이 여러 </a:t>
            </a:r>
            <a:r>
              <a:rPr lang="ko-KR" altLang="en-US" sz="1600" dirty="0" err="1"/>
              <a:t>명이랑</a:t>
            </a:r>
            <a:r>
              <a:rPr lang="ko-KR" altLang="en-US" sz="1600" dirty="0"/>
              <a:t> 대화하게 만들 수 있을지도</a:t>
            </a:r>
            <a:r>
              <a:rPr lang="en-US" altLang="ko-KR" sz="1600" dirty="0"/>
              <a:t>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비교 정리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비교 정리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한눈에 보는 공통점과 차이점</a:t>
            </a:r>
            <a:endParaRPr lang="en-US" sz="32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47711"/>
              </p:ext>
            </p:extLst>
          </p:nvPr>
        </p:nvGraphicFramePr>
        <p:xfrm>
          <a:off x="812901" y="1810512"/>
          <a:ext cx="10561320" cy="4700016"/>
        </p:xfrm>
        <a:graphic>
          <a:graphicData uri="http://schemas.openxmlformats.org/drawingml/2006/table">
            <a:tbl>
              <a:tblPr first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C9C6D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solidFill>
                      <a:srgbClr val="1B1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FFB27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Open LLM VTuber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solidFill>
                      <a:srgbClr val="1B1A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9CC2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Project AIRI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solidFill>
                      <a:srgbClr val="1B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00" b="1" dirty="0">
                          <a:solidFill>
                            <a:srgbClr val="6E685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solidFill>
                      <a:srgbClr val="ECE8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페르소나 구축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언어 모델 선택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텍스트 대화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세션별 대화 저장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음성 인식 대화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 </a:t>
                      </a:r>
                      <a:r>
                        <a:rPr lang="en-US" altLang="ko-KR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근데 뭔가 잘 안됨</a:t>
                      </a:r>
                      <a:r>
                        <a:rPr lang="en-US" altLang="ko-KR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ko-KR" altLang="en-US" sz="1200" b="1" dirty="0">
                        <a:solidFill>
                          <a:srgbClr val="1F5FBF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Desktop Pet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먼저 말 걸기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43183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00" b="1" dirty="0">
                          <a:solidFill>
                            <a:srgbClr val="6E685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차이점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solidFill>
                      <a:srgbClr val="ECE8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구조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파이썬 서버 + 웹소켓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웹 기반 · 브라우저 자체 연산 활용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카메라 연동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8A2E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미지원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보며 대화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B554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지원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펫 모드에서만 원활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스트리밍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B554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지원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빌리빌리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연동 코드 구현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B554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지원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(Satori 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구현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직접 플레이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 err="1">
                          <a:solidFill>
                            <a:srgbClr val="8A2E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미지원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MCP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+ 매크로로 구현 여지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훈수두기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B554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가능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7A74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데모에서 다루지 않음</a:t>
                      </a:r>
                      <a:r>
                        <a:rPr lang="en-US" altLang="ko-KR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B1A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그룹 대화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1F5FB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</a:t>
                      </a:r>
                      <a:r>
                        <a:rPr lang="ko-KR" altLang="en-US" sz="1200" b="0" dirty="0">
                          <a:solidFill>
                            <a:srgbClr val="3F3E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rgbClr val="B554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지원</a:t>
                      </a:r>
                      <a:endParaRPr lang="ko-KR" altLang="en-US" sz="1200" b="0" dirty="0">
                        <a:solidFill>
                          <a:srgbClr val="3F3E4A"/>
                        </a:solidFill>
                        <a:latin typeface="Noto Sans KR" pitchFamily="34" charset="0"/>
                        <a:ea typeface="Noto Sans KR" pitchFamily="34" charset="-122"/>
                        <a:cs typeface="Noto Sans KR" pitchFamily="34" charset="-120"/>
                      </a:endParaRP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9D3C6"/>
                      </a:solidFill>
                    </a:lnT>
                    <a:lnB w="9525">
                      <a:solidFill>
                        <a:srgbClr val="D9D3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부록 표지">
    <p:bg>
      <p:bgPr>
        <a:solidFill>
          <a:srgbClr val="14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5588000" y="0"/>
            <a:ext cx="6604000" cy="6858000"/>
          </a:xfrm>
          <a:prstGeom prst="rect">
            <a:avLst/>
          </a:prstGeom>
          <a:gradFill rotWithShape="1">
            <a:gsLst>
              <a:gs pos="0">
                <a:srgbClr val="2C4F98"/>
              </a:gs>
              <a:gs pos="38000">
                <a:srgbClr val="1C2140"/>
              </a:gs>
              <a:gs pos="70000">
                <a:srgbClr val="14131F"/>
              </a:gs>
            </a:gsLst>
            <a:path path="circle">
              <a:fillToRect l="70000" t="38000" r="30000" b="62000"/>
            </a:path>
          </a:gradFill>
          <a:ln/>
        </p:spPr>
      </p:sp>
      <p:sp>
        <p:nvSpPr>
          <p:cNvPr id="11" name="Shape 11"/>
          <p:cNvSpPr/>
          <p:nvPr/>
        </p:nvSpPr>
        <p:spPr>
          <a:xfrm>
            <a:off x="812902" y="1874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400" b="1" i="0" spc="100" dirty="0">
                <a:solidFill>
                  <a:srgbClr val="7F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224028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48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AIRI는 마인크래프트를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48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플레이할까?</a:t>
            </a:r>
          </a:p>
        </p:txBody>
      </p:sp>
      <p:sp>
        <p:nvSpPr>
          <p:cNvPr id="14" name="Shape 14"/>
          <p:cNvSpPr/>
          <p:nvPr/>
        </p:nvSpPr>
        <p:spPr>
          <a:xfrm>
            <a:off x="812902" y="4226373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b="0" i="0" dirty="0">
                <a:solidFill>
                  <a:srgbClr val="9B98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 원리 4단계  ·  코드로 보는 나무 캐기  ·  혼자서도 플레이할 수 있을까?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전체 흐름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흐름 한눈에 보기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2057400"/>
            <a:ext cx="2127352" cy="251460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56032" tIns="256032" rIns="256032" bIns="256032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4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접속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mineflayer로 일반 유저처럼 서버에 직접 접속</a:t>
            </a:r>
          </a:p>
        </p:txBody>
      </p:sp>
      <p:sp>
        <p:nvSpPr>
          <p:cNvPr id="14" name="Arrow 14"/>
          <p:cNvSpPr/>
          <p:nvPr/>
        </p:nvSpPr>
        <p:spPr>
          <a:xfrm>
            <a:off x="3091129" y="3154680"/>
            <a:ext cx="384048" cy="310896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5" name="Shape 15"/>
          <p:cNvSpPr/>
          <p:nvPr/>
        </p:nvSpPr>
        <p:spPr>
          <a:xfrm>
            <a:off x="3626053" y="2057400"/>
            <a:ext cx="2127352" cy="251460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56032" tIns="256032" rIns="256032" bIns="256032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4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세상 인식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블록, 몬스터, 인벤토리, 채팅을 데이터로 파악</a:t>
            </a:r>
          </a:p>
        </p:txBody>
      </p:sp>
      <p:sp>
        <p:nvSpPr>
          <p:cNvPr id="16" name="Arrow 16"/>
          <p:cNvSpPr/>
          <p:nvPr/>
        </p:nvSpPr>
        <p:spPr>
          <a:xfrm>
            <a:off x="5904281" y="3154680"/>
            <a:ext cx="384048" cy="310896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7" name="Shape 17"/>
          <p:cNvSpPr/>
          <p:nvPr/>
        </p:nvSpPr>
        <p:spPr>
          <a:xfrm>
            <a:off x="6439205" y="2057400"/>
            <a:ext cx="2127352" cy="2514600"/>
          </a:xfrm>
          <a:prstGeom prst="roundRect">
            <a:avLst>
              <a:gd name="adj" fmla="val 8000"/>
            </a:avLst>
          </a:prstGeom>
          <a:solidFill>
            <a:srgbClr val="1B1A26"/>
          </a:solidFill>
          <a:ln>
            <a:noFill/>
          </a:ln>
        </p:spPr>
        <p:txBody>
          <a:bodyPr wrap="square" lIns="256032" tIns="256032" rIns="256032" bIns="256032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400" b="1" i="0" dirty="0">
                <a:solidFill>
                  <a:srgbClr val="7F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ko-KR" altLang="en-US" sz="22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판단과 계획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채팅과 게임 상태를 보고 LLM이 다음 행동을 계획</a:t>
            </a:r>
          </a:p>
        </p:txBody>
      </p:sp>
      <p:sp>
        <p:nvSpPr>
          <p:cNvPr id="18" name="Arrow 18"/>
          <p:cNvSpPr/>
          <p:nvPr/>
        </p:nvSpPr>
        <p:spPr>
          <a:xfrm>
            <a:off x="8717432" y="3154680"/>
            <a:ext cx="384048" cy="310896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252356" y="2057400"/>
            <a:ext cx="2127352" cy="251460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56032" tIns="256032" rIns="256032" bIns="256032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4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행동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 찾기, 전투, 채굴, 제작 플러그인을 호출해 움직임</a:t>
            </a:r>
          </a:p>
        </p:txBody>
      </p:sp>
      <p:sp>
        <p:nvSpPr>
          <p:cNvPr id="20" name="Shape 20"/>
          <p:cNvSpPr/>
          <p:nvPr/>
        </p:nvSpPr>
        <p:spPr>
          <a:xfrm>
            <a:off x="812902" y="5074920"/>
            <a:ext cx="10566806" cy="822960"/>
          </a:xfrm>
          <a:prstGeom prst="roundRect">
            <a:avLst>
              <a:gd name="adj" fmla="val 10000"/>
            </a:avLst>
          </a:prstGeom>
          <a:solidFill>
            <a:srgbClr val="DCE6F8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6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요약  </a:t>
            </a:r>
            <a:r>
              <a:rPr lang="ko-KR" altLang="en-US" sz="1600" b="0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마인크래프트 세계의 데이터를 직접 읽고, LLM으로 상황을 판단한 뒤, 내장된 봇 기술로 사람처럼 움직입니다.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서버 접속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서버 접속 · 가상의 플레이어로 참가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965960"/>
            <a:ext cx="4917643" cy="2331720"/>
          </a:xfrm>
          <a:prstGeom prst="roundRect">
            <a:avLst>
              <a:gd name="adj" fmla="val 7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6E789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플레이어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화면을 보고 손으로 조작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게임 화면의 픽셀을 눈으로 확인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키보드와 마우스로 직접 조작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게임 클라이언트를 띄워서 플레이</a:t>
            </a:r>
          </a:p>
        </p:txBody>
      </p:sp>
      <p:sp>
        <p:nvSpPr>
          <p:cNvPr id="14" name="Shape 14"/>
          <p:cNvSpPr/>
          <p:nvPr/>
        </p:nvSpPr>
        <p:spPr>
          <a:xfrm>
            <a:off x="5730545" y="28803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2000" b="1" i="0" dirty="0">
                <a:solidFill>
                  <a:srgbClr val="8A94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</a:p>
        </p:txBody>
      </p:sp>
      <p:sp>
        <p:nvSpPr>
          <p:cNvPr id="15" name="Shape 15"/>
          <p:cNvSpPr/>
          <p:nvPr/>
        </p:nvSpPr>
        <p:spPr>
          <a:xfrm>
            <a:off x="6462065" y="1965960"/>
            <a:ext cx="4917643" cy="2331720"/>
          </a:xfrm>
          <a:prstGeom prst="roundRect">
            <a:avLst>
              <a:gd name="adj" fmla="val 7000"/>
            </a:avLst>
          </a:prstGeom>
          <a:solidFill>
            <a:srgbClr val="1B1A26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9CC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AIRI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ko-KR" altLang="en-US" sz="22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데이터로 서버와 직접 통신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mineflayer 라이브러리로 서버에 접속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네트워크 패킷(데이터)을 직접 주고받음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C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조작도 가상의 입력 신호로 서버에 전송</a:t>
            </a:r>
          </a:p>
        </p:txBody>
      </p:sp>
      <p:sp>
        <p:nvSpPr>
          <p:cNvPr id="16" name="Shape 16"/>
          <p:cNvSpPr/>
          <p:nvPr/>
        </p:nvSpPr>
        <p:spPr>
          <a:xfrm>
            <a:off x="812902" y="4462272"/>
            <a:ext cx="4917643" cy="1691640"/>
          </a:xfrm>
          <a:prstGeom prst="roundRect">
            <a:avLst>
              <a:gd name="adj" fmla="val 9000"/>
            </a:avLst>
          </a:prstGeom>
          <a:solidFill>
            <a:srgbClr val="DCE6F8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600" b="1" i="0" dirty="0">
                <a:solidFill>
                  <a:srgbClr val="1F4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비전(화면 분석)을 쓰지 않음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픽셀을 분석하는 대신, 서버가 보내는 데이터(JSON)를 바로 읽습니다. 무거운 컴퓨터 비전 기술이 필요 없습니다.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6462065" y="4462272"/>
            <a:ext cx="4917643" cy="1691640"/>
          </a:xfrm>
          <a:prstGeom prst="roundRect">
            <a:avLst>
              <a:gd name="adj" fmla="val 9000"/>
            </a:avLst>
          </a:prstGeom>
          <a:solidFill>
            <a:srgbClr val="DCE6F8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600" b="1" i="0" dirty="0">
                <a:solidFill>
                  <a:srgbClr val="1F4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RCON(관리자 콘솔)도 쓰지 않음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/give, /tp 같은 관리자 명령을 쓰는 게 아니라, 평범한 일반 유저(Player)로 접속해 조작 신호를 보냅니다.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세상 인식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세상 인식 · 눈이 아니라 데이터로 본다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874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6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화면의 픽셀을 보지만, AIRI는 주변 상황을 텍스트 데이터로 실시간 파악합니다.</a:t>
            </a:r>
          </a:p>
        </p:txBody>
      </p:sp>
      <p:sp>
        <p:nvSpPr>
          <p:cNvPr id="14" name="Shape 14"/>
          <p:cNvSpPr/>
          <p:nvPr/>
        </p:nvSpPr>
        <p:spPr>
          <a:xfrm>
            <a:off x="812902" y="2514600"/>
            <a:ext cx="3308909" cy="224028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92608" tIns="292608" rIns="292608" bIns="292608" rtlCol="0" anchor="t">
            <a:no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인벤토리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20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“내 인벤토리에 나무 도끼가 1개 있네”</a:t>
            </a:r>
          </a:p>
        </p:txBody>
      </p:sp>
      <p:sp>
        <p:nvSpPr>
          <p:cNvPr id="15" name="Shape 15"/>
          <p:cNvSpPr/>
          <p:nvPr/>
        </p:nvSpPr>
        <p:spPr>
          <a:xfrm>
            <a:off x="4441850" y="2514600"/>
            <a:ext cx="3308909" cy="224028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92608" tIns="292608" rIns="292608" bIns="292608" rtlCol="0" anchor="t">
            <a:no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환경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20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“내 앞에 크리퍼가 다가오고 있네”</a:t>
            </a:r>
          </a:p>
        </p:txBody>
      </p:sp>
      <p:sp>
        <p:nvSpPr>
          <p:cNvPr id="16" name="Shape 16"/>
          <p:cNvSpPr/>
          <p:nvPr/>
        </p:nvSpPr>
        <p:spPr>
          <a:xfrm>
            <a:off x="8070799" y="2514600"/>
            <a:ext cx="3308909" cy="224028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92608" tIns="292608" rIns="292608" bIns="292608" rtlCol="0" anchor="t">
            <a:no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20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“유저가 채팅으로 나를 불렀네”</a:t>
            </a:r>
          </a:p>
        </p:txBody>
      </p:sp>
      <p:sp>
        <p:nvSpPr>
          <p:cNvPr id="17" name="Shape 17"/>
          <p:cNvSpPr/>
          <p:nvPr/>
        </p:nvSpPr>
        <p:spPr>
          <a:xfrm>
            <a:off x="812902" y="5074920"/>
            <a:ext cx="10566806" cy="822960"/>
          </a:xfrm>
          <a:prstGeom prst="roundRect">
            <a:avLst>
              <a:gd name="adj" fmla="val 10000"/>
            </a:avLst>
          </a:prstGeom>
          <a:solidFill>
            <a:srgbClr val="DCE6F8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600" b="0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속 물리적 상황과 채팅 내역이 모두 데이터로 들어오기 때문에, 화면을 해석할 필요가 없습니다.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판단과 계획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판단과 계획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2011680"/>
            <a:ext cx="3200400" cy="132588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채팅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6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“아이리, 나무 좀 캐와서 상자에 넣어줘!”</a:t>
            </a:r>
          </a:p>
        </p:txBody>
      </p:sp>
      <p:sp>
        <p:nvSpPr>
          <p:cNvPr id="14" name="Shape 14"/>
          <p:cNvSpPr/>
          <p:nvPr/>
        </p:nvSpPr>
        <p:spPr>
          <a:xfrm>
            <a:off x="812902" y="3520440"/>
            <a:ext cx="3200400" cy="132588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게임 상태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6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환경, 인벤토리, 내 위치</a:t>
            </a:r>
          </a:p>
        </p:txBody>
      </p:sp>
      <p:sp>
        <p:nvSpPr>
          <p:cNvPr id="15" name="Arrow 15"/>
          <p:cNvSpPr/>
          <p:nvPr/>
        </p:nvSpPr>
        <p:spPr>
          <a:xfrm>
            <a:off x="4160520" y="3273552"/>
            <a:ext cx="384048" cy="310896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6" name="Shape 16"/>
          <p:cNvSpPr/>
          <p:nvPr/>
        </p:nvSpPr>
        <p:spPr>
          <a:xfrm>
            <a:off x="4709160" y="2606040"/>
            <a:ext cx="2057400" cy="1645920"/>
          </a:xfrm>
          <a:prstGeom prst="roundRect">
            <a:avLst>
              <a:gd name="adj" fmla="val 12000"/>
            </a:avLst>
          </a:prstGeom>
          <a:solidFill>
            <a:srgbClr val="1B1A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9CC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두뇌</a:t>
            </a:r>
          </a:p>
          <a:p>
            <a:pPr marL="0" indent="0" algn="ctr">
              <a:buNone/>
            </a:pPr>
            <a:r>
              <a:rPr lang="ko-KR" altLang="en-US" sz="30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</a:p>
        </p:txBody>
      </p:sp>
      <p:sp>
        <p:nvSpPr>
          <p:cNvPr id="17" name="Arrow 17"/>
          <p:cNvSpPr/>
          <p:nvPr/>
        </p:nvSpPr>
        <p:spPr>
          <a:xfrm>
            <a:off x="6912864" y="3273552"/>
            <a:ext cx="384048" cy="310896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8" name="Shape 18"/>
          <p:cNvSpPr/>
          <p:nvPr/>
        </p:nvSpPr>
        <p:spPr>
          <a:xfrm>
            <a:off x="7452360" y="2011680"/>
            <a:ext cx="3922776" cy="2834640"/>
          </a:xfrm>
          <a:prstGeom prst="wedgeRoundRectCallout">
            <a:avLst>
              <a:gd name="adj1" fmla="val -58000"/>
              <a:gd name="adj2" fmla="val 8000"/>
              <a:gd name="adj3" fmla="val 16667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세운 계획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600" b="0" i="1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“사용자가 나무를 원한다. 주변 데이터를 보니 가까운 곳에 참나무가 있다. 인벤토리에 도끼가 있으니 꺼내 들고 가야지.”</a:t>
            </a:r>
          </a:p>
        </p:txBody>
      </p:sp>
      <p:sp>
        <p:nvSpPr>
          <p:cNvPr id="19" name="Shape 19"/>
          <p:cNvSpPr/>
          <p:nvPr/>
        </p:nvSpPr>
        <p:spPr>
          <a:xfrm>
            <a:off x="812902" y="5166360"/>
            <a:ext cx="10566806" cy="731520"/>
          </a:xfrm>
          <a:prstGeom prst="roundRect">
            <a:avLst>
              <a:gd name="adj" fmla="val 10000"/>
            </a:avLst>
          </a:prstGeom>
          <a:solidFill>
            <a:srgbClr val="DCE6F8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600" b="0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 내용과 현재 게임 상태가 함께 LLM으로 전달되어, 다음 행동 계획이 만들어집니다.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실제 행동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실제 행동 · 전문 플러그인 호출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965960"/>
            <a:ext cx="5123383" cy="187452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pathfinder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 찾기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절벽과 용암을 피해 목표 지점까지 안전하게 걸어갑니다.</a:t>
            </a:r>
          </a:p>
        </p:txBody>
      </p:sp>
      <p:sp>
        <p:nvSpPr>
          <p:cNvPr id="14" name="Shape 14"/>
          <p:cNvSpPr/>
          <p:nvPr/>
        </p:nvSpPr>
        <p:spPr>
          <a:xfrm>
            <a:off x="6256325" y="1965960"/>
            <a:ext cx="5123383" cy="187452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pvp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가는 길에 좀비를 만나면 전투 모듈을 켜서 처치합니다.</a:t>
            </a:r>
          </a:p>
        </p:txBody>
      </p:sp>
      <p:sp>
        <p:nvSpPr>
          <p:cNvPr id="15" name="Shape 15"/>
          <p:cNvSpPr/>
          <p:nvPr/>
        </p:nvSpPr>
        <p:spPr>
          <a:xfrm>
            <a:off x="812902" y="4114800"/>
            <a:ext cx="5123383" cy="187452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collectblock · crafting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채굴과 제작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도구로 블록을 캐서 아이템을 얻고, 필요하면 작업대에서 직접 조합합니다.</a:t>
            </a:r>
          </a:p>
        </p:txBody>
      </p:sp>
      <p:sp>
        <p:nvSpPr>
          <p:cNvPr id="16" name="Shape 16"/>
          <p:cNvSpPr/>
          <p:nvPr/>
        </p:nvSpPr>
        <p:spPr>
          <a:xfrm>
            <a:off x="6256325" y="4114800"/>
            <a:ext cx="5123383" cy="187452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isolated-vm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2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즉석 코드 실행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명령은 AI가 그 자리에서 JS 코드를 짜서 샌드박스에서 실행합니다.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행동 루프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gatherWood의 행동 루프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828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6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나무 캐기 함수 하나 안에, 목표한 개수가 모일 때까지 반복하는 행동 패턴이 들어 있습니다.</a:t>
            </a:r>
          </a:p>
        </p:txBody>
      </p:sp>
      <p:sp>
        <p:nvSpPr>
          <p:cNvPr id="14" name="Shape 14"/>
          <p:cNvSpPr/>
          <p:nvPr/>
        </p:nvSpPr>
        <p:spPr>
          <a:xfrm>
            <a:off x="812902" y="2514600"/>
            <a:ext cx="1711025" cy="187452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가방 확인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원목이 몇 개 있는지 인벤토리 확인</a:t>
            </a:r>
          </a:p>
        </p:txBody>
      </p:sp>
      <p:sp>
        <p:nvSpPr>
          <p:cNvPr id="15" name="Arrow 15"/>
          <p:cNvSpPr/>
          <p:nvPr/>
        </p:nvSpPr>
        <p:spPr>
          <a:xfrm>
            <a:off x="2606223" y="3314700"/>
            <a:ext cx="338328" cy="274320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6" name="Shape 16"/>
          <p:cNvSpPr/>
          <p:nvPr/>
        </p:nvSpPr>
        <p:spPr>
          <a:xfrm>
            <a:off x="3026847" y="2514600"/>
            <a:ext cx="1711025" cy="187452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탐색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원목 블록을 찾아 스캔</a:t>
            </a:r>
          </a:p>
        </p:txBody>
      </p:sp>
      <p:sp>
        <p:nvSpPr>
          <p:cNvPr id="17" name="Arrow 17"/>
          <p:cNvSpPr/>
          <p:nvPr/>
        </p:nvSpPr>
        <p:spPr>
          <a:xfrm>
            <a:off x="4820168" y="3314700"/>
            <a:ext cx="338328" cy="274320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18" name="Shape 18"/>
          <p:cNvSpPr/>
          <p:nvPr/>
        </p:nvSpPr>
        <p:spPr>
          <a:xfrm>
            <a:off x="5240792" y="2514600"/>
            <a:ext cx="1711025" cy="187452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나무로 이동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 찾기로 나무 코앞까지</a:t>
            </a:r>
          </a:p>
        </p:txBody>
      </p:sp>
      <p:sp>
        <p:nvSpPr>
          <p:cNvPr id="19" name="Arrow 19"/>
          <p:cNvSpPr/>
          <p:nvPr/>
        </p:nvSpPr>
        <p:spPr>
          <a:xfrm>
            <a:off x="7034113" y="3314700"/>
            <a:ext cx="338328" cy="274320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20" name="Shape 20"/>
          <p:cNvSpPr/>
          <p:nvPr/>
        </p:nvSpPr>
        <p:spPr>
          <a:xfrm>
            <a:off x="7454737" y="2514600"/>
            <a:ext cx="1711025" cy="187452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도끼질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기둥을 밑동부터 하나씩 채굴</a:t>
            </a:r>
          </a:p>
        </p:txBody>
      </p:sp>
      <p:sp>
        <p:nvSpPr>
          <p:cNvPr id="21" name="Arrow 21"/>
          <p:cNvSpPr/>
          <p:nvPr/>
        </p:nvSpPr>
        <p:spPr>
          <a:xfrm>
            <a:off x="9248059" y="3314700"/>
            <a:ext cx="338328" cy="274320"/>
          </a:xfrm>
          <a:prstGeom prst="rightArrow">
            <a:avLst/>
          </a:prstGeom>
          <a:solidFill>
            <a:srgbClr val="9AABC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/>
          </a:p>
        </p:txBody>
      </p:sp>
      <p:sp>
        <p:nvSpPr>
          <p:cNvPr id="22" name="Shape 22"/>
          <p:cNvSpPr/>
          <p:nvPr/>
        </p:nvSpPr>
        <p:spPr>
          <a:xfrm>
            <a:off x="9668683" y="2514600"/>
            <a:ext cx="1711025" cy="1874520"/>
          </a:xfrm>
          <a:prstGeom prst="roundRect">
            <a:avLst>
              <a:gd name="adj" fmla="val 9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줍기 · 결산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떨어진 원목을 줍고 다시 세기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10524195" y="4389120"/>
            <a:ext cx="0" cy="502920"/>
          </a:xfrm>
          <a:prstGeom prst="line">
            <a:avLst/>
          </a:prstGeom>
          <a:ln w="25400">
            <a:solidFill>
              <a:srgbClr val="2F62C4"/>
            </a:solidFill>
          </a:ln>
        </p:spPr>
      </p:cxnSp>
      <p:cxnSp>
        <p:nvCxnSpPr>
          <p:cNvPr id="24" name="Connector 24"/>
          <p:cNvCxnSpPr/>
          <p:nvPr/>
        </p:nvCxnSpPr>
        <p:spPr>
          <a:xfrm flipH="1">
            <a:off x="3882360" y="4892040"/>
            <a:ext cx="6641836" cy="0"/>
          </a:xfrm>
          <a:prstGeom prst="line">
            <a:avLst/>
          </a:prstGeom>
          <a:ln w="25400">
            <a:solidFill>
              <a:srgbClr val="2F62C4"/>
            </a:solidFill>
          </a:ln>
        </p:spPr>
      </p:cxnSp>
      <p:cxnSp>
        <p:nvCxnSpPr>
          <p:cNvPr id="25" name="Connector 25"/>
          <p:cNvCxnSpPr/>
          <p:nvPr/>
        </p:nvCxnSpPr>
        <p:spPr>
          <a:xfrm flipV="1">
            <a:off x="3882360" y="4407408"/>
            <a:ext cx="0" cy="484632"/>
          </a:xfrm>
          <a:prstGeom prst="line">
            <a:avLst/>
          </a:prstGeom>
          <a:ln w="25400">
            <a:solidFill>
              <a:srgbClr val="2F62C4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4248120" y="4526280"/>
            <a:ext cx="59103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부족하면 다시 주변 탐색으로</a:t>
            </a:r>
          </a:p>
        </p:txBody>
      </p:sp>
      <p:sp>
        <p:nvSpPr>
          <p:cNvPr id="27" name="Shape 27"/>
          <p:cNvSpPr/>
          <p:nvPr/>
        </p:nvSpPr>
        <p:spPr>
          <a:xfrm>
            <a:off x="812902" y="5349240"/>
            <a:ext cx="10566806" cy="594360"/>
          </a:xfrm>
          <a:prstGeom prst="roundRect">
            <a:avLst>
              <a:gd name="adj" fmla="val 12000"/>
            </a:avLst>
          </a:prstGeom>
          <a:solidFill>
            <a:srgbClr val="DCE6F8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600" b="0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목표만큼 모이면 작업을 끝내고 사용자에게 보고합니다.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핵심 코드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코드 조각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92024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1E1E2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const woodBlock = mineflayer.bot.findBlock({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  matching: block =&gt; block.name.includes('log'),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  maxDistance,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})</a:t>
            </a:r>
          </a:p>
        </p:txBody>
      </p:sp>
      <p:sp>
        <p:nvSpPr>
          <p:cNvPr id="14" name="Shape 14"/>
          <p:cNvSpPr/>
          <p:nvPr/>
        </p:nvSpPr>
        <p:spPr>
          <a:xfrm>
            <a:off x="7452360" y="1920240"/>
            <a:ext cx="392277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원목 찾기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이름에 log(원목)가 들어간 블록을 주변에서 찾습니다.</a:t>
            </a:r>
          </a:p>
        </p:txBody>
      </p:sp>
      <p:sp>
        <p:nvSpPr>
          <p:cNvPr id="15" name="Shape 15"/>
          <p:cNvSpPr/>
          <p:nvPr/>
        </p:nvSpPr>
        <p:spPr>
          <a:xfrm>
            <a:off x="812902" y="3355848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1E1E2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const destinationReached =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  await goToPosition(mineflayer, woodBlock.position, 2)</a:t>
            </a:r>
          </a:p>
        </p:txBody>
      </p:sp>
      <p:sp>
        <p:nvSpPr>
          <p:cNvPr id="16" name="Shape 16"/>
          <p:cNvSpPr/>
          <p:nvPr/>
        </p:nvSpPr>
        <p:spPr>
          <a:xfrm>
            <a:off x="7452360" y="3355848"/>
            <a:ext cx="392277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나무로 이동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나무 코앞까지 걸어갑니다. 내부에서 pathfinder가 절벽과 웅덩이를 피해 길을 찾습니다.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812902" y="4791456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1E1E2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for (const aLog of aTree) {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  await breakBlockAt(...)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  await sleep(1200)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0" i="0" dirty="0">
                <a:solidFill>
                  <a:srgbClr val="E8E5F2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}</a:t>
            </a:r>
          </a:p>
        </p:txBody>
      </p:sp>
      <p:sp>
        <p:nvSpPr>
          <p:cNvPr id="18" name="Shape 18"/>
          <p:cNvSpPr/>
          <p:nvPr/>
        </p:nvSpPr>
        <p:spPr>
          <a:xfrm>
            <a:off x="7452360" y="4791456"/>
            <a:ext cx="3922776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8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사람처럼 채굴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4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기둥을 하나씩 부수고, 한 칸마다 잠시 쉬어 기계처럼 보이지 않게 합니다.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예외 처리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같은 예외 처리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965960"/>
            <a:ext cx="5123383" cy="237744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상황</a:t>
            </a:r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ko-KR" altLang="en-US" sz="20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만약 사막이라 나무가 하나도 없다면?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moveAway()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멀리 걸어 나간 뒤, 그곳에서 다시 나무를 찾습니다.</a:t>
            </a:r>
          </a:p>
        </p:txBody>
      </p:sp>
      <p:sp>
        <p:nvSpPr>
          <p:cNvPr id="14" name="Shape 14"/>
          <p:cNvSpPr/>
          <p:nvPr/>
        </p:nvSpPr>
        <p:spPr>
          <a:xfrm>
            <a:off x="6256325" y="1965960"/>
            <a:ext cx="5123383" cy="2377440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상황</a:t>
            </a:r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ko-KR" altLang="en-US" sz="20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만약 절벽 때문에 도착하지 못했다면?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destinationReached = false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나무는 포기하고 다른 나무를 찾아 떠납니다.</a:t>
            </a:r>
          </a:p>
        </p:txBody>
      </p:sp>
      <p:sp>
        <p:nvSpPr>
          <p:cNvPr id="15" name="Shape 15"/>
          <p:cNvSpPr/>
          <p:nvPr/>
        </p:nvSpPr>
        <p:spPr>
          <a:xfrm>
            <a:off x="812902" y="4617720"/>
            <a:ext cx="10566806" cy="1325880"/>
          </a:xfrm>
          <a:prstGeom prst="roundRect">
            <a:avLst>
              <a:gd name="adj" fmla="val 9000"/>
            </a:avLst>
          </a:prstGeom>
          <a:solidFill>
            <a:srgbClr val="1B1A26"/>
          </a:solidFill>
          <a:ln>
            <a:noFill/>
          </a:ln>
        </p:spPr>
        <p:txBody>
          <a:bodyPr wrap="square" lIns="292608" tIns="292608" rIns="292608" bIns="292608" rtlCol="0" anchor="ctr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ko-KR" altLang="en-US" sz="1300" b="1" i="0" dirty="0">
                <a:solidFill>
                  <a:srgbClr val="9CC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결국 사람 플레이어의 행동 패턴 그대로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20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가방 확인 → 시야 스캔 → 길 찾기 → 예외 처리 → 채굴 딜레이 → 아이템 줍기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호출 흐름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gatherWood는 어떻게 호출될까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92024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</p:spPr>
        <p:txBody>
          <a:bodyPr wrap="square" lIns="201168" tIns="201168" rIns="201168" bIns="201168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altLang="en-US" sz="12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명령</a:t>
            </a:r>
          </a:p>
          <a:p>
            <a:pPr marL="0" indent="0" algn="l">
              <a:buNone/>
            </a:pPr>
            <a:r>
              <a:rPr lang="ko-KR" altLang="en-US" sz="17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“아이리, 화로 하나 만들어줄래?”</a:t>
            </a:r>
          </a:p>
        </p:txBody>
      </p:sp>
      <p:sp>
        <p:nvSpPr>
          <p:cNvPr id="14" name="Shape 14"/>
          <p:cNvSpPr/>
          <p:nvPr/>
        </p:nvSpPr>
        <p:spPr>
          <a:xfrm>
            <a:off x="812902" y="3063240"/>
            <a:ext cx="42062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“화로를 만든다”는 최종 목표만 정합니다. 그러면 봇 코드(ensure.ts)가 레시피를 거꾸로 따라 내려가며 필요한 행동을 스스로 계산합니다.</a:t>
            </a:r>
          </a:p>
        </p:txBody>
      </p:sp>
      <p:sp>
        <p:nvSpPr>
          <p:cNvPr id="15" name="Shape 15"/>
          <p:cNvSpPr/>
          <p:nvPr/>
        </p:nvSpPr>
        <p:spPr>
          <a:xfrm>
            <a:off x="812902" y="4709160"/>
            <a:ext cx="4206240" cy="1234440"/>
          </a:xfrm>
          <a:prstGeom prst="roundRect">
            <a:avLst>
              <a:gd name="adj" fmla="val 9000"/>
            </a:avLst>
          </a:prstGeom>
          <a:solidFill>
            <a:srgbClr val="1B1A26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300" b="1" i="0" dirty="0">
                <a:solidFill>
                  <a:srgbClr val="9CC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5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밑바닥의 기초 행동인 gatherWood()부터 차근차근 실행하며 올라옵니다.</a:t>
            </a:r>
          </a:p>
        </p:txBody>
      </p:sp>
      <p:sp>
        <p:nvSpPr>
          <p:cNvPr id="16" name="Shape 16"/>
          <p:cNvSpPr/>
          <p:nvPr/>
        </p:nvSpPr>
        <p:spPr>
          <a:xfrm>
            <a:off x="5349240" y="1920240"/>
            <a:ext cx="6025896" cy="54864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 목표 설정   </a:t>
            </a: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ensureFurnaces()  </a:t>
            </a: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화로 확보</a:t>
            </a:r>
          </a:p>
        </p:txBody>
      </p:sp>
      <p:sp>
        <p:nvSpPr>
          <p:cNvPr id="17" name="Shape 17"/>
          <p:cNvSpPr/>
          <p:nvPr/>
        </p:nvSpPr>
        <p:spPr>
          <a:xfrm>
            <a:off x="5550408" y="2596896"/>
            <a:ext cx="5824728" cy="54864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 재료 확인   </a:t>
            </a: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조약돌이 필요한데 없음</a:t>
            </a:r>
          </a:p>
        </p:txBody>
      </p:sp>
      <p:sp>
        <p:nvSpPr>
          <p:cNvPr id="18" name="Shape 18"/>
          <p:cNvSpPr/>
          <p:nvPr/>
        </p:nvSpPr>
        <p:spPr>
          <a:xfrm>
            <a:off x="5751576" y="3273552"/>
            <a:ext cx="5623560" cy="54864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 도구 확인   </a:t>
            </a: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ensurePickaxe()  </a:t>
            </a: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곡괭이 만들기</a:t>
            </a:r>
          </a:p>
        </p:txBody>
      </p:sp>
      <p:sp>
        <p:nvSpPr>
          <p:cNvPr id="19" name="Shape 19"/>
          <p:cNvSpPr/>
          <p:nvPr/>
        </p:nvSpPr>
        <p:spPr>
          <a:xfrm>
            <a:off x="5952744" y="3950208"/>
            <a:ext cx="5422392" cy="54864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 작업대 확인   </a:t>
            </a: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ensureCraftingTable()  </a:t>
            </a: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작업대 만들기</a:t>
            </a:r>
          </a:p>
        </p:txBody>
      </p:sp>
      <p:sp>
        <p:nvSpPr>
          <p:cNvPr id="20" name="Shape 20"/>
          <p:cNvSpPr/>
          <p:nvPr/>
        </p:nvSpPr>
        <p:spPr>
          <a:xfrm>
            <a:off x="6153912" y="4626864"/>
            <a:ext cx="5221224" cy="54864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 나무판자 확인   </a:t>
            </a:r>
            <a:r>
              <a:rPr lang="ko-KR" altLang="en-US" sz="1300" b="1" i="0" dirty="0">
                <a:solidFill>
                  <a:srgbClr val="1F4FA8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ensurePlanks()  </a:t>
            </a:r>
            <a:r>
              <a:rPr lang="ko-KR" altLang="en-US" sz="13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나무판자 만들기</a:t>
            </a:r>
          </a:p>
        </p:txBody>
      </p:sp>
      <p:sp>
        <p:nvSpPr>
          <p:cNvPr id="21" name="Shape 21"/>
          <p:cNvSpPr/>
          <p:nvPr/>
        </p:nvSpPr>
        <p:spPr>
          <a:xfrm>
            <a:off x="6355080" y="5303520"/>
            <a:ext cx="5020056" cy="548640"/>
          </a:xfrm>
          <a:prstGeom prst="roundRect">
            <a:avLst>
              <a:gd name="adj" fmla="val 14000"/>
            </a:avLst>
          </a:prstGeom>
          <a:solidFill>
            <a:srgbClr val="2F62C4"/>
          </a:solidFill>
          <a:ln>
            <a:noFill/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00" b="1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 최종 액션   </a:t>
            </a:r>
            <a:r>
              <a:rPr lang="ko-KR" altLang="en-US" sz="1300" b="1" i="0" dirty="0">
                <a:solidFill>
                  <a:srgbClr val="FFFFFF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gatherWood()  </a:t>
            </a:r>
            <a:r>
              <a:rPr lang="ko-KR" altLang="en-US" sz="1300" b="0" i="0" dirty="0">
                <a:solidFill>
                  <a:srgbClr val="DCE6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원목 캐기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두 개의 뇌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 11"/>
          <p:cNvSpPr/>
          <p:nvPr/>
        </p:nvSpPr>
        <p:spPr>
          <a:xfrm>
            <a:off x="812902" y="812902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1200" b="1" i="0" spc="10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부록 · Project AIRI 마인크래프트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812902" y="115305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32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의식과 반사 신경, 두 개의 뇌</a:t>
            </a:r>
          </a:p>
        </p:txBody>
      </p:sp>
      <p:sp>
        <p:nvSpPr>
          <p:cNvPr id="13" name="Shape 13"/>
          <p:cNvSpPr/>
          <p:nvPr/>
        </p:nvSpPr>
        <p:spPr>
          <a:xfrm>
            <a:off x="812902" y="1920240"/>
            <a:ext cx="5123383" cy="3063240"/>
          </a:xfrm>
          <a:prstGeom prst="roundRect">
            <a:avLst>
              <a:gd name="adj" fmla="val 7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92608" tIns="292608" rIns="292608" bIns="292608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2F62C4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brain.ts · js-planner.ts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ko-KR" altLang="en-US" sz="2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의식 (Conscious)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ko-KR" altLang="en-US" sz="1500" b="1" i="0" dirty="0">
                <a:solidFill>
                  <a:srgbClr val="2F62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계획하고 코딩하는 두뇌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주변 환경을 보고 스스로 목표를 세움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목표를 이루기 위한 JS 코드를 직접 작성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샌드박스에서 코드를 실행해 게임을 플레이</a:t>
            </a:r>
          </a:p>
        </p:txBody>
      </p:sp>
      <p:sp>
        <p:nvSpPr>
          <p:cNvPr id="14" name="Shape 14"/>
          <p:cNvSpPr/>
          <p:nvPr/>
        </p:nvSpPr>
        <p:spPr>
          <a:xfrm>
            <a:off x="6256325" y="1920240"/>
            <a:ext cx="5123383" cy="3063240"/>
          </a:xfrm>
          <a:prstGeom prst="roundRect">
            <a:avLst>
              <a:gd name="adj" fmla="val 7000"/>
            </a:avLst>
          </a:prstGeom>
          <a:solidFill>
            <a:srgbClr val="FBFCFE"/>
          </a:solidFill>
          <a:ln w="12700">
            <a:solidFill>
              <a:srgbClr val="D3DBE8"/>
            </a:solidFill>
          </a:ln>
        </p:spPr>
        <p:txBody>
          <a:bodyPr wrap="square" lIns="292608" tIns="292608" rIns="292608" bIns="292608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ko-KR" altLang="en-US" sz="1300" b="1" i="0" dirty="0">
                <a:solidFill>
                  <a:srgbClr val="B5541A"/>
                </a:solidFill>
                <a:latin typeface="Consolas" pitchFamily="49" charset="0"/>
                <a:ea typeface="Noto Sans KR" pitchFamily="34" charset="-122"/>
                <a:cs typeface="Consolas" pitchFamily="49" charset="0"/>
              </a:rPr>
              <a:t>reflex 모듈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ko-KR" altLang="en-US" sz="2400" b="1" i="0" dirty="0">
                <a:solidFill>
                  <a:srgbClr val="1B1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반사 신경 (Reflex)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ko-KR" altLang="en-US" sz="1500" b="1" i="0" dirty="0">
                <a:solidFill>
                  <a:srgbClr val="B55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LLM을 거치지 않는 생존 본능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LLM은 생각하는 데 시간이 걸려 따로 분리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몬스터가 다가오면 즉시 도망치거나 방패를 듦</a:t>
            </a:r>
          </a:p>
          <a:p>
            <a:pPr marL="0" indent="0" algn="l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500" b="0" i="0" dirty="0">
                <a:solidFill>
                  <a:srgbClr val="4A4A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배고프면 바로 가방의 빵을 먹음</a:t>
            </a:r>
          </a:p>
        </p:txBody>
      </p:sp>
      <p:sp>
        <p:nvSpPr>
          <p:cNvPr id="15" name="Shape 15"/>
          <p:cNvSpPr/>
          <p:nvPr/>
        </p:nvSpPr>
        <p:spPr>
          <a:xfrm>
            <a:off x="812902" y="5212080"/>
            <a:ext cx="10566806" cy="777240"/>
          </a:xfrm>
          <a:prstGeom prst="roundRect">
            <a:avLst>
              <a:gd name="adj" fmla="val 10000"/>
            </a:avLst>
          </a:prstGeom>
          <a:solidFill>
            <a:srgbClr val="1B1A26"/>
          </a:solidFill>
          <a:ln>
            <a:noFill/>
          </a:ln>
        </p:spPr>
        <p:txBody>
          <a:bodyPr wrap="square" lIns="256032" tIns="256032" rIns="256032" bIns="256032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600" b="1" i="0" dirty="0">
                <a:solidFill>
                  <a:srgbClr val="9CC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 </a:t>
            </a:r>
            <a:r>
              <a:rPr lang="ko-KR" altLang="en-US" sz="1600" b="0" i="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봇만 서버에 접속시켜 둬도, 스스로 광물을 캐고 집을 짓고 몬스터와 싸우며 혼자 생존 게임을 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궁극의 AI 동반자 만들기">
  <a:themeElements>
    <a:clrScheme name="궁극의 AI 동반자 만들기">
      <a:dk1>
        <a:srgbClr val="1B1A26"/>
      </a:dk1>
      <a:lt1>
        <a:srgbClr val="F5F3EE"/>
      </a:lt1>
      <a:dk2>
        <a:srgbClr val="525058"/>
      </a:dk2>
      <a:lt2>
        <a:srgbClr val="DFDDDA"/>
      </a:lt2>
      <a:accent1>
        <a:srgbClr val="2F62C4"/>
      </a:accent1>
      <a:accent2>
        <a:srgbClr val="B5541A"/>
      </a:accent2>
      <a:accent3>
        <a:srgbClr val="1F4FA8"/>
      </a:accent3>
      <a:accent4>
        <a:srgbClr val="F6DFCF"/>
      </a:accent4>
      <a:accent5>
        <a:srgbClr val="8A3C0F"/>
      </a:accent5>
      <a:accent6>
        <a:srgbClr val="FF9A5C"/>
      </a:accent6>
      <a:hlink>
        <a:srgbClr val="0563C1"/>
      </a:hlink>
      <a:folHlink>
        <a:srgbClr val="954F72"/>
      </a:folHlink>
    </a:clrScheme>
    <a:fontScheme name="궁극의 AI 동반자 만들기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2416</Words>
  <Application>Microsoft Office PowerPoint</Application>
  <PresentationFormat>와이드스크린</PresentationFormat>
  <Paragraphs>422</Paragraphs>
  <Slides>45</Slides>
  <Notes>31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0" baseType="lpstr">
      <vt:lpstr>Noto Sans KR</vt:lpstr>
      <vt:lpstr>맑은 고딕</vt:lpstr>
      <vt:lpstr>Arial</vt:lpstr>
      <vt:lpstr>Consolas</vt:lpstr>
      <vt:lpstr>궁극의 AI 동반자 만들기</vt:lpstr>
      <vt:lpstr>화면 밖으로 나온 AI</vt:lpstr>
      <vt:lpstr>목차</vt:lpstr>
      <vt:lpstr>우리가 만들 AI 동반자의 네 가지 모습</vt:lpstr>
      <vt:lpstr>Neuro-sama, AI 스트리머의 성공 사례</vt:lpstr>
      <vt:lpstr>Neuro-sama, AI 스트리머의 성공 사례</vt:lpstr>
      <vt:lpstr>Neuro-sama, AI 스트리머의 성공 사례</vt:lpstr>
      <vt:lpstr>AI 캐릭터의 기본 파이프라인</vt:lpstr>
      <vt:lpstr>두 가지 오픈소스 프레임워크</vt:lpstr>
      <vt:lpstr>Open LLM VTuber 시연</vt:lpstr>
      <vt:lpstr>페르소나 구축</vt:lpstr>
      <vt:lpstr>언어 모델 선택</vt:lpstr>
      <vt:lpstr>텍스트 대화</vt:lpstr>
      <vt:lpstr>세션별 대화 내역 저장</vt:lpstr>
      <vt:lpstr>음성 인식 대화</vt:lpstr>
      <vt:lpstr>카메라 연동 대화</vt:lpstr>
      <vt:lpstr>브라우저 화면 보며 대화</vt:lpstr>
      <vt:lpstr>AI가 먼저 말 걸기</vt:lpstr>
      <vt:lpstr>Desktop Pet</vt:lpstr>
      <vt:lpstr>빌리빌리 스트리밍</vt:lpstr>
      <vt:lpstr>게임 직접 플레이 (MCP)</vt:lpstr>
      <vt:lpstr>게임 훈수두기</vt:lpstr>
      <vt:lpstr>그룹 대화</vt:lpstr>
      <vt:lpstr>Project AIRI 시연</vt:lpstr>
      <vt:lpstr>페르소나 구축</vt:lpstr>
      <vt:lpstr>언어 모델 선택</vt:lpstr>
      <vt:lpstr>텍스트 대화</vt:lpstr>
      <vt:lpstr>세션별 대화 내역 저장</vt:lpstr>
      <vt:lpstr>음성 인식 대화</vt:lpstr>
      <vt:lpstr>화면 공유 대화</vt:lpstr>
      <vt:lpstr>Desktop Pet</vt:lpstr>
      <vt:lpstr>스트리밍</vt:lpstr>
      <vt:lpstr>게임 직접 플레이</vt:lpstr>
      <vt:lpstr>그룹 대화</vt:lpstr>
      <vt:lpstr>한눈에 보는 공통점과 차이점</vt:lpstr>
      <vt:lpstr>AIRI는 마인크래프트를 어떻게 플레이할까?</vt:lpstr>
      <vt:lpstr>전체 흐름 한눈에 보기</vt:lpstr>
      <vt:lpstr>① 서버 접속 · 가상의 플레이어로 참가</vt:lpstr>
      <vt:lpstr>② 세상 인식 · 눈이 아니라 데이터로 본다</vt:lpstr>
      <vt:lpstr>③ 판단과 계획</vt:lpstr>
      <vt:lpstr>④ 실제 행동 · 전문 플러그인 호출</vt:lpstr>
      <vt:lpstr>gatherWood의 행동 루프</vt:lpstr>
      <vt:lpstr>핵심 코드 조각</vt:lpstr>
      <vt:lpstr>사람 같은 예외 처리</vt:lpstr>
      <vt:lpstr>gatherWood는 어떻게 호출될까</vt:lpstr>
      <vt:lpstr>의식과 반사 신경, 두 개의 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궁극의 AI 동반자 만들기</dc:title>
  <dc:subject/>
  <dc:creator/>
  <cp:lastModifiedBy>user</cp:lastModifiedBy>
  <cp:revision>85</cp:revision>
  <dcterms:created xsi:type="dcterms:W3CDTF">2026-10-05T16:18:50Z</dcterms:created>
  <dcterms:modified xsi:type="dcterms:W3CDTF">2026-10-06T14:32:21Z</dcterms:modified>
</cp:coreProperties>
</file>