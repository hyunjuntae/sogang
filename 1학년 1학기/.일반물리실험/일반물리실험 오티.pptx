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66" r:id="rId3"/>
    <p:sldId id="259" r:id="rId4"/>
    <p:sldId id="261" r:id="rId5"/>
    <p:sldId id="295" r:id="rId6"/>
    <p:sldId id="267" r:id="rId7"/>
    <p:sldId id="263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778420-922B-4C9C-9786-05DCC9A3D80B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22740-5E65-457C-9F43-421015D38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29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7F009-C0DA-4316-B280-A2E9DB48822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38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86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71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85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58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18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384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48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73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91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90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615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0E28E-811E-4B6E-AA94-CF77B2248151}" type="datetimeFigureOut">
              <a:rPr lang="ko-KR" altLang="en-US" smtClean="0"/>
              <a:t>2022-03-11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E7116-AE3C-4E88-A64F-B2F5E06BE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30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oulomb's_law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0.png"/><Relationship Id="rId4" Type="http://schemas.openxmlformats.org/officeDocument/2006/relationships/image" Target="../media/image2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459992" y="674307"/>
            <a:ext cx="9144000" cy="2387600"/>
          </a:xfrm>
        </p:spPr>
        <p:txBody>
          <a:bodyPr/>
          <a:lstStyle/>
          <a:p>
            <a:r>
              <a:rPr lang="ko-KR" altLang="en-US" dirty="0"/>
              <a:t>일반물리실험</a:t>
            </a:r>
            <a:r>
              <a:rPr lang="en-US" altLang="ko-KR" dirty="0"/>
              <a:t> OT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14831" y="4106094"/>
            <a:ext cx="87623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조교 </a:t>
            </a:r>
            <a:r>
              <a:rPr lang="en-US" altLang="ko-KR" sz="2000" dirty="0"/>
              <a:t>: </a:t>
            </a:r>
            <a:r>
              <a:rPr lang="ko-KR" altLang="en-US" sz="2000" dirty="0"/>
              <a:t>성시헌</a:t>
            </a:r>
            <a:r>
              <a:rPr lang="en-US" altLang="ko-KR" sz="2000" dirty="0"/>
              <a:t> </a:t>
            </a:r>
          </a:p>
          <a:p>
            <a:pPr algn="ctr"/>
            <a:r>
              <a:rPr lang="ko-KR" altLang="en-US" sz="2000" dirty="0"/>
              <a:t>메일 </a:t>
            </a:r>
            <a:r>
              <a:rPr lang="en-US" altLang="ko-KR" sz="2000" dirty="0"/>
              <a:t>: seongtion@naver.com </a:t>
            </a:r>
          </a:p>
          <a:p>
            <a:pPr algn="ctr"/>
            <a:r>
              <a:rPr lang="en-US" altLang="ko-KR" sz="2000" dirty="0"/>
              <a:t>Office : R1020 (</a:t>
            </a:r>
            <a:r>
              <a:rPr lang="ko-KR" altLang="en-US" sz="2000" dirty="0" err="1"/>
              <a:t>김도석</a:t>
            </a:r>
            <a:r>
              <a:rPr lang="ko-KR" altLang="en-US" sz="2000" dirty="0"/>
              <a:t> 교수님 연구실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36199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0769" y="683003"/>
            <a:ext cx="876233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배점</a:t>
            </a:r>
            <a:endParaRPr lang="en-US" altLang="ko-KR" sz="1600" b="1" dirty="0"/>
          </a:p>
          <a:p>
            <a:endParaRPr lang="en-US" altLang="ko-KR" sz="1600" dirty="0"/>
          </a:p>
          <a:p>
            <a:r>
              <a:rPr lang="ko-KR" altLang="en-US" sz="1600" dirty="0" err="1"/>
              <a:t>레포트</a:t>
            </a:r>
            <a:r>
              <a:rPr lang="ko-KR" altLang="en-US" sz="1600" dirty="0"/>
              <a:t> </a:t>
            </a:r>
            <a:r>
              <a:rPr lang="en-US" altLang="ko-KR" sz="1600" dirty="0"/>
              <a:t>(60</a:t>
            </a:r>
            <a:r>
              <a:rPr lang="ko-KR" altLang="en-US" sz="1600" dirty="0"/>
              <a:t>점</a:t>
            </a:r>
            <a:r>
              <a:rPr lang="en-US" altLang="ko-KR" sz="1600" dirty="0"/>
              <a:t>), </a:t>
            </a:r>
            <a:r>
              <a:rPr lang="ko-KR" altLang="en-US" sz="1600" dirty="0"/>
              <a:t>퀴즈 </a:t>
            </a:r>
            <a:r>
              <a:rPr lang="en-US" altLang="ko-KR" sz="1600" dirty="0"/>
              <a:t>(20</a:t>
            </a:r>
            <a:r>
              <a:rPr lang="ko-KR" altLang="en-US" sz="1600" dirty="0"/>
              <a:t>점</a:t>
            </a:r>
            <a:r>
              <a:rPr lang="en-US" altLang="ko-KR" sz="1600" dirty="0"/>
              <a:t>), </a:t>
            </a:r>
            <a:r>
              <a:rPr lang="ko-KR" altLang="en-US" sz="1600" dirty="0"/>
              <a:t>태도 </a:t>
            </a:r>
            <a:r>
              <a:rPr lang="en-US" altLang="ko-KR" sz="1600" dirty="0"/>
              <a:t>(10</a:t>
            </a:r>
            <a:r>
              <a:rPr lang="ko-KR" altLang="en-US" sz="1600" dirty="0"/>
              <a:t>점</a:t>
            </a:r>
            <a:r>
              <a:rPr lang="en-US" altLang="ko-KR" sz="1600" dirty="0"/>
              <a:t>), </a:t>
            </a:r>
            <a:r>
              <a:rPr lang="ko-KR" altLang="en-US" sz="1600" dirty="0"/>
              <a:t>기말고사 </a:t>
            </a:r>
            <a:r>
              <a:rPr lang="en-US" altLang="ko-KR" sz="1600" dirty="0"/>
              <a:t>(110</a:t>
            </a:r>
            <a:r>
              <a:rPr lang="ko-KR" altLang="en-US" sz="1600" dirty="0"/>
              <a:t>점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80769" y="1902589"/>
            <a:ext cx="82832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태도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뒷정리 깔끔하게 잘 하고 </a:t>
            </a:r>
            <a:r>
              <a:rPr lang="ko-KR" altLang="en-US" sz="1600" u="sng" dirty="0"/>
              <a:t>조교에게 검사 맡고 가기</a:t>
            </a:r>
            <a:r>
              <a:rPr lang="en-US" altLang="ko-KR" sz="1600" dirty="0"/>
              <a:t>. </a:t>
            </a:r>
            <a:r>
              <a:rPr lang="ko-KR" altLang="en-US" sz="1600" u="sng" dirty="0"/>
              <a:t>실험 기구</a:t>
            </a:r>
            <a:r>
              <a:rPr lang="en-US" altLang="ko-KR" sz="1600" u="sng" dirty="0"/>
              <a:t> </a:t>
            </a:r>
            <a:r>
              <a:rPr lang="ko-KR" altLang="en-US" sz="1600" u="sng" dirty="0"/>
              <a:t>조심해서 사용하기</a:t>
            </a:r>
            <a:r>
              <a:rPr lang="en-US" altLang="ko-KR" sz="1600" u="sng" dirty="0"/>
              <a:t>.</a:t>
            </a:r>
          </a:p>
          <a:p>
            <a:r>
              <a:rPr lang="ko-KR" altLang="en-US" sz="1600" dirty="0">
                <a:solidFill>
                  <a:srgbClr val="FF0000"/>
                </a:solidFill>
              </a:rPr>
              <a:t>이와 관련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현재 주인의식 없는 실험장비 사용으로 잦은 고장 </a:t>
            </a:r>
            <a:r>
              <a:rPr lang="en-US" altLang="ko-KR" sz="1600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다른 분반에게 피해라는 악순환이 반복되므로 이와 관련</a:t>
            </a:r>
            <a:r>
              <a:rPr lang="en-US" altLang="ko-KR" sz="1600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태도점수 등을 통해 엄격히 관리 및 감점할 예정</a:t>
            </a:r>
            <a:endParaRPr lang="en-US" altLang="ko-KR" sz="16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0769" y="3472249"/>
            <a:ext cx="954514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퀴즈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매뉴얼에 있는 이론과 실험방법에서 출제됨</a:t>
            </a:r>
            <a:r>
              <a:rPr lang="en-US" altLang="ko-KR" sz="1600" dirty="0"/>
              <a:t>, </a:t>
            </a:r>
            <a:r>
              <a:rPr lang="ko-KR" altLang="en-US" sz="1600" dirty="0"/>
              <a:t>수업 시작 시간 기준 </a:t>
            </a:r>
            <a:r>
              <a:rPr lang="en-US" altLang="ko-KR" sz="1600" dirty="0"/>
              <a:t>10</a:t>
            </a:r>
            <a:r>
              <a:rPr lang="ko-KR" altLang="en-US" sz="1600" dirty="0"/>
              <a:t>분 동안 치뤄지며 지각한 경우 그만큼 시험 시간이 줄어듦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ko-KR" altLang="en-US" sz="1600" u="sng" dirty="0"/>
              <a:t>퀴즈 중 핸드폰 사용 금지</a:t>
            </a:r>
            <a:endParaRPr lang="en-US" altLang="ko-KR" sz="1600" u="sng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80769" y="5220889"/>
            <a:ext cx="972802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출석</a:t>
            </a:r>
            <a:endParaRPr lang="en-US" altLang="ko-KR" sz="1600" b="1" dirty="0"/>
          </a:p>
          <a:p>
            <a:endParaRPr lang="en-US" altLang="ko-KR" sz="1600" dirty="0"/>
          </a:p>
          <a:p>
            <a:r>
              <a:rPr lang="ko-KR" altLang="en-US" sz="1600" dirty="0">
                <a:solidFill>
                  <a:srgbClr val="FF0000"/>
                </a:solidFill>
              </a:rPr>
              <a:t>일반물리실험에 결석은 허용되지 않음</a:t>
            </a:r>
            <a:r>
              <a:rPr lang="en-US" altLang="ko-KR" sz="1600" dirty="0">
                <a:solidFill>
                  <a:srgbClr val="FF0000"/>
                </a:solidFill>
              </a:rPr>
              <a:t>. </a:t>
            </a:r>
            <a:r>
              <a:rPr lang="ko-KR" altLang="en-US" sz="1600" dirty="0"/>
              <a:t>부득이한 사정으로 결석을 할 경우 최소 </a:t>
            </a:r>
            <a:r>
              <a:rPr lang="en-US" altLang="ko-KR" sz="1600" dirty="0"/>
              <a:t>3</a:t>
            </a:r>
            <a:r>
              <a:rPr lang="ko-KR" altLang="en-US" sz="1600" dirty="0"/>
              <a:t>일전에는 이야기할 것</a:t>
            </a:r>
            <a:r>
              <a:rPr lang="en-US" altLang="ko-KR" sz="1600" dirty="0"/>
              <a:t>. </a:t>
            </a:r>
            <a:r>
              <a:rPr lang="ko-KR" altLang="en-US" sz="1600" dirty="0"/>
              <a:t>부득이한 사정이란 신검</a:t>
            </a:r>
            <a:r>
              <a:rPr lang="en-US" altLang="ko-KR" sz="1600" dirty="0"/>
              <a:t>, </a:t>
            </a:r>
            <a:r>
              <a:rPr lang="ko-KR" altLang="en-US" sz="1600" dirty="0"/>
              <a:t>면접</a:t>
            </a:r>
            <a:r>
              <a:rPr lang="en-US" altLang="ko-KR" sz="1600" dirty="0"/>
              <a:t>, </a:t>
            </a:r>
            <a:r>
              <a:rPr lang="ko-KR" altLang="en-US" sz="1600" dirty="0"/>
              <a:t>상례 같은 것으로 학과 행사</a:t>
            </a:r>
            <a:r>
              <a:rPr lang="en-US" altLang="ko-KR" sz="1600" dirty="0"/>
              <a:t>, </a:t>
            </a:r>
            <a:r>
              <a:rPr lang="ko-KR" altLang="en-US" sz="1600" dirty="0"/>
              <a:t>동아리 모임은 인정하지 않음</a:t>
            </a:r>
            <a:r>
              <a:rPr lang="en-US" altLang="ko-KR" sz="1600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7044697" y="861909"/>
            <a:ext cx="46666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>
                <a:solidFill>
                  <a:srgbClr val="FF0000"/>
                </a:solidFill>
              </a:rPr>
              <a:t>족보 내용 카피할 경우 무조건 </a:t>
            </a:r>
            <a:r>
              <a:rPr lang="en-US" altLang="ko-KR" sz="2400">
                <a:solidFill>
                  <a:srgbClr val="FF0000"/>
                </a:solidFill>
              </a:rPr>
              <a:t>F!</a:t>
            </a:r>
            <a:endParaRPr lang="en-US" altLang="ko-K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27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BA12A-5B0B-4337-AE91-C941C0579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수업일정</a:t>
            </a:r>
          </a:p>
        </p:txBody>
      </p:sp>
      <p:sp>
        <p:nvSpPr>
          <p:cNvPr id="14" name="내용 개체 틀 8">
            <a:extLst>
              <a:ext uri="{FF2B5EF4-FFF2-40B4-BE49-F238E27FC236}">
                <a16:creationId xmlns:a16="http://schemas.microsoft.com/office/drawing/2014/main" id="{A3510B3C-AF5A-4E42-A46E-2199EA453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0288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개강주차</a:t>
            </a:r>
            <a:endParaRPr lang="en-US" altLang="ko-KR" dirty="0"/>
          </a:p>
          <a:p>
            <a:r>
              <a:rPr lang="en-US" altLang="ko-KR" dirty="0"/>
              <a:t>OT</a:t>
            </a:r>
          </a:p>
          <a:p>
            <a:r>
              <a:rPr lang="ko-KR" altLang="en-US" dirty="0"/>
              <a:t>중간고사성적</a:t>
            </a:r>
            <a:endParaRPr lang="en-US" altLang="ko-KR" dirty="0"/>
          </a:p>
          <a:p>
            <a:r>
              <a:rPr lang="ko-KR" altLang="en-US" dirty="0"/>
              <a:t>기말고사성적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8CDB84DD-87DA-45DB-AA17-DFAC6CA97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44201"/>
              </p:ext>
            </p:extLst>
          </p:nvPr>
        </p:nvGraphicFramePr>
        <p:xfrm>
          <a:off x="3824224" y="425450"/>
          <a:ext cx="8128000" cy="588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968">
                  <a:extLst>
                    <a:ext uri="{9D8B030D-6E8A-4147-A177-3AD203B41FA5}">
                      <a16:colId xmlns:a16="http://schemas.microsoft.com/office/drawing/2014/main" val="1221846298"/>
                    </a:ext>
                  </a:extLst>
                </a:gridCol>
                <a:gridCol w="5844032">
                  <a:extLst>
                    <a:ext uri="{9D8B030D-6E8A-4147-A177-3AD203B41FA5}">
                      <a16:colId xmlns:a16="http://schemas.microsoft.com/office/drawing/2014/main" val="2764091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732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분반조정 </a:t>
                      </a:r>
                      <a:r>
                        <a:rPr lang="en-US" altLang="ko-KR" sz="1400" dirty="0"/>
                        <a:t>(3/2 – 3/8)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분반 조정 기간 및 </a:t>
                      </a:r>
                      <a:r>
                        <a:rPr lang="ko-KR" altLang="en-US" sz="1400" dirty="0" err="1"/>
                        <a:t>비대면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OT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5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OT </a:t>
                      </a:r>
                      <a:r>
                        <a:rPr lang="ko-KR" altLang="en-US" sz="1400" dirty="0"/>
                        <a:t>주차 </a:t>
                      </a:r>
                      <a:r>
                        <a:rPr lang="en-US" altLang="ko-KR" sz="1400" dirty="0"/>
                        <a:t>(3/9 – 3/15)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레포트</a:t>
                      </a:r>
                      <a:r>
                        <a:rPr lang="ko-KR" altLang="en-US" sz="1400" dirty="0"/>
                        <a:t> 작성법 및 유효숫자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실험 계획 안내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002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주차 </a:t>
                      </a:r>
                      <a:r>
                        <a:rPr lang="en-US" altLang="ko-KR" sz="1400" dirty="0"/>
                        <a:t>(3/16 – 3/22)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컴퓨터를 이용한 측정 및 자료 분석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16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주차 </a:t>
                      </a:r>
                      <a:r>
                        <a:rPr lang="en-US" altLang="ko-KR" sz="1400" dirty="0"/>
                        <a:t>(3/23 - 3/29)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등가속도 운동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가속도 측정 및 뉴턴의 제</a:t>
                      </a:r>
                      <a:r>
                        <a:rPr lang="en-US" altLang="ko-KR" sz="1400" dirty="0"/>
                        <a:t> 2 </a:t>
                      </a:r>
                      <a:r>
                        <a:rPr lang="ko-KR" altLang="en-US" sz="1400" dirty="0"/>
                        <a:t>법칙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75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주차 </a:t>
                      </a:r>
                      <a:r>
                        <a:rPr lang="en-US" altLang="ko-KR" sz="1400" dirty="0"/>
                        <a:t>(3/30 – 4/5)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힘의 평형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77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주차 </a:t>
                      </a:r>
                      <a:r>
                        <a:rPr lang="en-US" altLang="ko-KR" sz="1400" dirty="0"/>
                        <a:t>(4/6 – 4/12)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폭발에서의 운동량 보존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충돌에서의 운동량 보존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181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주차 </a:t>
                      </a:r>
                      <a:r>
                        <a:rPr lang="en-US" altLang="ko-KR" sz="1400" dirty="0"/>
                        <a:t>(4/13 – 4/19)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관성모멘트 측정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709277"/>
                  </a:ext>
                </a:extLst>
              </a:tr>
              <a:tr h="3286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중간고사 기간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062071"/>
                  </a:ext>
                </a:extLst>
              </a:tr>
              <a:tr h="2915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/>
                        <a:t>주차 </a:t>
                      </a:r>
                      <a:r>
                        <a:rPr lang="en-US" altLang="ko-KR" sz="1400" dirty="0"/>
                        <a:t>(4/27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–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5/3)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역학적 에너지 보존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충돌과 회전운동 에너지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588779"/>
                  </a:ext>
                </a:extLst>
              </a:tr>
              <a:tr h="2545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주차 </a:t>
                      </a:r>
                      <a:r>
                        <a:rPr lang="en-US" altLang="ko-KR" sz="1400" dirty="0"/>
                        <a:t>(5/4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–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5/10)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중력가속도 측정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자유낙하 운동 실험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231718"/>
                  </a:ext>
                </a:extLst>
              </a:tr>
              <a:tr h="2174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</a:t>
                      </a:r>
                      <a:r>
                        <a:rPr lang="ko-KR" altLang="en-US" sz="1400" dirty="0"/>
                        <a:t>주차 </a:t>
                      </a:r>
                      <a:r>
                        <a:rPr lang="en-US" altLang="ko-KR" sz="1400" dirty="0"/>
                        <a:t>(5/11 – 5/17)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단순조화 진동자의 주기 측정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 err="1"/>
                        <a:t>비탈면</a:t>
                      </a:r>
                      <a:r>
                        <a:rPr lang="ko-KR" altLang="en-US" sz="1400" dirty="0"/>
                        <a:t> 위에서의 진동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용수철의 직렬 및 병렬 연결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392905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r>
                        <a:rPr lang="ko-KR" altLang="en-US" sz="1400" dirty="0"/>
                        <a:t>주차 </a:t>
                      </a:r>
                      <a:r>
                        <a:rPr lang="en-US" altLang="ko-KR" sz="1400" dirty="0"/>
                        <a:t>(5/18 – 5/24)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이상기체 실험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118858"/>
                  </a:ext>
                </a:extLst>
              </a:tr>
              <a:tr h="1432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주차</a:t>
                      </a:r>
                      <a:r>
                        <a:rPr lang="en-US" altLang="ko-KR" sz="1400" dirty="0"/>
                        <a:t> (5/25 – 5/31)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표면장력 실험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715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주차</a:t>
                      </a:r>
                      <a:r>
                        <a:rPr lang="en-US" altLang="ko-KR" sz="1400" dirty="0"/>
                        <a:t> (6/1 – 6/7)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줄의 파형 발생 실험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90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</a:t>
                      </a:r>
                      <a:r>
                        <a:rPr lang="ko-KR" altLang="en-US" sz="1400" dirty="0"/>
                        <a:t>주차 </a:t>
                      </a:r>
                      <a:r>
                        <a:rPr lang="en-US" altLang="ko-KR" sz="1400" dirty="0"/>
                        <a:t>(6/8 – 6/14)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열의 </a:t>
                      </a:r>
                      <a:r>
                        <a:rPr lang="ko-KR" altLang="en-US" sz="1400" dirty="0" err="1"/>
                        <a:t>일당량</a:t>
                      </a:r>
                      <a:r>
                        <a:rPr lang="ko-KR" altLang="en-US" sz="1400" dirty="0"/>
                        <a:t> 측정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63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기말고사 기간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기말고사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504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04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7082" y="118872"/>
            <a:ext cx="11078950" cy="800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ko-KR" altLang="en-US" b="1" dirty="0" err="1"/>
              <a:t>레포트</a:t>
            </a:r>
            <a:r>
              <a:rPr lang="ko-KR" altLang="en-US" b="1" dirty="0"/>
              <a:t> 작성 </a:t>
            </a:r>
            <a:r>
              <a:rPr lang="en-US" altLang="ko-KR" b="1" dirty="0"/>
              <a:t>(</a:t>
            </a:r>
            <a:r>
              <a:rPr lang="ko-KR" altLang="en-US" b="1" strike="sngStrike" dirty="0"/>
              <a:t>손으로 작성</a:t>
            </a:r>
            <a:r>
              <a:rPr lang="en-US" altLang="ko-KR" b="1" strike="sngStrike" dirty="0"/>
              <a:t>, </a:t>
            </a:r>
            <a:r>
              <a:rPr lang="ko-KR" altLang="en-US" b="1" strike="sngStrike" dirty="0"/>
              <a:t>볼펜으로 작성</a:t>
            </a:r>
            <a:r>
              <a:rPr lang="ko-KR" altLang="en-US" b="1" dirty="0"/>
              <a:t> 워드프로세서를 통해 작성</a:t>
            </a:r>
            <a:r>
              <a:rPr lang="en-US" altLang="ko-KR" b="1" dirty="0"/>
              <a:t>)</a:t>
            </a:r>
          </a:p>
          <a:p>
            <a:endParaRPr lang="en-US" altLang="ko-KR" dirty="0"/>
          </a:p>
          <a:p>
            <a:r>
              <a:rPr lang="en-US" altLang="ko-KR" sz="1600" b="1" dirty="0"/>
              <a:t>(1) </a:t>
            </a:r>
            <a:r>
              <a:rPr lang="ko-KR" altLang="en-US" sz="1600" b="1" dirty="0"/>
              <a:t>표지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표지 반드시 작성하여 붙이기</a:t>
            </a:r>
            <a:r>
              <a:rPr lang="en-US" altLang="ko-KR" sz="1600" dirty="0"/>
              <a:t>. </a:t>
            </a:r>
            <a:r>
              <a:rPr lang="ko-KR" altLang="en-US" sz="1600" dirty="0"/>
              <a:t>표지에는 </a:t>
            </a:r>
            <a:r>
              <a:rPr lang="ko-KR" altLang="en-US" sz="1600" u="sng" dirty="0"/>
              <a:t>해당 실험 제목과 학번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이름</a:t>
            </a:r>
            <a:r>
              <a:rPr lang="ko-KR" altLang="en-US" sz="1600" dirty="0"/>
              <a:t>이 반드시 들어가게 할 것</a:t>
            </a:r>
            <a:r>
              <a:rPr lang="en-US" altLang="ko-KR" sz="1600" dirty="0"/>
              <a:t>. </a:t>
            </a:r>
          </a:p>
          <a:p>
            <a:endParaRPr lang="en-US" altLang="ko-KR" sz="1600" dirty="0"/>
          </a:p>
          <a:p>
            <a:r>
              <a:rPr lang="en-US" altLang="ko-KR" sz="1600" b="1" dirty="0"/>
              <a:t>(2) </a:t>
            </a:r>
            <a:r>
              <a:rPr lang="ko-KR" altLang="en-US" sz="1600" b="1" dirty="0"/>
              <a:t>순서 </a:t>
            </a:r>
            <a:r>
              <a:rPr lang="en-US" altLang="ko-KR" sz="1600" dirty="0"/>
              <a:t>: </a:t>
            </a:r>
            <a:r>
              <a:rPr lang="ko-KR" altLang="en-US" sz="1600" dirty="0"/>
              <a:t>실험 목적 </a:t>
            </a:r>
            <a:r>
              <a:rPr lang="en-US" altLang="ko-KR" sz="1600" dirty="0"/>
              <a:t>– </a:t>
            </a:r>
            <a:r>
              <a:rPr lang="ko-KR" altLang="en-US" sz="1600" dirty="0"/>
              <a:t>이론 </a:t>
            </a:r>
            <a:r>
              <a:rPr lang="en-US" altLang="ko-KR" sz="1600" dirty="0"/>
              <a:t>- </a:t>
            </a:r>
            <a:r>
              <a:rPr lang="ko-KR" altLang="en-US" sz="1600" dirty="0"/>
              <a:t>데이터 정리 </a:t>
            </a:r>
            <a:r>
              <a:rPr lang="en-US" altLang="ko-KR" sz="1600" dirty="0"/>
              <a:t>– </a:t>
            </a:r>
            <a:r>
              <a:rPr lang="ko-KR" altLang="en-US" sz="1600" dirty="0"/>
              <a:t>결과 분석 </a:t>
            </a:r>
            <a:r>
              <a:rPr lang="en-US" altLang="ko-KR" sz="1600" dirty="0"/>
              <a:t>– </a:t>
            </a:r>
            <a:r>
              <a:rPr lang="ko-KR" altLang="en-US" sz="1600" dirty="0"/>
              <a:t>질문 </a:t>
            </a:r>
            <a:r>
              <a:rPr lang="en-US" altLang="ko-KR" sz="1600" dirty="0"/>
              <a:t>-</a:t>
            </a:r>
            <a:r>
              <a:rPr lang="ko-KR" altLang="en-US" sz="1600" dirty="0"/>
              <a:t> 토의 </a:t>
            </a:r>
            <a:r>
              <a:rPr lang="en-US" altLang="ko-KR" sz="1600" dirty="0"/>
              <a:t>– </a:t>
            </a:r>
            <a:r>
              <a:rPr lang="ko-KR" altLang="en-US" sz="1600" dirty="0"/>
              <a:t>참고문헌 </a:t>
            </a:r>
            <a:endParaRPr lang="en-US" altLang="ko-KR" sz="1600" dirty="0"/>
          </a:p>
          <a:p>
            <a:r>
              <a:rPr lang="en-US" altLang="ko-KR" sz="1600" dirty="0"/>
              <a:t>             (</a:t>
            </a:r>
            <a:r>
              <a:rPr lang="ko-KR" altLang="en-US" sz="1600" dirty="0"/>
              <a:t>순서에 맞게 씁니다</a:t>
            </a:r>
            <a:r>
              <a:rPr lang="en-US" altLang="ko-KR" sz="1600" dirty="0"/>
              <a:t>. </a:t>
            </a:r>
            <a:r>
              <a:rPr lang="ko-KR" altLang="en-US" sz="1600" dirty="0"/>
              <a:t>각 항목을 제대로 분리해서 씁니다</a:t>
            </a:r>
            <a:r>
              <a:rPr lang="en-US" altLang="ko-KR" sz="1600" dirty="0"/>
              <a:t>.)</a:t>
            </a:r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i="1" u="sng" dirty="0"/>
              <a:t>실험 목적 </a:t>
            </a:r>
            <a:r>
              <a:rPr lang="en-US" altLang="ko-KR" sz="1600" dirty="0"/>
              <a:t>: </a:t>
            </a:r>
            <a:r>
              <a:rPr lang="ko-KR" altLang="en-US" sz="1600" dirty="0"/>
              <a:t>매뉴얼에 나와있는 목적을 쓴다</a:t>
            </a:r>
            <a:r>
              <a:rPr lang="en-US" altLang="ko-KR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600" i="1" u="sng" dirty="0"/>
              <a:t>이론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실험과 관련된 이론을 몇 가지 간결하게 정리하여 적는다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i="1" u="sng" dirty="0"/>
              <a:t>데이터 정리 </a:t>
            </a:r>
            <a:r>
              <a:rPr lang="en-US" altLang="ko-KR" sz="1600" dirty="0"/>
              <a:t>: </a:t>
            </a:r>
            <a:r>
              <a:rPr lang="ko-KR" altLang="en-US" sz="1600" dirty="0"/>
              <a:t>얻은 데이터를 깔끔하게 정리한다</a:t>
            </a:r>
            <a:r>
              <a:rPr lang="en-US" altLang="ko-KR" sz="1600" dirty="0"/>
              <a:t>. </a:t>
            </a:r>
            <a:r>
              <a:rPr lang="ko-KR" altLang="en-US" sz="1600" dirty="0"/>
              <a:t>표와 그래프를 이용한다</a:t>
            </a:r>
            <a:r>
              <a:rPr lang="en-US" altLang="ko-KR" sz="1600" dirty="0"/>
              <a:t>. </a:t>
            </a:r>
            <a:r>
              <a:rPr lang="ko-KR" altLang="en-US" sz="1600" dirty="0">
                <a:solidFill>
                  <a:srgbClr val="FF0000"/>
                </a:solidFill>
              </a:rPr>
              <a:t>표나 그래프는 반드시 컴퓨터를 이용하여 작성한다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600" i="1" u="sng" dirty="0"/>
              <a:t>결과 분석 </a:t>
            </a:r>
            <a:r>
              <a:rPr lang="en-US" altLang="ko-KR" sz="1600" dirty="0"/>
              <a:t>: </a:t>
            </a:r>
            <a:r>
              <a:rPr lang="ko-KR" altLang="en-US" sz="1600" dirty="0"/>
              <a:t>매뉴얼</a:t>
            </a:r>
            <a:r>
              <a:rPr lang="en-US" altLang="ko-KR" sz="1600" dirty="0"/>
              <a:t>, </a:t>
            </a:r>
            <a:r>
              <a:rPr lang="ko-KR" altLang="en-US" sz="1600" dirty="0"/>
              <a:t>혹은 </a:t>
            </a:r>
            <a:r>
              <a:rPr lang="ko-KR" altLang="en-US" sz="1600" dirty="0" err="1"/>
              <a:t>일반물리책</a:t>
            </a:r>
            <a:r>
              <a:rPr lang="ko-KR" altLang="en-US" sz="1600" dirty="0"/>
              <a:t> 등에 나와 있는 이론을 설명하고 이를 이용하여 실험 결과를 분석하고 해석한다</a:t>
            </a:r>
            <a:r>
              <a:rPr lang="en-US" altLang="ko-KR" sz="1600" dirty="0"/>
              <a:t>. </a:t>
            </a:r>
            <a:r>
              <a:rPr lang="ko-KR" altLang="en-US" sz="1600" dirty="0"/>
              <a:t>분석 방법은 단순히 </a:t>
            </a:r>
            <a:r>
              <a:rPr lang="ko-KR" altLang="en-US" sz="1600" dirty="0" err="1"/>
              <a:t>이론값과</a:t>
            </a:r>
            <a:r>
              <a:rPr lang="ko-KR" altLang="en-US" sz="1600" dirty="0"/>
              <a:t> 실험값을 비교하고 오차를 구하는 것</a:t>
            </a:r>
            <a:r>
              <a:rPr lang="en-US" altLang="ko-KR" sz="1600" dirty="0"/>
              <a:t>, </a:t>
            </a:r>
            <a:r>
              <a:rPr lang="ko-KR" altLang="en-US" sz="1600" dirty="0"/>
              <a:t>실험 데이터들을 표나 그래프를 잘 정리하여 경향을 보기 쉽게 하는 것</a:t>
            </a:r>
            <a:r>
              <a:rPr lang="en-US" altLang="ko-KR" sz="1600" dirty="0"/>
              <a:t>, </a:t>
            </a:r>
            <a:r>
              <a:rPr lang="ko-KR" altLang="en-US" sz="1600" dirty="0"/>
              <a:t>그래프를 </a:t>
            </a:r>
            <a:r>
              <a:rPr lang="en-US" altLang="ko-KR" sz="1600" dirty="0"/>
              <a:t>fitting</a:t>
            </a:r>
            <a:r>
              <a:rPr lang="ko-KR" altLang="en-US" sz="1600" dirty="0"/>
              <a:t>해 보는 것 등이 있다</a:t>
            </a:r>
            <a:r>
              <a:rPr lang="en-US" altLang="ko-KR" sz="1600" dirty="0"/>
              <a:t>. </a:t>
            </a:r>
            <a:r>
              <a:rPr lang="ko-KR" altLang="en-US" sz="1600" dirty="0"/>
              <a:t>분석 한 후 이론에 기반한 간단한 해석을 덧붙인다</a:t>
            </a:r>
            <a:r>
              <a:rPr lang="en-US" altLang="ko-KR" sz="1600" dirty="0"/>
              <a:t>. </a:t>
            </a:r>
          </a:p>
          <a:p>
            <a:pPr marL="285750" indent="-285750">
              <a:buFontTx/>
              <a:buChar char="-"/>
            </a:pPr>
            <a:r>
              <a:rPr lang="ko-KR" altLang="en-US" sz="1600" i="1" u="sng" dirty="0"/>
              <a:t>질문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질문이 있다면 질문에 간단하게 답한다</a:t>
            </a:r>
            <a:r>
              <a:rPr lang="en-US" altLang="ko-KR" sz="1600" dirty="0"/>
              <a:t>. </a:t>
            </a:r>
          </a:p>
          <a:p>
            <a:pPr marL="285750" indent="-285750">
              <a:buFontTx/>
              <a:buChar char="-"/>
            </a:pPr>
            <a:r>
              <a:rPr lang="ko-KR" altLang="en-US" sz="1600" i="1" u="sng" dirty="0"/>
              <a:t>토의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토의 쓰는 방법 참고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i="1" u="sng" dirty="0"/>
              <a:t>참고문헌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저자</a:t>
            </a:r>
            <a:r>
              <a:rPr lang="en-US" altLang="ko-KR" sz="1600" dirty="0"/>
              <a:t>, </a:t>
            </a:r>
            <a:r>
              <a:rPr lang="ko-KR" altLang="en-US" sz="1600" dirty="0"/>
              <a:t>제목</a:t>
            </a:r>
            <a:r>
              <a:rPr lang="en-US" altLang="ko-KR" sz="1600" dirty="0"/>
              <a:t>, </a:t>
            </a:r>
            <a:r>
              <a:rPr lang="ko-KR" altLang="en-US" sz="1600" dirty="0"/>
              <a:t>출판사</a:t>
            </a:r>
            <a:r>
              <a:rPr lang="en-US" altLang="ko-KR" sz="1600" dirty="0"/>
              <a:t>, </a:t>
            </a:r>
            <a:r>
              <a:rPr lang="ko-KR" altLang="en-US" sz="1600" dirty="0"/>
              <a:t>판수</a:t>
            </a:r>
            <a:r>
              <a:rPr lang="en-US" altLang="ko-KR" sz="1600" dirty="0"/>
              <a:t>, </a:t>
            </a:r>
            <a:r>
              <a:rPr lang="ko-KR" altLang="en-US" sz="1600" dirty="0"/>
              <a:t>년도</a:t>
            </a:r>
            <a:r>
              <a:rPr lang="en-US" altLang="ko-KR" sz="1600" dirty="0"/>
              <a:t>, </a:t>
            </a:r>
            <a:r>
              <a:rPr lang="ko-KR" altLang="en-US" sz="1600" dirty="0"/>
              <a:t>페이지 순으로 작성</a:t>
            </a:r>
            <a:r>
              <a:rPr lang="en-US" altLang="ko-KR" sz="1600" dirty="0"/>
              <a:t>, </a:t>
            </a:r>
            <a:r>
              <a:rPr lang="ko-KR" altLang="en-US" sz="1600" dirty="0"/>
              <a:t>웹사이트를 참고했을 경우 웹사이트의 이름과 주소를 기제</a:t>
            </a:r>
            <a:endParaRPr lang="en-US" altLang="ko-KR" sz="1600" i="1" u="sng" dirty="0"/>
          </a:p>
          <a:p>
            <a:endParaRPr lang="en-US" altLang="ko-KR" dirty="0"/>
          </a:p>
          <a:p>
            <a:r>
              <a:rPr lang="ko-KR" altLang="en-US" sz="1600" dirty="0"/>
              <a:t>예 </a:t>
            </a:r>
            <a:r>
              <a:rPr lang="en-US" altLang="ko-KR" sz="1600" dirty="0"/>
              <a:t>) </a:t>
            </a:r>
            <a:r>
              <a:rPr lang="ko-KR" altLang="en-US" sz="1600" dirty="0" err="1"/>
              <a:t>할리데이</a:t>
            </a:r>
            <a:r>
              <a:rPr lang="en-US" altLang="ko-KR" sz="1600" dirty="0"/>
              <a:t>, </a:t>
            </a:r>
            <a:r>
              <a:rPr lang="ko-KR" altLang="en-US" sz="1600" dirty="0"/>
              <a:t>일반물리학</a:t>
            </a:r>
            <a:r>
              <a:rPr lang="en-US" altLang="ko-KR" sz="1600" dirty="0"/>
              <a:t>, 2007, 8</a:t>
            </a:r>
            <a:r>
              <a:rPr lang="ko-KR" altLang="en-US" sz="1600" dirty="0"/>
              <a:t>판</a:t>
            </a:r>
            <a:r>
              <a:rPr lang="en-US" altLang="ko-KR" sz="1600" dirty="0"/>
              <a:t>, 2016, </a:t>
            </a:r>
            <a:r>
              <a:rPr lang="en-US" altLang="ko-KR" sz="1600" dirty="0" err="1"/>
              <a:t>p100</a:t>
            </a:r>
            <a:endParaRPr lang="en-US" altLang="ko-KR" sz="1600" dirty="0"/>
          </a:p>
          <a:p>
            <a:r>
              <a:rPr lang="en-US" altLang="ko-KR" sz="1600" dirty="0"/>
              <a:t>      </a:t>
            </a:r>
            <a:r>
              <a:rPr lang="ko-KR" altLang="en-US" sz="1600" dirty="0"/>
              <a:t>일반물리학실험 매뉴얼</a:t>
            </a:r>
            <a:r>
              <a:rPr lang="en-US" altLang="ko-KR" sz="1600" dirty="0"/>
              <a:t>, </a:t>
            </a:r>
            <a:r>
              <a:rPr lang="ko-KR" altLang="en-US" sz="1600" dirty="0"/>
              <a:t>서강대학교 물리학과</a:t>
            </a:r>
            <a:endParaRPr lang="en-US" altLang="ko-KR" sz="1600" dirty="0"/>
          </a:p>
          <a:p>
            <a:r>
              <a:rPr lang="en-US" altLang="ko-KR" sz="1600" dirty="0"/>
              <a:t>      </a:t>
            </a:r>
            <a:r>
              <a:rPr lang="ko-KR" altLang="en-US" sz="1600" dirty="0"/>
              <a:t>위키피디아</a:t>
            </a:r>
            <a:r>
              <a:rPr lang="en-US" altLang="ko-KR" sz="1600" dirty="0"/>
              <a:t>, Coulomb’s law, </a:t>
            </a:r>
            <a:r>
              <a:rPr lang="en-US" altLang="ko-KR" sz="1600" dirty="0">
                <a:hlinkClick r:id="rId2"/>
              </a:rPr>
              <a:t>https://</a:t>
            </a:r>
            <a:r>
              <a:rPr lang="en-US" altLang="ko-KR" sz="1600" dirty="0" err="1">
                <a:hlinkClick r:id="rId2"/>
              </a:rPr>
              <a:t>en.wikipedia.org</a:t>
            </a:r>
            <a:r>
              <a:rPr lang="en-US" altLang="ko-KR" sz="1600" dirty="0">
                <a:hlinkClick r:id="rId2"/>
              </a:rPr>
              <a:t>/wiki/</a:t>
            </a:r>
            <a:r>
              <a:rPr lang="en-US" altLang="ko-KR" sz="1600" dirty="0" err="1">
                <a:hlinkClick r:id="rId2"/>
              </a:rPr>
              <a:t>Coulomb%27s_law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</a:p>
          <a:p>
            <a:endParaRPr lang="en-US" altLang="ko-KR" sz="1600" dirty="0"/>
          </a:p>
          <a:p>
            <a:r>
              <a:rPr lang="ko-KR" altLang="en-US" sz="1600" dirty="0"/>
              <a:t>참고문헌에는 검증 받은 학부 이상의 출판물이나 웹사이트만 쓸 것</a:t>
            </a:r>
            <a:r>
              <a:rPr lang="en-US" altLang="ko-KR" sz="1600" dirty="0"/>
              <a:t>. </a:t>
            </a:r>
            <a:r>
              <a:rPr lang="ko-KR" altLang="en-US" sz="1600" dirty="0">
                <a:solidFill>
                  <a:srgbClr val="FF0000"/>
                </a:solidFill>
              </a:rPr>
              <a:t>매뉴얼이라도 꼭 쓰기</a:t>
            </a:r>
            <a:r>
              <a:rPr lang="en-US" altLang="ko-KR" sz="1600" dirty="0">
                <a:solidFill>
                  <a:srgbClr val="FF0000"/>
                </a:solidFill>
              </a:rPr>
              <a:t>! </a:t>
            </a:r>
            <a:r>
              <a:rPr lang="ko-KR" altLang="en-US" sz="1600" dirty="0"/>
              <a:t>고등학교 교과서나 </a:t>
            </a:r>
            <a:r>
              <a:rPr lang="ko-KR" altLang="en-US" sz="1600" dirty="0" err="1"/>
              <a:t>하이탑</a:t>
            </a:r>
            <a:r>
              <a:rPr lang="ko-KR" altLang="en-US" sz="1600" dirty="0"/>
              <a:t> </a:t>
            </a:r>
            <a:r>
              <a:rPr lang="en-US" altLang="ko-KR" sz="1600" dirty="0"/>
              <a:t>x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8382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7AD699-F835-4F7E-8EA4-7B7671DD397B}"/>
              </a:ext>
            </a:extLst>
          </p:cNvPr>
          <p:cNvSpPr txBox="1"/>
          <p:nvPr/>
        </p:nvSpPr>
        <p:spPr>
          <a:xfrm>
            <a:off x="836102" y="738231"/>
            <a:ext cx="105197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데이터 및 결과분석 쓰는 법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/>
              <a:t>데이터는 표 또는 그래프</a:t>
            </a:r>
            <a:endParaRPr lang="en-US" altLang="ko-KR" dirty="0"/>
          </a:p>
          <a:p>
            <a:r>
              <a:rPr lang="ko-KR" altLang="en-US" dirty="0"/>
              <a:t>하나를 붙였으면 밑에 </a:t>
            </a:r>
            <a:r>
              <a:rPr lang="en-US" altLang="ko-KR" dirty="0"/>
              <a:t>Fig1, Fig2, Fig3-1, … </a:t>
            </a:r>
            <a:r>
              <a:rPr lang="ko-KR" altLang="en-US" dirty="0"/>
              <a:t>이런 식으로 이름 달기</a:t>
            </a:r>
            <a:endParaRPr lang="en-US" altLang="ko-KR" dirty="0"/>
          </a:p>
          <a:p>
            <a:r>
              <a:rPr lang="ko-KR" altLang="en-US" dirty="0"/>
              <a:t>표의 경우는 </a:t>
            </a:r>
            <a:r>
              <a:rPr lang="en-US" altLang="ko-KR" dirty="0"/>
              <a:t>Table1, Table2, …</a:t>
            </a:r>
          </a:p>
          <a:p>
            <a:endParaRPr lang="en-US" altLang="ko-KR" dirty="0"/>
          </a:p>
          <a:p>
            <a:r>
              <a:rPr lang="ko-KR" altLang="en-US" dirty="0"/>
              <a:t>그렇게 함으로써 각 데이터를 언급하면 결과 분석 </a:t>
            </a:r>
            <a:r>
              <a:rPr lang="en-US" altLang="ko-KR" dirty="0"/>
              <a:t>(Fig2</a:t>
            </a:r>
            <a:r>
              <a:rPr lang="ko-KR" altLang="en-US" dirty="0"/>
              <a:t>에서 볼 수 있듯이 </a:t>
            </a:r>
            <a:r>
              <a:rPr lang="ko-KR" altLang="en-US" dirty="0" err="1"/>
              <a:t>뭐시기뭐시기</a:t>
            </a:r>
            <a:r>
              <a:rPr lang="ko-KR" altLang="en-US" dirty="0"/>
              <a:t> 하다</a:t>
            </a:r>
            <a:r>
              <a:rPr lang="en-US" altLang="ko-KR" dirty="0"/>
              <a:t>…)</a:t>
            </a:r>
          </a:p>
          <a:p>
            <a:r>
              <a:rPr lang="en-US" altLang="ko-KR" dirty="0"/>
              <a:t>                                                                (</a:t>
            </a:r>
            <a:r>
              <a:rPr lang="ko-KR" altLang="en-US" dirty="0" err="1"/>
              <a:t>뭐에</a:t>
            </a:r>
            <a:r>
              <a:rPr lang="ko-KR" altLang="en-US" dirty="0"/>
              <a:t> 따른 뭐를 </a:t>
            </a:r>
            <a:r>
              <a:rPr lang="en-US" altLang="ko-KR" dirty="0"/>
              <a:t>Table3</a:t>
            </a:r>
            <a:r>
              <a:rPr lang="ko-KR" altLang="en-US" dirty="0"/>
              <a:t>에 </a:t>
            </a:r>
            <a:r>
              <a:rPr lang="ko-KR" altLang="en-US" dirty="0" err="1"/>
              <a:t>나타내었다</a:t>
            </a:r>
            <a:r>
              <a:rPr lang="en-US" altLang="ko-KR" dirty="0"/>
              <a:t>…)</a:t>
            </a:r>
          </a:p>
          <a:p>
            <a:endParaRPr lang="en-US" altLang="ko-KR" dirty="0"/>
          </a:p>
          <a:p>
            <a:r>
              <a:rPr lang="ko-KR" altLang="en-US" dirty="0"/>
              <a:t>자신이 어떤 것을 설명하고 싶은데 그림이 효과적일 것이라는 판단이 있다면 그림을 직접 만들든 퍼오든 해서 설명할 수 있음</a:t>
            </a:r>
            <a:r>
              <a:rPr lang="en-US" altLang="ko-KR" dirty="0"/>
              <a:t>. (</a:t>
            </a:r>
            <a:r>
              <a:rPr lang="ko-KR" altLang="en-US" dirty="0" err="1"/>
              <a:t>뭐시기뭐시기에</a:t>
            </a:r>
            <a:r>
              <a:rPr lang="ko-KR" altLang="en-US" dirty="0"/>
              <a:t> 대한 대략적인 </a:t>
            </a:r>
            <a:r>
              <a:rPr lang="ko-KR" altLang="en-US" dirty="0" err="1"/>
              <a:t>뭐시기뭐시기를</a:t>
            </a:r>
            <a:r>
              <a:rPr lang="ko-KR" altLang="en-US" dirty="0"/>
              <a:t> </a:t>
            </a:r>
            <a:r>
              <a:rPr lang="en-US" altLang="ko-KR" dirty="0"/>
              <a:t>Fig7</a:t>
            </a:r>
            <a:r>
              <a:rPr lang="ko-KR" altLang="en-US" dirty="0"/>
              <a:t>에 </a:t>
            </a:r>
            <a:r>
              <a:rPr lang="ko-KR" altLang="en-US" dirty="0" err="1"/>
              <a:t>나타내었다</a:t>
            </a:r>
            <a:r>
              <a:rPr lang="en-US" altLang="ko-KR" dirty="0"/>
              <a:t>…)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자신에게 저작권이 없다면 반드시 </a:t>
            </a:r>
            <a:r>
              <a:rPr lang="en-US" altLang="ko-KR" dirty="0"/>
              <a:t>reference</a:t>
            </a:r>
            <a:r>
              <a:rPr lang="ko-KR" altLang="en-US" dirty="0"/>
              <a:t>달 것</a:t>
            </a:r>
            <a:r>
              <a:rPr lang="en-US" altLang="ko-KR" dirty="0"/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7DF11-17BF-4CA8-9685-DD4207DA1C22}"/>
              </a:ext>
            </a:extLst>
          </p:cNvPr>
          <p:cNvSpPr txBox="1"/>
          <p:nvPr/>
        </p:nvSpPr>
        <p:spPr>
          <a:xfrm>
            <a:off x="836102" y="4721815"/>
            <a:ext cx="10519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Reference</a:t>
            </a:r>
            <a:r>
              <a:rPr lang="ko-KR" altLang="en-US" dirty="0"/>
              <a:t>에 대해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자신의 의견</a:t>
            </a:r>
            <a:r>
              <a:rPr lang="en-US" altLang="ko-KR" dirty="0"/>
              <a:t>, </a:t>
            </a:r>
            <a:r>
              <a:rPr lang="ko-KR" altLang="en-US" dirty="0"/>
              <a:t>주장은 </a:t>
            </a:r>
            <a:r>
              <a:rPr lang="en-US" altLang="ko-KR" dirty="0"/>
              <a:t>reference </a:t>
            </a:r>
            <a:r>
              <a:rPr lang="ko-KR" altLang="en-US" dirty="0"/>
              <a:t>노 필요</a:t>
            </a:r>
            <a:r>
              <a:rPr lang="en-US" altLang="ko-KR" dirty="0"/>
              <a:t>, </a:t>
            </a:r>
            <a:r>
              <a:rPr lang="ko-KR" altLang="en-US" dirty="0"/>
              <a:t>그런데 기존의 지식들이나 법칙</a:t>
            </a:r>
            <a:r>
              <a:rPr lang="en-US" altLang="ko-KR" dirty="0"/>
              <a:t>, </a:t>
            </a:r>
            <a:r>
              <a:rPr lang="ko-KR" altLang="en-US" dirty="0"/>
              <a:t>정리 같은 것들은 반드시 참고문헌이 필요</a:t>
            </a:r>
          </a:p>
        </p:txBody>
      </p:sp>
    </p:spTree>
    <p:extLst>
      <p:ext uri="{BB962C8B-B14F-4D97-AF65-F5344CB8AC3E}">
        <p14:creationId xmlns:p14="http://schemas.microsoft.com/office/powerpoint/2010/main" val="98510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8660" y="476551"/>
            <a:ext cx="99852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토의 쓰는 법</a:t>
            </a:r>
            <a:endParaRPr lang="en-US" altLang="ko-KR" b="1" dirty="0"/>
          </a:p>
          <a:p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결론 </a:t>
            </a:r>
            <a:r>
              <a:rPr lang="en-US" altLang="ko-KR" dirty="0"/>
              <a:t>: </a:t>
            </a:r>
            <a:r>
              <a:rPr lang="ko-KR" altLang="en-US" dirty="0"/>
              <a:t>왜 이 실험을 했는지</a:t>
            </a:r>
            <a:r>
              <a:rPr lang="en-US" altLang="ko-KR" dirty="0"/>
              <a:t>, </a:t>
            </a:r>
            <a:r>
              <a:rPr lang="ko-KR" altLang="en-US" dirty="0"/>
              <a:t>목적을 생각하고 얻은 결론을 적는다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실험 검토 </a:t>
            </a:r>
            <a:r>
              <a:rPr lang="en-US" altLang="ko-KR" dirty="0"/>
              <a:t>: </a:t>
            </a:r>
            <a:r>
              <a:rPr lang="ko-KR" altLang="en-US" dirty="0"/>
              <a:t>우리가 한 실험에서 보고자 한 것을 잘 보았는지 적는다</a:t>
            </a:r>
            <a:r>
              <a:rPr lang="en-US" altLang="ko-KR" dirty="0"/>
              <a:t>. </a:t>
            </a:r>
            <a:r>
              <a:rPr lang="ko-KR" altLang="en-US" dirty="0"/>
              <a:t>어떤 부분은 잘 보았고 어떤 부분은 잘 보기 어려웠는지 구체적으로 서술한다</a:t>
            </a:r>
            <a:r>
              <a:rPr lang="en-US" altLang="ko-KR" dirty="0"/>
              <a:t>. </a:t>
            </a:r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오차 분석 및 개선방안 </a:t>
            </a:r>
            <a:r>
              <a:rPr lang="en-US" altLang="ko-KR" dirty="0"/>
              <a:t>: </a:t>
            </a:r>
            <a:r>
              <a:rPr lang="ko-KR" altLang="en-US" dirty="0"/>
              <a:t>잘 보았다면</a:t>
            </a:r>
            <a:r>
              <a:rPr lang="en-US" altLang="ko-KR" dirty="0"/>
              <a:t>, </a:t>
            </a:r>
            <a:r>
              <a:rPr lang="ko-KR" altLang="en-US" dirty="0"/>
              <a:t>혹은 잘 보지 못했다면 그 이유에 대해 생각해보고 구체적으로 적는다</a:t>
            </a:r>
            <a:r>
              <a:rPr lang="en-US" altLang="ko-KR" dirty="0"/>
              <a:t>. </a:t>
            </a:r>
            <a:r>
              <a:rPr lang="ko-KR" altLang="en-US" dirty="0"/>
              <a:t>잘 보지 못했다면 개선해야할 점을 적는다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arenBoth"/>
            </a:pPr>
            <a:endParaRPr lang="en-US" altLang="ko-KR" dirty="0"/>
          </a:p>
          <a:p>
            <a:pPr marL="342900" indent="-342900">
              <a:buFontTx/>
              <a:buAutoNum type="arabicParenBoth"/>
            </a:pPr>
            <a:r>
              <a:rPr lang="ko-KR" altLang="en-US" dirty="0"/>
              <a:t>이론을 확인할 다른 실험 제안 </a:t>
            </a:r>
            <a:r>
              <a:rPr lang="en-US" altLang="ko-KR" dirty="0"/>
              <a:t>: </a:t>
            </a:r>
            <a:r>
              <a:rPr lang="ko-KR" altLang="en-US" dirty="0"/>
              <a:t>우리가 보고자 했던 물리 현상을 확인할 다른 실험에 대해 생각해보고 적는다</a:t>
            </a:r>
            <a:r>
              <a:rPr lang="en-US" altLang="ko-KR" dirty="0"/>
              <a:t>. </a:t>
            </a:r>
            <a:r>
              <a:rPr lang="ko-KR" altLang="en-US" dirty="0"/>
              <a:t>꼭 정확히 똑같은 현상일 필요는 없고 관련된 현상도 된다</a:t>
            </a:r>
            <a:r>
              <a:rPr lang="en-US" altLang="ko-KR" dirty="0"/>
              <a:t>. (</a:t>
            </a:r>
            <a:r>
              <a:rPr lang="ko-KR" altLang="en-US" dirty="0"/>
              <a:t>운동량 보존법칙을 실험하였다면 에너지 보존법칙</a:t>
            </a:r>
            <a:r>
              <a:rPr lang="en-US" altLang="ko-KR" dirty="0"/>
              <a:t>, </a:t>
            </a:r>
            <a:r>
              <a:rPr lang="ko-KR" altLang="en-US" dirty="0"/>
              <a:t>직선운동이라면 원운동과 같은 관련된 현상도 가능</a:t>
            </a:r>
            <a:r>
              <a:rPr lang="en-US" altLang="ko-KR" dirty="0"/>
              <a:t>)</a:t>
            </a:r>
          </a:p>
          <a:p>
            <a:pPr marL="342900" indent="-342900">
              <a:buFontTx/>
              <a:buAutoNum type="arabicParenBoth"/>
            </a:pPr>
            <a:endParaRPr lang="en-US" altLang="ko-KR" dirty="0"/>
          </a:p>
          <a:p>
            <a:pPr marL="342900" indent="-342900">
              <a:buFontTx/>
              <a:buAutoNum type="arabicParenBoth"/>
            </a:pPr>
            <a:r>
              <a:rPr lang="en-US" altLang="ko-KR" dirty="0"/>
              <a:t> </a:t>
            </a:r>
            <a:r>
              <a:rPr lang="ko-KR" altLang="en-US" dirty="0"/>
              <a:t>응용 가능성 </a:t>
            </a:r>
            <a:r>
              <a:rPr lang="en-US" altLang="ko-KR" dirty="0"/>
              <a:t>: </a:t>
            </a:r>
            <a:r>
              <a:rPr lang="ko-KR" altLang="en-US" dirty="0"/>
              <a:t>우리가 실험으로 확인한 물리 법칙이 어디에 사용될 수 있을지 생각해보고 적는다</a:t>
            </a:r>
            <a:r>
              <a:rPr lang="en-US" altLang="ko-KR" dirty="0"/>
              <a:t>. </a:t>
            </a:r>
            <a:r>
              <a:rPr lang="ko-KR" altLang="en-US" dirty="0"/>
              <a:t>우리 실생활이나 공학적인 부분도 좋고</a:t>
            </a:r>
            <a:r>
              <a:rPr lang="en-US" altLang="ko-KR" dirty="0"/>
              <a:t>,</a:t>
            </a:r>
            <a:r>
              <a:rPr lang="ko-KR" altLang="en-US" dirty="0"/>
              <a:t> 다른 물리실험이나 이론에 사용될 수 있는 경우를 적어도 좋다</a:t>
            </a:r>
            <a:r>
              <a:rPr lang="en-US" altLang="ko-KR" dirty="0"/>
              <a:t>. (</a:t>
            </a:r>
            <a:r>
              <a:rPr lang="ko-KR" altLang="en-US" dirty="0"/>
              <a:t>저는 이거 플러스 알파 점수로 활용할 계획</a:t>
            </a:r>
            <a:r>
              <a:rPr lang="en-US" altLang="ko-KR" dirty="0"/>
              <a:t>, </a:t>
            </a:r>
            <a:r>
              <a:rPr lang="ko-KR" altLang="en-US" dirty="0"/>
              <a:t>안 써도 감점이 있는 건 아님</a:t>
            </a:r>
            <a:r>
              <a:rPr lang="en-US" altLang="ko-KR" dirty="0"/>
              <a:t>)</a:t>
            </a:r>
            <a:endParaRPr lang="ko-KR" altLang="en-US" dirty="0"/>
          </a:p>
          <a:p>
            <a:pPr marL="342900" indent="-342900">
              <a:buAutoNum type="arabicParenBoth"/>
            </a:pP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arenBoth"/>
            </a:pPr>
            <a:endParaRPr lang="en-US" altLang="ko-KR" dirty="0"/>
          </a:p>
        </p:txBody>
      </p:sp>
      <p:sp>
        <p:nvSpPr>
          <p:cNvPr id="4" name="TextBox 3"/>
          <p:cNvSpPr txBox="1"/>
          <p:nvPr/>
        </p:nvSpPr>
        <p:spPr>
          <a:xfrm>
            <a:off x="2694935" y="5739530"/>
            <a:ext cx="6802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Strict</a:t>
            </a:r>
            <a:r>
              <a:rPr lang="ko-KR" altLang="en-US" dirty="0">
                <a:solidFill>
                  <a:srgbClr val="FF0000"/>
                </a:solidFill>
              </a:rPr>
              <a:t>한 양식이 있는 것은 아니지만 위 내용들이 들어가야함</a:t>
            </a:r>
            <a:r>
              <a:rPr lang="en-US" altLang="ko-KR" dirty="0">
                <a:solidFill>
                  <a:srgbClr val="FF0000"/>
                </a:solidFill>
              </a:rPr>
              <a:t>!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7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1563" y="440412"/>
            <a:ext cx="95648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레포트</a:t>
            </a:r>
            <a:r>
              <a:rPr lang="ko-KR" altLang="en-US" b="1" dirty="0"/>
              <a:t> 채점 기준 </a:t>
            </a:r>
            <a:r>
              <a:rPr lang="en-US" altLang="ko-KR" b="1" dirty="0"/>
              <a:t>(50</a:t>
            </a:r>
            <a:r>
              <a:rPr lang="ko-KR" altLang="en-US" b="1" dirty="0"/>
              <a:t>점 만점</a:t>
            </a:r>
            <a:r>
              <a:rPr lang="en-US" altLang="ko-KR" b="1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목적 </a:t>
            </a:r>
            <a:r>
              <a:rPr lang="en-US" altLang="ko-KR" dirty="0"/>
              <a:t>(3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데이터 정리 </a:t>
            </a:r>
            <a:r>
              <a:rPr lang="en-US" altLang="ko-KR" dirty="0"/>
              <a:t>: ( </a:t>
            </a:r>
            <a:r>
              <a:rPr lang="ko-KR" altLang="en-US" dirty="0"/>
              <a:t>상 </a:t>
            </a:r>
            <a:r>
              <a:rPr lang="en-US" altLang="ko-KR" dirty="0"/>
              <a:t>: 10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중상 </a:t>
            </a:r>
            <a:r>
              <a:rPr lang="en-US" altLang="ko-KR" dirty="0"/>
              <a:t>: 8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중 </a:t>
            </a:r>
            <a:r>
              <a:rPr lang="en-US" altLang="ko-KR" dirty="0"/>
              <a:t>: 6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하</a:t>
            </a:r>
            <a:r>
              <a:rPr lang="en-US" altLang="ko-KR" dirty="0"/>
              <a:t>: 4</a:t>
            </a:r>
            <a:r>
              <a:rPr lang="ko-KR" altLang="en-US" dirty="0"/>
              <a:t>점 </a:t>
            </a:r>
            <a:r>
              <a:rPr lang="en-US" altLang="ko-KR" dirty="0"/>
              <a:t>)</a:t>
            </a:r>
          </a:p>
          <a:p>
            <a:r>
              <a:rPr lang="ko-KR" altLang="en-US" i="1" dirty="0"/>
              <a:t>주요 감점 원인 </a:t>
            </a:r>
            <a:r>
              <a:rPr lang="en-US" altLang="ko-KR" i="1" dirty="0"/>
              <a:t>: </a:t>
            </a:r>
            <a:r>
              <a:rPr lang="ko-KR" altLang="en-US" i="1" dirty="0"/>
              <a:t>데이터 누락</a:t>
            </a:r>
            <a:r>
              <a:rPr lang="en-US" altLang="ko-KR" i="1" dirty="0"/>
              <a:t>, </a:t>
            </a:r>
            <a:r>
              <a:rPr lang="ko-KR" altLang="en-US" i="1" dirty="0"/>
              <a:t>유효숫자 지키지 않는 것</a:t>
            </a:r>
            <a:r>
              <a:rPr lang="en-US" altLang="ko-KR" i="1" dirty="0"/>
              <a:t>, </a:t>
            </a:r>
            <a:r>
              <a:rPr lang="ko-KR" altLang="en-US" i="1" dirty="0"/>
              <a:t>표나 그래프 손으로 작성</a:t>
            </a:r>
            <a:endParaRPr lang="en-US" altLang="ko-KR" i="1" dirty="0"/>
          </a:p>
          <a:p>
            <a:endParaRPr lang="en-US" altLang="ko-KR" dirty="0"/>
          </a:p>
          <a:p>
            <a:r>
              <a:rPr lang="ko-KR" altLang="en-US" dirty="0"/>
              <a:t>결과 분석 </a:t>
            </a:r>
            <a:r>
              <a:rPr lang="en-US" altLang="ko-KR" dirty="0"/>
              <a:t>: ( </a:t>
            </a:r>
            <a:r>
              <a:rPr lang="ko-KR" altLang="en-US" dirty="0"/>
              <a:t>상 </a:t>
            </a:r>
            <a:r>
              <a:rPr lang="en-US" altLang="ko-KR" dirty="0"/>
              <a:t>: 20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중상 </a:t>
            </a:r>
            <a:r>
              <a:rPr lang="en-US" altLang="ko-KR" dirty="0"/>
              <a:t>: 18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중 </a:t>
            </a:r>
            <a:r>
              <a:rPr lang="en-US" altLang="ko-KR" dirty="0"/>
              <a:t>: 15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하</a:t>
            </a:r>
            <a:r>
              <a:rPr lang="en-US" altLang="ko-KR" dirty="0"/>
              <a:t>: 10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최하</a:t>
            </a:r>
            <a:r>
              <a:rPr lang="en-US" altLang="ko-KR" dirty="0"/>
              <a:t>: 5</a:t>
            </a:r>
            <a:r>
              <a:rPr lang="ko-KR" altLang="en-US" dirty="0"/>
              <a:t>점</a:t>
            </a:r>
            <a:r>
              <a:rPr lang="en-US" altLang="ko-KR" dirty="0"/>
              <a:t> )</a:t>
            </a:r>
          </a:p>
          <a:p>
            <a:r>
              <a:rPr lang="ko-KR" altLang="en-US" i="1" dirty="0"/>
              <a:t>주요 감점 원인 </a:t>
            </a:r>
            <a:r>
              <a:rPr lang="en-US" altLang="ko-KR" i="1" dirty="0"/>
              <a:t>: </a:t>
            </a:r>
            <a:r>
              <a:rPr lang="ko-KR" altLang="en-US" i="1" dirty="0"/>
              <a:t>이론 설명 부족</a:t>
            </a:r>
            <a:r>
              <a:rPr lang="en-US" altLang="ko-KR" i="1" dirty="0"/>
              <a:t>, </a:t>
            </a:r>
            <a:r>
              <a:rPr lang="ko-KR" altLang="en-US" i="1" dirty="0"/>
              <a:t>오차율 안 구함</a:t>
            </a:r>
            <a:r>
              <a:rPr lang="en-US" altLang="ko-KR" i="1" dirty="0"/>
              <a:t>, </a:t>
            </a:r>
            <a:r>
              <a:rPr lang="ko-KR" altLang="en-US" i="1" dirty="0"/>
              <a:t>실험에 대한 분석과 해석이 부족함</a:t>
            </a:r>
            <a:r>
              <a:rPr lang="en-US" altLang="ko-KR" i="1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질문 및 토의</a:t>
            </a:r>
            <a:r>
              <a:rPr lang="en-US" altLang="ko-KR" dirty="0"/>
              <a:t>: ( </a:t>
            </a:r>
            <a:r>
              <a:rPr lang="ko-KR" altLang="en-US" dirty="0"/>
              <a:t>상 </a:t>
            </a:r>
            <a:r>
              <a:rPr lang="en-US" altLang="ko-KR" dirty="0"/>
              <a:t>: 15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중상 </a:t>
            </a:r>
            <a:r>
              <a:rPr lang="en-US" altLang="ko-KR" dirty="0"/>
              <a:t>: 13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중 </a:t>
            </a:r>
            <a:r>
              <a:rPr lang="en-US" altLang="ko-KR" dirty="0"/>
              <a:t>: 10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중하</a:t>
            </a:r>
            <a:r>
              <a:rPr lang="en-US" altLang="ko-KR" dirty="0"/>
              <a:t>: 7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하</a:t>
            </a:r>
            <a:r>
              <a:rPr lang="en-US" altLang="ko-KR" dirty="0"/>
              <a:t>: 5</a:t>
            </a:r>
            <a:r>
              <a:rPr lang="ko-KR" altLang="en-US" dirty="0"/>
              <a:t>점 </a:t>
            </a:r>
            <a:r>
              <a:rPr lang="en-US" altLang="ko-KR" dirty="0"/>
              <a:t>)</a:t>
            </a:r>
          </a:p>
          <a:p>
            <a:r>
              <a:rPr lang="ko-KR" altLang="en-US" i="1" dirty="0"/>
              <a:t>주요 감점 원인 </a:t>
            </a:r>
            <a:r>
              <a:rPr lang="en-US" altLang="ko-KR" i="1" dirty="0"/>
              <a:t>: </a:t>
            </a:r>
            <a:r>
              <a:rPr lang="ko-KR" altLang="en-US" i="1" dirty="0"/>
              <a:t>토의 쓰는 법대로 안씀</a:t>
            </a:r>
            <a:r>
              <a:rPr lang="en-US" altLang="ko-KR" i="1" dirty="0"/>
              <a:t>, </a:t>
            </a:r>
            <a:r>
              <a:rPr lang="ko-KR" altLang="en-US" i="1" dirty="0"/>
              <a:t>구체적이지 않음</a:t>
            </a:r>
            <a:r>
              <a:rPr lang="en-US" altLang="ko-KR" i="1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참고문헌</a:t>
            </a:r>
            <a:r>
              <a:rPr lang="en-US" altLang="ko-KR" dirty="0"/>
              <a:t> (2</a:t>
            </a:r>
            <a:r>
              <a:rPr lang="ko-KR" altLang="en-US" dirty="0"/>
              <a:t>점</a:t>
            </a:r>
            <a:r>
              <a:rPr lang="en-US" altLang="ko-KR" dirty="0"/>
              <a:t>) : </a:t>
            </a:r>
            <a:r>
              <a:rPr lang="ko-KR" altLang="en-US" dirty="0"/>
              <a:t>형식에 안 맞게 썼을 경우 </a:t>
            </a:r>
            <a:r>
              <a:rPr lang="en-US" altLang="ko-KR" dirty="0"/>
              <a:t>-1</a:t>
            </a:r>
            <a:r>
              <a:rPr lang="ko-KR" altLang="en-US" dirty="0"/>
              <a:t>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기타 </a:t>
            </a:r>
            <a:r>
              <a:rPr lang="en-US" altLang="ko-KR" dirty="0"/>
              <a:t>: </a:t>
            </a:r>
            <a:r>
              <a:rPr lang="ko-KR" altLang="en-US" dirty="0"/>
              <a:t>표지 안 붙이면 </a:t>
            </a:r>
            <a:r>
              <a:rPr lang="en-US" altLang="ko-KR" dirty="0"/>
              <a:t>-1 </a:t>
            </a:r>
            <a:r>
              <a:rPr lang="ko-KR" altLang="en-US" dirty="0"/>
              <a:t>감점</a:t>
            </a:r>
            <a:r>
              <a:rPr lang="en-US" altLang="ko-KR" dirty="0"/>
              <a:t>, </a:t>
            </a:r>
            <a:r>
              <a:rPr lang="ko-KR" altLang="en-US" dirty="0"/>
              <a:t>볼펜으로 쓰는 것 등 안 지키면 감점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실험 시작 전에 </a:t>
            </a:r>
            <a:r>
              <a:rPr lang="ko-KR" altLang="en-US" dirty="0" err="1">
                <a:solidFill>
                  <a:srgbClr val="FF0000"/>
                </a:solidFill>
              </a:rPr>
              <a:t>레포트를</a:t>
            </a:r>
            <a:r>
              <a:rPr lang="ko-KR" altLang="en-US" dirty="0">
                <a:solidFill>
                  <a:srgbClr val="FF0000"/>
                </a:solidFill>
              </a:rPr>
              <a:t> 내야 합니다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  <a:r>
              <a:rPr lang="ko-KR" altLang="en-US" dirty="0">
                <a:solidFill>
                  <a:srgbClr val="FF0000"/>
                </a:solidFill>
              </a:rPr>
              <a:t>이후에 낼 경우 반나절마다 </a:t>
            </a:r>
            <a:r>
              <a:rPr lang="ko-KR" altLang="en-US" dirty="0" err="1">
                <a:solidFill>
                  <a:srgbClr val="FF0000"/>
                </a:solidFill>
              </a:rPr>
              <a:t>반토막낼</a:t>
            </a:r>
            <a:r>
              <a:rPr lang="ko-KR" altLang="en-US" dirty="0">
                <a:solidFill>
                  <a:srgbClr val="FF0000"/>
                </a:solidFill>
              </a:rPr>
              <a:t> 예정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7112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95528" y="713232"/>
            <a:ext cx="107990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추가 알림 사항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(1) </a:t>
            </a:r>
            <a:r>
              <a:rPr lang="ko-KR" altLang="en-US" dirty="0"/>
              <a:t>실험 퀴즈 </a:t>
            </a:r>
            <a:r>
              <a:rPr lang="ko-KR" altLang="en-US" dirty="0" err="1"/>
              <a:t>공부해오기</a:t>
            </a:r>
            <a:r>
              <a:rPr lang="en-US" altLang="ko-KR" dirty="0"/>
              <a:t>. </a:t>
            </a:r>
            <a:r>
              <a:rPr lang="ko-KR" altLang="en-US" dirty="0"/>
              <a:t>해당 실험 매뉴얼을 인쇄하여 오면 편리합니다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(2) </a:t>
            </a:r>
            <a:r>
              <a:rPr lang="ko-KR" altLang="en-US" dirty="0"/>
              <a:t>시험기간에는 실험 쉽니다</a:t>
            </a:r>
            <a:r>
              <a:rPr lang="en-US" altLang="ko-KR" dirty="0"/>
              <a:t>. </a:t>
            </a:r>
            <a:r>
              <a:rPr lang="ko-KR" altLang="en-US" dirty="0"/>
              <a:t>이 외의 공휴일에 대해서는 실험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(3) </a:t>
            </a:r>
            <a:r>
              <a:rPr lang="ko-KR" altLang="en-US" dirty="0"/>
              <a:t>기말고사는 추후 공지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(4) </a:t>
            </a:r>
            <a:r>
              <a:rPr lang="ko-KR" altLang="en-US" dirty="0"/>
              <a:t>매뉴얼은 물리학과 홈페이지를 접속하면 찾을 수 있습니다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29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C842BF-F7C4-4C20-8B4E-EBC2244F9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47702"/>
            <a:ext cx="10161863" cy="55096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EB7AD5-603A-4251-9BF0-B2421E028C7A}"/>
              </a:ext>
            </a:extLst>
          </p:cNvPr>
          <p:cNvSpPr txBox="1"/>
          <p:nvPr/>
        </p:nvSpPr>
        <p:spPr>
          <a:xfrm>
            <a:off x="687898" y="400663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Origin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9011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CABE21-9BA9-4D8D-B508-44FF4BFC8E04}"/>
              </a:ext>
            </a:extLst>
          </p:cNvPr>
          <p:cNvSpPr txBox="1"/>
          <p:nvPr/>
        </p:nvSpPr>
        <p:spPr>
          <a:xfrm>
            <a:off x="687898" y="400663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그래프 그리는 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13F7CC-97B7-4253-BFC0-124D77C2600A}"/>
                  </a:ext>
                </a:extLst>
              </p:cNvPr>
              <p:cNvSpPr txBox="1"/>
              <p:nvPr/>
            </p:nvSpPr>
            <p:spPr>
              <a:xfrm>
                <a:off x="5150840" y="1342239"/>
                <a:ext cx="6711193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ko-KR" altLang="en-US" dirty="0"/>
                  <a:t>실험 데이터는 엑셀에 담아서 가져간다</a:t>
                </a:r>
                <a:endParaRPr lang="en-US" altLang="ko-KR" dirty="0"/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pPr marL="342900" indent="-342900">
                  <a:buAutoNum type="arabicPeriod"/>
                </a:pPr>
                <a:r>
                  <a:rPr lang="ko-KR" altLang="en-US" dirty="0"/>
                  <a:t>엑셀 데이터를 그대로 오리진 워크북에 붙여 넣을 수 있다</a:t>
                </a:r>
                <a:endParaRPr lang="en-US" altLang="ko-KR" dirty="0"/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r>
                  <a:rPr lang="en-US" altLang="ko-KR" dirty="0"/>
                  <a:t>Long Name : </a:t>
                </a:r>
                <a:r>
                  <a:rPr lang="ko-KR" altLang="en-US" dirty="0"/>
                  <a:t>그래프를 그렸을 때 </a:t>
                </a:r>
                <a:r>
                  <a:rPr lang="en-US" altLang="ko-KR" dirty="0"/>
                  <a:t>X, Y</a:t>
                </a:r>
                <a:r>
                  <a:rPr lang="ko-KR" altLang="en-US" dirty="0"/>
                  <a:t>축의 이름</a:t>
                </a:r>
                <a:endParaRPr lang="en-US" altLang="ko-KR" dirty="0"/>
              </a:p>
              <a:p>
                <a:r>
                  <a:rPr lang="en-US" altLang="ko-KR" dirty="0"/>
                  <a:t>Units : Long name </a:t>
                </a:r>
                <a:r>
                  <a:rPr lang="ko-KR" altLang="en-US" dirty="0"/>
                  <a:t>옆에 괄호 치고 표시 되는 단위</a:t>
                </a:r>
                <a:endParaRPr lang="en-US" altLang="ko-KR" dirty="0"/>
              </a:p>
              <a:p>
                <a:r>
                  <a:rPr lang="en-US" altLang="ko-KR" dirty="0"/>
                  <a:t>Comments : </a:t>
                </a:r>
                <a:r>
                  <a:rPr lang="ko-KR" altLang="en-US" dirty="0"/>
                  <a:t>범례에 표시되는 이름</a:t>
                </a:r>
                <a:endParaRPr lang="en-US" altLang="ko-KR" dirty="0"/>
              </a:p>
              <a:p>
                <a:r>
                  <a:rPr lang="en-US" altLang="ko-KR" dirty="0"/>
                  <a:t>F(x)= : </a:t>
                </a:r>
                <a:r>
                  <a:rPr lang="ko-KR" altLang="en-US" dirty="0"/>
                  <a:t>엑셀 처럼 워크북 내에서 즉석으로 데이터 계산 가능</a:t>
                </a:r>
                <a:endParaRPr lang="en-US" altLang="ko-KR" dirty="0"/>
              </a:p>
              <a:p>
                <a:r>
                  <a:rPr lang="en-US" altLang="ko-KR" dirty="0"/>
                  <a:t>       </a:t>
                </a:r>
                <a:r>
                  <a:rPr lang="ko-KR" altLang="en-US" dirty="0"/>
                  <a:t>예</a:t>
                </a:r>
                <a:r>
                  <a:rPr lang="en-US" altLang="ko-KR" dirty="0"/>
                  <a:t>) B(Y) column</a:t>
                </a:r>
                <a:r>
                  <a:rPr lang="ko-KR" altLang="en-US" dirty="0"/>
                  <a:t>에 </a:t>
                </a:r>
                <a:r>
                  <a:rPr lang="en-US" altLang="ko-KR" dirty="0"/>
                  <a:t>‘=B*10^43’ </a:t>
                </a:r>
                <a:r>
                  <a:rPr lang="ko-KR" altLang="en-US" dirty="0"/>
                  <a:t>이라고 치고 </a:t>
                </a:r>
                <a:r>
                  <a:rPr lang="ko-KR" altLang="en-US" dirty="0" err="1"/>
                  <a:t>엔터</a:t>
                </a:r>
                <a:r>
                  <a:rPr lang="ko-KR" altLang="en-US" dirty="0"/>
                  <a:t> 누르면</a:t>
                </a:r>
                <a:endParaRPr lang="en-US" altLang="ko-KR" dirty="0"/>
              </a:p>
              <a:p>
                <a:r>
                  <a:rPr lang="en-US" altLang="ko-KR" dirty="0"/>
                  <a:t>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43</m:t>
                        </m:r>
                      </m:sup>
                    </m:sSup>
                  </m:oMath>
                </a14:m>
                <a:r>
                  <a:rPr lang="ko-KR" altLang="en-US" dirty="0"/>
                  <a:t> 곱해진 값들로 계산됨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 err="1"/>
                  <a:t>Ctrl+D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를 통해 열을 더 추가할 수도 있음</a:t>
                </a:r>
                <a:r>
                  <a:rPr lang="en-US" altLang="ko-KR" dirty="0"/>
                  <a:t>. (</a:t>
                </a:r>
                <a:r>
                  <a:rPr lang="ko-KR" altLang="en-US" dirty="0"/>
                  <a:t>한 그래프에 동시에 표시하고 싶은 데이터가 많은 경우</a:t>
                </a:r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13F7CC-97B7-4253-BFC0-124D77C26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840" y="1342239"/>
                <a:ext cx="6711193" cy="3693319"/>
              </a:xfrm>
              <a:prstGeom prst="rect">
                <a:avLst/>
              </a:prstGeom>
              <a:blipFill>
                <a:blip r:embed="rId2"/>
                <a:stretch>
                  <a:fillRect l="-999" t="-1485" b="-1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01C58368-B2F4-402C-A83D-5051774C5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98" y="1115736"/>
            <a:ext cx="4063855" cy="516761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26F023E-E9BB-467A-A7FF-ACC6BCE7B1E3}"/>
              </a:ext>
            </a:extLst>
          </p:cNvPr>
          <p:cNvSpPr/>
          <p:nvPr/>
        </p:nvSpPr>
        <p:spPr>
          <a:xfrm>
            <a:off x="1568741" y="1535185"/>
            <a:ext cx="637564" cy="47481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B2A191-9E88-4A83-9435-AB571C1365F5}"/>
              </a:ext>
            </a:extLst>
          </p:cNvPr>
          <p:cNvSpPr/>
          <p:nvPr/>
        </p:nvSpPr>
        <p:spPr>
          <a:xfrm>
            <a:off x="2206305" y="1535184"/>
            <a:ext cx="1442906" cy="47481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868892-BB65-4F87-84E9-119E055F0012}"/>
              </a:ext>
            </a:extLst>
          </p:cNvPr>
          <p:cNvSpPr txBox="1"/>
          <p:nvPr/>
        </p:nvSpPr>
        <p:spPr>
          <a:xfrm>
            <a:off x="1343949" y="6352096"/>
            <a:ext cx="954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X</a:t>
            </a:r>
            <a:r>
              <a:rPr lang="ko-KR" altLang="en-US" sz="1200" dirty="0"/>
              <a:t>축 데이터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B90BCA-5D28-401B-80E8-8325F514FB4B}"/>
              </a:ext>
            </a:extLst>
          </p:cNvPr>
          <p:cNvSpPr txBox="1"/>
          <p:nvPr/>
        </p:nvSpPr>
        <p:spPr>
          <a:xfrm>
            <a:off x="2394599" y="6352096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Y</a:t>
            </a:r>
            <a:r>
              <a:rPr lang="ko-KR" altLang="en-US" sz="1400" dirty="0"/>
              <a:t>축 데이터</a:t>
            </a:r>
          </a:p>
        </p:txBody>
      </p:sp>
    </p:spTree>
    <p:extLst>
      <p:ext uri="{BB962C8B-B14F-4D97-AF65-F5344CB8AC3E}">
        <p14:creationId xmlns:p14="http://schemas.microsoft.com/office/powerpoint/2010/main" val="1421450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A2AA13-EC53-4A37-BAA8-774576F13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12" y="1124911"/>
            <a:ext cx="6521005" cy="46081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6C8F40-4FD3-48CB-AB58-5751EEEF25E3}"/>
              </a:ext>
            </a:extLst>
          </p:cNvPr>
          <p:cNvSpPr txBox="1"/>
          <p:nvPr/>
        </p:nvSpPr>
        <p:spPr>
          <a:xfrm>
            <a:off x="7064017" y="755579"/>
            <a:ext cx="4865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우클릭</a:t>
            </a:r>
            <a:r>
              <a:rPr lang="ko-KR" altLang="en-US" dirty="0"/>
              <a:t> </a:t>
            </a:r>
            <a:r>
              <a:rPr lang="en-US" altLang="ko-KR" dirty="0"/>
              <a:t>– Plot</a:t>
            </a:r>
            <a:r>
              <a:rPr lang="ko-KR" altLang="en-US" dirty="0"/>
              <a:t>을 통해 그래프를 그릴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Line – </a:t>
            </a:r>
            <a:r>
              <a:rPr lang="ko-KR" altLang="en-US" dirty="0"/>
              <a:t>각 </a:t>
            </a:r>
            <a:r>
              <a:rPr lang="en-US" altLang="ko-KR" dirty="0"/>
              <a:t>data point</a:t>
            </a:r>
            <a:r>
              <a:rPr lang="ko-KR" altLang="en-US" dirty="0"/>
              <a:t>들이 선으로 연결됨</a:t>
            </a:r>
            <a:endParaRPr lang="en-US" altLang="ko-KR" dirty="0"/>
          </a:p>
          <a:p>
            <a:r>
              <a:rPr lang="en-US" altLang="ko-KR" dirty="0"/>
              <a:t>Symbol – </a:t>
            </a:r>
            <a:r>
              <a:rPr lang="ko-KR" altLang="en-US" dirty="0"/>
              <a:t>엑셀의 </a:t>
            </a:r>
            <a:r>
              <a:rPr lang="en-US" altLang="ko-KR" dirty="0"/>
              <a:t>Scatter</a:t>
            </a:r>
            <a:r>
              <a:rPr lang="ko-KR" altLang="en-US" dirty="0"/>
              <a:t>와 동일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02663EA-FC82-4F15-8DD1-A5CED43AA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292" y="2700555"/>
            <a:ext cx="4387855" cy="30325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AC824E-41F2-41E8-BE78-F48AA2D4DB05}"/>
              </a:ext>
            </a:extLst>
          </p:cNvPr>
          <p:cNvSpPr txBox="1"/>
          <p:nvPr/>
        </p:nvSpPr>
        <p:spPr>
          <a:xfrm>
            <a:off x="6206666" y="6021633"/>
            <a:ext cx="5894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이렇게 나옴 </a:t>
            </a:r>
            <a:r>
              <a:rPr lang="en-US" altLang="ko-KR" dirty="0"/>
              <a:t>(</a:t>
            </a:r>
            <a:r>
              <a:rPr lang="ko-KR" altLang="en-US" dirty="0"/>
              <a:t>물론 이대로 레포트에 넣으면 감점할거임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6872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F5F7B4-A969-4FB3-A7EB-19E23EF528F9}"/>
              </a:ext>
            </a:extLst>
          </p:cNvPr>
          <p:cNvSpPr txBox="1"/>
          <p:nvPr/>
        </p:nvSpPr>
        <p:spPr>
          <a:xfrm>
            <a:off x="729842" y="620785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최소한 이정도는 하세요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5B91FE-2031-436D-9698-99B940FC4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63" y="1330789"/>
            <a:ext cx="6407233" cy="50322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2A60BC-A635-40A0-8CE4-9C2E42F972CC}"/>
              </a:ext>
            </a:extLst>
          </p:cNvPr>
          <p:cNvSpPr txBox="1"/>
          <p:nvPr/>
        </p:nvSpPr>
        <p:spPr>
          <a:xfrm>
            <a:off x="4295163" y="3959494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더블 클릭</a:t>
            </a:r>
            <a:r>
              <a:rPr lang="en-US" altLang="ko-KR" dirty="0"/>
              <a:t>!</a:t>
            </a:r>
            <a:endParaRPr lang="ko-KR" altLang="en-US" dirty="0"/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B3206272-88A3-4855-8106-1DE7ACFACE71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3855043" y="4458554"/>
            <a:ext cx="1198387" cy="938930"/>
          </a:xfrm>
          <a:prstGeom prst="curved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BF881F41-5F38-4495-85E2-8B4DCECD3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246" y="545285"/>
            <a:ext cx="4772795" cy="51592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55EBC9-2624-4D4E-ADC6-F0722FD72B01}"/>
              </a:ext>
            </a:extLst>
          </p:cNvPr>
          <p:cNvSpPr txBox="1"/>
          <p:nvPr/>
        </p:nvSpPr>
        <p:spPr>
          <a:xfrm>
            <a:off x="8720476" y="5847127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 창이 나옴</a:t>
            </a:r>
          </a:p>
        </p:txBody>
      </p:sp>
    </p:spTree>
    <p:extLst>
      <p:ext uri="{BB962C8B-B14F-4D97-AF65-F5344CB8AC3E}">
        <p14:creationId xmlns:p14="http://schemas.microsoft.com/office/powerpoint/2010/main" val="2810145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B7EB619-76B9-4D0C-9378-0B16B243E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41" y="629175"/>
            <a:ext cx="4772795" cy="51592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5A8ACF-A840-4043-BE59-EF6ADE5DF408}"/>
              </a:ext>
            </a:extLst>
          </p:cNvPr>
          <p:cNvSpPr txBox="1"/>
          <p:nvPr/>
        </p:nvSpPr>
        <p:spPr>
          <a:xfrm>
            <a:off x="2759978" y="1131723"/>
            <a:ext cx="2876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X</a:t>
            </a:r>
            <a:r>
              <a:rPr lang="ko-KR" altLang="en-US" sz="1400" dirty="0"/>
              <a:t>축 어디서 어디까지 표시할 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D7F447-453A-43A1-95BE-3EB830AD523E}"/>
              </a:ext>
            </a:extLst>
          </p:cNvPr>
          <p:cNvSpPr/>
          <p:nvPr/>
        </p:nvSpPr>
        <p:spPr>
          <a:xfrm>
            <a:off x="1023457" y="1069597"/>
            <a:ext cx="1736521" cy="3699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4E41A-7361-4DF4-B4FD-778D437F54C9}"/>
              </a:ext>
            </a:extLst>
          </p:cNvPr>
          <p:cNvSpPr txBox="1"/>
          <p:nvPr/>
        </p:nvSpPr>
        <p:spPr>
          <a:xfrm>
            <a:off x="3400818" y="1460466"/>
            <a:ext cx="2684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간혹 </a:t>
            </a:r>
            <a:r>
              <a:rPr lang="en-US" altLang="ko-KR" sz="1200" dirty="0"/>
              <a:t>range</a:t>
            </a:r>
            <a:r>
              <a:rPr lang="ko-KR" altLang="en-US" sz="1200" dirty="0"/>
              <a:t>가 너무 크면 </a:t>
            </a:r>
            <a:r>
              <a:rPr lang="en-US" altLang="ko-KR" sz="1200" dirty="0"/>
              <a:t>Log </a:t>
            </a:r>
            <a:r>
              <a:rPr lang="ko-KR" altLang="en-US" sz="1200" dirty="0"/>
              <a:t>스케일로 바꿀 수도 있음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8BF201-56FB-49A2-8982-BEDD1E15B050}"/>
              </a:ext>
            </a:extLst>
          </p:cNvPr>
          <p:cNvSpPr/>
          <p:nvPr/>
        </p:nvSpPr>
        <p:spPr>
          <a:xfrm>
            <a:off x="1023457" y="1477244"/>
            <a:ext cx="2298583" cy="1921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258560-461C-4ED4-BBF7-C70F69D052CF}"/>
              </a:ext>
            </a:extLst>
          </p:cNvPr>
          <p:cNvSpPr/>
          <p:nvPr/>
        </p:nvSpPr>
        <p:spPr>
          <a:xfrm>
            <a:off x="1023457" y="2166018"/>
            <a:ext cx="2298583" cy="13405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5AAC3-3D64-4F12-81E2-E19DBFE5CB3D}"/>
              </a:ext>
            </a:extLst>
          </p:cNvPr>
          <p:cNvSpPr txBox="1"/>
          <p:nvPr/>
        </p:nvSpPr>
        <p:spPr>
          <a:xfrm>
            <a:off x="1127171" y="3581312"/>
            <a:ext cx="28536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큰 눈금</a:t>
            </a:r>
            <a:r>
              <a:rPr lang="en-US" altLang="ko-KR" sz="1200" dirty="0"/>
              <a:t>, </a:t>
            </a:r>
            <a:r>
              <a:rPr lang="ko-KR" altLang="en-US" sz="1200" dirty="0"/>
              <a:t>작은 눈금 어떻게 설정할 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8CEAF9-AA37-403F-98EA-932CE5D83740}"/>
              </a:ext>
            </a:extLst>
          </p:cNvPr>
          <p:cNvSpPr/>
          <p:nvPr/>
        </p:nvSpPr>
        <p:spPr>
          <a:xfrm>
            <a:off x="314668" y="1026622"/>
            <a:ext cx="708790" cy="8609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28E47-9399-46FB-BC15-5D24C7686088}"/>
              </a:ext>
            </a:extLst>
          </p:cNvPr>
          <p:cNvSpPr txBox="1"/>
          <p:nvPr/>
        </p:nvSpPr>
        <p:spPr>
          <a:xfrm>
            <a:off x="1505319" y="4638691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r>
              <a:rPr lang="ko-KR" altLang="en-US" dirty="0"/>
              <a:t>축</a:t>
            </a:r>
            <a:r>
              <a:rPr lang="en-US" altLang="ko-KR" dirty="0"/>
              <a:t>, Y</a:t>
            </a:r>
            <a:r>
              <a:rPr lang="ko-KR" altLang="en-US" dirty="0"/>
              <a:t>축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77A73C84-B1EC-4D7E-8285-937097575D35}"/>
              </a:ext>
            </a:extLst>
          </p:cNvPr>
          <p:cNvCxnSpPr>
            <a:cxnSpLocks/>
            <a:stCxn id="9" idx="2"/>
            <a:endCxn id="10" idx="1"/>
          </p:cNvCxnSpPr>
          <p:nvPr/>
        </p:nvCxnSpPr>
        <p:spPr>
          <a:xfrm rot="16200000" flipH="1">
            <a:off x="-380726" y="2937312"/>
            <a:ext cx="2935834" cy="83625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059180A9-90D8-490F-BC2C-E0678E8C3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783" y="326178"/>
            <a:ext cx="5217549" cy="5641196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33E8D17-D12A-4D36-A899-F72C8892E3A1}"/>
              </a:ext>
            </a:extLst>
          </p:cNvPr>
          <p:cNvSpPr/>
          <p:nvPr/>
        </p:nvSpPr>
        <p:spPr>
          <a:xfrm>
            <a:off x="9108325" y="968681"/>
            <a:ext cx="144732" cy="1795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53C3F2B-89DB-4AFF-95D0-85F39AB3D680}"/>
              </a:ext>
            </a:extLst>
          </p:cNvPr>
          <p:cNvSpPr/>
          <p:nvPr/>
        </p:nvSpPr>
        <p:spPr>
          <a:xfrm>
            <a:off x="9108325" y="2436754"/>
            <a:ext cx="1176578" cy="3567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DACEEDE-E0D3-4418-A327-4E4F17CAA506}"/>
              </a:ext>
            </a:extLst>
          </p:cNvPr>
          <p:cNvSpPr/>
          <p:nvPr/>
        </p:nvSpPr>
        <p:spPr>
          <a:xfrm>
            <a:off x="9108325" y="3541421"/>
            <a:ext cx="1176578" cy="3567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1172E6-7EC8-4A3F-A593-1CA15981C5DC}"/>
              </a:ext>
            </a:extLst>
          </p:cNvPr>
          <p:cNvSpPr txBox="1"/>
          <p:nvPr/>
        </p:nvSpPr>
        <p:spPr>
          <a:xfrm>
            <a:off x="9268557" y="848193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이거 체크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2AA804-54D4-4527-9A8C-19187CC2DF4F}"/>
              </a:ext>
            </a:extLst>
          </p:cNvPr>
          <p:cNvSpPr txBox="1"/>
          <p:nvPr/>
        </p:nvSpPr>
        <p:spPr>
          <a:xfrm>
            <a:off x="10458306" y="2995465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둘 다 </a:t>
            </a:r>
            <a:r>
              <a:rPr lang="en-US" altLang="ko-KR" dirty="0"/>
              <a:t>In</a:t>
            </a:r>
            <a:endParaRPr lang="ko-KR" altLang="en-US" dirty="0"/>
          </a:p>
        </p:txBody>
      </p: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21D220FA-F486-43A9-8447-841E443B5265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10284903" y="2615143"/>
            <a:ext cx="676105" cy="3803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730A7825-ADC6-437F-9D20-9224952853A7}"/>
              </a:ext>
            </a:extLst>
          </p:cNvPr>
          <p:cNvCxnSpPr>
            <a:cxnSpLocks/>
            <a:stCxn id="24" idx="3"/>
            <a:endCxn id="26" idx="2"/>
          </p:cNvCxnSpPr>
          <p:nvPr/>
        </p:nvCxnSpPr>
        <p:spPr>
          <a:xfrm flipV="1">
            <a:off x="10284903" y="3364797"/>
            <a:ext cx="676105" cy="35501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5C006F-F9CC-4CB5-BE89-C185F0413AF4}"/>
              </a:ext>
            </a:extLst>
          </p:cNvPr>
          <p:cNvSpPr/>
          <p:nvPr/>
        </p:nvSpPr>
        <p:spPr>
          <a:xfrm>
            <a:off x="6799443" y="1601513"/>
            <a:ext cx="540924" cy="4873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B7D024-F1E2-4458-A99A-430638BCDA45}"/>
              </a:ext>
            </a:extLst>
          </p:cNvPr>
          <p:cNvSpPr txBox="1"/>
          <p:nvPr/>
        </p:nvSpPr>
        <p:spPr>
          <a:xfrm>
            <a:off x="7944155" y="4838810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여기도 똑같이</a:t>
            </a:r>
          </a:p>
        </p:txBody>
      </p: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C48306D9-45F5-4D00-91FB-D2C18EF482A3}"/>
              </a:ext>
            </a:extLst>
          </p:cNvPr>
          <p:cNvCxnSpPr>
            <a:cxnSpLocks/>
            <a:stCxn id="33" idx="2"/>
            <a:endCxn id="34" idx="1"/>
          </p:cNvCxnSpPr>
          <p:nvPr/>
        </p:nvCxnSpPr>
        <p:spPr>
          <a:xfrm rot="16200000" flipH="1">
            <a:off x="6055110" y="3103654"/>
            <a:ext cx="2903840" cy="87425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863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2FC4F7-488E-4F46-9AF9-11265C150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202" y="880844"/>
            <a:ext cx="4893743" cy="53102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5E2D2E-45A9-43ED-8D49-35DFA337BCAE}"/>
              </a:ext>
            </a:extLst>
          </p:cNvPr>
          <p:cNvSpPr txBox="1"/>
          <p:nvPr/>
        </p:nvSpPr>
        <p:spPr>
          <a:xfrm>
            <a:off x="6795083" y="1258349"/>
            <a:ext cx="4785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가시성을 위해 </a:t>
            </a:r>
            <a:r>
              <a:rPr lang="en-US" altLang="ko-KR" dirty="0"/>
              <a:t>grid</a:t>
            </a:r>
            <a:r>
              <a:rPr lang="ko-KR" altLang="en-US" dirty="0"/>
              <a:t>를 활성화 시킬 수도 있음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취사선택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20734-F433-40BC-8337-9BF700E01EF1}"/>
              </a:ext>
            </a:extLst>
          </p:cNvPr>
          <p:cNvSpPr txBox="1"/>
          <p:nvPr/>
        </p:nvSpPr>
        <p:spPr>
          <a:xfrm>
            <a:off x="2751589" y="4135772"/>
            <a:ext cx="6335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이것을 활성화 시킴으로써 </a:t>
            </a:r>
            <a:r>
              <a:rPr lang="en-US" altLang="ko-KR" dirty="0"/>
              <a:t>Y=0 </a:t>
            </a:r>
            <a:r>
              <a:rPr lang="ko-KR" altLang="en-US" dirty="0"/>
              <a:t>선을 추가로 그릴 수도 있음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1CB7E0-DE17-4AA9-B737-A3FAAB358A19}"/>
              </a:ext>
            </a:extLst>
          </p:cNvPr>
          <p:cNvSpPr/>
          <p:nvPr/>
        </p:nvSpPr>
        <p:spPr>
          <a:xfrm>
            <a:off x="2499920" y="3628240"/>
            <a:ext cx="1568741" cy="2474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744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C49E26-186D-44C5-8148-C1407B52B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14" y="878747"/>
            <a:ext cx="6424676" cy="51005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3FF97E-2CD1-470C-9958-E709E0FA8DD4}"/>
              </a:ext>
            </a:extLst>
          </p:cNvPr>
          <p:cNvSpPr txBox="1"/>
          <p:nvPr/>
        </p:nvSpPr>
        <p:spPr>
          <a:xfrm>
            <a:off x="7607930" y="1157680"/>
            <a:ext cx="359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OK </a:t>
            </a:r>
            <a:r>
              <a:rPr lang="ko-KR" altLang="en-US" dirty="0"/>
              <a:t>누르면 이렇게 </a:t>
            </a:r>
            <a:r>
              <a:rPr lang="ko-KR" altLang="en-US" dirty="0" err="1"/>
              <a:t>깔쌈하게</a:t>
            </a:r>
            <a:r>
              <a:rPr lang="ko-KR" altLang="en-US" dirty="0"/>
              <a:t> 바뀜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9784C-5AD5-4C47-A284-B054BFCF2F24}"/>
              </a:ext>
            </a:extLst>
          </p:cNvPr>
          <p:cNvSpPr txBox="1"/>
          <p:nvPr/>
        </p:nvSpPr>
        <p:spPr>
          <a:xfrm>
            <a:off x="7607930" y="2055303"/>
            <a:ext cx="319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범례 그래프 안쪽으로 옮기기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99FAD-B956-4938-8231-57F07E32B7C4}"/>
              </a:ext>
            </a:extLst>
          </p:cNvPr>
          <p:cNvSpPr txBox="1"/>
          <p:nvPr/>
        </p:nvSpPr>
        <p:spPr>
          <a:xfrm>
            <a:off x="4295163" y="3959494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더블 클릭</a:t>
            </a:r>
            <a:r>
              <a:rPr lang="en-US" altLang="ko-KR" dirty="0"/>
              <a:t>!</a:t>
            </a:r>
            <a:endParaRPr lang="ko-KR" altLang="en-US" dirty="0"/>
          </a:p>
        </p:txBody>
      </p:sp>
      <p:cxnSp>
        <p:nvCxnSpPr>
          <p:cNvPr id="8" name="연결선: 구부러짐 7">
            <a:extLst>
              <a:ext uri="{FF2B5EF4-FFF2-40B4-BE49-F238E27FC236}">
                <a16:creationId xmlns:a16="http://schemas.microsoft.com/office/drawing/2014/main" id="{AF0DE6DA-D250-41CE-9631-80FC29C4B87E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3858937" y="4144160"/>
            <a:ext cx="436227" cy="5956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650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20D7E7-9BA2-4FD8-9935-AE234608D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910" y="392361"/>
            <a:ext cx="8064180" cy="4287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8042D1-1355-4725-9B35-4473AB088639}"/>
              </a:ext>
            </a:extLst>
          </p:cNvPr>
          <p:cNvSpPr txBox="1"/>
          <p:nvPr/>
        </p:nvSpPr>
        <p:spPr>
          <a:xfrm>
            <a:off x="1761688" y="5075339"/>
            <a:ext cx="6042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여기서 각 그래프 스타일</a:t>
            </a:r>
            <a:r>
              <a:rPr lang="en-US" altLang="ko-KR" dirty="0"/>
              <a:t>, </a:t>
            </a:r>
            <a:r>
              <a:rPr lang="ko-KR" altLang="en-US" dirty="0"/>
              <a:t>두께</a:t>
            </a:r>
            <a:r>
              <a:rPr lang="en-US" altLang="ko-KR" dirty="0"/>
              <a:t>, </a:t>
            </a:r>
            <a:r>
              <a:rPr lang="ko-KR" altLang="en-US" dirty="0"/>
              <a:t>색깔</a:t>
            </a:r>
            <a:r>
              <a:rPr lang="en-US" altLang="ko-KR" dirty="0"/>
              <a:t>… </a:t>
            </a:r>
            <a:r>
              <a:rPr lang="ko-KR" altLang="en-US" dirty="0"/>
              <a:t>등등 바꿀 수 있음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두께 </a:t>
            </a:r>
            <a:r>
              <a:rPr lang="en-US" altLang="ko-KR" dirty="0"/>
              <a:t>1.5 </a:t>
            </a:r>
            <a:r>
              <a:rPr lang="ko-KR" altLang="en-US" dirty="0"/>
              <a:t>정도로 </a:t>
            </a:r>
            <a:r>
              <a:rPr lang="ko-KR" altLang="en-US" dirty="0" err="1"/>
              <a:t>해주셈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106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80DECE-1F7B-4CD1-A72B-8C98C7DD62BB}"/>
              </a:ext>
            </a:extLst>
          </p:cNvPr>
          <p:cNvSpPr txBox="1"/>
          <p:nvPr/>
        </p:nvSpPr>
        <p:spPr>
          <a:xfrm>
            <a:off x="662730" y="738231"/>
            <a:ext cx="49391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한 그래프에 두개 이상 데이터를 넣고 싶으면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일단 데이터들이 같은 </a:t>
            </a:r>
            <a:r>
              <a:rPr lang="en-US" altLang="ko-KR" dirty="0"/>
              <a:t>X</a:t>
            </a:r>
            <a:r>
              <a:rPr lang="ko-KR" altLang="en-US" dirty="0"/>
              <a:t>를 공유하고 있어야함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9FDC95-5878-49FF-A699-3873889B2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645" y="1795244"/>
            <a:ext cx="8614710" cy="4907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77080D-A3FE-4657-89EE-D0E7196A5D49}"/>
              </a:ext>
            </a:extLst>
          </p:cNvPr>
          <p:cNvSpPr txBox="1"/>
          <p:nvPr/>
        </p:nvSpPr>
        <p:spPr>
          <a:xfrm>
            <a:off x="6723697" y="1338395"/>
            <a:ext cx="5405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굵은 선을 꾹 눌러서 그대로 그래프 안으로 드래그 해 넣으면 된다</a:t>
            </a:r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4B5A9746-36EC-4F7B-82EB-DC0AB75BB641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287329" y="1661561"/>
            <a:ext cx="2436369" cy="143532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F616EB9-3E85-4922-99D3-BEC5F09924C6}"/>
              </a:ext>
            </a:extLst>
          </p:cNvPr>
          <p:cNvCxnSpPr/>
          <p:nvPr/>
        </p:nvCxnSpPr>
        <p:spPr>
          <a:xfrm>
            <a:off x="4287329" y="4028536"/>
            <a:ext cx="2436368" cy="5520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8FEEE83D-33B7-462A-A9D0-52214AD05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868" y="3429000"/>
            <a:ext cx="2848197" cy="22666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8C5E43-8ECE-4A61-85F7-ADBA0C1A8869}"/>
              </a:ext>
            </a:extLst>
          </p:cNvPr>
          <p:cNvSpPr txBox="1"/>
          <p:nvPr/>
        </p:nvSpPr>
        <p:spPr>
          <a:xfrm>
            <a:off x="10593238" y="587458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이렇게 됨</a:t>
            </a:r>
          </a:p>
        </p:txBody>
      </p:sp>
    </p:spTree>
    <p:extLst>
      <p:ext uri="{BB962C8B-B14F-4D97-AF65-F5344CB8AC3E}">
        <p14:creationId xmlns:p14="http://schemas.microsoft.com/office/powerpoint/2010/main" val="3176855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45F1EE-3030-4333-8BA0-4019D0217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91" y="1015855"/>
            <a:ext cx="6829601" cy="45675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0FC787-6DD5-4A72-924D-E013ECB9D56B}"/>
              </a:ext>
            </a:extLst>
          </p:cNvPr>
          <p:cNvSpPr txBox="1"/>
          <p:nvPr/>
        </p:nvSpPr>
        <p:spPr>
          <a:xfrm>
            <a:off x="7944373" y="1200413"/>
            <a:ext cx="3900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물론 이렇게 전체 선택해서 한방에 </a:t>
            </a:r>
            <a:r>
              <a:rPr lang="ko-KR" altLang="en-US" dirty="0" err="1"/>
              <a:t>플롯할</a:t>
            </a:r>
            <a:r>
              <a:rPr lang="ko-KR" altLang="en-US" dirty="0"/>
              <a:t> 수 있음 </a:t>
            </a:r>
          </a:p>
        </p:txBody>
      </p:sp>
    </p:spTree>
    <p:extLst>
      <p:ext uri="{BB962C8B-B14F-4D97-AF65-F5344CB8AC3E}">
        <p14:creationId xmlns:p14="http://schemas.microsoft.com/office/powerpoint/2010/main" val="2880755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B62ED1-D423-43C4-8C8B-C2B0678E5D16}"/>
              </a:ext>
            </a:extLst>
          </p:cNvPr>
          <p:cNvSpPr txBox="1"/>
          <p:nvPr/>
        </p:nvSpPr>
        <p:spPr>
          <a:xfrm>
            <a:off x="872455" y="511728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Data fitting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70728-E301-4886-A09A-B002B6EE3740}"/>
              </a:ext>
            </a:extLst>
          </p:cNvPr>
          <p:cNvSpPr txBox="1"/>
          <p:nvPr/>
        </p:nvSpPr>
        <p:spPr>
          <a:xfrm>
            <a:off x="788566" y="1258349"/>
            <a:ext cx="8544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예시 </a:t>
            </a:r>
            <a:r>
              <a:rPr lang="en-US" altLang="ko-KR" dirty="0"/>
              <a:t>: </a:t>
            </a:r>
            <a:r>
              <a:rPr lang="ko-KR" altLang="en-US" dirty="0"/>
              <a:t>각도를 돌려가며 어떤 데이터들을 모았습니다 </a:t>
            </a:r>
            <a:r>
              <a:rPr lang="en-US" altLang="ko-KR" dirty="0"/>
              <a:t>(0</a:t>
            </a:r>
            <a:r>
              <a:rPr lang="ko-KR" altLang="en-US" dirty="0"/>
              <a:t>도부터 </a:t>
            </a:r>
            <a:r>
              <a:rPr lang="en-US" altLang="ko-KR" dirty="0"/>
              <a:t>360</a:t>
            </a:r>
            <a:r>
              <a:rPr lang="ko-KR" altLang="en-US" dirty="0"/>
              <a:t>도까지 돌렸음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   </a:t>
            </a:r>
            <a:r>
              <a:rPr lang="ko-KR" altLang="en-US" dirty="0"/>
              <a:t>그 데이터는 아래와 같다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8FDFF38-C336-40D7-AEAC-F4A43A7A5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559" y="1996580"/>
            <a:ext cx="7567246" cy="458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185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B74781-7AF5-4886-8A97-0D12EBD7D7D9}"/>
              </a:ext>
            </a:extLst>
          </p:cNvPr>
          <p:cNvSpPr txBox="1"/>
          <p:nvPr/>
        </p:nvSpPr>
        <p:spPr>
          <a:xfrm>
            <a:off x="687897" y="889233"/>
            <a:ext cx="8820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실험과 관련된 이론으로부터</a:t>
            </a:r>
            <a:r>
              <a:rPr lang="en-US" altLang="ko-KR" dirty="0"/>
              <a:t>, </a:t>
            </a:r>
            <a:r>
              <a:rPr lang="ko-KR" altLang="en-US" dirty="0"/>
              <a:t>돌린 각도에 따른 데이터는 사인함수로 나타나게 된다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B8137-18F6-476E-A796-D07D4BB73994}"/>
              </a:ext>
            </a:extLst>
          </p:cNvPr>
          <p:cNvSpPr txBox="1"/>
          <p:nvPr/>
        </p:nvSpPr>
        <p:spPr>
          <a:xfrm>
            <a:off x="1031846" y="1543574"/>
            <a:ext cx="4943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그럼 </a:t>
            </a:r>
            <a:r>
              <a:rPr lang="en-US" altLang="ko-KR" dirty="0"/>
              <a:t>fitting function</a:t>
            </a:r>
            <a:r>
              <a:rPr lang="ko-KR" altLang="en-US" dirty="0"/>
              <a:t>을 어떻게 설정해야 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A7B72E0-A788-4C0C-A312-086416E308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66" t="9324" b="8775"/>
          <a:stretch/>
        </p:blipFill>
        <p:spPr>
          <a:xfrm>
            <a:off x="1031846" y="2327945"/>
            <a:ext cx="4943983" cy="37582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F0975-B4A5-4645-9F9E-C03068A2FCDA}"/>
                  </a:ext>
                </a:extLst>
              </p:cNvPr>
              <p:cNvSpPr txBox="1"/>
              <p:nvPr/>
            </p:nvSpPr>
            <p:spPr>
              <a:xfrm>
                <a:off x="6216173" y="2327945"/>
                <a:ext cx="5783138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ko-KR" dirty="0"/>
                  <a:t>0</a:t>
                </a:r>
                <a:r>
                  <a:rPr lang="ko-KR" altLang="en-US" dirty="0"/>
                  <a:t>도부터 </a:t>
                </a:r>
                <a:r>
                  <a:rPr lang="en-US" altLang="ko-KR" dirty="0"/>
                  <a:t>360</a:t>
                </a:r>
                <a:r>
                  <a:rPr lang="ko-KR" altLang="en-US" dirty="0"/>
                  <a:t>도까지 돌리긴 했는데 절대적인 각도를 몰라서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도에서 최대가 아님 </a:t>
                </a:r>
                <a:r>
                  <a:rPr lang="en-US" altLang="ko-KR" dirty="0"/>
                  <a:t>-&gt; </a:t>
                </a:r>
                <a:r>
                  <a:rPr lang="ko-KR" altLang="en-US" dirty="0"/>
                  <a:t>위상차가 있다는 뜻</a:t>
                </a:r>
                <a:endParaRPr lang="en-US" altLang="ko-KR" dirty="0"/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pPr marL="342900" indent="-342900">
                  <a:buAutoNum type="arabicPeriod"/>
                </a:pPr>
                <a:r>
                  <a:rPr lang="en-US" altLang="ko-KR" dirty="0"/>
                  <a:t>Y=0 </a:t>
                </a:r>
                <a:r>
                  <a:rPr lang="ko-KR" altLang="en-US" dirty="0"/>
                  <a:t>기준 대칭이 아님 </a:t>
                </a:r>
                <a:r>
                  <a:rPr lang="en-US" altLang="ko-KR" dirty="0"/>
                  <a:t>-&gt; offset</a:t>
                </a:r>
                <a:r>
                  <a:rPr lang="ko-KR" altLang="en-US" dirty="0"/>
                  <a:t>이 있다</a:t>
                </a:r>
                <a:endParaRPr lang="en-US" altLang="ko-KR" dirty="0"/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r>
                  <a:rPr lang="ko-KR" altLang="en-US" dirty="0"/>
                  <a:t>이 예제에서는 이정도만 고려하면 충분한듯</a:t>
                </a:r>
                <a:endParaRPr lang="en-US" altLang="ko-KR" dirty="0"/>
              </a:p>
              <a:p>
                <a:r>
                  <a:rPr lang="ko-KR" altLang="en-US" dirty="0"/>
                  <a:t>그럼 결론적으로 아래 식이 좋겠다</a:t>
                </a:r>
                <a:endParaRPr lang="en-US" altLang="ko-KR" dirty="0"/>
              </a:p>
              <a:p>
                <a:endParaRPr lang="en-US" altLang="ko-K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F0975-B4A5-4645-9F9E-C03068A2F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173" y="2327945"/>
                <a:ext cx="5783138" cy="3139321"/>
              </a:xfrm>
              <a:prstGeom prst="rect">
                <a:avLst/>
              </a:prstGeom>
              <a:blipFill>
                <a:blip r:embed="rId3"/>
                <a:stretch>
                  <a:fillRect l="-1160" t="-1942" r="-8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522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39076F-5AE1-4532-8773-9E3A13BF0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03" y="453006"/>
            <a:ext cx="2188584" cy="52682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1D847CF-F047-42DD-82BE-FF4D3C578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191" y="719574"/>
            <a:ext cx="6619875" cy="4181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3BBFD7-2ADE-4F62-9A3B-1600C00A2B33}"/>
              </a:ext>
            </a:extLst>
          </p:cNvPr>
          <p:cNvSpPr txBox="1"/>
          <p:nvPr/>
        </p:nvSpPr>
        <p:spPr>
          <a:xfrm>
            <a:off x="251669" y="5947794"/>
            <a:ext cx="5054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이렇게 </a:t>
            </a:r>
            <a:r>
              <a:rPr lang="en-US" altLang="ko-KR" dirty="0"/>
              <a:t>fitting</a:t>
            </a:r>
            <a:r>
              <a:rPr lang="ko-KR" altLang="en-US" dirty="0"/>
              <a:t>하고자 하는 데이터들을 선택하고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1B27D9-E2C7-4345-B43B-5FFD3135541D}"/>
              </a:ext>
            </a:extLst>
          </p:cNvPr>
          <p:cNvSpPr txBox="1"/>
          <p:nvPr/>
        </p:nvSpPr>
        <p:spPr>
          <a:xfrm>
            <a:off x="5008228" y="5127551"/>
            <a:ext cx="478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(Non)linear (curve) fit Dialog</a:t>
            </a:r>
            <a:r>
              <a:rPr lang="ko-KR" altLang="en-US" dirty="0"/>
              <a:t>를 들어가면 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2920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5A1C8B-7E5F-4007-9FBD-3E389DAB2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62" y="661681"/>
            <a:ext cx="8169131" cy="58534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7BC82A-2A77-436A-B694-70A5EA60C085}"/>
              </a:ext>
            </a:extLst>
          </p:cNvPr>
          <p:cNvSpPr txBox="1"/>
          <p:nvPr/>
        </p:nvSpPr>
        <p:spPr>
          <a:xfrm>
            <a:off x="4594372" y="1568741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여기서 함수 고름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1B0086-B346-43BF-B065-84D2AEB1F16E}"/>
              </a:ext>
            </a:extLst>
          </p:cNvPr>
          <p:cNvSpPr/>
          <p:nvPr/>
        </p:nvSpPr>
        <p:spPr>
          <a:xfrm>
            <a:off x="2407642" y="1484852"/>
            <a:ext cx="2105636" cy="6207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8E354-11DA-4DA4-AA69-C8326BE19771}"/>
              </a:ext>
            </a:extLst>
          </p:cNvPr>
          <p:cNvSpPr txBox="1"/>
          <p:nvPr/>
        </p:nvSpPr>
        <p:spPr>
          <a:xfrm>
            <a:off x="8615494" y="872455"/>
            <a:ext cx="3430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보아하니</a:t>
            </a:r>
            <a:r>
              <a:rPr lang="en-US" altLang="ko-KR" dirty="0"/>
              <a:t>…</a:t>
            </a:r>
          </a:p>
          <a:p>
            <a:endParaRPr lang="en-US" altLang="ko-KR" dirty="0"/>
          </a:p>
          <a:p>
            <a:r>
              <a:rPr lang="en-US" altLang="ko-KR" dirty="0"/>
              <a:t>Waveform – Sine</a:t>
            </a:r>
          </a:p>
          <a:p>
            <a:endParaRPr lang="en-US" altLang="ko-KR" dirty="0"/>
          </a:p>
          <a:p>
            <a:r>
              <a:rPr lang="ko-KR" altLang="en-US" dirty="0" err="1"/>
              <a:t>으로</a:t>
            </a:r>
            <a:r>
              <a:rPr lang="ko-KR" altLang="en-US" dirty="0"/>
              <a:t> 들어가니 우리가 원하는 적당한 함수인 것 같음</a:t>
            </a:r>
          </a:p>
        </p:txBody>
      </p:sp>
    </p:spTree>
    <p:extLst>
      <p:ext uri="{BB962C8B-B14F-4D97-AF65-F5344CB8AC3E}">
        <p14:creationId xmlns:p14="http://schemas.microsoft.com/office/powerpoint/2010/main" val="337870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79DD14-3E0D-4554-9372-7F65DAD0A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55" y="1410247"/>
            <a:ext cx="5621845" cy="40375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3B4743-D2D3-4B79-BC9E-4D5D1B55BB2C}"/>
              </a:ext>
            </a:extLst>
          </p:cNvPr>
          <p:cNvSpPr txBox="1"/>
          <p:nvPr/>
        </p:nvSpPr>
        <p:spPr>
          <a:xfrm>
            <a:off x="1375794" y="5704514"/>
            <a:ext cx="312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Fitting</a:t>
            </a:r>
            <a:r>
              <a:rPr lang="ko-KR" altLang="en-US" dirty="0"/>
              <a:t> </a:t>
            </a:r>
            <a:r>
              <a:rPr lang="en-US" altLang="ko-KR" dirty="0"/>
              <a:t>preview</a:t>
            </a:r>
            <a:r>
              <a:rPr lang="ko-KR" altLang="en-US" dirty="0"/>
              <a:t>를 볼 수 있음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8BC92D-093C-497C-8BE5-60696E508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477" y="1410247"/>
            <a:ext cx="6093947" cy="18812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A19B0-A89C-45BF-BD41-E769D81F3FCE}"/>
              </a:ext>
            </a:extLst>
          </p:cNvPr>
          <p:cNvSpPr txBox="1"/>
          <p:nvPr/>
        </p:nvSpPr>
        <p:spPr>
          <a:xfrm>
            <a:off x="6736359" y="3566469"/>
            <a:ext cx="3100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Fitting function</a:t>
            </a:r>
            <a:r>
              <a:rPr lang="ko-KR" altLang="en-US" dirty="0"/>
              <a:t>은 위와 같음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EDA955-1627-446B-8F8B-3CE0DD29F74B}"/>
              </a:ext>
            </a:extLst>
          </p:cNvPr>
          <p:cNvSpPr txBox="1"/>
          <p:nvPr/>
        </p:nvSpPr>
        <p:spPr>
          <a:xfrm>
            <a:off x="7986319" y="5704514"/>
            <a:ext cx="3001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그럼</a:t>
            </a:r>
            <a:r>
              <a:rPr lang="en-US" altLang="ko-KR" dirty="0"/>
              <a:t> fitting </a:t>
            </a:r>
            <a:r>
              <a:rPr lang="ko-KR" altLang="en-US" dirty="0"/>
              <a:t>어떻게 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B19CB-F83A-42EA-86FC-69296C4FBC4C}"/>
                  </a:ext>
                </a:extLst>
              </p:cNvPr>
              <p:cNvSpPr txBox="1"/>
              <p:nvPr/>
            </p:nvSpPr>
            <p:spPr>
              <a:xfrm>
                <a:off x="6627303" y="4127383"/>
                <a:ext cx="500342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이 예제에서 주의해야할 점은</a:t>
                </a:r>
                <a:endParaRPr lang="en-US" altLang="ko-KR" dirty="0"/>
              </a:p>
              <a:p>
                <a:r>
                  <a:rPr lang="en-US" altLang="ko-KR" dirty="0"/>
                  <a:t>X</a:t>
                </a:r>
                <a:r>
                  <a:rPr lang="ko-KR" altLang="en-US" dirty="0"/>
                  <a:t>축은 </a:t>
                </a:r>
                <a:r>
                  <a:rPr lang="en-US" altLang="ko-KR" dirty="0"/>
                  <a:t>Radian</a:t>
                </a:r>
                <a:r>
                  <a:rPr lang="ko-KR" altLang="en-US" dirty="0"/>
                  <a:t>이지만 </a:t>
                </a:r>
                <a:r>
                  <a:rPr lang="en-US" altLang="ko-KR" dirty="0"/>
                  <a:t>fitting function</a:t>
                </a:r>
                <a:r>
                  <a:rPr lang="ko-KR" altLang="en-US" dirty="0"/>
                  <a:t>을 보면</a:t>
                </a:r>
                <a:endParaRPr lang="en-US" altLang="ko-KR" dirty="0"/>
              </a:p>
              <a:p>
                <a:r>
                  <a:rPr lang="ko-KR" altLang="en-US" dirty="0"/>
                  <a:t>벌써 </a:t>
                </a:r>
                <a:r>
                  <a:rPr lang="en-US" altLang="ko-KR" dirty="0"/>
                  <a:t>sine </a:t>
                </a:r>
                <a:r>
                  <a:rPr lang="ko-KR" altLang="en-US" dirty="0"/>
                  <a:t>함수 안에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en-US" dirty="0"/>
                  <a:t>가 들어가 있다는 점이다</a:t>
                </a:r>
                <a:endParaRPr lang="en-US" altLang="ko-KR" dirty="0"/>
              </a:p>
              <a:p>
                <a:r>
                  <a:rPr lang="ko-KR" altLang="en-US" dirty="0"/>
                  <a:t>이런 것들 유의하세요</a:t>
                </a:r>
                <a:endParaRPr lang="en-US" altLang="ko-KR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B19CB-F83A-42EA-86FC-69296C4FB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303" y="4127383"/>
                <a:ext cx="5003421" cy="1200329"/>
              </a:xfrm>
              <a:prstGeom prst="rect">
                <a:avLst/>
              </a:prstGeom>
              <a:blipFill>
                <a:blip r:embed="rId4"/>
                <a:stretch>
                  <a:fillRect l="-974" t="-2538" r="-244" b="-71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86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206846F-BC99-4BF3-B266-F33745000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08" y="961676"/>
            <a:ext cx="10730384" cy="76645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35EDDAA-B41E-4065-9BEE-784143EB5EF8}"/>
              </a:ext>
            </a:extLst>
          </p:cNvPr>
          <p:cNvSpPr/>
          <p:nvPr/>
        </p:nvSpPr>
        <p:spPr>
          <a:xfrm>
            <a:off x="5847129" y="1034511"/>
            <a:ext cx="562060" cy="6207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5F37B2-6833-4085-B9E4-026A8A8566E4}"/>
              </a:ext>
            </a:extLst>
          </p:cNvPr>
          <p:cNvSpPr/>
          <p:nvPr/>
        </p:nvSpPr>
        <p:spPr>
          <a:xfrm>
            <a:off x="6409189" y="1034511"/>
            <a:ext cx="562060" cy="6207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65CC09-42E9-4F9F-8AFA-76816BCCE459}"/>
              </a:ext>
            </a:extLst>
          </p:cNvPr>
          <p:cNvSpPr txBox="1"/>
          <p:nvPr/>
        </p:nvSpPr>
        <p:spPr>
          <a:xfrm>
            <a:off x="6895751" y="2013356"/>
            <a:ext cx="4188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Parameter</a:t>
            </a:r>
            <a:r>
              <a:rPr lang="ko-KR" altLang="en-US" dirty="0"/>
              <a:t>들을 바꿔서 계산 한 번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16CA27A8-9307-4A2B-914E-7BF3EA4A1A19}"/>
              </a:ext>
            </a:extLst>
          </p:cNvPr>
          <p:cNvCxnSpPr>
            <a:cxnSpLocks/>
            <a:stCxn id="6" idx="2"/>
            <a:endCxn id="10" idx="1"/>
          </p:cNvCxnSpPr>
          <p:nvPr/>
        </p:nvCxnSpPr>
        <p:spPr>
          <a:xfrm rot="16200000" flipH="1">
            <a:off x="6240592" y="1542863"/>
            <a:ext cx="542726" cy="76759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C17A03-DF14-435D-B772-490956A1DB71}"/>
              </a:ext>
            </a:extLst>
          </p:cNvPr>
          <p:cNvSpPr txBox="1"/>
          <p:nvPr/>
        </p:nvSpPr>
        <p:spPr>
          <a:xfrm>
            <a:off x="6511955" y="2667912"/>
            <a:ext cx="4915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Converge</a:t>
            </a:r>
            <a:r>
              <a:rPr lang="ko-KR" altLang="en-US" dirty="0"/>
              <a:t>할 때까지 </a:t>
            </a:r>
            <a:r>
              <a:rPr lang="en-US" altLang="ko-KR" dirty="0"/>
              <a:t>Levenberg-Marquardt </a:t>
            </a:r>
            <a:r>
              <a:rPr lang="ko-KR" altLang="en-US" dirty="0"/>
              <a:t>알고리즘에 따라 </a:t>
            </a:r>
            <a:r>
              <a:rPr lang="en-US" altLang="ko-KR" dirty="0"/>
              <a:t>least square fitting</a:t>
            </a:r>
            <a:r>
              <a:rPr lang="ko-KR" altLang="en-US" dirty="0"/>
              <a:t>을 계속 시도 </a:t>
            </a:r>
            <a:r>
              <a:rPr lang="en-US" altLang="ko-KR" dirty="0"/>
              <a:t>(</a:t>
            </a:r>
            <a:r>
              <a:rPr lang="ko-KR" altLang="en-US" dirty="0"/>
              <a:t>최대 </a:t>
            </a:r>
            <a:r>
              <a:rPr lang="en-US" altLang="ko-KR" dirty="0"/>
              <a:t>400</a:t>
            </a:r>
            <a:r>
              <a:rPr lang="ko-KR" altLang="en-US" dirty="0"/>
              <a:t>번</a:t>
            </a:r>
            <a:r>
              <a:rPr lang="en-US" altLang="ko-KR" dirty="0"/>
              <a:t>) </a:t>
            </a:r>
            <a:r>
              <a:rPr lang="ko-KR" altLang="en-US" dirty="0"/>
              <a:t>그러니까 </a:t>
            </a:r>
            <a:r>
              <a:rPr lang="ko-KR" altLang="en-US" b="1" dirty="0">
                <a:solidFill>
                  <a:srgbClr val="FF0000"/>
                </a:solidFill>
              </a:rPr>
              <a:t>이걸 클릭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5E566D2C-B494-40ED-979E-AE511ED56D35}"/>
              </a:ext>
            </a:extLst>
          </p:cNvPr>
          <p:cNvCxnSpPr>
            <a:cxnSpLocks/>
            <a:stCxn id="9" idx="2"/>
            <a:endCxn id="16" idx="1"/>
          </p:cNvCxnSpPr>
          <p:nvPr/>
        </p:nvCxnSpPr>
        <p:spPr>
          <a:xfrm rot="5400000">
            <a:off x="5863947" y="2303304"/>
            <a:ext cx="1474281" cy="178264"/>
          </a:xfrm>
          <a:prstGeom prst="curvedConnector4">
            <a:avLst>
              <a:gd name="adj1" fmla="val 34343"/>
              <a:gd name="adj2" fmla="val 22823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FC97E3-351B-4157-90BF-B353D9E3CEA8}"/>
              </a:ext>
            </a:extLst>
          </p:cNvPr>
          <p:cNvSpPr/>
          <p:nvPr/>
        </p:nvSpPr>
        <p:spPr>
          <a:xfrm>
            <a:off x="5285069" y="1034511"/>
            <a:ext cx="562060" cy="6207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4B32D2-831C-40FD-B778-AB183B73C6E6}"/>
              </a:ext>
            </a:extLst>
          </p:cNvPr>
          <p:cNvSpPr txBox="1"/>
          <p:nvPr/>
        </p:nvSpPr>
        <p:spPr>
          <a:xfrm>
            <a:off x="2734894" y="2198022"/>
            <a:ext cx="325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Chi2 </a:t>
            </a:r>
            <a:r>
              <a:rPr lang="ko-KR" altLang="en-US" dirty="0"/>
              <a:t>계산</a:t>
            </a:r>
            <a:r>
              <a:rPr lang="en-US" altLang="ko-KR" dirty="0"/>
              <a:t>(Error analysis </a:t>
            </a:r>
            <a:r>
              <a:rPr lang="ko-KR" altLang="en-US" dirty="0"/>
              <a:t>참고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83BD14AA-9B9C-4330-9306-D8EF71EBEDBF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4692321" y="1324244"/>
            <a:ext cx="542726" cy="120483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E6D3F4AD-A6F2-436A-A476-DBD5D911C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04" y="2818807"/>
            <a:ext cx="5476040" cy="395239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D901D95-55EA-43AB-8A07-D9B2E3B58988}"/>
              </a:ext>
            </a:extLst>
          </p:cNvPr>
          <p:cNvSpPr txBox="1"/>
          <p:nvPr/>
        </p:nvSpPr>
        <p:spPr>
          <a:xfrm>
            <a:off x="6204358" y="4760537"/>
            <a:ext cx="53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&lt;&lt; Fitting</a:t>
            </a:r>
            <a:r>
              <a:rPr lang="ko-KR" altLang="en-US" dirty="0"/>
              <a:t>이 완료 된 모습 이제 </a:t>
            </a:r>
            <a:r>
              <a:rPr lang="en-US" altLang="ko-KR" dirty="0"/>
              <a:t>OK</a:t>
            </a:r>
            <a:r>
              <a:rPr lang="ko-KR" altLang="en-US" dirty="0"/>
              <a:t>를 누르면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8032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4D5E3D-0882-417F-BB92-EC1A9B6EA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47" y="243280"/>
            <a:ext cx="5437724" cy="41189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3FADD4-D62B-40CA-977D-ADCF10DADCCA}"/>
              </a:ext>
            </a:extLst>
          </p:cNvPr>
          <p:cNvSpPr txBox="1"/>
          <p:nvPr/>
        </p:nvSpPr>
        <p:spPr>
          <a:xfrm>
            <a:off x="6385174" y="1124125"/>
            <a:ext cx="4177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그럼 기존 </a:t>
            </a:r>
            <a:r>
              <a:rPr lang="en-US" altLang="ko-KR" dirty="0"/>
              <a:t>Sheet1 </a:t>
            </a:r>
            <a:r>
              <a:rPr lang="ko-KR" altLang="en-US" dirty="0"/>
              <a:t>탭 옆에 새롭게 탭이 두 개 생기면서 </a:t>
            </a:r>
            <a:r>
              <a:rPr lang="en-US" altLang="ko-KR" dirty="0"/>
              <a:t>fitting</a:t>
            </a:r>
            <a:r>
              <a:rPr lang="ko-KR" altLang="en-US" dirty="0"/>
              <a:t>에 대한 정보가 다 담기는 것을 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E651D8-DC83-45EB-9C45-DA1C819E6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195" y="2512503"/>
            <a:ext cx="5700058" cy="427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94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8BE14D-1B9A-4B47-938D-B50AA3A4E352}"/>
              </a:ext>
            </a:extLst>
          </p:cNvPr>
          <p:cNvSpPr txBox="1"/>
          <p:nvPr/>
        </p:nvSpPr>
        <p:spPr>
          <a:xfrm>
            <a:off x="696286" y="620785"/>
            <a:ext cx="8140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그럼 기존 그래프와 </a:t>
            </a:r>
            <a:r>
              <a:rPr lang="en-US" altLang="ko-KR" dirty="0"/>
              <a:t>fitting </a:t>
            </a:r>
            <a:r>
              <a:rPr lang="ko-KR" altLang="en-US" dirty="0"/>
              <a:t>그래프 함께 </a:t>
            </a:r>
            <a:r>
              <a:rPr lang="en-US" altLang="ko-KR" dirty="0"/>
              <a:t>plot</a:t>
            </a:r>
            <a:r>
              <a:rPr lang="ko-KR" altLang="en-US" dirty="0"/>
              <a:t>하고 싶은데 뭘 끌어와야 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D85B0B-5C95-4BD0-93DF-EE95114CB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991" y="1124824"/>
            <a:ext cx="2086269" cy="4831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FFCA6F-0D0F-48C6-AE84-A09BCBAC3D68}"/>
              </a:ext>
            </a:extLst>
          </p:cNvPr>
          <p:cNvSpPr txBox="1"/>
          <p:nvPr/>
        </p:nvSpPr>
        <p:spPr>
          <a:xfrm>
            <a:off x="205414" y="6237215"/>
            <a:ext cx="4561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‘Fitted Curves Plot’</a:t>
            </a:r>
            <a:r>
              <a:rPr lang="ko-KR" altLang="en-US" dirty="0"/>
              <a:t>이 해당됨을 알 수 있다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4E94BA-0CE8-4BAB-BC8B-FA7BC2B15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959" y="1385582"/>
            <a:ext cx="7375834" cy="4309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ACEB10-D6B8-40C5-8BFA-84A59CD5CC37}"/>
              </a:ext>
            </a:extLst>
          </p:cNvPr>
          <p:cNvSpPr txBox="1"/>
          <p:nvPr/>
        </p:nvSpPr>
        <p:spPr>
          <a:xfrm>
            <a:off x="5612235" y="5906225"/>
            <a:ext cx="5190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r>
              <a:rPr lang="ko-KR" altLang="en-US" dirty="0"/>
              <a:t>값만 선택해서 기존 그래프 쪽으로 끌어오면 끝</a:t>
            </a:r>
          </a:p>
        </p:txBody>
      </p:sp>
    </p:spTree>
    <p:extLst>
      <p:ext uri="{BB962C8B-B14F-4D97-AF65-F5344CB8AC3E}">
        <p14:creationId xmlns:p14="http://schemas.microsoft.com/office/powerpoint/2010/main" val="803849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6120A32C-D856-4A14-8336-348262A73D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806623"/>
              </p:ext>
            </p:extLst>
          </p:nvPr>
        </p:nvGraphicFramePr>
        <p:xfrm>
          <a:off x="5940635" y="837740"/>
          <a:ext cx="6501803" cy="4975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Graph" r:id="rId3" imgW="3920760" imgH="3000960" progId="Origin95.Graph">
                  <p:embed/>
                </p:oleObj>
              </mc:Choice>
              <mc:Fallback>
                <p:oleObj name="Graph" r:id="rId3" imgW="3920760" imgH="300096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0635" y="837740"/>
                        <a:ext cx="6501803" cy="4975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CB660056-98A7-4385-A968-CB65649A5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206" y="653074"/>
            <a:ext cx="5847183" cy="4598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27213C-20BC-4532-8AEA-95AEC592CDE2}"/>
              </a:ext>
            </a:extLst>
          </p:cNvPr>
          <p:cNvSpPr txBox="1"/>
          <p:nvPr/>
        </p:nvSpPr>
        <p:spPr>
          <a:xfrm>
            <a:off x="142613" y="5443472"/>
            <a:ext cx="6808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Fitting </a:t>
            </a:r>
            <a:r>
              <a:rPr lang="ko-KR" altLang="en-US" dirty="0"/>
              <a:t>그래프를 빨간색의 가는 선으로 바꿔주면 더욱 보기 좋다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8287E-4342-437C-983E-635EA6DE080C}"/>
              </a:ext>
            </a:extLst>
          </p:cNvPr>
          <p:cNvSpPr txBox="1"/>
          <p:nvPr/>
        </p:nvSpPr>
        <p:spPr>
          <a:xfrm>
            <a:off x="6509857" y="343949"/>
            <a:ext cx="5329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그래프에서 </a:t>
            </a:r>
            <a:r>
              <a:rPr lang="ko-KR" altLang="en-US" dirty="0" err="1"/>
              <a:t>우클릭</a:t>
            </a:r>
            <a:r>
              <a:rPr lang="ko-KR" altLang="en-US" dirty="0"/>
              <a:t> </a:t>
            </a:r>
            <a:r>
              <a:rPr lang="en-US" altLang="ko-KR" dirty="0"/>
              <a:t>&gt; Copy Page </a:t>
            </a:r>
            <a:r>
              <a:rPr lang="ko-KR" altLang="en-US" dirty="0"/>
              <a:t>를 하면 </a:t>
            </a:r>
            <a:r>
              <a:rPr lang="en-US" altLang="ko-KR" dirty="0" err="1"/>
              <a:t>Powerpoint</a:t>
            </a:r>
            <a:r>
              <a:rPr lang="ko-KR" altLang="en-US" dirty="0"/>
              <a:t>나 </a:t>
            </a:r>
            <a:r>
              <a:rPr lang="en-US" altLang="ko-KR" dirty="0"/>
              <a:t>Word </a:t>
            </a:r>
            <a:r>
              <a:rPr lang="ko-KR" altLang="en-US" dirty="0"/>
              <a:t>같은 곳에 붙여 넣을 수 있다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D446A7-8F38-4327-95B6-7F8050228037}"/>
              </a:ext>
            </a:extLst>
          </p:cNvPr>
          <p:cNvSpPr txBox="1"/>
          <p:nvPr/>
        </p:nvSpPr>
        <p:spPr>
          <a:xfrm>
            <a:off x="7180976" y="5561901"/>
            <a:ext cx="4773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또한 오리진이 설치되어 있는 컴퓨터에서 이 그래프를 </a:t>
            </a:r>
            <a:r>
              <a:rPr lang="ko-KR" altLang="en-US" dirty="0" err="1"/>
              <a:t>더블클릭하면</a:t>
            </a:r>
            <a:r>
              <a:rPr lang="ko-KR" altLang="en-US" dirty="0"/>
              <a:t> 오리진이 열리면서 그래프 수정을 할 수 있다 </a:t>
            </a:r>
          </a:p>
        </p:txBody>
      </p:sp>
    </p:spTree>
    <p:extLst>
      <p:ext uri="{BB962C8B-B14F-4D97-AF65-F5344CB8AC3E}">
        <p14:creationId xmlns:p14="http://schemas.microsoft.com/office/powerpoint/2010/main" val="2513147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71FCBA-BC9D-481E-BA12-CC4ECD170589}"/>
              </a:ext>
            </a:extLst>
          </p:cNvPr>
          <p:cNvSpPr txBox="1"/>
          <p:nvPr/>
        </p:nvSpPr>
        <p:spPr>
          <a:xfrm>
            <a:off x="1006679" y="704675"/>
            <a:ext cx="3289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임의의 </a:t>
            </a:r>
            <a:r>
              <a:rPr lang="en-US" altLang="ko-KR" dirty="0"/>
              <a:t>fitting function </a:t>
            </a:r>
            <a:r>
              <a:rPr lang="ko-KR" altLang="en-US" dirty="0"/>
              <a:t>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43AA25-5267-4571-AF74-B3C291388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55" y="1850122"/>
            <a:ext cx="5225205" cy="41614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59FEAC-C316-4A22-B28A-542048B56391}"/>
              </a:ext>
            </a:extLst>
          </p:cNvPr>
          <p:cNvSpPr txBox="1"/>
          <p:nvPr/>
        </p:nvSpPr>
        <p:spPr>
          <a:xfrm>
            <a:off x="1619075" y="1417739"/>
            <a:ext cx="3669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두 사인함수의 합을 </a:t>
            </a:r>
            <a:r>
              <a:rPr lang="en-US" altLang="ko-KR" dirty="0"/>
              <a:t>fitting </a:t>
            </a:r>
            <a:r>
              <a:rPr lang="ko-KR" altLang="en-US" dirty="0"/>
              <a:t>해보자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8567FE-62B3-417F-BA67-1CAB21848733}"/>
                  </a:ext>
                </a:extLst>
              </p:cNvPr>
              <p:cNvSpPr txBox="1"/>
              <p:nvPr/>
            </p:nvSpPr>
            <p:spPr>
              <a:xfrm>
                <a:off x="6291743" y="1850122"/>
                <a:ext cx="522520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함수는</a:t>
                </a:r>
                <a:endParaRPr lang="en-US" altLang="ko-K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altLang="ko-KR" dirty="0"/>
              </a:p>
              <a:p>
                <a:r>
                  <a:rPr lang="ko-KR" altLang="en-US" dirty="0"/>
                  <a:t>이거 그냥 두 번 더한 거 쓰고 싶음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그런 함수는 오리진 </a:t>
                </a:r>
                <a:r>
                  <a:rPr lang="en-US" altLang="ko-KR" dirty="0"/>
                  <a:t>built-in fitting function </a:t>
                </a:r>
                <a:r>
                  <a:rPr lang="ko-KR" altLang="en-US" dirty="0"/>
                  <a:t>목록에 없습니다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그래서 내가 만들어야 하는 상황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8567FE-62B3-417F-BA67-1CAB21848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743" y="1850122"/>
                <a:ext cx="5225204" cy="2308324"/>
              </a:xfrm>
              <a:prstGeom prst="rect">
                <a:avLst/>
              </a:prstGeom>
              <a:blipFill>
                <a:blip r:embed="rId3"/>
                <a:stretch>
                  <a:fillRect l="-933" t="-1319" b="-31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0173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BFE4B7-BEDE-46B3-9877-D01DEA126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52" y="614974"/>
            <a:ext cx="3695700" cy="43529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0830E75-4557-4D64-933B-DEF477B37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924" y="844054"/>
            <a:ext cx="3171825" cy="36766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9D908BB-8610-475B-B6AC-0FD820960F76}"/>
              </a:ext>
            </a:extLst>
          </p:cNvPr>
          <p:cNvSpPr/>
          <p:nvPr/>
        </p:nvSpPr>
        <p:spPr>
          <a:xfrm>
            <a:off x="1845583" y="3682768"/>
            <a:ext cx="1652626" cy="1510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38705A-C652-4E2B-98B1-DEC67716CEEB}"/>
              </a:ext>
            </a:extLst>
          </p:cNvPr>
          <p:cNvSpPr/>
          <p:nvPr/>
        </p:nvSpPr>
        <p:spPr>
          <a:xfrm>
            <a:off x="5905850" y="3976383"/>
            <a:ext cx="964733" cy="1426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0572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654866-51E7-4A02-ACAC-829FE00C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98" y="388822"/>
            <a:ext cx="4348774" cy="25789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3D2D3B-BBD3-4250-ABCA-C41CD70B694B}"/>
              </a:ext>
            </a:extLst>
          </p:cNvPr>
          <p:cNvSpPr txBox="1"/>
          <p:nvPr/>
        </p:nvSpPr>
        <p:spPr>
          <a:xfrm>
            <a:off x="5368954" y="1065402"/>
            <a:ext cx="36295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이렇게 </a:t>
            </a:r>
            <a:r>
              <a:rPr lang="en-US" altLang="ko-KR" dirty="0"/>
              <a:t>function builder</a:t>
            </a:r>
            <a:r>
              <a:rPr lang="ko-KR" altLang="en-US" dirty="0"/>
              <a:t>가 나온다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제목 적당히 적어주고</a:t>
            </a:r>
            <a:r>
              <a:rPr lang="en-US" altLang="ko-KR" dirty="0"/>
              <a:t> next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1506DB-84A1-4F4F-83B3-A83002294781}"/>
              </a:ext>
            </a:extLst>
          </p:cNvPr>
          <p:cNvSpPr txBox="1"/>
          <p:nvPr/>
        </p:nvSpPr>
        <p:spPr>
          <a:xfrm>
            <a:off x="7256477" y="3280095"/>
            <a:ext cx="35125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내가 쓰고자 하는 함수를 참고해</a:t>
            </a:r>
            <a:endParaRPr lang="en-US" altLang="ko-KR" dirty="0"/>
          </a:p>
          <a:p>
            <a:r>
              <a:rPr lang="en-US" altLang="ko-KR" dirty="0"/>
              <a:t>parameter</a:t>
            </a:r>
            <a:r>
              <a:rPr lang="ko-KR" altLang="en-US" dirty="0"/>
              <a:t>들을 설정해주면 된다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위에 두 개는 건드릴 필요 없음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010751-B180-4BCD-8023-8B2D64BDC19E}"/>
                  </a:ext>
                </a:extLst>
              </p:cNvPr>
              <p:cNvSpPr txBox="1"/>
              <p:nvPr/>
            </p:nvSpPr>
            <p:spPr>
              <a:xfrm>
                <a:off x="7183714" y="4613837"/>
                <a:ext cx="48299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010751-B180-4BCD-8023-8B2D64BDC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714" y="4613837"/>
                <a:ext cx="4829962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C5BAA23B-5602-402D-97F3-02C6EE3EF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749" y="3212590"/>
            <a:ext cx="47053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07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7B9A217-EBE0-4CDF-B5AE-8C3C565F0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9" y="300955"/>
            <a:ext cx="5082136" cy="38432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815AFA-CC6D-4484-8EE5-48828FCA8FB6}"/>
              </a:ext>
            </a:extLst>
          </p:cNvPr>
          <p:cNvSpPr txBox="1"/>
          <p:nvPr/>
        </p:nvSpPr>
        <p:spPr>
          <a:xfrm>
            <a:off x="6096000" y="2390862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함수를 적어주고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D5FBA-A0AE-4CDC-AB85-78953789E551}"/>
              </a:ext>
            </a:extLst>
          </p:cNvPr>
          <p:cNvSpPr txBox="1"/>
          <p:nvPr/>
        </p:nvSpPr>
        <p:spPr>
          <a:xfrm>
            <a:off x="6920917" y="4228051"/>
            <a:ext cx="4551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특별한 일 없으면 </a:t>
            </a:r>
            <a:r>
              <a:rPr lang="en-US" altLang="ko-KR" dirty="0"/>
              <a:t>Finish </a:t>
            </a:r>
            <a:r>
              <a:rPr lang="ko-KR" altLang="en-US" dirty="0"/>
              <a:t>눌러주고 쓰면 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FA58D-67A6-4EB0-9355-BC8E1677DC70}"/>
              </a:ext>
            </a:extLst>
          </p:cNvPr>
          <p:cNvSpPr txBox="1"/>
          <p:nvPr/>
        </p:nvSpPr>
        <p:spPr>
          <a:xfrm>
            <a:off x="880844" y="4412717"/>
            <a:ext cx="55199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저 사람 아이콘 눌러보면 </a:t>
            </a:r>
            <a:r>
              <a:rPr lang="en-US" altLang="ko-KR" dirty="0"/>
              <a:t>x=1 </a:t>
            </a:r>
            <a:r>
              <a:rPr lang="ko-KR" altLang="en-US" dirty="0"/>
              <a:t>넣었을 때 어떤 값이 대강 나오는지 볼 수 있다</a:t>
            </a:r>
            <a:r>
              <a:rPr lang="en-US" altLang="ko-KR" dirty="0"/>
              <a:t>. </a:t>
            </a:r>
            <a:r>
              <a:rPr lang="ko-KR" altLang="en-US" dirty="0"/>
              <a:t>에러가 뜬다면 수식을 잘 못 입력한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제곱은 </a:t>
            </a:r>
            <a:r>
              <a:rPr lang="en-US" altLang="ko-KR" dirty="0"/>
              <a:t>^</a:t>
            </a:r>
            <a:r>
              <a:rPr lang="ko-KR" altLang="en-US" dirty="0"/>
              <a:t>으로 표시</a:t>
            </a:r>
          </a:p>
        </p:txBody>
      </p:sp>
    </p:spTree>
    <p:extLst>
      <p:ext uri="{BB962C8B-B14F-4D97-AF65-F5344CB8AC3E}">
        <p14:creationId xmlns:p14="http://schemas.microsoft.com/office/powerpoint/2010/main" val="3457842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E38A35-E271-493C-8234-DCFFD4753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450" y="934585"/>
            <a:ext cx="5314950" cy="16573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99075F4-0F0D-4702-88C1-4467CE0D4F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570"/>
          <a:stretch/>
        </p:blipFill>
        <p:spPr>
          <a:xfrm>
            <a:off x="567413" y="934585"/>
            <a:ext cx="5082136" cy="17459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751580-CE15-4C57-A8B7-A1E72A3FEACE}"/>
              </a:ext>
            </a:extLst>
          </p:cNvPr>
          <p:cNvSpPr txBox="1"/>
          <p:nvPr/>
        </p:nvSpPr>
        <p:spPr>
          <a:xfrm>
            <a:off x="830510" y="419450"/>
            <a:ext cx="1757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특별한 일이란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245EE2-01E6-43F0-A414-3613EE4AE767}"/>
                  </a:ext>
                </a:extLst>
              </p:cNvPr>
              <p:cNvSpPr txBox="1"/>
              <p:nvPr/>
            </p:nvSpPr>
            <p:spPr>
              <a:xfrm>
                <a:off x="567413" y="2952925"/>
                <a:ext cx="11026172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일반물리실험에서 쓸 일은 없겠지만</a:t>
                </a:r>
                <a:r>
                  <a:rPr lang="en-US" altLang="ko-KR" dirty="0"/>
                  <a:t>…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User defined function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parameter </a:t>
                </a:r>
                <a:r>
                  <a:rPr lang="ko-KR" altLang="en-US" dirty="0"/>
                  <a:t>수가 엄청 많아지면 경우의 수 또한 기하급수적으로 많아져서 </a:t>
                </a:r>
                <a:r>
                  <a:rPr lang="en-US" altLang="ko-KR" dirty="0"/>
                  <a:t>400</a:t>
                </a:r>
                <a:r>
                  <a:rPr lang="ko-KR" altLang="en-US" dirty="0"/>
                  <a:t>번의 </a:t>
                </a:r>
                <a:r>
                  <a:rPr lang="en-US" altLang="ko-KR" dirty="0"/>
                  <a:t>iteration</a:t>
                </a:r>
                <a:r>
                  <a:rPr lang="ko-KR" altLang="en-US" dirty="0"/>
                  <a:t>으로는 </a:t>
                </a:r>
                <a:r>
                  <a:rPr lang="en-US" altLang="ko-KR" dirty="0"/>
                  <a:t>fitting</a:t>
                </a:r>
                <a:r>
                  <a:rPr lang="ko-KR" altLang="en-US" dirty="0"/>
                  <a:t>이 쉽사리 </a:t>
                </a:r>
                <a:r>
                  <a:rPr lang="en-US" altLang="ko-KR" dirty="0"/>
                  <a:t>converge</a:t>
                </a:r>
                <a:r>
                  <a:rPr lang="ko-KR" altLang="en-US" dirty="0"/>
                  <a:t>되지 않습니다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인공지능 같은 것이 반영된 알고리즘이 아니라 예상되는 수치에 가까운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적절한 </a:t>
                </a:r>
                <a:r>
                  <a:rPr lang="en-US" altLang="ko-KR" dirty="0"/>
                  <a:t>initial parameter </a:t>
                </a:r>
                <a:r>
                  <a:rPr lang="ko-KR" altLang="en-US" dirty="0"/>
                  <a:t>값들을 초기에 넣어주면 좀 더 빠르게 </a:t>
                </a:r>
                <a:r>
                  <a:rPr lang="en-US" altLang="ko-KR" dirty="0"/>
                  <a:t>converge</a:t>
                </a:r>
                <a:r>
                  <a:rPr lang="ko-KR" altLang="en-US" dirty="0"/>
                  <a:t>를 볼 수 있습니다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또한 경우의 수를 제한하기 위해 오른쪽과 같이 </a:t>
                </a:r>
                <a:r>
                  <a:rPr lang="en-US" altLang="ko-KR" dirty="0"/>
                  <a:t>parameter</a:t>
                </a:r>
                <a:r>
                  <a:rPr lang="ko-KR" altLang="en-US" dirty="0"/>
                  <a:t>들에 </a:t>
                </a:r>
                <a:r>
                  <a:rPr lang="en-US" altLang="ko-KR" dirty="0"/>
                  <a:t>upper, lower bound</a:t>
                </a:r>
                <a:r>
                  <a:rPr lang="ko-KR" altLang="en-US" dirty="0"/>
                  <a:t>를 정해줄 수도 있습니다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예를 들면 </a:t>
                </a:r>
                <a:r>
                  <a:rPr lang="en-US" altLang="ko-KR" dirty="0"/>
                  <a:t>C1, C2</a:t>
                </a:r>
                <a:r>
                  <a:rPr lang="ko-KR" altLang="en-US" dirty="0"/>
                  <a:t>는 사인 함수 내의 </a:t>
                </a:r>
                <a:r>
                  <a:rPr lang="en-US" altLang="ko-KR" dirty="0"/>
                  <a:t>phase difference factor</a:t>
                </a:r>
                <a:r>
                  <a:rPr lang="ko-KR" altLang="en-US" dirty="0"/>
                  <a:t>기 때문에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에서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en-US" dirty="0"/>
                  <a:t> 안으로만 설정해줘도 충분할 것입니다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</a:t>
                </a:r>
                <a:endParaRPr lang="en-US" altLang="ko-KR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245EE2-01E6-43F0-A414-3613EE4AE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13" y="2952925"/>
                <a:ext cx="11026172" cy="3139321"/>
              </a:xfrm>
              <a:prstGeom prst="rect">
                <a:avLst/>
              </a:prstGeom>
              <a:blipFill>
                <a:blip r:embed="rId4"/>
                <a:stretch>
                  <a:fillRect l="-442" t="-971" b="-21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879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9A0BCB9B-7F34-4DA3-9C9F-96839B13740D}"/>
              </a:ext>
            </a:extLst>
          </p:cNvPr>
          <p:cNvSpPr/>
          <p:nvPr/>
        </p:nvSpPr>
        <p:spPr>
          <a:xfrm>
            <a:off x="788565" y="662730"/>
            <a:ext cx="5721356" cy="3145872"/>
          </a:xfrm>
          <a:custGeom>
            <a:avLst/>
            <a:gdLst>
              <a:gd name="connsiteX0" fmla="*/ 0 w 5721356"/>
              <a:gd name="connsiteY0" fmla="*/ 704676 h 3145872"/>
              <a:gd name="connsiteX1" fmla="*/ 167780 w 5721356"/>
              <a:gd name="connsiteY1" fmla="*/ 1518408 h 3145872"/>
              <a:gd name="connsiteX2" fmla="*/ 226503 w 5721356"/>
              <a:gd name="connsiteY2" fmla="*/ 1761688 h 3145872"/>
              <a:gd name="connsiteX3" fmla="*/ 394283 w 5721356"/>
              <a:gd name="connsiteY3" fmla="*/ 2197916 h 3145872"/>
              <a:gd name="connsiteX4" fmla="*/ 453006 w 5721356"/>
              <a:gd name="connsiteY4" fmla="*/ 2273417 h 3145872"/>
              <a:gd name="connsiteX5" fmla="*/ 545285 w 5721356"/>
              <a:gd name="connsiteY5" fmla="*/ 2306973 h 3145872"/>
              <a:gd name="connsiteX6" fmla="*/ 813732 w 5721356"/>
              <a:gd name="connsiteY6" fmla="*/ 2181138 h 3145872"/>
              <a:gd name="connsiteX7" fmla="*/ 1098958 w 5721356"/>
              <a:gd name="connsiteY7" fmla="*/ 1786855 h 3145872"/>
              <a:gd name="connsiteX8" fmla="*/ 1451296 w 5721356"/>
              <a:gd name="connsiteY8" fmla="*/ 1325461 h 3145872"/>
              <a:gd name="connsiteX9" fmla="*/ 1577130 w 5721356"/>
              <a:gd name="connsiteY9" fmla="*/ 1392573 h 3145872"/>
              <a:gd name="connsiteX10" fmla="*/ 1812022 w 5721356"/>
              <a:gd name="connsiteY10" fmla="*/ 2080470 h 3145872"/>
              <a:gd name="connsiteX11" fmla="*/ 1929468 w 5721356"/>
              <a:gd name="connsiteY11" fmla="*/ 2382474 h 3145872"/>
              <a:gd name="connsiteX12" fmla="*/ 2273417 w 5721356"/>
              <a:gd name="connsiteY12" fmla="*/ 3028426 h 3145872"/>
              <a:gd name="connsiteX13" fmla="*/ 2374085 w 5721356"/>
              <a:gd name="connsiteY13" fmla="*/ 3145872 h 3145872"/>
              <a:gd name="connsiteX14" fmla="*/ 2751589 w 5721356"/>
              <a:gd name="connsiteY14" fmla="*/ 2910980 h 3145872"/>
              <a:gd name="connsiteX15" fmla="*/ 2894202 w 5721356"/>
              <a:gd name="connsiteY15" fmla="*/ 2650921 h 3145872"/>
              <a:gd name="connsiteX16" fmla="*/ 3154261 w 5721356"/>
              <a:gd name="connsiteY16" fmla="*/ 2290195 h 3145872"/>
              <a:gd name="connsiteX17" fmla="*/ 3397541 w 5721356"/>
              <a:gd name="connsiteY17" fmla="*/ 2332140 h 3145872"/>
              <a:gd name="connsiteX18" fmla="*/ 3506598 w 5721356"/>
              <a:gd name="connsiteY18" fmla="*/ 2306973 h 3145872"/>
              <a:gd name="connsiteX19" fmla="*/ 3917659 w 5721356"/>
              <a:gd name="connsiteY19" fmla="*/ 1577131 h 3145872"/>
              <a:gd name="connsiteX20" fmla="*/ 3984771 w 5721356"/>
              <a:gd name="connsiteY20" fmla="*/ 1040235 h 3145872"/>
              <a:gd name="connsiteX21" fmla="*/ 4102217 w 5721356"/>
              <a:gd name="connsiteY21" fmla="*/ 234892 h 3145872"/>
              <a:gd name="connsiteX22" fmla="*/ 4152551 w 5721356"/>
              <a:gd name="connsiteY22" fmla="*/ 176169 h 3145872"/>
              <a:gd name="connsiteX23" fmla="*/ 4353886 w 5721356"/>
              <a:gd name="connsiteY23" fmla="*/ 0 h 3145872"/>
              <a:gd name="connsiteX24" fmla="*/ 4882393 w 5721356"/>
              <a:gd name="connsiteY24" fmla="*/ 1098958 h 3145872"/>
              <a:gd name="connsiteX25" fmla="*/ 5075340 w 5721356"/>
              <a:gd name="connsiteY25" fmla="*/ 1551964 h 3145872"/>
              <a:gd name="connsiteX26" fmla="*/ 5234730 w 5721356"/>
              <a:gd name="connsiteY26" fmla="*/ 1904301 h 3145872"/>
              <a:gd name="connsiteX27" fmla="*/ 5402510 w 5721356"/>
              <a:gd name="connsiteY27" fmla="*/ 2189527 h 3145872"/>
              <a:gd name="connsiteX28" fmla="*/ 5461233 w 5721356"/>
              <a:gd name="connsiteY28" fmla="*/ 2239861 h 3145872"/>
              <a:gd name="connsiteX29" fmla="*/ 5553512 w 5721356"/>
              <a:gd name="connsiteY29" fmla="*/ 2130804 h 3145872"/>
              <a:gd name="connsiteX30" fmla="*/ 5645791 w 5721356"/>
              <a:gd name="connsiteY30" fmla="*/ 1677798 h 3145872"/>
              <a:gd name="connsiteX31" fmla="*/ 5704514 w 5721356"/>
              <a:gd name="connsiteY31" fmla="*/ 1359017 h 3145872"/>
              <a:gd name="connsiteX32" fmla="*/ 5721292 w 5721356"/>
              <a:gd name="connsiteY32" fmla="*/ 1266738 h 3145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721356" h="3145872">
                <a:moveTo>
                  <a:pt x="0" y="704676"/>
                </a:moveTo>
                <a:cubicBezTo>
                  <a:pt x="86017" y="1319080"/>
                  <a:pt x="12985" y="930189"/>
                  <a:pt x="167780" y="1518408"/>
                </a:cubicBezTo>
                <a:cubicBezTo>
                  <a:pt x="189010" y="1599084"/>
                  <a:pt x="200123" y="1682547"/>
                  <a:pt x="226503" y="1761688"/>
                </a:cubicBezTo>
                <a:cubicBezTo>
                  <a:pt x="275769" y="1909487"/>
                  <a:pt x="331226" y="2055454"/>
                  <a:pt x="394283" y="2197916"/>
                </a:cubicBezTo>
                <a:cubicBezTo>
                  <a:pt x="407188" y="2227071"/>
                  <a:pt x="427159" y="2254750"/>
                  <a:pt x="453006" y="2273417"/>
                </a:cubicBezTo>
                <a:cubicBezTo>
                  <a:pt x="479540" y="2292580"/>
                  <a:pt x="514525" y="2295788"/>
                  <a:pt x="545285" y="2306973"/>
                </a:cubicBezTo>
                <a:cubicBezTo>
                  <a:pt x="634767" y="2265028"/>
                  <a:pt x="732479" y="2237391"/>
                  <a:pt x="813732" y="2181138"/>
                </a:cubicBezTo>
                <a:cubicBezTo>
                  <a:pt x="989527" y="2059434"/>
                  <a:pt x="992893" y="1960023"/>
                  <a:pt x="1098958" y="1786855"/>
                </a:cubicBezTo>
                <a:cubicBezTo>
                  <a:pt x="1384982" y="1319878"/>
                  <a:pt x="1216452" y="1359010"/>
                  <a:pt x="1451296" y="1325461"/>
                </a:cubicBezTo>
                <a:cubicBezTo>
                  <a:pt x="1493241" y="1347832"/>
                  <a:pt x="1548188" y="1354861"/>
                  <a:pt x="1577130" y="1392573"/>
                </a:cubicBezTo>
                <a:cubicBezTo>
                  <a:pt x="1776751" y="1652686"/>
                  <a:pt x="1720899" y="1765335"/>
                  <a:pt x="1812022" y="2080470"/>
                </a:cubicBezTo>
                <a:cubicBezTo>
                  <a:pt x="1842025" y="2184232"/>
                  <a:pt x="1887382" y="2282998"/>
                  <a:pt x="1929468" y="2382474"/>
                </a:cubicBezTo>
                <a:cubicBezTo>
                  <a:pt x="2056320" y="2682305"/>
                  <a:pt x="2092170" y="2767218"/>
                  <a:pt x="2273417" y="3028426"/>
                </a:cubicBezTo>
                <a:cubicBezTo>
                  <a:pt x="2302811" y="3070789"/>
                  <a:pt x="2340529" y="3106723"/>
                  <a:pt x="2374085" y="3145872"/>
                </a:cubicBezTo>
                <a:cubicBezTo>
                  <a:pt x="2501187" y="3084512"/>
                  <a:pt x="2661645" y="3033631"/>
                  <a:pt x="2751589" y="2910980"/>
                </a:cubicBezTo>
                <a:cubicBezTo>
                  <a:pt x="2810054" y="2831255"/>
                  <a:pt x="2840400" y="2733865"/>
                  <a:pt x="2894202" y="2650921"/>
                </a:cubicBezTo>
                <a:cubicBezTo>
                  <a:pt x="2974869" y="2526560"/>
                  <a:pt x="3154261" y="2290195"/>
                  <a:pt x="3154261" y="2290195"/>
                </a:cubicBezTo>
                <a:cubicBezTo>
                  <a:pt x="3235354" y="2304177"/>
                  <a:pt x="3315344" y="2328226"/>
                  <a:pt x="3397541" y="2332140"/>
                </a:cubicBezTo>
                <a:cubicBezTo>
                  <a:pt x="3434807" y="2333915"/>
                  <a:pt x="3481264" y="2334361"/>
                  <a:pt x="3506598" y="2306973"/>
                </a:cubicBezTo>
                <a:cubicBezTo>
                  <a:pt x="3649448" y="2152540"/>
                  <a:pt x="3834743" y="1742963"/>
                  <a:pt x="3917659" y="1577131"/>
                </a:cubicBezTo>
                <a:cubicBezTo>
                  <a:pt x="3940030" y="1398166"/>
                  <a:pt x="3964998" y="1219506"/>
                  <a:pt x="3984771" y="1040235"/>
                </a:cubicBezTo>
                <a:cubicBezTo>
                  <a:pt x="4010054" y="811005"/>
                  <a:pt x="4000749" y="476855"/>
                  <a:pt x="4102217" y="234892"/>
                </a:cubicBezTo>
                <a:cubicBezTo>
                  <a:pt x="4112187" y="211117"/>
                  <a:pt x="4133149" y="193146"/>
                  <a:pt x="4152551" y="176169"/>
                </a:cubicBezTo>
                <a:cubicBezTo>
                  <a:pt x="4381020" y="-23742"/>
                  <a:pt x="4238961" y="134079"/>
                  <a:pt x="4353886" y="0"/>
                </a:cubicBezTo>
                <a:cubicBezTo>
                  <a:pt x="4742007" y="388121"/>
                  <a:pt x="4458887" y="67813"/>
                  <a:pt x="4882393" y="1098958"/>
                </a:cubicBezTo>
                <a:cubicBezTo>
                  <a:pt x="4944748" y="1250780"/>
                  <a:pt x="5009554" y="1401597"/>
                  <a:pt x="5075340" y="1551964"/>
                </a:cubicBezTo>
                <a:cubicBezTo>
                  <a:pt x="5127007" y="1670061"/>
                  <a:pt x="5173859" y="1790675"/>
                  <a:pt x="5234730" y="1904301"/>
                </a:cubicBezTo>
                <a:cubicBezTo>
                  <a:pt x="5278141" y="1985334"/>
                  <a:pt x="5326503" y="2113520"/>
                  <a:pt x="5402510" y="2189527"/>
                </a:cubicBezTo>
                <a:cubicBezTo>
                  <a:pt x="5420740" y="2207757"/>
                  <a:pt x="5441659" y="2223083"/>
                  <a:pt x="5461233" y="2239861"/>
                </a:cubicBezTo>
                <a:cubicBezTo>
                  <a:pt x="5491993" y="2203509"/>
                  <a:pt x="5533885" y="2174191"/>
                  <a:pt x="5553512" y="2130804"/>
                </a:cubicBezTo>
                <a:cubicBezTo>
                  <a:pt x="5630563" y="1960480"/>
                  <a:pt x="5617954" y="1853172"/>
                  <a:pt x="5645791" y="1677798"/>
                </a:cubicBezTo>
                <a:cubicBezTo>
                  <a:pt x="5662729" y="1571086"/>
                  <a:pt x="5678308" y="1463839"/>
                  <a:pt x="5704514" y="1359017"/>
                </a:cubicBezTo>
                <a:cubicBezTo>
                  <a:pt x="5723327" y="1283766"/>
                  <a:pt x="5721292" y="1314964"/>
                  <a:pt x="5721292" y="1266738"/>
                </a:cubicBezTo>
              </a:path>
            </a:pathLst>
          </a:cu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477460C-0088-4EAC-92D6-ED0523FFF371}"/>
              </a:ext>
            </a:extLst>
          </p:cNvPr>
          <p:cNvCxnSpPr/>
          <p:nvPr/>
        </p:nvCxnSpPr>
        <p:spPr>
          <a:xfrm>
            <a:off x="1073792" y="2380376"/>
            <a:ext cx="167779" cy="3796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A27D988-C49A-4FE0-9205-B3EDC6BECC0C}"/>
              </a:ext>
            </a:extLst>
          </p:cNvPr>
          <p:cNvCxnSpPr>
            <a:cxnSpLocks/>
          </p:cNvCxnSpPr>
          <p:nvPr/>
        </p:nvCxnSpPr>
        <p:spPr>
          <a:xfrm flipH="1">
            <a:off x="1526798" y="2499919"/>
            <a:ext cx="218112" cy="2600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B22AFBB-8F03-4948-BBC5-688769640CCF}"/>
              </a:ext>
            </a:extLst>
          </p:cNvPr>
          <p:cNvCxnSpPr/>
          <p:nvPr/>
        </p:nvCxnSpPr>
        <p:spPr>
          <a:xfrm>
            <a:off x="2944537" y="3239199"/>
            <a:ext cx="167779" cy="3796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ACF1D30-E156-4167-88B3-1F7F89DF9A53}"/>
              </a:ext>
            </a:extLst>
          </p:cNvPr>
          <p:cNvCxnSpPr>
            <a:cxnSpLocks/>
          </p:cNvCxnSpPr>
          <p:nvPr/>
        </p:nvCxnSpPr>
        <p:spPr>
          <a:xfrm flipH="1">
            <a:off x="3254930" y="3429000"/>
            <a:ext cx="234890" cy="2343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8169ECA-E728-464A-93E6-E634C21D39B0}"/>
              </a:ext>
            </a:extLst>
          </p:cNvPr>
          <p:cNvCxnSpPr/>
          <p:nvPr/>
        </p:nvCxnSpPr>
        <p:spPr>
          <a:xfrm>
            <a:off x="6012110" y="2380376"/>
            <a:ext cx="167779" cy="3796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C6FFF06-7CCA-4486-857F-D156529EAB8A}"/>
              </a:ext>
            </a:extLst>
          </p:cNvPr>
          <p:cNvCxnSpPr>
            <a:cxnSpLocks/>
          </p:cNvCxnSpPr>
          <p:nvPr/>
        </p:nvCxnSpPr>
        <p:spPr>
          <a:xfrm flipH="1">
            <a:off x="6307155" y="2416684"/>
            <a:ext cx="75500" cy="3069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6C40EA39-A559-44CB-80FB-0F573AC869EF}"/>
              </a:ext>
            </a:extLst>
          </p:cNvPr>
          <p:cNvSpPr/>
          <p:nvPr/>
        </p:nvSpPr>
        <p:spPr>
          <a:xfrm>
            <a:off x="6192023" y="2759978"/>
            <a:ext cx="105649" cy="10564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생각 풍선: 구름 모양 19">
            <a:extLst>
              <a:ext uri="{FF2B5EF4-FFF2-40B4-BE49-F238E27FC236}">
                <a16:creationId xmlns:a16="http://schemas.microsoft.com/office/drawing/2014/main" id="{07F93721-8784-4F96-A36E-2F4153A2ABF5}"/>
              </a:ext>
            </a:extLst>
          </p:cNvPr>
          <p:cNvSpPr/>
          <p:nvPr/>
        </p:nvSpPr>
        <p:spPr>
          <a:xfrm>
            <a:off x="6937823" y="662730"/>
            <a:ext cx="4395766" cy="1853967"/>
          </a:xfrm>
          <a:prstGeom prst="cloudCallout">
            <a:avLst>
              <a:gd name="adj1" fmla="val -59024"/>
              <a:gd name="adj2" fmla="val 63452"/>
            </a:avLst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ㅋㅋ</a:t>
            </a:r>
            <a:r>
              <a:rPr lang="ko-KR" altLang="en-US" dirty="0">
                <a:solidFill>
                  <a:schemeClr val="tx1"/>
                </a:solidFill>
              </a:rPr>
              <a:t> 여기가 </a:t>
            </a:r>
            <a:r>
              <a:rPr lang="ko-KR" altLang="en-US" dirty="0" err="1">
                <a:solidFill>
                  <a:schemeClr val="tx1"/>
                </a:solidFill>
              </a:rPr>
              <a:t>최소겠지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CB66CA-742A-49A5-AF46-F9789EAC0575}"/>
              </a:ext>
            </a:extLst>
          </p:cNvPr>
          <p:cNvSpPr txBox="1"/>
          <p:nvPr/>
        </p:nvSpPr>
        <p:spPr>
          <a:xfrm>
            <a:off x="503339" y="4292957"/>
            <a:ext cx="110231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최적화 문제는 </a:t>
            </a:r>
            <a:r>
              <a:rPr lang="en-US" altLang="ko-KR" dirty="0"/>
              <a:t>minimum/maximum </a:t>
            </a:r>
            <a:r>
              <a:rPr lang="ko-KR" altLang="en-US" dirty="0"/>
              <a:t>을 찾는 문제인데 </a:t>
            </a:r>
            <a:r>
              <a:rPr lang="en-US" altLang="ko-KR" dirty="0"/>
              <a:t>parameter</a:t>
            </a:r>
            <a:r>
              <a:rPr lang="ko-KR" altLang="en-US" dirty="0"/>
              <a:t>가 많고 그래프가 복잡해질 수록 </a:t>
            </a:r>
            <a:r>
              <a:rPr lang="en-US" altLang="ko-KR" dirty="0"/>
              <a:t>1 trial = 400 iteration</a:t>
            </a:r>
            <a:r>
              <a:rPr lang="ko-KR" altLang="en-US" dirty="0"/>
              <a:t>이라는 적은 시행 수로는 정확한 </a:t>
            </a:r>
            <a:r>
              <a:rPr lang="en-US" altLang="ko-KR" dirty="0"/>
              <a:t>absolute minimum/maximum</a:t>
            </a:r>
            <a:r>
              <a:rPr lang="ko-KR" altLang="en-US" dirty="0"/>
              <a:t>을 찾기 어렵기 때문에 슬기로운 </a:t>
            </a:r>
            <a:r>
              <a:rPr lang="en-US" altLang="ko-KR" dirty="0"/>
              <a:t>initial parameter</a:t>
            </a:r>
            <a:r>
              <a:rPr lang="ko-KR" altLang="en-US" dirty="0"/>
              <a:t>를 설정해주는 것이 중요합니다</a:t>
            </a:r>
            <a:r>
              <a:rPr lang="en-US" altLang="ko-KR" dirty="0"/>
              <a:t>.. (</a:t>
            </a:r>
            <a:r>
              <a:rPr lang="ko-KR" altLang="en-US" dirty="0"/>
              <a:t>물론 님들은 지금 걱정할 필요 </a:t>
            </a:r>
            <a:r>
              <a:rPr lang="en-US" altLang="ko-KR" dirty="0"/>
              <a:t>X)</a:t>
            </a:r>
          </a:p>
        </p:txBody>
      </p:sp>
    </p:spTree>
    <p:extLst>
      <p:ext uri="{BB962C8B-B14F-4D97-AF65-F5344CB8AC3E}">
        <p14:creationId xmlns:p14="http://schemas.microsoft.com/office/powerpoint/2010/main" val="418310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3212</TotalTime>
  <Words>1946</Words>
  <Application>Microsoft Office PowerPoint</Application>
  <PresentationFormat>와이드스크린</PresentationFormat>
  <Paragraphs>257</Paragraphs>
  <Slides>33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맑은 고딕</vt:lpstr>
      <vt:lpstr>Arial</vt:lpstr>
      <vt:lpstr>Cambria Math</vt:lpstr>
      <vt:lpstr>Office 테마</vt:lpstr>
      <vt:lpstr>Unicode Origin Graph</vt:lpstr>
      <vt:lpstr>일반물리실험 OT</vt:lpstr>
      <vt:lpstr>PowerPoint 프레젠테이션</vt:lpstr>
      <vt:lpstr>수업일정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일반물리실험2 오티</dc:title>
  <dc:creator>이상언</dc:creator>
  <cp:lastModifiedBy>성시헌</cp:lastModifiedBy>
  <cp:revision>50</cp:revision>
  <dcterms:created xsi:type="dcterms:W3CDTF">2017-09-10T14:10:31Z</dcterms:created>
  <dcterms:modified xsi:type="dcterms:W3CDTF">2022-03-11T09:16:59Z</dcterms:modified>
</cp:coreProperties>
</file>