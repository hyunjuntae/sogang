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797675" cy="9926638"/>
  <p:embeddedFontLst>
    <p:embeddedFont>
      <p:font typeface="Palatino Linotype" panose="02040502050505030304" pitchFamily="18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59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99">
          <p15:clr>
            <a:srgbClr val="A4A3A4"/>
          </p15:clr>
        </p15:guide>
        <p15:guide id="5" pos="2018">
          <p15:clr>
            <a:srgbClr val="A4A3A4"/>
          </p15:clr>
        </p15:guide>
        <p15:guide id="6" pos="340">
          <p15:clr>
            <a:srgbClr val="A4A3A4"/>
          </p15:clr>
        </p15:guide>
        <p15:guide id="7" pos="4422">
          <p15:clr>
            <a:srgbClr val="A4A3A4"/>
          </p15:clr>
        </p15:guide>
        <p15:guide id="8" pos="2971">
          <p15:clr>
            <a:srgbClr val="A4A3A4"/>
          </p15:clr>
        </p15:guide>
        <p15:guide id="9" pos="8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4f0GpGKGeFB60wbxvieeTRiTV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48"/>
      </p:cViewPr>
      <p:guideLst>
        <p:guide orient="horz" pos="2659"/>
        <p:guide orient="horz" pos="4319"/>
        <p:guide orient="horz" pos="3974"/>
        <p:guide orient="horz" pos="799"/>
        <p:guide pos="2018"/>
        <p:guide pos="340"/>
        <p:guide pos="4422"/>
        <p:guide pos="2971"/>
        <p:guide pos="8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5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f32a8aee2c62be47" providerId="LiveId" clId="{6240444F-F8D6-4276-81DB-A0D978C18497}"/>
    <pc:docChg chg="modSld">
      <pc:chgData name="" userId="f32a8aee2c62be47" providerId="LiveId" clId="{6240444F-F8D6-4276-81DB-A0D978C18497}" dt="2022-05-23T02:19:59.587" v="31" actId="20577"/>
      <pc:docMkLst>
        <pc:docMk/>
      </pc:docMkLst>
      <pc:sldChg chg="modSp">
        <pc:chgData name="" userId="f32a8aee2c62be47" providerId="LiveId" clId="{6240444F-F8D6-4276-81DB-A0D978C18497}" dt="2022-05-23T02:19:59.587" v="31" actId="20577"/>
        <pc:sldMkLst>
          <pc:docMk/>
          <pc:sldMk cId="0" sldId="269"/>
        </pc:sldMkLst>
        <pc:spChg chg="mod">
          <ac:chgData name="" userId="f32a8aee2c62be47" providerId="LiveId" clId="{6240444F-F8D6-4276-81DB-A0D978C18497}" dt="2022-05-23T02:19:59.587" v="31" actId="20577"/>
          <ac:spMkLst>
            <pc:docMk/>
            <pc:sldMk cId="0" sldId="269"/>
            <ac:spMk id="15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-1520" y="9239"/>
            <a:ext cx="2944342" cy="46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700" tIns="0" rIns="1870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4853" y="9239"/>
            <a:ext cx="2944342" cy="46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700" tIns="0" rIns="1870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ftr" idx="11"/>
          </p:nvPr>
        </p:nvSpPr>
        <p:spPr>
          <a:xfrm>
            <a:off x="-1520" y="9450862"/>
            <a:ext cx="2944342" cy="46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700" tIns="0" rIns="1870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sldNum" idx="12"/>
          </p:nvPr>
        </p:nvSpPr>
        <p:spPr>
          <a:xfrm>
            <a:off x="3854853" y="9450862"/>
            <a:ext cx="2944342" cy="46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700" tIns="0" rIns="1870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00" tIns="45225" rIns="92000" bIns="452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>
            <a:spLocks noGrp="1" noRot="1" noChangeAspect="1"/>
          </p:cNvSpPr>
          <p:nvPr>
            <p:ph type="sldImg" idx="3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>
            <a:spLocks noGrp="1"/>
          </p:cNvSpPr>
          <p:nvPr>
            <p:ph type="body" idx="1"/>
          </p:nvPr>
        </p:nvSpPr>
        <p:spPr>
          <a:xfrm>
            <a:off x="908992" y="4726971"/>
            <a:ext cx="4979692" cy="4488313"/>
          </a:xfrm>
          <a:prstGeom prst="rect">
            <a:avLst/>
          </a:prstGeom>
        </p:spPr>
        <p:txBody>
          <a:bodyPr spcFirstLastPara="1" wrap="square" lIns="92000" tIns="45225" rIns="92000" bIns="45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82675" y="860425"/>
            <a:ext cx="4633913" cy="3476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>
  <p:cSld name="제목 슬라이드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1138" y="152400"/>
            <a:ext cx="231775" cy="35083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9"/>
          <p:cNvSpPr txBox="1"/>
          <p:nvPr/>
        </p:nvSpPr>
        <p:spPr>
          <a:xfrm>
            <a:off x="457200" y="163513"/>
            <a:ext cx="80438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Sogang University: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Programming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19"/>
          <p:cNvSpPr/>
          <p:nvPr/>
        </p:nvSpPr>
        <p:spPr>
          <a:xfrm>
            <a:off x="1898650" y="3657600"/>
            <a:ext cx="50292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0128"/>
              </a:buClr>
              <a:buSzPts val="168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844550" y="1000108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body" idx="1"/>
          </p:nvPr>
        </p:nvSpPr>
        <p:spPr>
          <a:xfrm>
            <a:off x="539750" y="1268413"/>
            <a:ext cx="801846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35280" algn="l">
              <a:spcBef>
                <a:spcPts val="720"/>
              </a:spcBef>
              <a:spcAft>
                <a:spcPts val="0"/>
              </a:spcAft>
              <a:buSzPts val="1680"/>
              <a:buFont typeface="Dotum"/>
              <a:buChar char="■"/>
              <a:defRPr/>
            </a:lvl1pPr>
            <a:lvl2pPr marL="914400" lvl="1" indent="-308610" algn="l">
              <a:spcBef>
                <a:spcPts val="54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◆"/>
              <a:defRPr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722435" y="4406903"/>
            <a:ext cx="7772400" cy="13620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SzPts val="126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108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>
            <a:lvl1pPr marL="457200" lvl="0" indent="-228600" algn="l">
              <a:spcBef>
                <a:spcPts val="72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35280" algn="l">
              <a:spcBef>
                <a:spcPts val="720"/>
              </a:spcBef>
              <a:spcAft>
                <a:spcPts val="0"/>
              </a:spcAft>
              <a:buSzPts val="1680"/>
              <a:buChar char="■"/>
              <a:defRPr sz="2400"/>
            </a:lvl1pPr>
            <a:lvl2pPr marL="914400" lvl="1" indent="-317500" algn="l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◆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3"/>
          </p:nvPr>
        </p:nvSpPr>
        <p:spPr>
          <a:xfrm>
            <a:off x="4645271" y="1535113"/>
            <a:ext cx="4041531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>
            <a:lvl1pPr marL="457200" lvl="0" indent="-228600" algn="l">
              <a:spcBef>
                <a:spcPts val="72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body" idx="4"/>
          </p:nvPr>
        </p:nvSpPr>
        <p:spPr>
          <a:xfrm>
            <a:off x="4645271" y="2174875"/>
            <a:ext cx="4041531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35280" algn="l">
              <a:spcBef>
                <a:spcPts val="720"/>
              </a:spcBef>
              <a:spcAft>
                <a:spcPts val="0"/>
              </a:spcAft>
              <a:buSzPts val="1680"/>
              <a:buChar char="■"/>
              <a:defRPr sz="2400"/>
            </a:lvl1pPr>
            <a:lvl2pPr marL="914400" lvl="1" indent="-317500" algn="l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◆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311150" y="427038"/>
            <a:ext cx="8521700" cy="61436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8"/>
          <p:cNvSpPr/>
          <p:nvPr/>
        </p:nvSpPr>
        <p:spPr>
          <a:xfrm>
            <a:off x="290513" y="428625"/>
            <a:ext cx="546100" cy="614363"/>
          </a:xfrm>
          <a:prstGeom prst="rect">
            <a:avLst/>
          </a:prstGeom>
          <a:gradFill>
            <a:gsLst>
              <a:gs pos="0">
                <a:srgbClr val="910017"/>
              </a:gs>
              <a:gs pos="100000">
                <a:srgbClr val="FC0128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18"/>
          <p:cNvSpPr txBox="1">
            <a:spLocks noGrp="1"/>
          </p:cNvSpPr>
          <p:nvPr>
            <p:ph type="body" idx="1"/>
          </p:nvPr>
        </p:nvSpPr>
        <p:spPr>
          <a:xfrm>
            <a:off x="539750" y="1268413"/>
            <a:ext cx="801846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marR="0" lvl="0" indent="-335280" algn="l" rtl="0">
              <a:spcBef>
                <a:spcPts val="720"/>
              </a:spcBef>
              <a:spcAft>
                <a:spcPts val="0"/>
              </a:spcAft>
              <a:buClr>
                <a:srgbClr val="FC0128"/>
              </a:buClr>
              <a:buSzPts val="1680"/>
              <a:buFont typeface="Dotum"/>
              <a:buChar char="■"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26390" algn="l" rtl="0">
              <a:spcBef>
                <a:spcPts val="660"/>
              </a:spcBef>
              <a:spcAft>
                <a:spcPts val="0"/>
              </a:spcAft>
              <a:buClr>
                <a:schemeClr val="folHlink"/>
              </a:buClr>
              <a:buSzPts val="1540"/>
              <a:buFont typeface="Noto Sans Symbols"/>
              <a:buChar char="●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85750" algn="l" rtl="0">
              <a:spcBef>
                <a:spcPts val="360"/>
              </a:spcBef>
              <a:spcAft>
                <a:spcPts val="0"/>
              </a:spcAft>
              <a:buClr>
                <a:srgbClr val="FF0033"/>
              </a:buClr>
              <a:buSzPts val="90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80000"/>
              </a:lnSpc>
              <a:spcBef>
                <a:spcPts val="192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3050" y="6515100"/>
            <a:ext cx="211138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8"/>
          <p:cNvSpPr txBox="1"/>
          <p:nvPr/>
        </p:nvSpPr>
        <p:spPr>
          <a:xfrm>
            <a:off x="452438" y="6540500"/>
            <a:ext cx="26193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Sogang University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" name="Google Shape;17;p18"/>
          <p:cNvCxnSpPr/>
          <p:nvPr/>
        </p:nvCxnSpPr>
        <p:spPr>
          <a:xfrm>
            <a:off x="280988" y="6477000"/>
            <a:ext cx="8582025" cy="0"/>
          </a:xfrm>
          <a:prstGeom prst="straightConnector1">
            <a:avLst/>
          </a:prstGeom>
          <a:noFill/>
          <a:ln w="28575" cap="flat" cmpd="sng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cut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WJQLWM8lLyA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/>
          <p:nvPr/>
        </p:nvSpPr>
        <p:spPr>
          <a:xfrm>
            <a:off x="928662" y="3429000"/>
            <a:ext cx="7304083" cy="207170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514350" marR="0" lvl="0" indent="-51435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프로젝트</a:t>
            </a:r>
            <a:endParaRPr sz="4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661194" y="1428736"/>
            <a:ext cx="7821613" cy="1447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Programming I</a:t>
            </a:r>
            <a:br>
              <a:rPr lang="en-US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1"/>
          <p:cNvCxnSpPr/>
          <p:nvPr/>
        </p:nvCxnSpPr>
        <p:spPr>
          <a:xfrm>
            <a:off x="357158" y="1285860"/>
            <a:ext cx="8429684" cy="1588"/>
          </a:xfrm>
          <a:prstGeom prst="straightConnector1">
            <a:avLst/>
          </a:prstGeom>
          <a:solidFill>
            <a:schemeClr val="lt1"/>
          </a:solidFill>
          <a:ln w="730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Google Shape;46;p1"/>
          <p:cNvCxnSpPr/>
          <p:nvPr/>
        </p:nvCxnSpPr>
        <p:spPr>
          <a:xfrm>
            <a:off x="357158" y="3214686"/>
            <a:ext cx="8429684" cy="1588"/>
          </a:xfrm>
          <a:prstGeom prst="straightConnector1">
            <a:avLst/>
          </a:prstGeom>
          <a:solidFill>
            <a:schemeClr val="lt1"/>
          </a:solidFill>
          <a:ln w="730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1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00" cy="285900"/>
          </a:xfrm>
          <a:prstGeom prst="rect">
            <a:avLst/>
          </a:prstGeom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>
            <a:spLocks noGrp="1"/>
          </p:cNvSpPr>
          <p:nvPr>
            <p:ph type="body" idx="1"/>
          </p:nvPr>
        </p:nvSpPr>
        <p:spPr>
          <a:xfrm>
            <a:off x="539751" y="1268413"/>
            <a:ext cx="3672209" cy="4680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2048 Game은 이탈리아의 웹 개발자 가브리엘레 치룰리 (Gabriele Cirulli)가 만든 퍼즐 게임이다.</a:t>
            </a:r>
            <a:endParaRPr/>
          </a:p>
          <a:p>
            <a:pPr marL="285750" lvl="0" indent="-1968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None/>
            </a:pPr>
            <a:endParaRPr sz="200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시작할 때 4 x 4 판 위에 임의의 두 위치에 각각 2(또는 4) 블록이 있는데 사용자는 </a:t>
            </a:r>
            <a:r>
              <a:rPr lang="en-US" sz="2000">
                <a:solidFill>
                  <a:srgbClr val="FF0000"/>
                </a:solidFill>
              </a:rPr>
              <a:t>상하좌우 입력 키</a:t>
            </a:r>
            <a:r>
              <a:rPr lang="en-US" sz="2000"/>
              <a:t>를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/>
              <a:t>누를 수 있으며, </a:t>
            </a:r>
            <a:r>
              <a:rPr lang="en-US" sz="2000">
                <a:solidFill>
                  <a:srgbClr val="0070C0"/>
                </a:solidFill>
              </a:rPr>
              <a:t>사용자가 입력 키를 누를 때마다 </a:t>
            </a:r>
            <a:r>
              <a:rPr lang="en-US" sz="2000"/>
              <a:t>과정 1과  2를 진행한다. 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     (다음 페이지)</a:t>
            </a:r>
            <a:endParaRPr sz="2000"/>
          </a:p>
        </p:txBody>
      </p:sp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– 2048</a:t>
            </a: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55" name="Google Shape;55;p2" descr="파일:attachment/2048/Exampl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1065" y="1340768"/>
            <a:ext cx="3494722" cy="4083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539553" y="1271588"/>
            <a:ext cx="8136904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과정 1.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 사용자가 누른 입력 키 방향으로 </a:t>
            </a:r>
            <a:r>
              <a:rPr lang="en-US" sz="2000">
                <a:solidFill>
                  <a:srgbClr val="00B050"/>
                </a:solidFill>
              </a:rPr>
              <a:t>모든 블록들을 한 칸씩 반복적으로 </a:t>
            </a:r>
            <a:r>
              <a:rPr lang="en-US" sz="2000"/>
              <a:t>이동할 수 있을 때까지 </a:t>
            </a:r>
            <a:r>
              <a:rPr lang="en-US" sz="2000">
                <a:solidFill>
                  <a:srgbClr val="0070C0"/>
                </a:solidFill>
              </a:rPr>
              <a:t>이동</a:t>
            </a:r>
            <a:r>
              <a:rPr lang="en-US" sz="2000"/>
              <a:t>시킨다. 블록들은 자신이 이동하고자 하는 칸에 블록이 존재하거나 판 밖으로 벗어나게 될 경우가 아니면 계속 사용자가 이동하는 방향으로 이동한다. 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 예외적으로,</a:t>
            </a:r>
            <a:r>
              <a:rPr lang="en-US" sz="2000">
                <a:solidFill>
                  <a:srgbClr val="0070C0"/>
                </a:solidFill>
              </a:rPr>
              <a:t> 블록 A</a:t>
            </a:r>
            <a:r>
              <a:rPr lang="en-US" sz="2000"/>
              <a:t>가 이동하고자 하는 칸에 있는 블록을 </a:t>
            </a:r>
            <a:r>
              <a:rPr lang="en-US" sz="2000">
                <a:solidFill>
                  <a:srgbClr val="FF0000"/>
                </a:solidFill>
              </a:rPr>
              <a:t>블록 B</a:t>
            </a:r>
            <a:r>
              <a:rPr lang="en-US" sz="2000"/>
              <a:t>로 정의 할 때 </a:t>
            </a:r>
            <a:r>
              <a:rPr lang="en-US" sz="2000">
                <a:solidFill>
                  <a:srgbClr val="0070C0"/>
                </a:solidFill>
              </a:rPr>
              <a:t>블록 A</a:t>
            </a:r>
            <a:r>
              <a:rPr lang="en-US" sz="2000"/>
              <a:t>와 </a:t>
            </a:r>
            <a:r>
              <a:rPr lang="en-US" sz="2000">
                <a:solidFill>
                  <a:srgbClr val="FF0000"/>
                </a:solidFill>
              </a:rPr>
              <a:t>블록 B</a:t>
            </a:r>
            <a:r>
              <a:rPr lang="en-US" sz="2000"/>
              <a:t>에 표시 된 숫자가 </a:t>
            </a:r>
            <a:r>
              <a:rPr lang="en-US" sz="2000">
                <a:solidFill>
                  <a:srgbClr val="00B050"/>
                </a:solidFill>
              </a:rPr>
              <a:t>동일</a:t>
            </a:r>
            <a:r>
              <a:rPr lang="en-US" sz="2000"/>
              <a:t> 할 때, </a:t>
            </a:r>
            <a:r>
              <a:rPr lang="en-US" sz="2000">
                <a:solidFill>
                  <a:srgbClr val="FF0000"/>
                </a:solidFill>
              </a:rPr>
              <a:t>블록 B  위치에 </a:t>
            </a:r>
            <a:r>
              <a:rPr lang="en-US" sz="2000"/>
              <a:t>두 블록이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/>
              <a:t>하나의 블록으로</a:t>
            </a:r>
            <a:r>
              <a:rPr lang="en-US" sz="2000">
                <a:solidFill>
                  <a:srgbClr val="00B050"/>
                </a:solidFill>
              </a:rPr>
              <a:t> 뭉쳐진다. </a:t>
            </a:r>
            <a:r>
              <a:rPr lang="en-US" sz="2000"/>
              <a:t>이 때, 뭉쳐진 블록에 표시 된 숫자는  블록 A, B에 표시 된 </a:t>
            </a:r>
            <a:r>
              <a:rPr lang="en-US" sz="2000">
                <a:solidFill>
                  <a:srgbClr val="00B050"/>
                </a:solidFill>
              </a:rPr>
              <a:t>숫자의 합</a:t>
            </a:r>
            <a:r>
              <a:rPr lang="en-US" sz="2000"/>
              <a:t>이다. 하나로 뭉쳐진 블록도 사용자가 누른 방향으로 한 칸씩 이동 할 수 있을 때까지 이동시킨다. </a:t>
            </a:r>
            <a:r>
              <a:rPr lang="en-US" sz="2000">
                <a:solidFill>
                  <a:srgbClr val="FF0000"/>
                </a:solidFill>
              </a:rPr>
              <a:t>단, 한 번 뭉친 블록은 과정 2를 진행하기 전까지 다른 블록과 다시 뭉쳐질 수 없다.</a:t>
            </a:r>
            <a:endParaRPr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과정 2.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 모든 블록들이 사용자가 입력한 방향으로 더 이상 이동시키는게 불가능하다면,</a:t>
            </a:r>
            <a:r>
              <a:rPr lang="en-US" sz="2000">
                <a:solidFill>
                  <a:srgbClr val="00B050"/>
                </a:solidFill>
              </a:rPr>
              <a:t>  4 x 4 판 중 블록이 없는 칸에 새로운 2(또는 4)의 블록을 생성한다.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285750" lvl="0" indent="-19685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2000"/>
          </a:p>
        </p:txBody>
      </p:sp>
      <p:sp>
        <p:nvSpPr>
          <p:cNvPr id="61" name="Google Shape;61;p3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– 2048</a:t>
            </a:r>
            <a:endParaRPr/>
          </a:p>
        </p:txBody>
      </p:sp>
      <p:sp>
        <p:nvSpPr>
          <p:cNvPr id="62" name="Google Shape;62;p3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>
            <a:spLocks noGrp="1"/>
          </p:cNvSpPr>
          <p:nvPr>
            <p:ph type="body" idx="1"/>
          </p:nvPr>
        </p:nvSpPr>
        <p:spPr>
          <a:xfrm>
            <a:off x="3966469" y="1572175"/>
            <a:ext cx="4998019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과정 2 (추가)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모든 블록들이 사용자가 입력한 방향으로 더 이상 이동시키는게 불가능하면서 </a:t>
            </a:r>
            <a:r>
              <a:rPr lang="en-US" sz="2000">
                <a:solidFill>
                  <a:srgbClr val="0070C0"/>
                </a:solidFill>
              </a:rPr>
              <a:t>과정 1을 진행하면서 위치가 변하거나 새로 뭉쳐진 블록이 없으면</a:t>
            </a:r>
            <a:r>
              <a:rPr lang="en-US" sz="2000"/>
              <a:t>, </a:t>
            </a:r>
            <a:r>
              <a:rPr lang="en-US" sz="2000">
                <a:solidFill>
                  <a:srgbClr val="FF0000"/>
                </a:solidFill>
              </a:rPr>
              <a:t>새로운 블록을 생성하지 않는다. </a:t>
            </a:r>
            <a:endParaRPr sz="200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Example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 왼쪽 그림에서, 사용자가 위(상)의 입력 키를 누르더라도, 1행에 있는 두  블록은  과정 1을 진행하더라도 위치가 변하거나 새로 뭉쳐진 블록이 존재하지 않기 때문에 과정 2에서 새로운 블록을 생성하지 않는다.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2000"/>
          </a:p>
          <a:p>
            <a:pPr marL="285750" lvl="0" indent="-19685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2000"/>
          </a:p>
        </p:txBody>
      </p:sp>
      <p:sp>
        <p:nvSpPr>
          <p:cNvPr id="68" name="Google Shape;68;p4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– 2048</a:t>
            </a:r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70" name="Google Shape;7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568" y="1700808"/>
            <a:ext cx="3001832" cy="3809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>
            <a:spLocks noGrp="1"/>
          </p:cNvSpPr>
          <p:nvPr>
            <p:ph type="body" idx="1"/>
          </p:nvPr>
        </p:nvSpPr>
        <p:spPr>
          <a:xfrm>
            <a:off x="539750" y="1268413"/>
            <a:ext cx="4320281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이를 반복해서 2로부터 2048을 만들면 게임 끝. 만약 2048을 만들기 전 </a:t>
            </a:r>
            <a:r>
              <a:rPr lang="en-US" sz="2000">
                <a:solidFill>
                  <a:srgbClr val="FF0000"/>
                </a:solidFill>
              </a:rPr>
              <a:t>이동할 수 없는 경우 즉 16칸이 꽉  채워져 있으면서 인접한 두 칸이 같지 않을 때</a:t>
            </a:r>
            <a:r>
              <a:rPr lang="en-US" sz="2000"/>
              <a:t>, 게임 오버가 되며, 2048을 만듦과 동시에 이동 불가이면 역시 게임 오버가 된다. </a:t>
            </a:r>
            <a:endParaRPr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하지만 최근의 변형 된 2048 Game의 경우 2048을 만드는 것이 목표가 아닌 4096, 9192…와 같이 더 큰 수를 만드는게 목표인 것도 있다.</a:t>
            </a:r>
            <a:endParaRPr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이번 프로젝트에서는 위에서 설명한 변형된 2048를 구현해 보자.</a:t>
            </a:r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– 2048</a:t>
            </a:r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78" name="Google Shape;78;p5" descr="jjj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1118" y="1556792"/>
            <a:ext cx="3384376" cy="4275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>
            <a:spLocks noGrp="1"/>
          </p:cNvSpPr>
          <p:nvPr>
            <p:ph type="body" idx="1"/>
          </p:nvPr>
        </p:nvSpPr>
        <p:spPr>
          <a:xfrm>
            <a:off x="4211960" y="1802873"/>
            <a:ext cx="3744218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처음 2048 Game을 시작하면 오른쪽 그림과 같이 4 x 4 판에 </a:t>
            </a:r>
            <a:r>
              <a:rPr lang="en-US" sz="2000">
                <a:solidFill>
                  <a:srgbClr val="00B050"/>
                </a:solidFill>
              </a:rPr>
              <a:t>임의의 두 위치에</a:t>
            </a:r>
            <a:r>
              <a:rPr lang="en-US" sz="2000"/>
              <a:t> </a:t>
            </a:r>
            <a:r>
              <a:rPr lang="en-US" sz="2000">
                <a:solidFill>
                  <a:srgbClr val="00B050"/>
                </a:solidFill>
              </a:rPr>
              <a:t>2(또는 4)</a:t>
            </a:r>
            <a:r>
              <a:rPr lang="en-US" sz="2000"/>
              <a:t>가 있는 상태로 시작 되어야 한다. </a:t>
            </a:r>
            <a:endParaRPr sz="200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두 숫자의 위치는 임의의 서로 다른 위치에 있어야 하며,  2가 생성 될 확률은 </a:t>
            </a:r>
            <a:r>
              <a:rPr lang="en-US" sz="2000">
                <a:solidFill>
                  <a:srgbClr val="0070C0"/>
                </a:solidFill>
              </a:rPr>
              <a:t>2 / 3</a:t>
            </a:r>
            <a:r>
              <a:rPr lang="en-US" sz="2000"/>
              <a:t>이고 4가 생성 될 확률은 </a:t>
            </a:r>
            <a:r>
              <a:rPr lang="en-US" sz="2000">
                <a:solidFill>
                  <a:srgbClr val="0070C0"/>
                </a:solidFill>
              </a:rPr>
              <a:t>1 / 3</a:t>
            </a:r>
            <a:r>
              <a:rPr lang="en-US" sz="2000"/>
              <a:t>로 하자.</a:t>
            </a:r>
            <a:endParaRPr/>
          </a:p>
          <a:p>
            <a:pPr marL="285750" lvl="0" indent="-1968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None/>
            </a:pPr>
            <a:endParaRPr sz="200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Score는 판에 있는 가장 큰 숫자로 정의한다.</a:t>
            </a:r>
            <a:endParaRPr/>
          </a:p>
          <a:p>
            <a:pPr marL="285750" lvl="0" indent="-1968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None/>
            </a:pPr>
            <a:endParaRPr sz="2000"/>
          </a:p>
        </p:txBody>
      </p:sp>
      <p:sp>
        <p:nvSpPr>
          <p:cNvPr id="84" name="Google Shape;84;p6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– 2048</a:t>
            </a:r>
            <a:endParaRPr/>
          </a:p>
        </p:txBody>
      </p:sp>
      <p:sp>
        <p:nvSpPr>
          <p:cNvPr id="85" name="Google Shape;85;p6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86" name="Google Shape;8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550" y="1772816"/>
            <a:ext cx="2736304" cy="3745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>
            <a:spLocks noGrp="1"/>
          </p:cNvSpPr>
          <p:nvPr>
            <p:ph type="body" idx="1"/>
          </p:nvPr>
        </p:nvSpPr>
        <p:spPr>
          <a:xfrm>
            <a:off x="3707904" y="1268413"/>
            <a:ext cx="4850309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상하좌우 입력 키들은 다음과 같다.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• w / W : 위쪽으로 이동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• d / D : 오른쪽으로 이동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• s / S : 아래쪽으로 이동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• a / A : 왼쪽으로 이동</a:t>
            </a:r>
            <a:endParaRPr sz="2000"/>
          </a:p>
          <a:p>
            <a:pPr marL="0" lvl="0" indent="0" algn="l" rtl="0">
              <a:spcBef>
                <a:spcPts val="240"/>
              </a:spcBef>
              <a:spcAft>
                <a:spcPts val="0"/>
              </a:spcAft>
              <a:buSzPts val="560"/>
              <a:buNone/>
            </a:pPr>
            <a:endParaRPr sz="80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>
                <a:solidFill>
                  <a:srgbClr val="FF0000"/>
                </a:solidFill>
              </a:rPr>
              <a:t>모든 블록이 이동할 수 없는 경우 즉 16칸이 꽉  채워져 있으면서 인접한 두 칸이 같지 않을 때 </a:t>
            </a:r>
            <a:r>
              <a:rPr lang="en-US" sz="2000"/>
              <a:t>콘솔창의 내용을 모두 지우고 “game over!”를 출력하고 종료한다.</a:t>
            </a:r>
            <a:endParaRPr/>
          </a:p>
          <a:p>
            <a:pPr marL="285750" lvl="0" indent="-1968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None/>
            </a:pP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 </a:t>
            </a:r>
            <a:endParaRPr sz="2000"/>
          </a:p>
        </p:txBody>
      </p:sp>
      <p:sp>
        <p:nvSpPr>
          <p:cNvPr id="92" name="Google Shape;92;p7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– 2048</a:t>
            </a:r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568" y="1772816"/>
            <a:ext cx="2520280" cy="380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9665" y="5156948"/>
            <a:ext cx="2088232" cy="417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366069" y="4797152"/>
            <a:ext cx="8496944" cy="154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196850" algn="l" rtl="0">
              <a:spcBef>
                <a:spcPts val="0"/>
              </a:spcBef>
              <a:spcAft>
                <a:spcPts val="0"/>
              </a:spcAft>
              <a:buSzPts val="1400"/>
              <a:buFont typeface="Dotum"/>
              <a:buNone/>
            </a:pPr>
            <a:endParaRPr sz="200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위 그림은 왼쪽 키를 </a:t>
            </a:r>
            <a:r>
              <a:rPr lang="en-US" sz="2000">
                <a:solidFill>
                  <a:srgbClr val="FF0000"/>
                </a:solidFill>
              </a:rPr>
              <a:t>한 번</a:t>
            </a:r>
            <a:r>
              <a:rPr lang="en-US" sz="2000"/>
              <a:t> 눌렀을 때 네 번째 행의 4-0-0-4가 8-0-0-0으로 합쳐진 예제이다.</a:t>
            </a:r>
            <a:endParaRPr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그 후, 새로운 블록 4가 3행 4열에 생성 되었다.</a:t>
            </a:r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 – 2048</a:t>
            </a:r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3" name="Google Shape;10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9632" y="1340768"/>
            <a:ext cx="6334125" cy="3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640" y="1116156"/>
            <a:ext cx="6408712" cy="341948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366069" y="4420886"/>
            <a:ext cx="8496944" cy="154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과정 1을 진행 할 때, </a:t>
            </a:r>
            <a:r>
              <a:rPr lang="en-US" sz="2000">
                <a:solidFill>
                  <a:srgbClr val="FF0000"/>
                </a:solidFill>
              </a:rPr>
              <a:t>만약 뭉칠 수 있는 방법이 여러 가지일 경우 </a:t>
            </a:r>
            <a:r>
              <a:rPr lang="en-US" sz="2000">
                <a:solidFill>
                  <a:srgbClr val="00B050"/>
                </a:solidFill>
              </a:rPr>
              <a:t>사용자가 입력한 방향이 가리키는 끝 위치</a:t>
            </a:r>
            <a:r>
              <a:rPr lang="en-US" sz="2000"/>
              <a:t>에서 </a:t>
            </a:r>
            <a:r>
              <a:rPr lang="en-US" sz="2000">
                <a:solidFill>
                  <a:srgbClr val="0070C0"/>
                </a:solidFill>
              </a:rPr>
              <a:t>사용자가 입력한 방향이</a:t>
            </a:r>
            <a:r>
              <a:rPr lang="en-US" sz="2000">
                <a:solidFill>
                  <a:srgbClr val="00B050"/>
                </a:solidFill>
              </a:rPr>
              <a:t> </a:t>
            </a:r>
            <a:r>
              <a:rPr lang="en-US" sz="2000">
                <a:solidFill>
                  <a:srgbClr val="0070C0"/>
                </a:solidFill>
              </a:rPr>
              <a:t>가리키는 반대 위치</a:t>
            </a:r>
            <a:r>
              <a:rPr lang="en-US" sz="2000"/>
              <a:t>로 스캔을 하면서 뭉쳐진다. </a:t>
            </a:r>
            <a:endParaRPr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위 그림은 오른쪽 키를 한 번 눌렀을 때 첫 번째 행의 블록들이 2-2-0-2가 0-0-2-4로 변하고, 4행 3열에 블록 4가 생성 된 예제이다.</a:t>
            </a:r>
            <a:endParaRPr sz="2000"/>
          </a:p>
        </p:txBody>
      </p:sp>
      <p:sp>
        <p:nvSpPr>
          <p:cNvPr id="110" name="Google Shape;110;p9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 – 2048</a:t>
            </a:r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9632" y="1196752"/>
            <a:ext cx="6414224" cy="348067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 txBox="1">
            <a:spLocks noGrp="1"/>
          </p:cNvSpPr>
          <p:nvPr>
            <p:ph type="body" idx="1"/>
          </p:nvPr>
        </p:nvSpPr>
        <p:spPr>
          <a:xfrm>
            <a:off x="539552" y="4509120"/>
            <a:ext cx="8496944" cy="154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하지만,  과정 1을 진행 할 때 </a:t>
            </a:r>
            <a:r>
              <a:rPr lang="en-US" sz="2000">
                <a:solidFill>
                  <a:srgbClr val="FF0000"/>
                </a:solidFill>
              </a:rPr>
              <a:t>한 번 뭉친 블록은 과정 2를 진행하기 전까지 다시 뭉쳐질 수 없기 때문에 </a:t>
            </a:r>
            <a:r>
              <a:rPr lang="en-US" sz="2000">
                <a:solidFill>
                  <a:srgbClr val="00B050"/>
                </a:solidFill>
              </a:rPr>
              <a:t>뭉쳐진 블록과</a:t>
            </a:r>
            <a:r>
              <a:rPr lang="en-US" sz="2000"/>
              <a:t> </a:t>
            </a:r>
            <a:r>
              <a:rPr lang="en-US" sz="2000">
                <a:solidFill>
                  <a:srgbClr val="0070C0"/>
                </a:solidFill>
              </a:rPr>
              <a:t>다른 블록의 숫자</a:t>
            </a:r>
            <a:r>
              <a:rPr lang="en-US" sz="2000"/>
              <a:t>가 동일하더라도 두 블록을 뭉칠 수 없다. </a:t>
            </a:r>
            <a:endParaRPr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위 그림은 오른쪽 키를 한 번 눌렀을 때 첫 번째 행의 블록들이 2-2-2-2가 0-0-4-4로 변하고, 4행 2열에 블록 4가 생성 된 예제이다.</a:t>
            </a:r>
            <a:endParaRPr/>
          </a:p>
        </p:txBody>
      </p:sp>
      <p:sp>
        <p:nvSpPr>
          <p:cNvPr id="118" name="Google Shape;118;p10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 – 2048</a:t>
            </a:r>
            <a:endParaRPr/>
          </a:p>
        </p:txBody>
      </p:sp>
      <p:sp>
        <p:nvSpPr>
          <p:cNvPr id="119" name="Google Shape;119;p10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>
            <a:spLocks noGrp="1"/>
          </p:cNvSpPr>
          <p:nvPr>
            <p:ph type="body" idx="1"/>
          </p:nvPr>
        </p:nvSpPr>
        <p:spPr>
          <a:xfrm>
            <a:off x="539751" y="1268413"/>
            <a:ext cx="3744218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>
                <a:solidFill>
                  <a:srgbClr val="00B050"/>
                </a:solidFill>
              </a:rPr>
              <a:t> 다시 말해서, 과정 1을 한 번 진행 할 때 3개~4개의 블록이 한꺼번에 뭉쳐지지는 않는다. </a:t>
            </a:r>
            <a:endParaRPr sz="200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 예를 들어, 4-4-4-4 이렇게 되어 있거나 4-4-8 이렇게 되어 있을 때 뭉치면 8-8로 되고 바로 16으로 되지는 않는다. 물론 8-8로 된 상태에서 한 번 더 뭉치면 16으로 된다.</a:t>
            </a:r>
            <a:endParaRPr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Char char="■"/>
            </a:pPr>
            <a:r>
              <a:rPr lang="en-US" sz="2000"/>
              <a:t> 즉, 4-4-4-4나 4-4-8 이렇게 된 것을 16으로 뭉치려면 사용자가 두 번 입력 키를 눌러야 한다.</a:t>
            </a:r>
            <a:endParaRPr sz="2000"/>
          </a:p>
          <a:p>
            <a:pPr marL="285750" lvl="0" indent="-196850" algn="l" rtl="0">
              <a:spcBef>
                <a:spcPts val="600"/>
              </a:spcBef>
              <a:spcAft>
                <a:spcPts val="0"/>
              </a:spcAft>
              <a:buSzPts val="1400"/>
              <a:buFont typeface="Dotum"/>
              <a:buNone/>
            </a:pPr>
            <a:endParaRPr sz="2000"/>
          </a:p>
        </p:txBody>
      </p:sp>
      <p:sp>
        <p:nvSpPr>
          <p:cNvPr id="125" name="Google Shape;125;p11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– 2048</a:t>
            </a:r>
            <a:endParaRPr/>
          </a:p>
        </p:txBody>
      </p:sp>
      <p:sp>
        <p:nvSpPr>
          <p:cNvPr id="126" name="Google Shape;126;p11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4715" y="1700530"/>
            <a:ext cx="196215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721" y="1586508"/>
            <a:ext cx="1571625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2974" y="3587369"/>
            <a:ext cx="193357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9900" y="3645024"/>
            <a:ext cx="2057400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 txBox="1"/>
          <p:nvPr/>
        </p:nvSpPr>
        <p:spPr>
          <a:xfrm>
            <a:off x="4793519" y="3101527"/>
            <a:ext cx="119776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초기상태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1"/>
          <p:cNvSpPr txBox="1"/>
          <p:nvPr/>
        </p:nvSpPr>
        <p:spPr>
          <a:xfrm>
            <a:off x="6602035" y="3101527"/>
            <a:ext cx="185499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오른쪽으로 이동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1"/>
          <p:cNvSpPr txBox="1"/>
          <p:nvPr/>
        </p:nvSpPr>
        <p:spPr>
          <a:xfrm>
            <a:off x="4799603" y="5021354"/>
            <a:ext cx="124906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위로 이동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1"/>
          <p:cNvSpPr txBox="1"/>
          <p:nvPr/>
        </p:nvSpPr>
        <p:spPr>
          <a:xfrm>
            <a:off x="6557938" y="5027434"/>
            <a:ext cx="18990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오른쪽으로 이동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>
            <a:spLocks noGrp="1"/>
          </p:cNvSpPr>
          <p:nvPr>
            <p:ph type="body" idx="1"/>
          </p:nvPr>
        </p:nvSpPr>
        <p:spPr>
          <a:xfrm>
            <a:off x="539750" y="1268413"/>
            <a:ext cx="801846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80"/>
              <a:buFont typeface="Dotum"/>
              <a:buChar char="■"/>
            </a:pPr>
            <a:r>
              <a:rPr lang="en-US"/>
              <a:t>본 프로젝트는 아래와 같은 조건 하에서 작성한다.</a:t>
            </a:r>
            <a:endParaRPr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/>
              <a:t>조건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cspro 서버 상에서 수행하도록 한다.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주어진 “user_2048.c”를 기반으로 프로그램을 작성한다. </a:t>
            </a:r>
            <a:endParaRPr/>
          </a:p>
          <a:p>
            <a:pPr marL="581025" lvl="2" indent="0" algn="l" rtl="0"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rPr lang="en-US"/>
              <a:t>	    (</a:t>
            </a:r>
            <a:r>
              <a:rPr lang="en-US">
                <a:solidFill>
                  <a:srgbClr val="FF0000"/>
                </a:solidFill>
              </a:rPr>
              <a:t>기존 코드 변경 불가</a:t>
            </a:r>
            <a:r>
              <a:rPr lang="en-US"/>
              <a:t>)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사용 가능한 문법은 rand() 함수와 Computer Programming 수업, 실습시간에서 배운 것으로만 한정한다. 큐, 스택, 트리, 그래프 등의 자료구조를 구현하거나 기존 자료구조를 호출해서 사용할 수 없다.</a:t>
            </a:r>
            <a:endParaRPr/>
          </a:p>
          <a:p>
            <a:pPr marL="581025" lvl="2" indent="0" algn="l" rtl="0"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rPr lang="en-US"/>
              <a:t>   (사용할 경우 </a:t>
            </a:r>
            <a:r>
              <a:rPr lang="en-US">
                <a:solidFill>
                  <a:srgbClr val="FF0000"/>
                </a:solidFill>
              </a:rPr>
              <a:t>0점</a:t>
            </a:r>
            <a:r>
              <a:rPr lang="en-US"/>
              <a:t> 처리)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부록에 정의한 함수는 기능에 맞게 </a:t>
            </a:r>
            <a:r>
              <a:rPr lang="en-US">
                <a:solidFill>
                  <a:srgbClr val="FF0000"/>
                </a:solidFill>
              </a:rPr>
              <a:t>반드시</a:t>
            </a:r>
            <a:r>
              <a:rPr lang="en-US"/>
              <a:t> 구현해야 한다.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컴파일 : </a:t>
            </a:r>
            <a:r>
              <a:rPr lang="en-US">
                <a:solidFill>
                  <a:srgbClr val="0070C0"/>
                </a:solidFill>
              </a:rPr>
              <a:t>gcc user_2048.c </a:t>
            </a:r>
            <a:r>
              <a:rPr lang="en-US"/>
              <a:t>(cspro 서버)로 컴파일 되어야 한다.</a:t>
            </a:r>
            <a:endParaRPr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/>
              <a:t>제출(</a:t>
            </a:r>
            <a:r>
              <a:rPr lang="en-US" b="1">
                <a:solidFill>
                  <a:srgbClr val="FF0000"/>
                </a:solidFill>
              </a:rPr>
              <a:t>6월 8일 자정 </a:t>
            </a:r>
            <a:r>
              <a:rPr lang="en-US"/>
              <a:t>마감)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메일 제목 	:  StudentNumber  Project 2048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제출 파일  :  StudentNumber_2048.c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보고서 파일명	: StudentNumber_report.pdf</a:t>
            </a:r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– 2048</a:t>
            </a:r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>
            <a:spLocks noGrp="1"/>
          </p:cNvSpPr>
          <p:nvPr>
            <p:ph type="body" idx="1"/>
          </p:nvPr>
        </p:nvSpPr>
        <p:spPr>
          <a:xfrm>
            <a:off x="539750" y="1268413"/>
            <a:ext cx="801846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80"/>
              <a:buFont typeface="Dotum"/>
              <a:buChar char="■"/>
            </a:pPr>
            <a:r>
              <a:rPr lang="en-US"/>
              <a:t>보고서 요구사항</a:t>
            </a:r>
            <a:endParaRPr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/>
              <a:t>프로그램 실행 흐름도 (Flowchart) 및 설명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자신의 프로그램이 동작하는 실행 흐름도를 작성하고 설명하여야 한다. 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실행 흐름도를 설명할 때 그림 등을 첨부하여 잘 이해가 될 수 있도록 한다. 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2(또는 4)의 확률을 설정한 방법을 기술한다.</a:t>
            </a:r>
            <a:endParaRPr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/>
              <a:t>프로그램의 완성도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프로그램의 완성도는 2(또는 4)가  정확하게 설정이 되었고, 올바른 이동 여부 및 게임 오버를 정확하게 판별했는지 판단한다. </a:t>
            </a:r>
            <a:endParaRPr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/>
              <a:t>시험 및 평가 방식 설명</a:t>
            </a:r>
            <a:endParaRPr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/>
              <a:t>작성한 프로그램이 주어지는 판과 사용자 조작에 대한 해답을 정확히 도출하는가가 이번 프로젝트의 가장 큰 평가 기준이 된다. 문제의 제약 사항을 준수하면서 입력으로 주어지는 판과 사용자 조작에 의해 정확하게 이동했는지 등을 평가한다.</a:t>
            </a:r>
            <a:endParaRPr/>
          </a:p>
          <a:p>
            <a:pPr marL="809625" lvl="2" indent="-171450" algn="l" rtl="0">
              <a:spcBef>
                <a:spcPts val="360"/>
              </a:spcBef>
              <a:spcAft>
                <a:spcPts val="0"/>
              </a:spcAft>
              <a:buSzPts val="900"/>
              <a:buNone/>
            </a:pPr>
            <a:endParaRPr/>
          </a:p>
          <a:p>
            <a:pPr marL="809625" lvl="2" indent="-171450" algn="l" rtl="0">
              <a:spcBef>
                <a:spcPts val="36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프로젝트 – 2048</a:t>
            </a:r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>
            <a:spLocks noGrp="1"/>
          </p:cNvSpPr>
          <p:nvPr>
            <p:ph type="body" idx="1"/>
          </p:nvPr>
        </p:nvSpPr>
        <p:spPr>
          <a:xfrm>
            <a:off x="523449" y="1183944"/>
            <a:ext cx="801846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80"/>
              <a:buFont typeface="Dotum"/>
              <a:buChar char="■"/>
            </a:pPr>
            <a:r>
              <a:rPr lang="en-US" dirty="0" err="1"/>
              <a:t>user_2048.c</a:t>
            </a:r>
            <a:endParaRPr dirty="0"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 dirty="0">
                <a:solidFill>
                  <a:schemeClr val="accent1"/>
                </a:solidFill>
              </a:rPr>
              <a:t>void</a:t>
            </a:r>
            <a:r>
              <a:rPr lang="en-US" dirty="0"/>
              <a:t> </a:t>
            </a:r>
            <a:r>
              <a:rPr lang="en-US" dirty="0" err="1"/>
              <a:t>draw_borad</a:t>
            </a:r>
            <a:r>
              <a:rPr lang="en-US" dirty="0"/>
              <a:t>(</a:t>
            </a: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 tot(16</a:t>
            </a:r>
            <a:r>
              <a:rPr lang="ko-KR" altLang="en-US" dirty="0"/>
              <a:t>칸 값의 합</a:t>
            </a:r>
            <a:r>
              <a:rPr lang="en-US" altLang="ko-KR" dirty="0"/>
              <a:t>)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 command(</a:t>
            </a:r>
            <a:r>
              <a:rPr lang="en-US" dirty="0" err="1"/>
              <a:t>wasd</a:t>
            </a:r>
            <a:r>
              <a:rPr lang="en-US" dirty="0"/>
              <a:t>))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 err="1"/>
              <a:t>함수가</a:t>
            </a:r>
            <a:r>
              <a:rPr lang="en-US" dirty="0"/>
              <a:t> </a:t>
            </a:r>
            <a:r>
              <a:rPr lang="en-US" dirty="0" err="1"/>
              <a:t>호출될</a:t>
            </a:r>
            <a:r>
              <a:rPr lang="en-US" dirty="0"/>
              <a:t> </a:t>
            </a:r>
            <a:r>
              <a:rPr lang="en-US" dirty="0" err="1"/>
              <a:t>때마다</a:t>
            </a:r>
            <a:r>
              <a:rPr lang="en-US" dirty="0"/>
              <a:t> 4 x </a:t>
            </a:r>
            <a:r>
              <a:rPr lang="en-US" dirty="0" err="1"/>
              <a:t>4화면을</a:t>
            </a:r>
            <a:r>
              <a:rPr lang="en-US" dirty="0"/>
              <a:t> </a:t>
            </a:r>
            <a:r>
              <a:rPr lang="en-US" dirty="0" err="1"/>
              <a:t>새롭게</a:t>
            </a:r>
            <a:r>
              <a:rPr lang="en-US" dirty="0"/>
              <a:t> </a:t>
            </a:r>
            <a:r>
              <a:rPr lang="en-US" dirty="0" err="1"/>
              <a:t>그려주고</a:t>
            </a:r>
            <a:r>
              <a:rPr lang="en-US" dirty="0"/>
              <a:t>, </a:t>
            </a:r>
            <a:r>
              <a:rPr lang="en-US" dirty="0" err="1"/>
              <a:t>전체</a:t>
            </a:r>
            <a:r>
              <a:rPr lang="en-US" dirty="0"/>
              <a:t> </a:t>
            </a:r>
            <a:r>
              <a:rPr lang="en-US" dirty="0" err="1"/>
              <a:t>생성된</a:t>
            </a:r>
            <a:r>
              <a:rPr lang="en-US" dirty="0"/>
              <a:t> </a:t>
            </a:r>
            <a:r>
              <a:rPr lang="en-US" dirty="0" err="1"/>
              <a:t>tot의</a:t>
            </a:r>
            <a:r>
              <a:rPr lang="en-US" dirty="0"/>
              <a:t> </a:t>
            </a:r>
            <a:r>
              <a:rPr lang="en-US" dirty="0" err="1"/>
              <a:t>개수가</a:t>
            </a:r>
            <a:r>
              <a:rPr lang="en-US" dirty="0"/>
              <a:t> 4 x </a:t>
            </a:r>
            <a:r>
              <a:rPr lang="en-US" dirty="0" err="1"/>
              <a:t>4에</a:t>
            </a:r>
            <a:r>
              <a:rPr lang="en-US" dirty="0"/>
              <a:t> </a:t>
            </a:r>
            <a:r>
              <a:rPr lang="en-US" dirty="0" err="1"/>
              <a:t>나타난</a:t>
            </a:r>
            <a:r>
              <a:rPr lang="en-US" dirty="0"/>
              <a:t> </a:t>
            </a:r>
            <a:r>
              <a:rPr lang="en-US" dirty="0" err="1"/>
              <a:t>숫자의</a:t>
            </a:r>
            <a:r>
              <a:rPr lang="en-US" dirty="0"/>
              <a:t> </a:t>
            </a:r>
            <a:r>
              <a:rPr lang="en-US" dirty="0" err="1"/>
              <a:t>합과</a:t>
            </a:r>
            <a:r>
              <a:rPr lang="en-US" dirty="0"/>
              <a:t> </a:t>
            </a:r>
            <a:r>
              <a:rPr lang="en-US" dirty="0" err="1"/>
              <a:t>일치하는지</a:t>
            </a:r>
            <a:r>
              <a:rPr lang="en-US" dirty="0"/>
              <a:t> </a:t>
            </a:r>
            <a:r>
              <a:rPr lang="en-US" dirty="0" err="1"/>
              <a:t>확인한다</a:t>
            </a:r>
            <a:r>
              <a:rPr lang="en-US" dirty="0"/>
              <a:t>.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/>
              <a:t>4 x 4 </a:t>
            </a:r>
            <a:r>
              <a:rPr lang="en-US" dirty="0" err="1"/>
              <a:t>판이</a:t>
            </a:r>
            <a:r>
              <a:rPr lang="en-US" dirty="0"/>
              <a:t> </a:t>
            </a:r>
            <a:r>
              <a:rPr lang="en-US" dirty="0" err="1"/>
              <a:t>변화</a:t>
            </a:r>
            <a:r>
              <a:rPr lang="en-US" dirty="0"/>
              <a:t> 될 </a:t>
            </a:r>
            <a:r>
              <a:rPr lang="en-US" dirty="0" err="1"/>
              <a:t>때마다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output.txt</a:t>
            </a:r>
            <a:r>
              <a:rPr lang="en-US" dirty="0" err="1"/>
              <a:t>에</a:t>
            </a:r>
            <a:r>
              <a:rPr lang="en-US" dirty="0"/>
              <a:t> </a:t>
            </a:r>
            <a:r>
              <a:rPr lang="en-US" dirty="0" err="1"/>
              <a:t>점수</a:t>
            </a:r>
            <a:r>
              <a:rPr lang="en-US" dirty="0"/>
              <a:t>, 키, 판 </a:t>
            </a:r>
            <a:r>
              <a:rPr lang="en-US" dirty="0" err="1"/>
              <a:t>정보를</a:t>
            </a:r>
            <a:r>
              <a:rPr lang="en-US" dirty="0"/>
              <a:t> </a:t>
            </a:r>
            <a:r>
              <a:rPr lang="en-US" dirty="0" err="1"/>
              <a:t>출력</a:t>
            </a:r>
            <a:r>
              <a:rPr lang="en-US" dirty="0"/>
              <a:t> </a:t>
            </a:r>
            <a:r>
              <a:rPr lang="en-US" dirty="0" err="1"/>
              <a:t>한다</a:t>
            </a:r>
            <a:r>
              <a:rPr lang="en-US" dirty="0"/>
              <a:t>. </a:t>
            </a:r>
            <a:endParaRPr dirty="0"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make_two_or_four</a:t>
            </a:r>
            <a:r>
              <a:rPr lang="en-US" dirty="0"/>
              <a:t>()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 err="1"/>
              <a:t>임의의</a:t>
            </a:r>
            <a:r>
              <a:rPr lang="en-US" dirty="0"/>
              <a:t> 빈 </a:t>
            </a:r>
            <a:r>
              <a:rPr lang="en-US" dirty="0" err="1"/>
              <a:t>공간에</a:t>
            </a:r>
            <a:r>
              <a:rPr lang="en-US" dirty="0"/>
              <a:t> 2(</a:t>
            </a:r>
            <a:r>
              <a:rPr lang="en-US" dirty="0" err="1"/>
              <a:t>또는</a:t>
            </a:r>
            <a:r>
              <a:rPr lang="en-US" dirty="0"/>
              <a:t> 4)를 </a:t>
            </a:r>
            <a:r>
              <a:rPr lang="en-US" dirty="0" err="1"/>
              <a:t>생성</a:t>
            </a:r>
            <a:r>
              <a:rPr lang="en-US" dirty="0"/>
              <a:t> </a:t>
            </a:r>
            <a:r>
              <a:rPr lang="en-US" dirty="0" err="1"/>
              <a:t>시키고</a:t>
            </a:r>
            <a:r>
              <a:rPr lang="en-US" dirty="0"/>
              <a:t>, </a:t>
            </a:r>
            <a:r>
              <a:rPr lang="en-US" dirty="0" err="1"/>
              <a:t>임의의</a:t>
            </a:r>
            <a:r>
              <a:rPr lang="en-US" dirty="0"/>
              <a:t> 빈 </a:t>
            </a:r>
            <a:r>
              <a:rPr lang="en-US" dirty="0" err="1"/>
              <a:t>공간이</a:t>
            </a:r>
            <a:r>
              <a:rPr lang="en-US" dirty="0"/>
              <a:t> </a:t>
            </a:r>
            <a:r>
              <a:rPr lang="en-US" dirty="0" err="1"/>
              <a:t>없을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0을</a:t>
            </a:r>
            <a:r>
              <a:rPr lang="en-US" dirty="0"/>
              <a:t>, </a:t>
            </a:r>
            <a:r>
              <a:rPr lang="en-US" dirty="0" err="1"/>
              <a:t>아니라면</a:t>
            </a:r>
            <a:r>
              <a:rPr lang="en-US" dirty="0"/>
              <a:t> </a:t>
            </a:r>
            <a:r>
              <a:rPr lang="en-US" dirty="0" err="1"/>
              <a:t>생성한</a:t>
            </a:r>
            <a:r>
              <a:rPr lang="en-US" dirty="0"/>
              <a:t> 2(</a:t>
            </a:r>
            <a:r>
              <a:rPr lang="en-US" dirty="0" err="1"/>
              <a:t>또는</a:t>
            </a:r>
            <a:r>
              <a:rPr lang="en-US" dirty="0"/>
              <a:t> 4)의 </a:t>
            </a:r>
            <a:r>
              <a:rPr lang="en-US" dirty="0" err="1"/>
              <a:t>값을</a:t>
            </a:r>
            <a:r>
              <a:rPr lang="en-US" dirty="0"/>
              <a:t> return </a:t>
            </a:r>
            <a:r>
              <a:rPr lang="en-US" dirty="0" err="1"/>
              <a:t>한다</a:t>
            </a:r>
            <a:r>
              <a:rPr lang="en-US" dirty="0"/>
              <a:t>. </a:t>
            </a:r>
            <a:endParaRPr dirty="0"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is_game_over</a:t>
            </a:r>
            <a:r>
              <a:rPr lang="en-US" dirty="0"/>
              <a:t>()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/>
              <a:t>game </a:t>
            </a:r>
            <a:r>
              <a:rPr lang="en-US" dirty="0" err="1"/>
              <a:t>over이면</a:t>
            </a:r>
            <a:r>
              <a:rPr lang="en-US" dirty="0"/>
              <a:t> </a:t>
            </a:r>
            <a:r>
              <a:rPr lang="en-US" dirty="0" err="1"/>
              <a:t>1을</a:t>
            </a:r>
            <a:r>
              <a:rPr lang="en-US" dirty="0"/>
              <a:t> </a:t>
            </a:r>
            <a:r>
              <a:rPr lang="en-US" dirty="0" err="1"/>
              <a:t>return하고</a:t>
            </a:r>
            <a:r>
              <a:rPr lang="en-US" dirty="0"/>
              <a:t> </a:t>
            </a:r>
            <a:r>
              <a:rPr lang="en-US" dirty="0" err="1"/>
              <a:t>그렇지</a:t>
            </a:r>
            <a:r>
              <a:rPr lang="en-US" dirty="0"/>
              <a:t> </a:t>
            </a:r>
            <a:r>
              <a:rPr lang="en-US" dirty="0" err="1"/>
              <a:t>않으면</a:t>
            </a:r>
            <a:r>
              <a:rPr lang="en-US" dirty="0"/>
              <a:t> </a:t>
            </a:r>
            <a:r>
              <a:rPr lang="en-US" dirty="0" err="1"/>
              <a:t>0을</a:t>
            </a:r>
            <a:r>
              <a:rPr lang="en-US" dirty="0"/>
              <a:t> return </a:t>
            </a:r>
            <a:r>
              <a:rPr lang="en-US" dirty="0" err="1"/>
              <a:t>한다</a:t>
            </a:r>
            <a:r>
              <a:rPr lang="en-US" dirty="0"/>
              <a:t>. 단, 2(</a:t>
            </a:r>
            <a:r>
              <a:rPr lang="en-US" dirty="0" err="1"/>
              <a:t>또는</a:t>
            </a:r>
            <a:r>
              <a:rPr lang="en-US" dirty="0"/>
              <a:t> 4)를 </a:t>
            </a:r>
            <a:r>
              <a:rPr lang="en-US" dirty="0" err="1"/>
              <a:t>생성할</a:t>
            </a:r>
            <a:r>
              <a:rPr lang="en-US" dirty="0"/>
              <a:t> 수 </a:t>
            </a:r>
            <a:r>
              <a:rPr lang="en-US" dirty="0" err="1"/>
              <a:t>있는지</a:t>
            </a:r>
            <a:r>
              <a:rPr lang="en-US" dirty="0"/>
              <a:t> </a:t>
            </a:r>
            <a:r>
              <a:rPr lang="en-US" dirty="0" err="1"/>
              <a:t>없는지는</a:t>
            </a:r>
            <a:r>
              <a:rPr lang="en-US" dirty="0"/>
              <a:t> </a:t>
            </a:r>
            <a:r>
              <a:rPr lang="en-US" dirty="0" err="1"/>
              <a:t>고려하지</a:t>
            </a:r>
            <a:r>
              <a:rPr lang="en-US" dirty="0"/>
              <a:t> </a:t>
            </a:r>
            <a:r>
              <a:rPr lang="en-US" dirty="0" err="1"/>
              <a:t>않는다</a:t>
            </a:r>
            <a:r>
              <a:rPr lang="en-US" dirty="0"/>
              <a:t>.</a:t>
            </a:r>
            <a:endParaRPr dirty="0"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set_board</a:t>
            </a:r>
            <a:r>
              <a:rPr lang="en-US" dirty="0"/>
              <a:t>(</a:t>
            </a: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dir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 b[4][4]) // </a:t>
            </a:r>
            <a:r>
              <a:rPr lang="en-US" dirty="0" err="1"/>
              <a:t>방향</a:t>
            </a:r>
            <a:r>
              <a:rPr lang="en-US" dirty="0"/>
              <a:t>, </a:t>
            </a:r>
            <a:r>
              <a:rPr lang="en-US" dirty="0" err="1"/>
              <a:t>보드판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 err="1"/>
              <a:t>주어진</a:t>
            </a:r>
            <a:r>
              <a:rPr lang="en-US" dirty="0"/>
              <a:t> </a:t>
            </a:r>
            <a:r>
              <a:rPr lang="en-US" dirty="0" err="1"/>
              <a:t>상하좌우</a:t>
            </a:r>
            <a:r>
              <a:rPr lang="en-US" dirty="0"/>
              <a:t> 중 </a:t>
            </a:r>
            <a:r>
              <a:rPr lang="en-US" dirty="0" err="1"/>
              <a:t>하나의</a:t>
            </a:r>
            <a:r>
              <a:rPr lang="en-US" dirty="0"/>
              <a:t> </a:t>
            </a:r>
            <a:r>
              <a:rPr lang="en-US" dirty="0" err="1"/>
              <a:t>입력에</a:t>
            </a:r>
            <a:r>
              <a:rPr lang="en-US" dirty="0"/>
              <a:t> </a:t>
            </a:r>
            <a:r>
              <a:rPr lang="en-US" dirty="0" err="1"/>
              <a:t>맞게</a:t>
            </a:r>
            <a:r>
              <a:rPr lang="en-US" dirty="0"/>
              <a:t> </a:t>
            </a:r>
            <a:r>
              <a:rPr lang="en-US" dirty="0" err="1"/>
              <a:t>board를</a:t>
            </a:r>
            <a:r>
              <a:rPr lang="en-US" dirty="0"/>
              <a:t> </a:t>
            </a:r>
            <a:r>
              <a:rPr lang="en-US" dirty="0" err="1"/>
              <a:t>이동</a:t>
            </a:r>
            <a:r>
              <a:rPr lang="en-US" dirty="0"/>
              <a:t> </a:t>
            </a:r>
            <a:r>
              <a:rPr lang="en-US" dirty="0" err="1"/>
              <a:t>시킨다</a:t>
            </a:r>
            <a:r>
              <a:rPr lang="en-US" dirty="0"/>
              <a:t>.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 err="1"/>
              <a:t>만약</a:t>
            </a:r>
            <a:r>
              <a:rPr lang="en-US" dirty="0"/>
              <a:t> </a:t>
            </a:r>
            <a:r>
              <a:rPr lang="en-US" dirty="0" err="1"/>
              <a:t>올바른</a:t>
            </a:r>
            <a:r>
              <a:rPr lang="en-US" dirty="0"/>
              <a:t> </a:t>
            </a:r>
            <a:r>
              <a:rPr lang="en-US" dirty="0" err="1"/>
              <a:t>이동이면</a:t>
            </a:r>
            <a:r>
              <a:rPr lang="en-US" dirty="0"/>
              <a:t> </a:t>
            </a:r>
            <a:r>
              <a:rPr lang="en-US" dirty="0" err="1"/>
              <a:t>1을</a:t>
            </a:r>
            <a:r>
              <a:rPr lang="en-US" dirty="0"/>
              <a:t> </a:t>
            </a:r>
            <a:r>
              <a:rPr lang="en-US" dirty="0" err="1"/>
              <a:t>retur하고</a:t>
            </a:r>
            <a:r>
              <a:rPr lang="en-US" dirty="0"/>
              <a:t>, </a:t>
            </a:r>
            <a:r>
              <a:rPr lang="en-US" dirty="0" err="1"/>
              <a:t>아니면</a:t>
            </a:r>
            <a:r>
              <a:rPr lang="en-US" dirty="0"/>
              <a:t> </a:t>
            </a:r>
            <a:r>
              <a:rPr lang="en-US" dirty="0" err="1"/>
              <a:t>0을</a:t>
            </a:r>
            <a:r>
              <a:rPr lang="en-US" dirty="0"/>
              <a:t> </a:t>
            </a:r>
            <a:r>
              <a:rPr lang="en-US" dirty="0" err="1"/>
              <a:t>return한다</a:t>
            </a:r>
            <a:r>
              <a:rPr lang="en-US" dirty="0"/>
              <a:t>. </a:t>
            </a:r>
            <a:endParaRPr dirty="0"/>
          </a:p>
        </p:txBody>
      </p:sp>
      <p:sp>
        <p:nvSpPr>
          <p:cNvPr id="154" name="Google Shape;154;p14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부록</a:t>
            </a:r>
            <a:endParaRPr/>
          </a:p>
        </p:txBody>
      </p:sp>
      <p:sp>
        <p:nvSpPr>
          <p:cNvPr id="155" name="Google Shape;155;p14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>
            <a:spLocks noGrp="1"/>
          </p:cNvSpPr>
          <p:nvPr>
            <p:ph type="body" idx="1"/>
          </p:nvPr>
        </p:nvSpPr>
        <p:spPr>
          <a:xfrm>
            <a:off x="544512" y="1178719"/>
            <a:ext cx="801846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80"/>
              <a:buFont typeface="Dotum"/>
              <a:buChar char="■"/>
            </a:pPr>
            <a:r>
              <a:rPr lang="en-US" dirty="0" err="1"/>
              <a:t>user_2048.c</a:t>
            </a:r>
            <a:endParaRPr dirty="0"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 dirty="0">
                <a:solidFill>
                  <a:schemeClr val="accent1"/>
                </a:solidFill>
              </a:rPr>
              <a:t>void</a:t>
            </a:r>
            <a:r>
              <a:rPr lang="en-US" dirty="0"/>
              <a:t> rotate(</a:t>
            </a:r>
            <a:r>
              <a:rPr lang="en-US" dirty="0">
                <a:solidFill>
                  <a:schemeClr val="accent1"/>
                </a:solidFill>
              </a:rPr>
              <a:t>int </a:t>
            </a:r>
            <a:r>
              <a:rPr lang="en-US" dirty="0"/>
              <a:t>b[4][4])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/>
              <a:t>b[4][4]를 </a:t>
            </a:r>
            <a:r>
              <a:rPr lang="en-US" dirty="0" err="1"/>
              <a:t>시계방향으로</a:t>
            </a:r>
            <a:r>
              <a:rPr lang="en-US" dirty="0"/>
              <a:t> </a:t>
            </a:r>
            <a:r>
              <a:rPr lang="en-US" dirty="0" err="1"/>
              <a:t>90도</a:t>
            </a:r>
            <a:r>
              <a:rPr lang="en-US" dirty="0"/>
              <a:t> </a:t>
            </a:r>
            <a:r>
              <a:rPr lang="en-US" dirty="0" err="1"/>
              <a:t>회전시킨다</a:t>
            </a:r>
            <a:r>
              <a:rPr lang="en-US" dirty="0"/>
              <a:t>. </a:t>
            </a:r>
            <a:endParaRPr dirty="0"/>
          </a:p>
          <a:p>
            <a:pPr marL="581025" lvl="2" indent="0" algn="l" rtl="0"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rPr lang="en-US" dirty="0"/>
              <a:t>  ( </a:t>
            </a:r>
            <a:r>
              <a:rPr lang="en-US" dirty="0" err="1"/>
              <a:t>set_board</a:t>
            </a:r>
            <a:r>
              <a:rPr lang="en-US" dirty="0"/>
              <a:t>()</a:t>
            </a:r>
            <a:r>
              <a:rPr lang="en-US" dirty="0" err="1"/>
              <a:t>함수에서</a:t>
            </a:r>
            <a:r>
              <a:rPr lang="en-US" dirty="0"/>
              <a:t> </a:t>
            </a:r>
            <a:r>
              <a:rPr lang="en-US" dirty="0" err="1"/>
              <a:t>사용</a:t>
            </a:r>
            <a:r>
              <a:rPr lang="en-US" dirty="0"/>
              <a:t> )</a:t>
            </a:r>
            <a:endParaRPr dirty="0"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getch</a:t>
            </a:r>
            <a:r>
              <a:rPr lang="en-US" dirty="0"/>
              <a:t>(</a:t>
            </a:r>
            <a:r>
              <a:rPr lang="en-US" dirty="0">
                <a:solidFill>
                  <a:schemeClr val="accent1"/>
                </a:solidFill>
              </a:rPr>
              <a:t>void</a:t>
            </a:r>
            <a:r>
              <a:rPr lang="en-US" dirty="0"/>
              <a:t>)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 err="1"/>
              <a:t>사용자로부터</a:t>
            </a:r>
            <a:r>
              <a:rPr lang="en-US" dirty="0"/>
              <a:t> </a:t>
            </a:r>
            <a:r>
              <a:rPr lang="en-US" dirty="0" err="1"/>
              <a:t>입력받은</a:t>
            </a:r>
            <a:r>
              <a:rPr lang="en-US" dirty="0"/>
              <a:t> </a:t>
            </a:r>
            <a:r>
              <a:rPr lang="en-US" dirty="0" err="1"/>
              <a:t>키를</a:t>
            </a:r>
            <a:r>
              <a:rPr lang="en-US" dirty="0"/>
              <a:t> </a:t>
            </a:r>
            <a:r>
              <a:rPr lang="en-US" dirty="0" err="1"/>
              <a:t>반환해준다</a:t>
            </a:r>
            <a:r>
              <a:rPr lang="en-US" dirty="0"/>
              <a:t>.</a:t>
            </a:r>
            <a:endParaRPr dirty="0"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 dirty="0">
                <a:solidFill>
                  <a:schemeClr val="accent1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GetCommand</a:t>
            </a:r>
            <a:r>
              <a:rPr lang="en-US" dirty="0"/>
              <a:t>(</a:t>
            </a:r>
            <a:r>
              <a:rPr lang="en-US" dirty="0">
                <a:solidFill>
                  <a:schemeClr val="accent1"/>
                </a:solidFill>
              </a:rPr>
              <a:t>void</a:t>
            </a:r>
            <a:r>
              <a:rPr lang="en-US" dirty="0"/>
              <a:t>)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 err="1"/>
              <a:t>getch</a:t>
            </a:r>
            <a:r>
              <a:rPr lang="en-US" dirty="0"/>
              <a:t>() </a:t>
            </a:r>
            <a:r>
              <a:rPr lang="en-US" dirty="0" err="1"/>
              <a:t>함수를</a:t>
            </a:r>
            <a:r>
              <a:rPr lang="en-US" dirty="0"/>
              <a:t> </a:t>
            </a:r>
            <a:r>
              <a:rPr lang="en-US" dirty="0" err="1"/>
              <a:t>호출해</a:t>
            </a:r>
            <a:r>
              <a:rPr lang="en-US" dirty="0"/>
              <a:t> </a:t>
            </a:r>
            <a:r>
              <a:rPr lang="en-US" dirty="0" err="1"/>
              <a:t>얻은</a:t>
            </a:r>
            <a:r>
              <a:rPr lang="en-US" dirty="0"/>
              <a:t> </a:t>
            </a:r>
            <a:r>
              <a:rPr lang="en-US" dirty="0" err="1"/>
              <a:t>입력키</a:t>
            </a:r>
            <a:r>
              <a:rPr lang="en-US" dirty="0"/>
              <a:t> </a:t>
            </a:r>
            <a:r>
              <a:rPr lang="en-US" dirty="0" err="1"/>
              <a:t>값에</a:t>
            </a:r>
            <a:r>
              <a:rPr lang="en-US" dirty="0"/>
              <a:t> </a:t>
            </a:r>
            <a:r>
              <a:rPr lang="en-US" dirty="0" err="1"/>
              <a:t>따라</a:t>
            </a:r>
            <a:r>
              <a:rPr lang="en-US" dirty="0"/>
              <a:t> </a:t>
            </a:r>
            <a:r>
              <a:rPr lang="en-US" dirty="0" err="1"/>
              <a:t>적절한</a:t>
            </a:r>
            <a:r>
              <a:rPr lang="en-US" dirty="0"/>
              <a:t>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반환해준다</a:t>
            </a:r>
            <a:r>
              <a:rPr lang="en-US" dirty="0"/>
              <a:t>.</a:t>
            </a:r>
            <a:endParaRPr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 err="1"/>
              <a:t>현재</a:t>
            </a:r>
            <a:r>
              <a:rPr lang="en-US" dirty="0"/>
              <a:t> </a:t>
            </a:r>
            <a:r>
              <a:rPr lang="en-US" dirty="0" err="1"/>
              <a:t>사용자의</a:t>
            </a:r>
            <a:r>
              <a:rPr lang="en-US" dirty="0"/>
              <a:t> </a:t>
            </a:r>
            <a:r>
              <a:rPr lang="en-US" dirty="0" err="1"/>
              <a:t>입력키가</a:t>
            </a:r>
            <a:r>
              <a:rPr lang="en-US" dirty="0"/>
              <a:t> ‘d’ / ‘D’ 인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0을</a:t>
            </a:r>
            <a:r>
              <a:rPr lang="en-US" dirty="0"/>
              <a:t>, ‘w’ / ‘W’ 인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1을</a:t>
            </a:r>
            <a:r>
              <a:rPr lang="en-US" dirty="0"/>
              <a:t>, ‘a’ / ‘A’ 인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2를</a:t>
            </a:r>
            <a:r>
              <a:rPr lang="en-US" dirty="0"/>
              <a:t> </a:t>
            </a:r>
            <a:r>
              <a:rPr lang="en-US" dirty="0" err="1"/>
              <a:t>그리고</a:t>
            </a:r>
            <a:r>
              <a:rPr lang="en-US" dirty="0"/>
              <a:t> ‘s’ / ‘S’ 인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3을</a:t>
            </a:r>
            <a:r>
              <a:rPr lang="en-US" dirty="0"/>
              <a:t> </a:t>
            </a:r>
            <a:r>
              <a:rPr lang="en-US" dirty="0" err="1"/>
              <a:t>반환해주도록</a:t>
            </a:r>
            <a:r>
              <a:rPr lang="en-US" dirty="0"/>
              <a:t> </a:t>
            </a:r>
            <a:r>
              <a:rPr lang="en-US" dirty="0" err="1"/>
              <a:t>설정되어</a:t>
            </a:r>
            <a:r>
              <a:rPr lang="en-US" dirty="0"/>
              <a:t> </a:t>
            </a:r>
            <a:r>
              <a:rPr lang="en-US" dirty="0" err="1"/>
              <a:t>있다</a:t>
            </a:r>
            <a:r>
              <a:rPr lang="en-US" dirty="0"/>
              <a:t>. </a:t>
            </a:r>
            <a:endParaRPr dirty="0"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 dirty="0">
                <a:solidFill>
                  <a:schemeClr val="accent1"/>
                </a:solidFill>
              </a:rPr>
              <a:t>int </a:t>
            </a:r>
            <a:r>
              <a:rPr lang="en-US" dirty="0"/>
              <a:t>b[4][4] </a:t>
            </a:r>
            <a:endParaRPr sz="1800" dirty="0"/>
          </a:p>
          <a:p>
            <a:pPr marL="809625" lvl="2" indent="-228600" algn="l" rtl="0">
              <a:spcBef>
                <a:spcPts val="360"/>
              </a:spcBef>
              <a:spcAft>
                <a:spcPts val="0"/>
              </a:spcAft>
              <a:buSzPts val="900"/>
              <a:buChar char="◆"/>
            </a:pPr>
            <a:r>
              <a:rPr lang="en-US" dirty="0" err="1"/>
              <a:t>보드의</a:t>
            </a:r>
            <a:r>
              <a:rPr lang="en-US" dirty="0"/>
              <a:t> </a:t>
            </a:r>
            <a:r>
              <a:rPr lang="en-US" dirty="0" err="1"/>
              <a:t>숫자</a:t>
            </a:r>
            <a:r>
              <a:rPr lang="en-US" dirty="0"/>
              <a:t> </a:t>
            </a:r>
            <a:r>
              <a:rPr lang="en-US" dirty="0" err="1"/>
              <a:t>상태를</a:t>
            </a:r>
            <a:r>
              <a:rPr lang="en-US" dirty="0"/>
              <a:t> </a:t>
            </a:r>
            <a:r>
              <a:rPr lang="en-US" dirty="0" err="1"/>
              <a:t>저장하는</a:t>
            </a:r>
            <a:r>
              <a:rPr lang="en-US" dirty="0"/>
              <a:t> </a:t>
            </a:r>
            <a:r>
              <a:rPr lang="en-US" dirty="0" err="1"/>
              <a:t>전역</a:t>
            </a:r>
            <a:r>
              <a:rPr lang="en-US" dirty="0"/>
              <a:t> </a:t>
            </a:r>
            <a:r>
              <a:rPr lang="en-US" dirty="0" err="1"/>
              <a:t>변수</a:t>
            </a:r>
            <a:endParaRPr dirty="0"/>
          </a:p>
          <a:p>
            <a:pPr marL="257175" lvl="1" indent="0" algn="l" rtl="0">
              <a:spcBef>
                <a:spcPts val="540"/>
              </a:spcBef>
              <a:spcAft>
                <a:spcPts val="0"/>
              </a:spcAft>
              <a:buSzPts val="1260"/>
              <a:buNone/>
            </a:pPr>
            <a:endParaRPr sz="1800" dirty="0"/>
          </a:p>
        </p:txBody>
      </p:sp>
      <p:sp>
        <p:nvSpPr>
          <p:cNvPr id="161" name="Google Shape;161;p15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부록</a:t>
            </a:r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body" idx="1"/>
          </p:nvPr>
        </p:nvSpPr>
        <p:spPr>
          <a:xfrm>
            <a:off x="539750" y="1268413"/>
            <a:ext cx="801846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680"/>
              <a:buFont typeface="Dotum"/>
              <a:buChar char="■"/>
            </a:pPr>
            <a:r>
              <a:rPr lang="en-US"/>
              <a:t>rand() 함수를 이용한 랜덤값 생성 </a:t>
            </a:r>
            <a:endParaRPr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/>
              <a:t>rand() 함수는 0부터 stdlib.h 파일에 RAND_MAX로 정의된 값까지의 정수 범위에서 난수를 발생시킨다.</a:t>
            </a:r>
            <a:endParaRPr/>
          </a:p>
          <a:p>
            <a:pPr marL="542925" lvl="1" indent="-285750" algn="l" rtl="0">
              <a:spcBef>
                <a:spcPts val="660"/>
              </a:spcBef>
              <a:spcAft>
                <a:spcPts val="0"/>
              </a:spcAft>
              <a:buSzPts val="1540"/>
              <a:buChar char="●"/>
            </a:pPr>
            <a:r>
              <a:rPr lang="en-US"/>
              <a:t>rand() 함수를 호출할 때마다 다른 난수를 생성하기 위해서 srand() 함수의 인자로 time() 함수가 반환하는 값을 지정해준다.    </a:t>
            </a:r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부록</a:t>
            </a:r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70" name="Google Shape;1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0555" y="3573016"/>
            <a:ext cx="2232248" cy="236362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1" name="Google Shape;1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7984" y="3573016"/>
            <a:ext cx="2237965" cy="236362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3309964" y="5949923"/>
            <a:ext cx="20056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난수 생성 코드 예시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>
            <a:spLocks noGrp="1"/>
          </p:cNvSpPr>
          <p:nvPr>
            <p:ph type="body" idx="1"/>
          </p:nvPr>
        </p:nvSpPr>
        <p:spPr>
          <a:xfrm>
            <a:off x="539750" y="1268413"/>
            <a:ext cx="801846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285750" lvl="0" indent="-179070" algn="l" rtl="0">
              <a:spcBef>
                <a:spcPts val="0"/>
              </a:spcBef>
              <a:spcAft>
                <a:spcPts val="0"/>
              </a:spcAft>
              <a:buSzPts val="1680"/>
              <a:buFont typeface="Dotum"/>
              <a:buNone/>
            </a:pPr>
            <a:endParaRPr/>
          </a:p>
          <a:p>
            <a:pPr marL="285750" lvl="0" indent="-285750" algn="l" rtl="0">
              <a:spcBef>
                <a:spcPts val="720"/>
              </a:spcBef>
              <a:spcAft>
                <a:spcPts val="0"/>
              </a:spcAft>
              <a:buSzPts val="1680"/>
              <a:buFont typeface="Dotum"/>
              <a:buChar char="■"/>
            </a:pPr>
            <a:r>
              <a:rPr lang="en-US"/>
              <a:t>2048 Game</a:t>
            </a:r>
            <a:endParaRPr/>
          </a:p>
          <a:p>
            <a:pPr marL="0" lvl="0" indent="0" algn="l" rtl="0">
              <a:spcBef>
                <a:spcPts val="720"/>
              </a:spcBef>
              <a:spcAft>
                <a:spcPts val="0"/>
              </a:spcAft>
              <a:buSzPts val="1680"/>
              <a:buNone/>
            </a:pPr>
            <a:r>
              <a:rPr lang="en-US"/>
              <a:t> 플레이 영상 예제</a:t>
            </a:r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844550" y="400050"/>
            <a:ext cx="8018463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부록</a:t>
            </a:r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ldNum" idx="12"/>
          </p:nvPr>
        </p:nvSpPr>
        <p:spPr>
          <a:xfrm>
            <a:off x="7848600" y="6529388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80" name="Google Shape;180;p17" descr="Computer Programming1 2048 Project(Sogang Univ.)" title="Computer Programming1 2048 Project(Sogang Univ.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7000" y="218282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기본 디자인">
  <a:themeElements>
    <a:clrScheme name="">
      <a:dk1>
        <a:srgbClr val="000000"/>
      </a:dk1>
      <a:lt1>
        <a:srgbClr val="FFFFFF"/>
      </a:lt1>
      <a:dk2>
        <a:srgbClr val="333333"/>
      </a:dk2>
      <a:lt2>
        <a:srgbClr val="CECECE"/>
      </a:lt2>
      <a:accent1>
        <a:srgbClr val="063DE8"/>
      </a:accent1>
      <a:accent2>
        <a:srgbClr val="006B61"/>
      </a:accent2>
      <a:accent3>
        <a:srgbClr val="FFFFFF"/>
      </a:accent3>
      <a:accent4>
        <a:srgbClr val="000000"/>
      </a:accent4>
      <a:accent5>
        <a:srgbClr val="AAAFF2"/>
      </a:accent5>
      <a:accent6>
        <a:srgbClr val="006057"/>
      </a:accent6>
      <a:hlink>
        <a:srgbClr val="7B00E4"/>
      </a:hlink>
      <a:folHlink>
        <a:srgbClr val="FC01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1454</Words>
  <Application>Microsoft Office PowerPoint</Application>
  <PresentationFormat>화면 슬라이드 쇼(4:3)</PresentationFormat>
  <Paragraphs>130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Arial</vt:lpstr>
      <vt:lpstr>Noto Sans Symbols</vt:lpstr>
      <vt:lpstr>Times New Roman</vt:lpstr>
      <vt:lpstr>Dotum</vt:lpstr>
      <vt:lpstr>Palatino Linotype</vt:lpstr>
      <vt:lpstr>1_기본 디자인</vt:lpstr>
      <vt:lpstr>PowerPoint 프레젠테이션</vt:lpstr>
      <vt:lpstr>프로젝트 – 2048</vt:lpstr>
      <vt:lpstr>프로젝트 – 2048</vt:lpstr>
      <vt:lpstr>프로젝트 – 2048</vt:lpstr>
      <vt:lpstr>프로젝트 – 2048</vt:lpstr>
      <vt:lpstr>프로젝트 – 2048</vt:lpstr>
      <vt:lpstr>프로젝트 – 2048</vt:lpstr>
      <vt:lpstr>프로젝트  – 2048</vt:lpstr>
      <vt:lpstr>프로젝트  – 2048</vt:lpstr>
      <vt:lpstr>프로젝트  – 2048</vt:lpstr>
      <vt:lpstr>프로젝트 – 2048</vt:lpstr>
      <vt:lpstr>프로젝트 – 2048</vt:lpstr>
      <vt:lpstr>프로젝트 – 2048</vt:lpstr>
      <vt:lpstr>부록</vt:lpstr>
      <vt:lpstr>부록</vt:lpstr>
      <vt:lpstr>부록</vt:lpstr>
      <vt:lpstr>부록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Kyunghee</dc:creator>
  <cp:lastModifiedBy>user</cp:lastModifiedBy>
  <cp:revision>1</cp:revision>
  <dcterms:created xsi:type="dcterms:W3CDTF">1996-06-27T04:55:18Z</dcterms:created>
  <dcterms:modified xsi:type="dcterms:W3CDTF">2022-05-23T03:03:56Z</dcterms:modified>
</cp:coreProperties>
</file>